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f5dffcc5bf4240" /><Relationship Type="http://schemas.openxmlformats.org/officeDocument/2006/relationships/extended-properties" Target="/docProps/app.xml" Id="Rff4fc1e321e94c3d" /><Relationship Type="http://schemas.openxmlformats.org/officeDocument/2006/relationships/officeDocument" Target="/ppt/presentation.xml" Id="Re922fc2eeec44be1" /></Relationships>
</file>

<file path=ppt/presentation.xml><?xml version="1.0" encoding="utf-8"?>
<p:presentation xmlns:p="http://schemas.openxmlformats.org/presentationml/2006/main">
  <p:sldMasterIdLst>
    <p:sldMasterId xmlns:r="http://schemas.openxmlformats.org/officeDocument/2006/relationships" id="2147483648" r:id="R3c111a1543c54354"/>
  </p:sldMasterIdLst>
  <p:notesMasterIdLst>
    <p:notesMasterId xmlns:r="http://schemas.openxmlformats.org/officeDocument/2006/relationships" r:id="Rf481d3aa76564aa9"/>
  </p:notesMasterIdLst>
  <p:sldIdLst>
    <p:sldId xmlns:r="http://schemas.openxmlformats.org/officeDocument/2006/relationships" id="256" r:id="R396583460a4a499f"/>
    <p:sldId xmlns:r="http://schemas.openxmlformats.org/officeDocument/2006/relationships" id="257" r:id="R72ab270f4e954539"/>
    <p:sldId xmlns:r="http://schemas.openxmlformats.org/officeDocument/2006/relationships" id="258" r:id="R40e3804fd0a5443b"/>
    <p:sldId xmlns:r="http://schemas.openxmlformats.org/officeDocument/2006/relationships" id="259" r:id="R7d5f08426bbc4f74"/>
    <p:sldId xmlns:r="http://schemas.openxmlformats.org/officeDocument/2006/relationships" id="260" r:id="Raf1654d0fe8c41b5"/>
    <p:sldId xmlns:r="http://schemas.openxmlformats.org/officeDocument/2006/relationships" id="261" r:id="R7d6dcce4d6f84c9f"/>
    <p:sldId xmlns:r="http://schemas.openxmlformats.org/officeDocument/2006/relationships" id="262" r:id="R865b1c2952b14afa"/>
    <p:sldId xmlns:r="http://schemas.openxmlformats.org/officeDocument/2006/relationships" id="263" r:id="R3e31e19c0cfd4811"/>
    <p:sldId xmlns:r="http://schemas.openxmlformats.org/officeDocument/2006/relationships" id="264" r:id="R4f0928dd3a40410b"/>
    <p:sldId xmlns:r="http://schemas.openxmlformats.org/officeDocument/2006/relationships" id="265" r:id="R1e714bdf5c434c53"/>
    <p:sldId xmlns:r="http://schemas.openxmlformats.org/officeDocument/2006/relationships" id="266" r:id="Ra610b183b01d4dca"/>
    <p:sldId xmlns:r="http://schemas.openxmlformats.org/officeDocument/2006/relationships" id="267" r:id="R8d5a035d0ef24337"/>
    <p:sldId xmlns:r="http://schemas.openxmlformats.org/officeDocument/2006/relationships" id="268" r:id="R0b1f08ff49334b24"/>
    <p:sldId xmlns:r="http://schemas.openxmlformats.org/officeDocument/2006/relationships" id="269" r:id="R241d8596ea2c4bc2"/>
    <p:sldId xmlns:r="http://schemas.openxmlformats.org/officeDocument/2006/relationships" id="270" r:id="R62dea6f9111d4132"/>
    <p:sldId xmlns:r="http://schemas.openxmlformats.org/officeDocument/2006/relationships" id="271" r:id="Rf9287784cb834a55"/>
    <p:sldId xmlns:r="http://schemas.openxmlformats.org/officeDocument/2006/relationships" id="272" r:id="R8fcd7d79a6854fe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d05ff6926a451d" /><Relationship Type="http://schemas.openxmlformats.org/officeDocument/2006/relationships/slideMaster" Target="/ppt/slideMasters/slideMaster1.xml" Id="R3c111a1543c54354" /><Relationship Type="http://schemas.openxmlformats.org/officeDocument/2006/relationships/notesMaster" Target="/ppt/notesMasters/notesMaster1.xml" Id="Rf481d3aa76564aa9" /><Relationship Type="http://schemas.openxmlformats.org/officeDocument/2006/relationships/presProps" Target="/ppt/presProps.xml" Id="Ra6d033e77b0b4d2a" /><Relationship Type="http://schemas.openxmlformats.org/officeDocument/2006/relationships/tableStyles" Target="/ppt/tableStyles.xml" Id="R205aeafc354f4df8" /><Relationship Type="http://schemas.openxmlformats.org/officeDocument/2006/relationships/slide" Target="/ppt/slides/slide1.xml" Id="R396583460a4a499f" /><Relationship Type="http://schemas.openxmlformats.org/officeDocument/2006/relationships/slide" Target="/ppt/slides/slide2.xml" Id="R72ab270f4e954539" /><Relationship Type="http://schemas.openxmlformats.org/officeDocument/2006/relationships/slide" Target="/ppt/slides/slide3.xml" Id="R40e3804fd0a5443b" /><Relationship Type="http://schemas.openxmlformats.org/officeDocument/2006/relationships/slide" Target="/ppt/slides/slide4.xml" Id="R7d5f08426bbc4f74" /><Relationship Type="http://schemas.openxmlformats.org/officeDocument/2006/relationships/slide" Target="/ppt/slides/slide5.xml" Id="Raf1654d0fe8c41b5" /><Relationship Type="http://schemas.openxmlformats.org/officeDocument/2006/relationships/slide" Target="/ppt/slides/slide6.xml" Id="R7d6dcce4d6f84c9f" /><Relationship Type="http://schemas.openxmlformats.org/officeDocument/2006/relationships/slide" Target="/ppt/slides/slide7.xml" Id="R865b1c2952b14afa" /><Relationship Type="http://schemas.openxmlformats.org/officeDocument/2006/relationships/slide" Target="/ppt/slides/slide8.xml" Id="R3e31e19c0cfd4811" /><Relationship Type="http://schemas.openxmlformats.org/officeDocument/2006/relationships/slide" Target="/ppt/slides/slide9.xml" Id="R4f0928dd3a40410b" /><Relationship Type="http://schemas.openxmlformats.org/officeDocument/2006/relationships/slide" Target="/ppt/slides/slide10.xml" Id="R1e714bdf5c434c53" /><Relationship Type="http://schemas.openxmlformats.org/officeDocument/2006/relationships/slide" Target="/ppt/slides/slide11.xml" Id="Ra610b183b01d4dca" /><Relationship Type="http://schemas.openxmlformats.org/officeDocument/2006/relationships/slide" Target="/ppt/slides/slide12.xml" Id="R8d5a035d0ef24337" /><Relationship Type="http://schemas.openxmlformats.org/officeDocument/2006/relationships/slide" Target="/ppt/slides/slide13.xml" Id="R0b1f08ff49334b24" /><Relationship Type="http://schemas.openxmlformats.org/officeDocument/2006/relationships/slide" Target="/ppt/slides/slide14.xml" Id="R241d8596ea2c4bc2" /><Relationship Type="http://schemas.openxmlformats.org/officeDocument/2006/relationships/slide" Target="/ppt/slides/slide15.xml" Id="R62dea6f9111d4132" /><Relationship Type="http://schemas.openxmlformats.org/officeDocument/2006/relationships/slide" Target="/ppt/slides/slide16.xml" Id="Rf9287784cb834a55" /><Relationship Type="http://schemas.openxmlformats.org/officeDocument/2006/relationships/slide" Target="/ppt/slides/slide17.xml" Id="R8fcd7d79a6854f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170deb08744a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a4d1726c4c475c" /><Relationship Type="http://schemas.openxmlformats.org/officeDocument/2006/relationships/notesMaster" Target="/ppt/notesMasters/notesMaster1.xml" Id="R34605c918a7247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1d4754cf7f4340" /><Relationship Type="http://schemas.openxmlformats.org/officeDocument/2006/relationships/notesMaster" Target="/ppt/notesMasters/notesMaster1.xml" Id="R84c8b8435f7343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e6c3c1afe843da" /><Relationship Type="http://schemas.openxmlformats.org/officeDocument/2006/relationships/notesMaster" Target="/ppt/notesMasters/notesMaster1.xml" Id="R9db8ba875f974e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05d209e18b4123" /><Relationship Type="http://schemas.openxmlformats.org/officeDocument/2006/relationships/notesMaster" Target="/ppt/notesMasters/notesMaster1.xml" Id="R4743e4f2d77c48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0fcf7e7ecb41f1" /><Relationship Type="http://schemas.openxmlformats.org/officeDocument/2006/relationships/notesMaster" Target="/ppt/notesMasters/notesMaster1.xml" Id="Rcb8ac9bb6a5e43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855154a86f4759" /><Relationship Type="http://schemas.openxmlformats.org/officeDocument/2006/relationships/notesMaster" Target="/ppt/notesMasters/notesMaster1.xml" Id="R58eb410c835044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2b44f9bed74001" /><Relationship Type="http://schemas.openxmlformats.org/officeDocument/2006/relationships/notesMaster" Target="/ppt/notesMasters/notesMaster1.xml" Id="R65f740c935f448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7440b1459b42aa" /><Relationship Type="http://schemas.openxmlformats.org/officeDocument/2006/relationships/notesMaster" Target="/ppt/notesMasters/notesMaster1.xml" Id="Rc1299346882c46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f87f15b32b493d" /><Relationship Type="http://schemas.openxmlformats.org/officeDocument/2006/relationships/notesMaster" Target="/ppt/notesMasters/notesMaster1.xml" Id="Rdec63289152941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4670d27c6f4f9c" /><Relationship Type="http://schemas.openxmlformats.org/officeDocument/2006/relationships/notesMaster" Target="/ppt/notesMasters/notesMaster1.xml" Id="R29b9df81ad3949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540c1719ca4c04" /><Relationship Type="http://schemas.openxmlformats.org/officeDocument/2006/relationships/notesMaster" Target="/ppt/notesMasters/notesMaster1.xml" Id="R8a6a2cd5848947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60af969c834d51" /><Relationship Type="http://schemas.openxmlformats.org/officeDocument/2006/relationships/notesMaster" Target="/ppt/notesMasters/notesMaster1.xml" Id="Rf5eb3032231d4b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08e834bca04548" /><Relationship Type="http://schemas.openxmlformats.org/officeDocument/2006/relationships/notesMaster" Target="/ppt/notesMasters/notesMaster1.xml" Id="Rfa0e48f42f434e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824b16a8ea4d0f" /><Relationship Type="http://schemas.openxmlformats.org/officeDocument/2006/relationships/notesMaster" Target="/ppt/notesMasters/notesMaster1.xml" Id="R441b03b9823740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270afd2ee44ee0" /><Relationship Type="http://schemas.openxmlformats.org/officeDocument/2006/relationships/notesMaster" Target="/ppt/notesMasters/notesMaster1.xml" Id="R85f00f442b5247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6823a8e1c44f08" /><Relationship Type="http://schemas.openxmlformats.org/officeDocument/2006/relationships/notesMaster" Target="/ppt/notesMasters/notesMaster1.xml" Id="R9da5183fb88f44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4a6e991e0b48a3" /><Relationship Type="http://schemas.openxmlformats.org/officeDocument/2006/relationships/notesMaster" Target="/ppt/notesMasters/notesMaster1.xml" Id="Rcdb385642c244b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Memorypalace. Revisit the moments you almost forgot. A personal memory companion that links changes in EEG activity with recorded context. Begin the 36-second film on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an everyday lapse in recall, not a medical claim. This is a relatable motivation, not evidence that an EEG detector identifies forgetting. Transition to the concept film.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 the embedded 36-second concept film with sound. It illustrates the intended wearable experience, using the approved mannequin and revised desk reaction. The neural strengths shown in the film are illustrative story values. The running prototype uses the phone camera and supports synthetic EEG replay plus a Crown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end of the day, revisit selected recordings and their context. Reflection is a user activity, not a clinical assessment. The implemented Share flow drafts a personal note from selected moments; the user chooses the recipient, reviews the draft and shares it. Do not assert end-to-end encryption or a privacy guarantee that is not implemented. Source: app/components/share/SharePage.tsx.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Hardware concept: Neurosity Crown for sensing EEG and Ray-Ban Meta glasses for first-person context, supported by the Memorypalace app. Crown is an EEG sensor, not a neurostimulation device; Ray-Ban Meta glasses are not Meta Quest. The current working recorder is an Android phone camera, with a Crown stream adapter. Twenty minutes is the requested onboarding target, not a measured result; code baseline currently uses 120 seconds. Sources: hardware-demo/eegdemo/pipeline.py; hardware-demo/README.md; https://neurosity.co/crown ; https://wearables.developer.meta.com/docs/develop/dat/build-integration-android/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clean frontal EEG, theta (4–8 Hz) over alpha (8–13 Hz) band power, four-second non-overlapping windows, per-wearer z-score, threshold 2.0, four consecutive elevated windows. It measures a sustained load proxy. Phase-shift detection is not present in the inspected implementation; avoid describing this method as phase-shift inference or as a state-of-the-art benchmark. Source: confusion-detector/src/config.py; confusion-detector/src/cognitive_load.py; hardware-demo/eegdemo/pipeline.py.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raw EEG traces and 20 / 40 / 70 microvolt ranges are synthetic illustrations, not measured people or diagnostic norms. Peak-to-peak means maximum minus minimum; raw amplitude also depends on recording conditions. The live prototype calibrates theta/alpha mean and spread over 120 seconds, then uses a z-score. It does not trigger from raw peak-to-peak amplitude. Person icon: Lucide user-round, https://github.com/lucide-icons/lucide/blob/main/icons/user-round.svg (ISC).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arithmetic: raw theta/alpha index 3.0; A mean 1.0 and standard deviation 0.5 gives z=4.0; B mean 2.6 and standard deviation 0.5 gives z=0.8. These are explanatory values, not measured people or clinical thresholds. The implemented trigger threshold is z=2.0. Source: confusion-detector/src/detector.py and config.py. The chart remains editable beneath its animated video overlay.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consecutive windows above z=2.0 are required. No overlap means samples are not reused; it does not prove statistical independence of brain activity. The active backend finalizes an ongoing recording on this trigger, attaches the signal context, and saves it. The concept film illustrates the broader event-capture vision. Sources: confusion-detector/src/config.py; hardware-demo/eegdemo/server.py Runtime.trigger.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comparison reported in confusion-detector/README.md, The one result that matters: 4-second windows, 75% overlap (hop 1s) 30.3 false alarms/hour; 50% overlap (hop 2s) 18.9; no overlap (hop 4s) 1.3. Same stationary synthetic fixture and threshold. Do not generalize the absolute rate to people or drifting baselines; the drifting fixture reported 7.2/hour at the default setting. This chart is engineering evidence for avoiding repeated samples, not a clinical performance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at http://localhost:3000/explore. Query: laptop keyboard. The screenshot is captured from the running project, not a fabricated interface. Elastic combines keyword and vector retrieval, with timeline and intensity filters. Sources: app/components/explore; hardware-demo/eegdemo/elastic_store.py. Keep the standalone app running when using the demo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DOCS_sponsor/elastic. Implementation: Elastic Cloud Serverless, Jina v5 Omni via Elastic Inference, semantic metadata, BM25 + dense kNN with RRF, date and EEG-intensity filters. The persisted video is linked from the retrieved moment. Sources: hardware-demo/eegdemo/elastic_store.py; FULFILLMENT_SPONSORS.md. Logo source: https://www.apmdigest.com/sites/default/files/2024-09/logo_elastic.png ; brand owner https://www.elastic.co/ . Official method references: https://www.elastic.co/docs/solutions/search/multimodal-search ; https://www.elastic.co/docs/reference/elasticsearch/rest-apis/reciprocal-rank-fusion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 prompt: Bringing People Closer Together with AI. Muse Spark (muse-spark-1.3) is used in vision.py for recorded-video descriptions and in agent.py for Memory Guard reasoning/tool use and share_note generation. Muse Voice Transcribe (muse-voice-transcribe-1.0) transcribes push-to-talk input in voice.py; playback speech uses device speech synthesis. Muse Image and a Muse personal-agent connector are not implemented and are not claimed. Sources: hardware-demo/eegdemo/vision.py; agent.py; voice.py; app/components/share/SharePage.tsx. Sponsor links: https://developer.meta.com/ai/models/muse-spark/ and https://developer.meta.com/ai/models/muse-voice-transcribe/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Voloridge asked for signal out of public data. Ours is EEG: 28 channels, five people, fifteen sessions from Shin et al. 2018 dataset A. Regress out eye-channel contributions, measure three band powers, logistic regression, one moving average. Alternatives were paired against their own baselines on the same recordings, windows and calibration folds. They lost or tied; these rows are not a cross-participant leaderboard. The one retained addition is a smoothing half-life. Source: presentation/SLIDES-VOLORIDGE.md and eeg-state-detection/README.md. Public-data research, distinct from the running four-window prototype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were frozen and SHA-256 hashed before held-out blocks. Per session: first six blocks calibrate, last three score. The circular time-shift null preserves autocorrelation; shuffled windows would break it. 2,000 shifts per session. Eight of 15 sessions beat that null at nominal p ≤ 0.05 (session-wise, not multiplicity corrected). Orange diamonds are the identical pipeline on eye channels; two participants show substantial ocular contribution. The same null discipline rejected the brief-event zigzag result: 6/36 versus a 2/36 baseline, p=0.13 against random flags. Sources: eeg-state-detection/README.md; outputs/backtest_state/report.json; outputs/burst_diagnostic_dev/report.json. This is offline task/rest detection, not real-world forgetting or emotion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wiring: Crown publisher sends EEG to Python backend. Android camera client polls authenticated commands and uploads video to the backend. Backend persists the catalog, calls Meta enrichment and Elastic indexing. Next.js browser accesses backend through server routes. Source: hardware-demo/eegdemo/server.py; pipeline.py; library.py; elastic_store.py; app/lib/backend.ts. The native diagram is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Memorypalace turns a fleeting reaction into a moment you can revisit, understand, and choose to share. Invite the judges to try the running retrieval demo. The film describes the wearable concept; the charts and sponsor slides show the implemented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cd99b6838b44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239be25aa54e53" /><Relationship Type="http://schemas.openxmlformats.org/officeDocument/2006/relationships/slideLayout" Target="/ppt/slideLayouts/slideLayout1.xml" Id="R44b42c4ba44042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b42c4ba44042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cd97ae9cd8443d" /><Relationship Type="http://schemas.openxmlformats.org/officeDocument/2006/relationships/image" Target="/ppt/media/image.png" Id="R8b3f1d48992143bf" /><Relationship Type="http://schemas.openxmlformats.org/officeDocument/2006/relationships/notesSlide" Target="/ppt/notesSlides/notesSlide1.xml" Id="Rc7ab91914e5246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407ffd7383491b" /><Relationship Type="http://schemas.openxmlformats.org/officeDocument/2006/relationships/notesSlide" Target="/ppt/notesSlides/notesSlide2.xml" Id="R5faa25677bfb49d2"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d4effb25e5f343fc"/><Relationship Type="http://schemas.openxmlformats.org/officeDocument/2006/relationships/image" Target="/ppt/media/image2.png" Id="Rd9d5d6fef65a480c"/><Relationship Type="http://schemas.openxmlformats.org/officeDocument/2006/relationships/notesSlide" Target="/ppt/notesSlides/notesSlide3.xml" Id="R84b6f729e10e4af0"/><Relationship Id="rIdMemoryVideo3" Type="http://schemas.openxmlformats.org/officeDocument/2006/relationships/video" Target="../media/intro.mp4"/><Relationship Id="rIdMemoryMedia3" Type="http://schemas.microsoft.com/office/2007/relationships/media" Target="../media/intro.mp4"/><Relationship Id="rIdMemoryPoster3" Type="http://schemas.openxmlformats.org/officeDocument/2006/relationships/image" Target="../media/intro-poster.png"/></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ef5918fa904776" /><Relationship Type="http://schemas.openxmlformats.org/officeDocument/2006/relationships/image" Target="/ppt/media/image3.png" Id="Re1d6fddd13d44612" /><Relationship Type="http://schemas.openxmlformats.org/officeDocument/2006/relationships/notesSlide" Target="/ppt/notesSlides/notesSlide4.xml" Id="R24e9ae255e264e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0daa52a5214e7b" /><Relationship Type="http://schemas.openxmlformats.org/officeDocument/2006/relationships/image" Target="/ppt/media/image4.png" Id="R11054381ac1247ba" /><Relationship Type="http://schemas.openxmlformats.org/officeDocument/2006/relationships/notesSlide" Target="/ppt/notesSlides/notesSlide5.xml" Id="R1263ea22554940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166b30483543e2" /><Relationship Type="http://schemas.openxmlformats.org/officeDocument/2006/relationships/notesSlide" Target="/ppt/notesSlides/notesSlide6.xml" Id="R39ccd1ea2cd94a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97fe45cb1443db" /><Relationship Type="http://schemas.openxmlformats.org/officeDocument/2006/relationships/chart" Target="/ppt/slides/charts/chart1.xml" Id="R1afe1ebdecd5429c" /><Relationship Type="http://schemas.openxmlformats.org/officeDocument/2006/relationships/image" Target="/ppt/media/image5.png" Id="R121c590963004640" /><Relationship Type="http://schemas.openxmlformats.org/officeDocument/2006/relationships/chart" Target="/ppt/slides/charts/chart2.xml" Id="R129af092950c4900" /><Relationship Type="http://schemas.openxmlformats.org/officeDocument/2006/relationships/image" Target="/ppt/media/image6.png" Id="Rf81b9f6ab4944261" /><Relationship Type="http://schemas.openxmlformats.org/officeDocument/2006/relationships/chart" Target="/ppt/slides/charts/chart3.xml" Id="Rc7e5bba8e2df4769" /><Relationship Type="http://schemas.openxmlformats.org/officeDocument/2006/relationships/image" Target="/ppt/media/image7.png" Id="R720f6743b8cb4e36" /><Relationship Type="http://schemas.openxmlformats.org/officeDocument/2006/relationships/notesSlide" Target="/ppt/notesSlides/notesSlide7.xml" Id="R009f3878d06346ac" /></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b66ac4e5c1094954"/><Relationship Type="http://schemas.openxmlformats.org/officeDocument/2006/relationships/chart" Target="/ppt/slides/charts/chart4.xml" Id="Rdf28b8be970342fd"/><Relationship Type="http://schemas.openxmlformats.org/officeDocument/2006/relationships/notesSlide" Target="/ppt/notesSlides/notesSlide8.xml" Id="Ra54d0a8082aa4e84"/><Relationship Id="rIdMemoryVideo8" Type="http://schemas.openxmlformats.org/officeDocument/2006/relationships/video" Target="../media/baseline.mp4"/><Relationship Id="rIdMemoryMedia8" Type="http://schemas.microsoft.com/office/2007/relationships/media" Target="../media/baseline.mp4"/><Relationship Id="rIdMemoryPoster8" Type="http://schemas.openxmlformats.org/officeDocument/2006/relationships/image" Target="../media/baseline-poster.png"/></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c45c20d3a8884f93"/><Relationship Type="http://schemas.openxmlformats.org/officeDocument/2006/relationships/notesSlide" Target="/ppt/notesSlides/notesSlide9.xml" Id="Rff36fbf7f0da42f5"/><Relationship Id="rIdMemoryVideo9" Type="http://schemas.openxmlformats.org/officeDocument/2006/relationships/video" Target="../media/persistence.mp4"/><Relationship Id="rIdMemoryMedia9" Type="http://schemas.microsoft.com/office/2007/relationships/media" Target="../media/persistence.mp4"/><Relationship Id="rIdMemoryPoster9" Type="http://schemas.openxmlformats.org/officeDocument/2006/relationships/image" Target="../media/persistence-poster.png"/></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ebf224aaba4ef7" /><Relationship Type="http://schemas.openxmlformats.org/officeDocument/2006/relationships/chart" Target="/ppt/slides/charts/chart5.xml" Id="R69df292a91e845ff" /><Relationship Type="http://schemas.openxmlformats.org/officeDocument/2006/relationships/notesSlide" Target="/ppt/notesSlides/notesSlide10.xml" Id="Rb576569bdcb548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05c13b12a44efe" /><Relationship Type="http://schemas.openxmlformats.org/officeDocument/2006/relationships/image" Target="/ppt/media/image8.png" Id="R9a1ee7ea6783485c" /><Relationship Type="http://schemas.openxmlformats.org/officeDocument/2006/relationships/hyperlink" Target="http://localhost:3000/explore" TargetMode="External" Id="Rf05a569ee8524224" /><Relationship Type="http://schemas.openxmlformats.org/officeDocument/2006/relationships/notesSlide" Target="/ppt/notesSlides/notesSlide11.xml" Id="R3a3d3e8195e24d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219e096177447f7" /><Relationship Type="http://schemas.openxmlformats.org/officeDocument/2006/relationships/image" Target="/ppt/media/image9.png" Id="Rf7a671c95f2b407e" /><Relationship Type="http://schemas.openxmlformats.org/officeDocument/2006/relationships/notesSlide" Target="/ppt/notesSlides/notesSlide12.xml" Id="Raadc2522496e41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24e7660dcb42b4" /><Relationship Type="http://schemas.openxmlformats.org/officeDocument/2006/relationships/image" Target="/ppt/media/image10.png" Id="Rc327d709d0ae47e8" /><Relationship Type="http://schemas.openxmlformats.org/officeDocument/2006/relationships/notesSlide" Target="/ppt/notesSlides/notesSlide13.xml" Id="R03768e6e78f447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b2c3c9d6264338" /><Relationship Type="http://schemas.openxmlformats.org/officeDocument/2006/relationships/image" Target="/ppt/media/image11.png" Id="R98ff2ed5350a4cff" /><Relationship Type="http://schemas.openxmlformats.org/officeDocument/2006/relationships/notesSlide" Target="/ppt/notesSlides/notesSlide14.xml" Id="Rc3b352347fa644e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befd2b5f2ea48d1" /><Relationship Type="http://schemas.openxmlformats.org/officeDocument/2006/relationships/image" Target="/ppt/media/image12.png" Id="R6c1500e873f542c7" /><Relationship Type="http://schemas.openxmlformats.org/officeDocument/2006/relationships/image" Target="/ppt/media/image13.png" Id="Reae254f4246a4eec" /><Relationship Type="http://schemas.openxmlformats.org/officeDocument/2006/relationships/notesSlide" Target="/ppt/notesSlides/notesSlide15.xml" Id="R8ef56ff181f94f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1792a3772ef43ae" /><Relationship Type="http://schemas.openxmlformats.org/officeDocument/2006/relationships/notesSlide" Target="/ppt/notesSlides/notesSlide16.xml" Id="R7f6214cb7ca042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ae278687a7e4527" /><Relationship Type="http://schemas.openxmlformats.org/officeDocument/2006/relationships/hyperlink" Target="http://localhost:3000/" TargetMode="External" Id="R50cdaab80f2b41c1" /><Relationship Type="http://schemas.openxmlformats.org/officeDocument/2006/relationships/notesSlide" Target="/ppt/notesSlides/notesSlide17.xml" Id="Rbb03180edabf440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475" b="1">
                <a:solidFill>
                  <a:srgbClr val="326B8C"/>
                </a:solidFill>
                <a:latin typeface="Poppins"/>
                <a:ea typeface="Poppins"/>
                <a:cs typeface="Poppins"/>
              </a:rPr>
              <a:t>Wearer A</a:t>
            </a:r>
          </a:p>
        </c:rich>
      </c:tx>
      <c:overlay val="0"/>
      <c:txPr>
        <a:bodyPr xmlns:a="http://schemas.openxmlformats.org/drawingml/2006/main" anchorCtr="1"/>
        <a:lstStyle xmlns:a="http://schemas.openxmlformats.org/drawingml/2006/main"/>
        <a:p xmlns:a="http://schemas.openxmlformats.org/drawingml/2006/main">
          <a:pPr>
            <a:defRPr sz="2475" b="1">
              <a:solidFill>
                <a:srgbClr val="326B8C"/>
              </a:solidFill>
              <a:latin typeface="Poppins"/>
              <a:ea typeface="Poppins"/>
              <a:cs typeface="Poppins"/>
            </a:defRPr>
          </a:pPr>
        </a:p>
      </c:txPr>
    </c:title>
    <c:plotArea>
      <c:lineChart>
        <c:grouping val="standard"/>
        <c:varyColors val="0"/>
        <c:ser>
          <c:idx val="0"/>
          <c:order val="0"/>
          <c:tx>
            <c:v>Illustrative raw EEG (µV)</c:v>
          </c:tx>
          <c:spPr>
            <a:ln xmlns:a="http://schemas.openxmlformats.org/drawingml/2006/main" w="28575">
              <a:solidFill>
                <a:srgbClr val="326B8C"/>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-0.1</c:v>
                </c:pt>
                <c:pt idx="1">
                  <c:v>7.3</c:v>
                </c:pt>
                <c:pt idx="2">
                  <c:v>5.6</c:v>
                </c:pt>
                <c:pt idx="3">
                  <c:v>5.9</c:v>
                </c:pt>
                <c:pt idx="4">
                  <c:v>2.3</c:v>
                </c:pt>
                <c:pt idx="5">
                  <c:v>-7.3</c:v>
                </c:pt>
                <c:pt idx="6">
                  <c:v>-7.3</c:v>
                </c:pt>
                <c:pt idx="7">
                  <c:v>-4.5</c:v>
                </c:pt>
                <c:pt idx="8">
                  <c:v>-3.3</c:v>
                </c:pt>
                <c:pt idx="9">
                  <c:v>5.4</c:v>
                </c:pt>
                <c:pt idx="10">
                  <c:v>9.1</c:v>
                </c:pt>
                <c:pt idx="11">
                  <c:v>4</c:v>
                </c:pt>
                <c:pt idx="12">
                  <c:v>2.3</c:v>
                </c:pt>
                <c:pt idx="13">
                  <c:v>-3.1</c:v>
                </c:pt>
                <c:pt idx="14">
                  <c:v>-10</c:v>
                </c:pt>
                <c:pt idx="15">
                  <c:v>-5.5</c:v>
                </c:pt>
                <c:pt idx="16">
                  <c:v>-0.9</c:v>
                </c:pt>
                <c:pt idx="17">
                  <c:v>1.5</c:v>
                </c:pt>
                <c:pt idx="18">
                  <c:v>8.8</c:v>
                </c:pt>
                <c:pt idx="19">
                  <c:v>7.7</c:v>
                </c:pt>
                <c:pt idx="20">
                  <c:v>0</c:v>
                </c:pt>
                <c:pt idx="21">
                  <c:v>-1.9</c:v>
                </c:pt>
                <c:pt idx="22">
                  <c:v>-6.8</c:v>
                </c:pt>
                <c:pt idx="23">
                  <c:v>-9.4</c:v>
                </c:pt>
                <c:pt idx="24">
                  <c:v>-1.1</c:v>
                </c:pt>
                <c:pt idx="25">
                  <c:v>3.3</c:v>
                </c:pt>
                <c:pt idx="26">
                  <c:v>5</c:v>
                </c:pt>
                <c:pt idx="27">
                  <c:v>9.1</c:v>
                </c:pt>
                <c:pt idx="28">
                  <c:v>3.3</c:v>
                </c:pt>
                <c:pt idx="29">
                  <c:v>-4.7</c:v>
                </c:pt>
                <c:pt idx="30">
                  <c:v>-5</c:v>
                </c:pt>
                <c:pt idx="31">
                  <c:v>-7.6</c:v>
                </c:pt>
                <c:pt idx="32">
                  <c:v>-5.6</c:v>
                </c:pt>
                <c:pt idx="33">
                  <c:v>4.2</c:v>
                </c:pt>
                <c:pt idx="34">
                  <c:v>6.3</c:v>
                </c:pt>
                <c:pt idx="35">
                  <c:v>5.7</c:v>
                </c:pt>
                <c:pt idx="36">
                  <c:v>6.3</c:v>
                </c:pt>
                <c:pt idx="37">
                  <c:v>-2.3</c:v>
                </c:pt>
                <c:pt idx="38">
                  <c:v>-8.1</c:v>
                </c:pt>
                <c:pt idx="39">
                  <c:v>-5.4</c:v>
                </c:pt>
                <c:pt idx="40">
                  <c:v>-5.4</c:v>
                </c:pt>
                <c:pt idx="41">
                  <c:v>-0.2</c:v>
                </c:pt>
                <c:pt idx="42">
                  <c:v>8.5</c:v>
                </c:pt>
                <c:pt idx="43">
                  <c:v>6.6</c:v>
                </c:pt>
                <c:pt idx="44">
                  <c:v>3.7</c:v>
                </c:pt>
                <c:pt idx="45">
                  <c:v>1.6</c:v>
                </c:pt>
                <c:pt idx="46">
                  <c:v>-7.3</c:v>
                </c:pt>
                <c:pt idx="47">
                  <c:v>-8.8</c:v>
                </c:pt>
                <c:pt idx="48">
                  <c:v>-3</c:v>
                </c:pt>
                <c:pt idx="49">
                  <c:v>-1.3</c:v>
                </c:pt>
                <c:pt idx="50">
                  <c:v>4.8</c:v>
                </c:pt>
                <c:pt idx="51">
                  <c:v>10</c:v>
                </c:pt>
                <c:pt idx="52">
                  <c:v>3.9</c:v>
                </c:pt>
                <c:pt idx="53">
                  <c:v>-0.3</c:v>
                </c:pt>
                <c:pt idx="54">
                  <c:v>-3.1</c:v>
                </c:pt>
                <c:pt idx="55">
                  <c:v>-9.7</c:v>
                </c:pt>
                <c:pt idx="56">
                  <c:v>-6.2</c:v>
                </c:pt>
                <c:pt idx="57">
                  <c:v>1.3</c:v>
                </c:pt>
                <c:pt idx="58">
                  <c:v>2.8</c:v>
                </c:pt>
                <c:pt idx="59">
                  <c:v>7.7</c:v>
                </c:pt>
                <c:pt idx="60">
                  <c:v>8.1</c:v>
                </c:pt>
                <c:pt idx="61">
                  <c:v>-1</c:v>
                </c:pt>
                <c:pt idx="62">
                  <c:v>-4.3</c:v>
                </c:pt>
                <c:pt idx="63">
                  <c:v>-5.9</c:v>
                </c:pt>
                <c:pt idx="64">
                  <c:v>-8.8</c:v>
                </c:pt>
              </c:numCache>
            </c:numRef>
          </c:val>
          <c:smooth val="0"/>
        </c:ser>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72768"/>
      </c:catAx>
      <c:valAx>
        <c:axId val="48672768"/>
        <c:scaling>
          <c:orientation val="minMax"/>
          <c:max val="40"/>
          <c:min val="-40"/>
        </c:scaling>
        <c:delete val="0"/>
        <c:axPos val="l"/>
        <c:majorGridlines>
          <c:spPr>
            <a:ln xmlns:a="http://schemas.openxmlformats.org/drawingml/2006/main" w="9525">
              <a:solidFill>
                <a:srgbClr val="D6D2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475" b="1">
                <a:solidFill>
                  <a:srgbClr val="9B712B"/>
                </a:solidFill>
                <a:latin typeface="Poppins"/>
                <a:ea typeface="Poppins"/>
                <a:cs typeface="Poppins"/>
              </a:rPr>
              <a:t>Wearer B</a:t>
            </a:r>
          </a:p>
        </c:rich>
      </c:tx>
      <c:overlay val="0"/>
      <c:txPr>
        <a:bodyPr xmlns:a="http://schemas.openxmlformats.org/drawingml/2006/main" anchorCtr="1"/>
        <a:lstStyle xmlns:a="http://schemas.openxmlformats.org/drawingml/2006/main"/>
        <a:p xmlns:a="http://schemas.openxmlformats.org/drawingml/2006/main">
          <a:pPr>
            <a:defRPr sz="2475" b="1">
              <a:solidFill>
                <a:srgbClr val="9B712B"/>
              </a:solidFill>
              <a:latin typeface="Poppins"/>
              <a:ea typeface="Poppins"/>
              <a:cs typeface="Poppins"/>
            </a:defRPr>
          </a:pPr>
        </a:p>
      </c:txPr>
    </c:title>
    <c:plotArea>
      <c:lineChart>
        <c:grouping val="standard"/>
        <c:varyColors val="0"/>
        <c:ser>
          <c:idx val="0"/>
          <c:order val="0"/>
          <c:tx>
            <c:v>Illustrative raw EEG (µV)</c:v>
          </c:tx>
          <c:spPr>
            <a:ln xmlns:a="http://schemas.openxmlformats.org/drawingml/2006/main" w="28575">
              <a:solidFill>
                <a:srgbClr val="9B712B"/>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-0.1</c:v>
                </c:pt>
                <c:pt idx="1">
                  <c:v>14.7</c:v>
                </c:pt>
                <c:pt idx="2">
                  <c:v>11.3</c:v>
                </c:pt>
                <c:pt idx="3">
                  <c:v>11.9</c:v>
                </c:pt>
                <c:pt idx="4">
                  <c:v>4.5</c:v>
                </c:pt>
                <c:pt idx="5">
                  <c:v>-14.6</c:v>
                </c:pt>
                <c:pt idx="6">
                  <c:v>-14.6</c:v>
                </c:pt>
                <c:pt idx="7">
                  <c:v>-8.9</c:v>
                </c:pt>
                <c:pt idx="8">
                  <c:v>-6.6</c:v>
                </c:pt>
                <c:pt idx="9">
                  <c:v>10.7</c:v>
                </c:pt>
                <c:pt idx="10">
                  <c:v>18.3</c:v>
                </c:pt>
                <c:pt idx="11">
                  <c:v>8</c:v>
                </c:pt>
                <c:pt idx="12">
                  <c:v>4.7</c:v>
                </c:pt>
                <c:pt idx="13">
                  <c:v>-6.1</c:v>
                </c:pt>
                <c:pt idx="14">
                  <c:v>-20</c:v>
                </c:pt>
                <c:pt idx="15">
                  <c:v>-11</c:v>
                </c:pt>
                <c:pt idx="16">
                  <c:v>-1.8</c:v>
                </c:pt>
                <c:pt idx="17">
                  <c:v>3</c:v>
                </c:pt>
                <c:pt idx="18">
                  <c:v>17.7</c:v>
                </c:pt>
                <c:pt idx="19">
                  <c:v>15.3</c:v>
                </c:pt>
                <c:pt idx="20">
                  <c:v>0</c:v>
                </c:pt>
                <c:pt idx="21">
                  <c:v>-3.9</c:v>
                </c:pt>
                <c:pt idx="22">
                  <c:v>-13.6</c:v>
                </c:pt>
                <c:pt idx="23">
                  <c:v>-18.7</c:v>
                </c:pt>
                <c:pt idx="24">
                  <c:v>-2.2</c:v>
                </c:pt>
                <c:pt idx="25">
                  <c:v>6.7</c:v>
                </c:pt>
                <c:pt idx="26">
                  <c:v>9.9</c:v>
                </c:pt>
                <c:pt idx="27">
                  <c:v>18.2</c:v>
                </c:pt>
                <c:pt idx="28">
                  <c:v>6.6</c:v>
                </c:pt>
                <c:pt idx="29">
                  <c:v>-9.4</c:v>
                </c:pt>
                <c:pt idx="30">
                  <c:v>-10</c:v>
                </c:pt>
                <c:pt idx="31">
                  <c:v>-15.2</c:v>
                </c:pt>
                <c:pt idx="32">
                  <c:v>-11.3</c:v>
                </c:pt>
                <c:pt idx="33">
                  <c:v>8.5</c:v>
                </c:pt>
                <c:pt idx="34">
                  <c:v>12.6</c:v>
                </c:pt>
                <c:pt idx="35">
                  <c:v>11.5</c:v>
                </c:pt>
                <c:pt idx="36">
                  <c:v>12.6</c:v>
                </c:pt>
                <c:pt idx="37">
                  <c:v>-4.7</c:v>
                </c:pt>
                <c:pt idx="38">
                  <c:v>-16.3</c:v>
                </c:pt>
                <c:pt idx="39">
                  <c:v>-10.8</c:v>
                </c:pt>
                <c:pt idx="40">
                  <c:v>-10.8</c:v>
                </c:pt>
                <c:pt idx="41">
                  <c:v>-0.5</c:v>
                </c:pt>
                <c:pt idx="42">
                  <c:v>17</c:v>
                </c:pt>
                <c:pt idx="43">
                  <c:v>13.2</c:v>
                </c:pt>
                <c:pt idx="44">
                  <c:v>7.3</c:v>
                </c:pt>
                <c:pt idx="45">
                  <c:v>3.1</c:v>
                </c:pt>
                <c:pt idx="46">
                  <c:v>-14.5</c:v>
                </c:pt>
                <c:pt idx="47">
                  <c:v>-17.6</c:v>
                </c:pt>
                <c:pt idx="48">
                  <c:v>-6</c:v>
                </c:pt>
                <c:pt idx="49">
                  <c:v>-2.6</c:v>
                </c:pt>
                <c:pt idx="50">
                  <c:v>9.6</c:v>
                </c:pt>
                <c:pt idx="51">
                  <c:v>20</c:v>
                </c:pt>
                <c:pt idx="52">
                  <c:v>7.7</c:v>
                </c:pt>
                <c:pt idx="53">
                  <c:v>-0.6</c:v>
                </c:pt>
                <c:pt idx="54">
                  <c:v>-6.2</c:v>
                </c:pt>
                <c:pt idx="55">
                  <c:v>-19.4</c:v>
                </c:pt>
                <c:pt idx="56">
                  <c:v>-12.4</c:v>
                </c:pt>
                <c:pt idx="57">
                  <c:v>2.6</c:v>
                </c:pt>
                <c:pt idx="58">
                  <c:v>5.7</c:v>
                </c:pt>
                <c:pt idx="59">
                  <c:v>15.4</c:v>
                </c:pt>
                <c:pt idx="60">
                  <c:v>16.3</c:v>
                </c:pt>
                <c:pt idx="61">
                  <c:v>-1.9</c:v>
                </c:pt>
                <c:pt idx="62">
                  <c:v>-8.6</c:v>
                </c:pt>
                <c:pt idx="63">
                  <c:v>-11.8</c:v>
                </c:pt>
                <c:pt idx="64">
                  <c:v>-17.5</c:v>
                </c:pt>
              </c:numCache>
            </c:numRef>
          </c:val>
          <c:smooth val="0"/>
        </c:ser>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72768"/>
      </c:catAx>
      <c:valAx>
        <c:axId val="48672768"/>
        <c:scaling>
          <c:orientation val="minMax"/>
          <c:max val="40"/>
          <c:min val="-40"/>
        </c:scaling>
        <c:delete val="0"/>
        <c:axPos val="l"/>
        <c:majorGridlines>
          <c:spPr>
            <a:ln xmlns:a="http://schemas.openxmlformats.org/drawingml/2006/main" w="9525">
              <a:solidFill>
                <a:srgbClr val="D6D2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475" b="1">
                <a:solidFill>
                  <a:srgbClr val="36705C"/>
                </a:solidFill>
                <a:latin typeface="Poppins"/>
                <a:ea typeface="Poppins"/>
                <a:cs typeface="Poppins"/>
              </a:rPr>
              <a:t>Wearer C</a:t>
            </a:r>
          </a:p>
        </c:rich>
      </c:tx>
      <c:overlay val="0"/>
      <c:txPr>
        <a:bodyPr xmlns:a="http://schemas.openxmlformats.org/drawingml/2006/main" anchorCtr="1"/>
        <a:lstStyle xmlns:a="http://schemas.openxmlformats.org/drawingml/2006/main"/>
        <a:p xmlns:a="http://schemas.openxmlformats.org/drawingml/2006/main">
          <a:pPr>
            <a:defRPr sz="2475" b="1">
              <a:solidFill>
                <a:srgbClr val="36705C"/>
              </a:solidFill>
              <a:latin typeface="Poppins"/>
              <a:ea typeface="Poppins"/>
              <a:cs typeface="Poppins"/>
            </a:defRPr>
          </a:pPr>
        </a:p>
      </c:txPr>
    </c:title>
    <c:plotArea>
      <c:lineChart>
        <c:grouping val="standard"/>
        <c:varyColors val="0"/>
        <c:ser>
          <c:idx val="0"/>
          <c:order val="0"/>
          <c:tx>
            <c:v>Illustrative raw EEG (µV)</c:v>
          </c:tx>
          <c:spPr>
            <a:ln xmlns:a="http://schemas.openxmlformats.org/drawingml/2006/main" w="28575">
              <a:solidFill>
                <a:srgbClr val="36705C"/>
              </a:solidFill>
            </a:ln>
          </c:spPr>
          <c:marker>
            <c:symbol val="none"/>
          </c:marker>
          <c:cat>
            <c:numRef>
              <c:f>'Chart Data'!$A$2:$A$66</c:f>
              <c:numCache>
                <c:formatCode>General</c:formatCode>
                <c:ptCount val="6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numCache>
            </c:numRef>
          </c:cat>
          <c:val>
            <c:numRef>
              <c:f>'Chart Data'!$B$2:$B$66</c:f>
              <c:numCache>
                <c:formatCode>0.0</c:formatCode>
                <c:ptCount val="65"/>
                <c:pt idx="0">
                  <c:v>-0.2</c:v>
                </c:pt>
                <c:pt idx="1">
                  <c:v>25.7</c:v>
                </c:pt>
                <c:pt idx="2">
                  <c:v>19.7</c:v>
                </c:pt>
                <c:pt idx="3">
                  <c:v>20.8</c:v>
                </c:pt>
                <c:pt idx="4">
                  <c:v>7.9</c:v>
                </c:pt>
                <c:pt idx="5">
                  <c:v>-25.6</c:v>
                </c:pt>
                <c:pt idx="6">
                  <c:v>-25.6</c:v>
                </c:pt>
                <c:pt idx="7">
                  <c:v>-15.6</c:v>
                </c:pt>
                <c:pt idx="8">
                  <c:v>-11.5</c:v>
                </c:pt>
                <c:pt idx="9">
                  <c:v>18.8</c:v>
                </c:pt>
                <c:pt idx="10">
                  <c:v>32</c:v>
                </c:pt>
                <c:pt idx="11">
                  <c:v>13.9</c:v>
                </c:pt>
                <c:pt idx="12">
                  <c:v>8.2</c:v>
                </c:pt>
                <c:pt idx="13">
                  <c:v>-10.7</c:v>
                </c:pt>
                <c:pt idx="14">
                  <c:v>-35</c:v>
                </c:pt>
                <c:pt idx="15">
                  <c:v>-19.2</c:v>
                </c:pt>
                <c:pt idx="16">
                  <c:v>-3.1</c:v>
                </c:pt>
                <c:pt idx="17">
                  <c:v>5.3</c:v>
                </c:pt>
                <c:pt idx="18">
                  <c:v>30.9</c:v>
                </c:pt>
                <c:pt idx="19">
                  <c:v>26.8</c:v>
                </c:pt>
                <c:pt idx="20">
                  <c:v>0</c:v>
                </c:pt>
                <c:pt idx="21">
                  <c:v>-6.8</c:v>
                </c:pt>
                <c:pt idx="22">
                  <c:v>-23.8</c:v>
                </c:pt>
                <c:pt idx="23">
                  <c:v>-32.8</c:v>
                </c:pt>
                <c:pt idx="24">
                  <c:v>-3.9</c:v>
                </c:pt>
                <c:pt idx="25">
                  <c:v>11.7</c:v>
                </c:pt>
                <c:pt idx="26">
                  <c:v>17.4</c:v>
                </c:pt>
                <c:pt idx="27">
                  <c:v>31.9</c:v>
                </c:pt>
                <c:pt idx="28">
                  <c:v>11.6</c:v>
                </c:pt>
                <c:pt idx="29">
                  <c:v>-16.4</c:v>
                </c:pt>
                <c:pt idx="30">
                  <c:v>-17.4</c:v>
                </c:pt>
                <c:pt idx="31">
                  <c:v>-26.6</c:v>
                </c:pt>
                <c:pt idx="32">
                  <c:v>-19.8</c:v>
                </c:pt>
                <c:pt idx="33">
                  <c:v>14.8</c:v>
                </c:pt>
                <c:pt idx="34">
                  <c:v>22.1</c:v>
                </c:pt>
                <c:pt idx="35">
                  <c:v>20.1</c:v>
                </c:pt>
                <c:pt idx="36">
                  <c:v>22</c:v>
                </c:pt>
                <c:pt idx="37">
                  <c:v>-8.2</c:v>
                </c:pt>
                <c:pt idx="38">
                  <c:v>-28.4</c:v>
                </c:pt>
                <c:pt idx="39">
                  <c:v>-18.9</c:v>
                </c:pt>
                <c:pt idx="40">
                  <c:v>-19</c:v>
                </c:pt>
                <c:pt idx="41">
                  <c:v>-0.9</c:v>
                </c:pt>
                <c:pt idx="42">
                  <c:v>29.7</c:v>
                </c:pt>
                <c:pt idx="43">
                  <c:v>23.1</c:v>
                </c:pt>
                <c:pt idx="44">
                  <c:v>12.8</c:v>
                </c:pt>
                <c:pt idx="45">
                  <c:v>5.5</c:v>
                </c:pt>
                <c:pt idx="46">
                  <c:v>-25.5</c:v>
                </c:pt>
                <c:pt idx="47">
                  <c:v>-30.7</c:v>
                </c:pt>
                <c:pt idx="48">
                  <c:v>-10.5</c:v>
                </c:pt>
                <c:pt idx="49">
                  <c:v>-4.6</c:v>
                </c:pt>
                <c:pt idx="50">
                  <c:v>16.9</c:v>
                </c:pt>
                <c:pt idx="51">
                  <c:v>35</c:v>
                </c:pt>
                <c:pt idx="52">
                  <c:v>13.5</c:v>
                </c:pt>
                <c:pt idx="53">
                  <c:v>-1</c:v>
                </c:pt>
                <c:pt idx="54">
                  <c:v>-10.9</c:v>
                </c:pt>
                <c:pt idx="55">
                  <c:v>-33.9</c:v>
                </c:pt>
                <c:pt idx="56">
                  <c:v>-21.7</c:v>
                </c:pt>
                <c:pt idx="57">
                  <c:v>4.6</c:v>
                </c:pt>
                <c:pt idx="58">
                  <c:v>9.9</c:v>
                </c:pt>
                <c:pt idx="59">
                  <c:v>26.9</c:v>
                </c:pt>
                <c:pt idx="60">
                  <c:v>28.5</c:v>
                </c:pt>
                <c:pt idx="61">
                  <c:v>-3.4</c:v>
                </c:pt>
                <c:pt idx="62">
                  <c:v>-15</c:v>
                </c:pt>
                <c:pt idx="63">
                  <c:v>-20.6</c:v>
                </c:pt>
                <c:pt idx="64">
                  <c:v>-30.6</c:v>
                </c:pt>
              </c:numCache>
            </c:numRef>
          </c:val>
          <c:smooth val="0"/>
        </c:ser>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72768"/>
      </c:catAx>
      <c:valAx>
        <c:axId val="48672768"/>
        <c:scaling>
          <c:orientation val="minMax"/>
          <c:max val="40"/>
          <c:min val="-40"/>
        </c:scaling>
        <c:delete val="0"/>
        <c:axPos val="l"/>
        <c:majorGridlines>
          <c:spPr>
            <a:ln xmlns:a="http://schemas.openxmlformats.org/drawingml/2006/main" w="9525">
              <a:solidFill>
                <a:srgbClr val="D6D2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5A5D59"/>
                </a:solidFill>
                <a:latin typeface="Poppins"/>
                <a:ea typeface="Poppins"/>
                <a:cs typeface="Poppins"/>
              </a:rPr>
              <a:t>Change from personal baseline (standard deviations)</a:t>
            </a:r>
          </a:p>
        </c:rich>
      </c:tx>
      <c:overlay val="0"/>
      <c:txPr>
        <a:bodyPr xmlns:a="http://schemas.openxmlformats.org/drawingml/2006/main" anchorCtr="1"/>
        <a:lstStyle xmlns:a="http://schemas.openxmlformats.org/drawingml/2006/main"/>
        <a:p xmlns:a="http://schemas.openxmlformats.org/drawingml/2006/main">
          <a:pPr>
            <a:defRPr sz="2100">
              <a:solidFill>
                <a:srgbClr val="5A5D59"/>
              </a:solidFill>
              <a:latin typeface="Poppins"/>
              <a:ea typeface="Poppins"/>
              <a:cs typeface="Poppins"/>
            </a:defRPr>
          </a:pPr>
        </a:p>
      </c:txPr>
    </c:title>
    <c:plotArea>
      <c:barChart>
        <c:barDir val="col"/>
        <c:grouping val="clustered"/>
        <c:varyColors val="0"/>
        <c:ser>
          <c:idx val="0"/>
          <c:order val="0"/>
          <c:tx>
            <c:v>Change from personal baseline (standard deviations)</c:v>
          </c:tx>
          <c:spPr>
            <a:solidFill xmlns:a="http://schemas.openxmlformats.org/drawingml/2006/main">
              <a:srgbClr val="326B8C"/>
            </a:solidFill>
          </c:spPr>
          <c:dPt>
            <c:idx val="0"/>
            <c:invertIfNegative val="0"/>
            <c:spPr>
              <a:solidFill xmlns:a="http://schemas.openxmlformats.org/drawingml/2006/main">
                <a:srgbClr val="9B712B"/>
              </a:solidFill>
            </c:spPr>
          </c:dPt>
          <c:dPt>
            <c:idx val="1"/>
            <c:invertIfNegative val="0"/>
            <c:spPr>
              <a:solidFill xmlns:a="http://schemas.openxmlformats.org/drawingml/2006/main">
                <a:srgbClr val="326B8C"/>
              </a:solidFill>
            </c:spPr>
          </c:dPt>
          <c:dLbls>
            <c:dLbl>
              <c:idx val="0"/>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4.0</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0.8</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s>
          <c:cat>
            <c:strRef>
              <c:f>'Chart Data'!$A$2:$A$3</c:f>
              <c:strCache>
                <c:ptCount val="2"/>
                <c:pt idx="0">
                  <c:v>Wearer A</c:v>
                </c:pt>
                <c:pt idx="1">
                  <c:v>Wearer B</c:v>
                </c:pt>
              </c:strCache>
            </c:strRef>
          </c:cat>
          <c:val>
            <c:numRef>
              <c:f>'Chart Data'!$B$2:$B$3</c:f>
              <c:numCache>
                <c:formatCode>0.0</c:formatCode>
                <c:ptCount val="2"/>
                <c:pt idx="0">
                  <c:v>4</c:v>
                </c:pt>
                <c:pt idx="1">
                  <c:v>0.8</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2C7"/>
            </a:solidFill>
          </a:ln>
        </c:spPr>
        <c:txPr>
          <a:bodyPr xmlns:a="http://schemas.openxmlformats.org/drawingml/2006/main" anchorCtr="1"/>
          <a:lstStyle xmlns:a="http://schemas.openxmlformats.org/drawingml/2006/main"/>
          <a:p xmlns:a="http://schemas.openxmlformats.org/drawingml/2006/main">
            <a:pPr>
              <a:defRPr sz="2400">
                <a:solidFill>
                  <a:srgbClr val="191A18"/>
                </a:solidFill>
                <a:latin typeface="Poppins"/>
                <a:ea typeface="Poppins"/>
                <a:cs typeface="Poppins"/>
              </a:defRPr>
            </a:pPr>
          </a:p>
        </c:txPr>
        <c:crossAx val="48672768"/>
      </c:catAx>
      <c:valAx>
        <c:axId val="48672768"/>
        <c:scaling>
          <c:orientation val="minMax"/>
          <c:max val="5"/>
          <c:min val="0"/>
        </c:scaling>
        <c:delete val="0"/>
        <c:axPos val="l"/>
        <c:majorGridlines>
          <c:spPr>
            <a:ln xmlns:a="http://schemas.openxmlformats.org/drawingml/2006/main" w="9525">
              <a:solidFill>
                <a:srgbClr val="D6D2C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5A5D59"/>
                </a:solidFill>
                <a:latin typeface="Poppins"/>
                <a:ea typeface="Poppins"/>
                <a:cs typeface="Poppins"/>
              </a:rPr>
              <a:t>False alarms per hour</a:t>
            </a:r>
          </a:p>
        </c:rich>
      </c:tx>
      <c:overlay val="0"/>
      <c:txPr>
        <a:bodyPr xmlns:a="http://schemas.openxmlformats.org/drawingml/2006/main" anchorCtr="1"/>
        <a:lstStyle xmlns:a="http://schemas.openxmlformats.org/drawingml/2006/main"/>
        <a:p xmlns:a="http://schemas.openxmlformats.org/drawingml/2006/main">
          <a:pPr>
            <a:defRPr sz="2100">
              <a:solidFill>
                <a:srgbClr val="5A5D59"/>
              </a:solidFill>
              <a:latin typeface="Poppins"/>
              <a:ea typeface="Poppins"/>
              <a:cs typeface="Poppins"/>
            </a:defRPr>
          </a:pPr>
        </a:p>
      </c:txPr>
    </c:title>
    <c:plotArea>
      <c:barChart>
        <c:barDir val="col"/>
        <c:grouping val="clustered"/>
        <c:varyColors val="0"/>
        <c:ser>
          <c:idx val="0"/>
          <c:order val="0"/>
          <c:tx>
            <c:v>False alarms per hour</c:v>
          </c:tx>
          <c:spPr>
            <a:solidFill xmlns:a="http://schemas.openxmlformats.org/drawingml/2006/main">
              <a:srgbClr val="326B8C"/>
            </a:solidFill>
          </c:spPr>
          <c:dPt>
            <c:idx val="0"/>
            <c:invertIfNegative val="0"/>
            <c:spPr>
              <a:solidFill xmlns:a="http://schemas.openxmlformats.org/drawingml/2006/main">
                <a:srgbClr val="AC493B"/>
              </a:solidFill>
            </c:spPr>
          </c:dPt>
          <c:dPt>
            <c:idx val="1"/>
            <c:invertIfNegative val="0"/>
            <c:spPr>
              <a:solidFill xmlns:a="http://schemas.openxmlformats.org/drawingml/2006/main">
                <a:srgbClr val="9B712B"/>
              </a:solidFill>
            </c:spPr>
          </c:dPt>
          <c:dPt>
            <c:idx val="2"/>
            <c:invertIfNegative val="0"/>
            <c:spPr>
              <a:solidFill xmlns:a="http://schemas.openxmlformats.org/drawingml/2006/main">
                <a:srgbClr val="326B8C"/>
              </a:solidFill>
            </c:spPr>
          </c:dPt>
          <c:dLbls>
            <c:dLbl>
              <c:idx val="0"/>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30.3</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18.9</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700" b="1">
                        <a:solidFill>
                          <a:srgbClr val="191A18"/>
                        </a:solidFill>
                        <a:latin typeface="Poppins"/>
                        <a:ea typeface="Poppins"/>
                        <a:cs typeface="Poppins"/>
                      </a:rPr>
                      <a:t>1.3</a:t>
                    </a:r>
                  </a:p>
                </c:rich>
              </c:tx>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showLegendKey val="0"/>
              <c:showVal val="0"/>
              <c:showCatName val="0"/>
              <c:showSerName val="0"/>
              <c:showPercent val="0"/>
              <c:showBubbleSize val="0"/>
            </c:dLbl>
          </c:dLbls>
          <c:cat>
            <c:strRef>
              <c:f>'Chart Data'!$A$2:$A$4</c:f>
              <c:strCache>
                <c:ptCount val="3"/>
                <c:pt idx="0">
                  <c:v>75% overlap</c:v>
                </c:pt>
                <c:pt idx="1">
                  <c:v>50% overlap</c:v>
                </c:pt>
                <c:pt idx="2">
                  <c:v>No overlap</c:v>
                </c:pt>
              </c:strCache>
            </c:strRef>
          </c:cat>
          <c:val>
            <c:numRef>
              <c:f>'Chart Data'!$B$2:$B$4</c:f>
              <c:numCache>
                <c:formatCode>0.0</c:formatCode>
                <c:ptCount val="3"/>
                <c:pt idx="0">
                  <c:v>30.3</c:v>
                </c:pt>
                <c:pt idx="1">
                  <c:v>18.9</c:v>
                </c:pt>
                <c:pt idx="2">
                  <c:v>1.3</c:v>
                </c:pt>
              </c:numCache>
            </c:numRef>
          </c:val>
        </c:ser>
        <c:dLbls>
          <c:txPr>
            <a:bodyPr xmlns:a="http://schemas.openxmlformats.org/drawingml/2006/main" anchorCtr="1"/>
            <a:lstStyle xmlns:a="http://schemas.openxmlformats.org/drawingml/2006/main"/>
            <a:p xmlns:a="http://schemas.openxmlformats.org/drawingml/2006/main">
              <a:pPr>
                <a:defRPr sz="2700" b="1">
                  <a:solidFill>
                    <a:srgbClr val="191A18"/>
                  </a:solidFill>
                  <a:latin typeface="Poppins"/>
                  <a:ea typeface="Poppins"/>
                  <a:cs typeface="Poppi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2C7"/>
            </a:solidFill>
          </a:ln>
        </c:spPr>
        <c:txPr>
          <a:bodyPr xmlns:a="http://schemas.openxmlformats.org/drawingml/2006/main" anchorCtr="1"/>
          <a:lstStyle xmlns:a="http://schemas.openxmlformats.org/drawingml/2006/main"/>
          <a:p xmlns:a="http://schemas.openxmlformats.org/drawingml/2006/main">
            <a:pPr>
              <a:defRPr sz="2400">
                <a:solidFill>
                  <a:srgbClr val="191A18"/>
                </a:solidFill>
                <a:latin typeface="Poppins"/>
                <a:ea typeface="Poppins"/>
                <a:cs typeface="Poppins"/>
              </a:defRPr>
            </a:pPr>
          </a:p>
        </c:txPr>
        <c:crossAx val="48672768"/>
      </c:catAx>
      <c:valAx>
        <c:axId val="48672768"/>
        <c:scaling>
          <c:orientation val="minMax"/>
          <c:max val="35"/>
          <c:min val="0"/>
        </c:scaling>
        <c:delete val="0"/>
        <c:axPos val="l"/>
        <c:majorGridlines>
          <c:spPr>
            <a:ln xmlns:a="http://schemas.openxmlformats.org/drawingml/2006/main" w="9525">
              <a:solidFill>
                <a:srgbClr val="D6D2C7"/>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5A5D59"/>
                </a:solidFill>
                <a:latin typeface="Poppins"/>
                <a:ea typeface="Poppins"/>
                <a:cs typeface="Poppins"/>
              </a:defRPr>
            </a:pPr>
          </a:p>
        </c:txPr>
        <c:crossAx val="48650112"/>
        <c:crossBetween val="between"/>
      </c:valAx>
      <c:spPr>
        <a:solidFill xmlns:a="http://schemas.openxmlformats.org/drawingml/2006/main">
          <a:srgbClr val="F3EFE6"/>
        </a:solidFill>
        <a:ln xmlns:a="http://schemas.openxmlformats.org/drawingml/2006/main">
          <a:noFill/>
        </a:ln>
      </c:spPr>
    </c:plotArea>
    <c:plotVisOnly val="1"/>
  </c:chart>
  <c:spPr>
    <a:solidFill xmlns:a="http://schemas.openxmlformats.org/drawingml/2006/main">
      <a:srgbClr val="F3EFE6"/>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8b3f1d48992143b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visit the moments you almost forgot.">
            <a:extLst xmlns:a="http://schemas.openxmlformats.org/drawingml/2006/main">
              <a:ext uri="{FF2B5EF4-FFF2-40B4-BE49-F238E27FC236}">
                <a16:creationId xmlns:a16="http://schemas.microsoft.com/office/drawing/2014/main" id="{EA34EABC-619D-41B7-AE0D-ADEDE50EF3DE}"/>
              </a:ext>
            </a:extLst>
          </p:cNvPr>
          <p:cNvSpPr>
            <a:spLocks xmlns:a="http://schemas.openxmlformats.org/drawingml/2006/main" noGrp="1"/>
          </p:cNvSpPr>
          <p:nvPr/>
        </p:nvSpPr>
        <p:spPr>
          <a:xfrm xmlns:a="http://schemas.openxmlformats.org/drawingml/2006/main">
            <a:off x="1524000" y="6905625"/>
            <a:ext cx="1524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900" b="0">
                <a:solidFill>
                  <a:srgbClr val="191A18"/>
                </a:solidFill>
                <a:latin typeface="Poppins"/>
                <a:ea typeface="Poppins"/>
                <a:cs typeface="Poppins"/>
              </a:defRPr>
            </a:pPr>
            <a:r>
              <a:rPr sz="3900" b="0">
                <a:solidFill>
                  <a:srgbClr val="191A18"/>
                </a:solidFill>
                <a:latin typeface="Poppins"/>
                <a:ea typeface="Poppins"/>
                <a:cs typeface="Poppins"/>
              </a:rPr>
              <a:t>Revisit the moments you almost forgot.</a:t>
            </a:r>
          </a:p>
        </p:txBody>
      </p:sp>
      <p:sp>
        <p:nvSpPr>
          <p:cNvPr id="3" name="HackMIT 2026">
            <a:extLst xmlns:a="http://schemas.openxmlformats.org/drawingml/2006/main">
              <a:ext uri="{FF2B5EF4-FFF2-40B4-BE49-F238E27FC236}">
                <a16:creationId xmlns:a16="http://schemas.microsoft.com/office/drawing/2014/main" id="{8FBC6486-E136-471C-B85B-52F36586A661}"/>
              </a:ext>
            </a:extLst>
          </p:cNvPr>
          <p:cNvSpPr>
            <a:spLocks xmlns:a="http://schemas.openxmlformats.org/drawingml/2006/main" noGrp="1"/>
          </p:cNvSpPr>
          <p:nvPr/>
        </p:nvSpPr>
        <p:spPr>
          <a:xfrm xmlns:a="http://schemas.openxmlformats.org/drawingml/2006/main">
            <a:off x="1524000" y="8639175"/>
            <a:ext cx="1524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0">
                <a:solidFill>
                  <a:srgbClr val="9B712B"/>
                </a:solidFill>
                <a:latin typeface="Poppins"/>
                <a:ea typeface="Poppins"/>
                <a:cs typeface="Poppins"/>
              </a:defRPr>
            </a:pPr>
            <a:r>
              <a:rPr sz="2250" b="0">
                <a:solidFill>
                  <a:srgbClr val="9B712B"/>
                </a:solidFill>
                <a:latin typeface="Poppins"/>
                <a:ea typeface="Poppins"/>
                <a:cs typeface="Poppins"/>
              </a:rPr>
              <a:t>HackMIT 2026</a:t>
            </a:r>
          </a:p>
        </p:txBody>
      </p:sp>
    </p:spTree>
    <p:extLst>
      <p:ext uri="{BB962C8B-B14F-4D97-AF65-F5344CB8AC3E}">
        <p14:creationId xmlns:p14="http://schemas.microsoft.com/office/powerpoint/2010/main" val="1152417978"/>
      </p:ext>
    </p:extLst>
  </p:cSld>
</p:sld>
</file>

<file path=ppt/slides/slide2.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Ever walked into a room…">
            <a:extLst xmlns:a="http://schemas.openxmlformats.org/drawingml/2006/main">
              <a:ext uri="{FF2B5EF4-FFF2-40B4-BE49-F238E27FC236}">
                <a16:creationId xmlns:a16="http://schemas.microsoft.com/office/drawing/2014/main" id="{70FD55A5-9128-487C-A9BF-FD62A466514C}"/>
              </a:ext>
            </a:extLst>
          </p:cNvPr>
          <p:cNvSpPr>
            <a:spLocks xmlns:a="http://schemas.openxmlformats.org/drawingml/2006/main" noGrp="1"/>
          </p:cNvSpPr>
          <p:nvPr/>
        </p:nvSpPr>
        <p:spPr>
          <a:xfrm xmlns:a="http://schemas.openxmlformats.org/drawingml/2006/main">
            <a:off x="1047750" y="2190750"/>
            <a:ext cx="1571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750" b="1">
                <a:solidFill>
                  <a:srgbClr val="191A18"/>
                </a:solidFill>
                <a:latin typeface="Poppins"/>
                <a:ea typeface="Poppins"/>
                <a:cs typeface="Poppins"/>
              </a:defRPr>
            </a:pPr>
            <a:r>
              <a:rPr sz="6750" b="1">
                <a:solidFill>
                  <a:srgbClr val="191A18"/>
                </a:solidFill>
                <a:latin typeface="Poppins"/>
                <a:ea typeface="Poppins"/>
                <a:cs typeface="Poppins"/>
              </a:rPr>
              <a:t>Ever walked into a room…</a:t>
            </a:r>
          </a:p>
        </p:txBody>
      </p:sp>
      <p:sp>
        <p:nvSpPr>
          <p:cNvPr id="2" name="and forgotten what you came to say?">
            <a:extLst xmlns:a="http://schemas.openxmlformats.org/drawingml/2006/main">
              <a:ext uri="{FF2B5EF4-FFF2-40B4-BE49-F238E27FC236}">
                <a16:creationId xmlns:a16="http://schemas.microsoft.com/office/drawing/2014/main" id="{ED33ABE4-4E6B-4765-92E6-462C1474ABD7}"/>
              </a:ext>
            </a:extLst>
          </p:cNvPr>
          <p:cNvSpPr>
            <a:spLocks xmlns:a="http://schemas.openxmlformats.org/drawingml/2006/main" noGrp="1"/>
          </p:cNvSpPr>
          <p:nvPr/>
        </p:nvSpPr>
        <p:spPr>
          <a:xfrm xmlns:a="http://schemas.openxmlformats.org/drawingml/2006/main">
            <a:off x="1047750" y="3886200"/>
            <a:ext cx="15811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191A18"/>
                </a:solidFill>
                <a:latin typeface="Poppins"/>
                <a:ea typeface="Poppins"/>
                <a:cs typeface="Poppins"/>
              </a:defRPr>
            </a:pPr>
            <a:r>
              <a:rPr sz="6150" b="1">
                <a:solidFill>
                  <a:srgbClr val="191A18"/>
                </a:solidFill>
                <a:latin typeface="Poppins"/>
                <a:ea typeface="Poppins"/>
                <a:cs typeface="Poppins"/>
              </a:rPr>
              <a:t>and forgotten what you came to say?</a:t>
            </a:r>
          </a:p>
        </p:txBody>
      </p:sp>
      <p:sp>
        <p:nvSpPr>
          <p:cNvPr id="3" name="Our objective">
            <a:extLst xmlns:a="http://schemas.openxmlformats.org/drawingml/2006/main">
              <a:ext uri="{FF2B5EF4-FFF2-40B4-BE49-F238E27FC236}">
                <a16:creationId xmlns:a16="http://schemas.microsoft.com/office/drawing/2014/main" id="{02B31265-8C83-4551-BF46-BF1DF36AAF83}"/>
              </a:ext>
            </a:extLst>
          </p:cNvPr>
          <p:cNvSpPr>
            <a:spLocks xmlns:a="http://schemas.openxmlformats.org/drawingml/2006/main" noGrp="1"/>
          </p:cNvSpPr>
          <p:nvPr/>
        </p:nvSpPr>
        <p:spPr>
          <a:xfrm xmlns:a="http://schemas.openxmlformats.org/drawingml/2006/main">
            <a:off x="1047750" y="6962775"/>
            <a:ext cx="1571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9B712B"/>
                </a:solidFill>
                <a:latin typeface="Poppins"/>
                <a:ea typeface="Poppins"/>
                <a:cs typeface="Poppins"/>
              </a:defRPr>
            </a:pPr>
            <a:r>
              <a:rPr sz="2925" b="1">
                <a:solidFill>
                  <a:srgbClr val="9B712B"/>
                </a:solidFill>
                <a:latin typeface="Poppins"/>
                <a:ea typeface="Poppins"/>
                <a:cs typeface="Poppins"/>
              </a:rPr>
              <a:t>Our objective</a:t>
            </a:r>
          </a:p>
        </p:txBody>
      </p:sp>
      <p:sp>
        <p:nvSpPr>
          <p:cNvPr id="4" name="Revisit recorded moments, reflect on your day,&#10;and">
            <a:extLst xmlns:a="http://schemas.openxmlformats.org/drawingml/2006/main">
              <a:ext uri="{FF2B5EF4-FFF2-40B4-BE49-F238E27FC236}">
                <a16:creationId xmlns:a16="http://schemas.microsoft.com/office/drawing/2014/main" id="{2184826A-214B-495F-871A-EDC984E1FC3A}"/>
              </a:ext>
            </a:extLst>
          </p:cNvPr>
          <p:cNvSpPr>
            <a:spLocks xmlns:a="http://schemas.openxmlformats.org/drawingml/2006/main" noGrp="1"/>
          </p:cNvSpPr>
          <p:nvPr/>
        </p:nvSpPr>
        <p:spPr>
          <a:xfrm xmlns:a="http://schemas.openxmlformats.org/drawingml/2006/main">
            <a:off x="1047750" y="7667625"/>
            <a:ext cx="15811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0">
                <a:solidFill>
                  <a:srgbClr val="326B8C"/>
                </a:solidFill>
                <a:latin typeface="Poppins"/>
                <a:ea typeface="Poppins"/>
                <a:cs typeface="Poppins"/>
              </a:defRPr>
            </a:pPr>
            <a:r>
              <a:rPr sz="2925" b="0">
                <a:solidFill>
                  <a:srgbClr val="326B8C"/>
                </a:solidFill>
                <a:latin typeface="Poppins"/>
                <a:ea typeface="Poppins"/>
                <a:cs typeface="Poppins"/>
              </a:rPr>
              <a:t>Revisit recorded moments, reflect on your day,</a:t>
            </a:r>
          </a:p>
          <a:p xmlns:a="http://schemas.openxmlformats.org/drawingml/2006/main">
            <a:pPr algn="l">
              <a:defRPr sz="2925" b="0">
                <a:solidFill>
                  <a:srgbClr val="326B8C"/>
                </a:solidFill>
                <a:latin typeface="Poppins"/>
                <a:ea typeface="Poppins"/>
                <a:cs typeface="Poppins"/>
              </a:defRPr>
            </a:pPr>
            <a:r>
              <a:rPr sz="2925" b="0">
                <a:solidFill>
                  <a:srgbClr val="326B8C"/>
                </a:solidFill>
                <a:latin typeface="Poppins"/>
                <a:ea typeface="Poppins"/>
                <a:cs typeface="Poppins"/>
              </a:rPr>
              <a:t>and share selected experiences with someone close.</a:t>
            </a:r>
          </a:p>
        </p:txBody>
      </p:sp>
    </p:spTree>
    <p:extLst>
      <p:ext uri="{BB962C8B-B14F-4D97-AF65-F5344CB8AC3E}">
        <p14:creationId xmlns:p14="http://schemas.microsoft.com/office/powerpoint/2010/main" val="808118895"/>
      </p:ext>
    </p:extLst>
  </p:cSld>
</p:sld>
</file>

<file path=ppt/slides/slide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intro video">
            <a:hlinkClick action="ppaction://media"/>
          </p:cNvPr>
          <p:cNvPicPr>
            <a:picLocks noChangeAspect="1"/>
          </p:cNvPicPr>
          <p:nvPr>
            <a:videoFile r:link="rIdMemoryVideo3"/>
            <p:extLst>
              <p:ext uri="{DAA4B4D4-6D71-4841-9C94-3DE7FCFB9230}">
                <p14:media xmlns:p14="http://schemas.microsoft.com/office/powerpoint/2010/main" r:embed="rIdMemoryMedia3"/>
              </p:ext>
            </p:extLst>
          </p:nvPr>
        </p:nvPicPr>
        <p:blipFill>
          <a:blip r:embed="rIdMemoryPoster3"/>
          <a:stretch>
            <a:fillRect/>
          </a:stretch>
        </p:blipFill>
        <p:spPr>
          <a:xfrm>
            <a:off x="0" y="0"/>
            <a:ext cx="18288000" cy="10287000"/>
          </a:xfrm>
          <a:prstGeom prst="rect">
            <a:avLst/>
          </a:prstGeom>
        </p:spPr>
      </p:pic>
    </p:spTree>
    <p:extLst>
      <p:ext uri="{BB962C8B-B14F-4D97-AF65-F5344CB8AC3E}">
        <p14:creationId xmlns:p14="http://schemas.microsoft.com/office/powerpoint/2010/main" val="1057954454"/>
      </p:ext>
    </p:extLst>
  </p:cSld>
</p:sld>
</file>

<file path=ppt/slides/slide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9" name="Come back to your day">
            <a:extLst xmlns:a="http://schemas.openxmlformats.org/drawingml/2006/main">
              <a:ext uri="{FF2B5EF4-FFF2-40B4-BE49-F238E27FC236}">
                <a16:creationId xmlns:a16="http://schemas.microsoft.com/office/drawing/2014/main" id="{E3A0757A-FCF0-42D4-87F8-E3368F15792F}"/>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Come back to your day</a:t>
            </a:r>
          </a:p>
        </p:txBody>
      </p:sp>
      <p:sp>
        <p:nvSpPr>
          <p:cNvPr id="2" name="Revisit what happened. Learn from it. Let someone ">
            <a:extLst xmlns:a="http://schemas.openxmlformats.org/drawingml/2006/main">
              <a:ext uri="{FF2B5EF4-FFF2-40B4-BE49-F238E27FC236}">
                <a16:creationId xmlns:a16="http://schemas.microsoft.com/office/drawing/2014/main" id="{3650B131-AB00-4D7A-9C75-0EF45896DAF0}"/>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Revisit what happened. Learn from it. Let someone close understand.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1d6fddd13d44612"/>
          <a:stretch xmlns:a="http://schemas.openxmlformats.org/drawingml/2006/main"/>
        </p:blipFill>
        <p:spPr>
          <a:xfrm xmlns:a="http://schemas.openxmlformats.org/drawingml/2006/main">
            <a:off x="1047750" y="3292078"/>
            <a:ext cx="9715500" cy="5464969"/>
          </a:xfrm>
          <a:prstGeom xmlns:a="http://schemas.openxmlformats.org/drawingml/2006/main" prst="rect">
            <a:avLst/>
          </a:prstGeom>
        </p:spPr>
      </p:pic>
      <p:sp>
        <p:nvSpPr>
          <p:cNvPr id="4" name="Reflect">
            <a:extLst xmlns:a="http://schemas.openxmlformats.org/drawingml/2006/main">
              <a:ext uri="{FF2B5EF4-FFF2-40B4-BE49-F238E27FC236}">
                <a16:creationId xmlns:a16="http://schemas.microsoft.com/office/drawing/2014/main" id="{86A32A48-23BE-4C1E-8C2B-C62A79D210AB}"/>
              </a:ext>
            </a:extLst>
          </p:cNvPr>
          <p:cNvSpPr>
            <a:spLocks xmlns:a="http://schemas.openxmlformats.org/drawingml/2006/main" noGrp="1"/>
          </p:cNvSpPr>
          <p:nvPr/>
        </p:nvSpPr>
        <p:spPr>
          <a:xfrm xmlns:a="http://schemas.openxmlformats.org/drawingml/2006/main">
            <a:off x="11525250" y="333375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326B8C"/>
                </a:solidFill>
                <a:latin typeface="Poppins"/>
                <a:ea typeface="Poppins"/>
                <a:cs typeface="Poppins"/>
              </a:defRPr>
            </a:pPr>
            <a:r>
              <a:rPr sz="3450" b="1">
                <a:solidFill>
                  <a:srgbClr val="326B8C"/>
                </a:solidFill>
                <a:latin typeface="Poppins"/>
                <a:ea typeface="Poppins"/>
                <a:cs typeface="Poppins"/>
              </a:rPr>
              <a:t>Reflect</a:t>
            </a:r>
          </a:p>
        </p:txBody>
      </p:sp>
      <p:sp>
        <p:nvSpPr>
          <p:cNvPr id="5" name="What happened?&#10;What do I want to learn?">
            <a:extLst xmlns:a="http://schemas.openxmlformats.org/drawingml/2006/main">
              <a:ext uri="{FF2B5EF4-FFF2-40B4-BE49-F238E27FC236}">
                <a16:creationId xmlns:a16="http://schemas.microsoft.com/office/drawing/2014/main" id="{1C51B60D-0A57-451D-9E0E-162BF45B35DF}"/>
              </a:ext>
            </a:extLst>
          </p:cNvPr>
          <p:cNvSpPr>
            <a:spLocks xmlns:a="http://schemas.openxmlformats.org/drawingml/2006/main" noGrp="1"/>
          </p:cNvSpPr>
          <p:nvPr/>
        </p:nvSpPr>
        <p:spPr>
          <a:xfrm xmlns:a="http://schemas.openxmlformats.org/drawingml/2006/main">
            <a:off x="11525250" y="4114800"/>
            <a:ext cx="5524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What happened?</a:t>
            </a:r>
          </a:p>
          <a:p xmlns:a="http://schemas.openxmlformats.org/drawingml/2006/main">
            <a:pPr algn="l">
              <a:defRPr sz="2550" b="0">
                <a:solidFill>
                  <a:srgbClr val="5A5D59"/>
                </a:solidFill>
                <a:latin typeface="Poppins"/>
                <a:ea typeface="Poppins"/>
                <a:cs typeface="Poppins"/>
              </a:defRPr>
            </a:pPr>
            <a:r>
              <a:rPr sz="2550" b="0">
                <a:solidFill>
                  <a:srgbClr val="5A5D59"/>
                </a:solidFill>
                <a:latin typeface="Poppins"/>
                <a:ea typeface="Poppins"/>
                <a:cs typeface="Poppins"/>
              </a:rPr>
              <a:t>What do I want to learn?</a:t>
            </a:r>
          </a:p>
        </p:txBody>
      </p:sp>
      <p:sp>
        <p:nvSpPr>
          <p:cNvPr id="6" name="Share with someone close">
            <a:extLst xmlns:a="http://schemas.openxmlformats.org/drawingml/2006/main">
              <a:ext uri="{FF2B5EF4-FFF2-40B4-BE49-F238E27FC236}">
                <a16:creationId xmlns:a16="http://schemas.microsoft.com/office/drawing/2014/main" id="{CD43587C-2273-4DAC-8B26-0548F0AE6F16}"/>
              </a:ext>
            </a:extLst>
          </p:cNvPr>
          <p:cNvSpPr>
            <a:spLocks xmlns:a="http://schemas.openxmlformats.org/drawingml/2006/main" noGrp="1"/>
          </p:cNvSpPr>
          <p:nvPr/>
        </p:nvSpPr>
        <p:spPr>
          <a:xfrm xmlns:a="http://schemas.openxmlformats.org/drawingml/2006/main">
            <a:off x="11525250" y="5791200"/>
            <a:ext cx="571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91A18"/>
                </a:solidFill>
                <a:latin typeface="Poppins"/>
                <a:ea typeface="Poppins"/>
                <a:cs typeface="Poppins"/>
              </a:defRPr>
            </a:pPr>
            <a:r>
              <a:rPr sz="3300" b="1">
                <a:solidFill>
                  <a:srgbClr val="191A18"/>
                </a:solidFill>
                <a:latin typeface="Poppins"/>
                <a:ea typeface="Poppins"/>
                <a:cs typeface="Poppins"/>
              </a:rPr>
              <a:t>Share with someone close</a:t>
            </a:r>
          </a:p>
        </p:txBody>
      </p:sp>
      <p:sp>
        <p:nvSpPr>
          <p:cNvPr id="7" name="Help them understand what&#10;stayed with you.">
            <a:extLst xmlns:a="http://schemas.openxmlformats.org/drawingml/2006/main">
              <a:ext uri="{FF2B5EF4-FFF2-40B4-BE49-F238E27FC236}">
                <a16:creationId xmlns:a16="http://schemas.microsoft.com/office/drawing/2014/main" id="{2B2642F7-60EA-45F6-AD06-EC2375896803}"/>
              </a:ext>
            </a:extLst>
          </p:cNvPr>
          <p:cNvSpPr>
            <a:spLocks xmlns:a="http://schemas.openxmlformats.org/drawingml/2006/main" noGrp="1"/>
          </p:cNvSpPr>
          <p:nvPr/>
        </p:nvSpPr>
        <p:spPr>
          <a:xfrm xmlns:a="http://schemas.openxmlformats.org/drawingml/2006/main">
            <a:off x="11525250" y="687705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5A5D59"/>
                </a:solidFill>
                <a:latin typeface="Poppins"/>
                <a:ea typeface="Poppins"/>
                <a:cs typeface="Poppins"/>
              </a:defRPr>
            </a:pPr>
            <a:r>
              <a:rPr sz="2475" b="0">
                <a:solidFill>
                  <a:srgbClr val="5A5D59"/>
                </a:solidFill>
                <a:latin typeface="Poppins"/>
                <a:ea typeface="Poppins"/>
                <a:cs typeface="Poppins"/>
              </a:rPr>
              <a:t>Help them understand what</a:t>
            </a:r>
          </a:p>
          <a:p xmlns:a="http://schemas.openxmlformats.org/drawingml/2006/main">
            <a:pPr algn="l">
              <a:defRPr sz="2475" b="0">
                <a:solidFill>
                  <a:srgbClr val="5A5D59"/>
                </a:solidFill>
                <a:latin typeface="Poppins"/>
                <a:ea typeface="Poppins"/>
                <a:cs typeface="Poppins"/>
              </a:defRPr>
            </a:pPr>
            <a:r>
              <a:rPr sz="2475" b="0">
                <a:solidFill>
                  <a:srgbClr val="5A5D59"/>
                </a:solidFill>
                <a:latin typeface="Poppins"/>
                <a:ea typeface="Poppins"/>
                <a:cs typeface="Poppins"/>
              </a:rPr>
              <a:t>stayed with you.</a:t>
            </a:r>
          </a:p>
        </p:txBody>
      </p:sp>
      <p:sp>
        <p:nvSpPr>
          <p:cNvPr id="8" name="Deeply personal context. You choose what to share.">
            <a:extLst xmlns:a="http://schemas.openxmlformats.org/drawingml/2006/main">
              <a:ext uri="{FF2B5EF4-FFF2-40B4-BE49-F238E27FC236}">
                <a16:creationId xmlns:a16="http://schemas.microsoft.com/office/drawing/2014/main" id="{2805003C-F8F5-4805-853D-60AF7E8C320C}"/>
              </a:ext>
            </a:extLst>
          </p:cNvPr>
          <p:cNvSpPr>
            <a:spLocks xmlns:a="http://schemas.openxmlformats.org/drawingml/2006/main" noGrp="1"/>
          </p:cNvSpPr>
          <p:nvPr/>
        </p:nvSpPr>
        <p:spPr>
          <a:xfrm xmlns:a="http://schemas.openxmlformats.org/drawingml/2006/main">
            <a:off x="1047750" y="9239250"/>
            <a:ext cx="1609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75" b="1">
                <a:solidFill>
                  <a:srgbClr val="9B712B"/>
                </a:solidFill>
                <a:latin typeface="Poppins"/>
                <a:ea typeface="Poppins"/>
                <a:cs typeface="Poppins"/>
              </a:defRPr>
            </a:pPr>
            <a:r>
              <a:rPr sz="2775" b="1">
                <a:solidFill>
                  <a:srgbClr val="9B712B"/>
                </a:solidFill>
                <a:latin typeface="Poppins"/>
                <a:ea typeface="Poppins"/>
                <a:cs typeface="Poppins"/>
              </a:rPr>
              <a:t>Deeply personal context. You choose what to share.</a:t>
            </a:r>
          </a:p>
        </p:txBody>
      </p:sp>
    </p:spTree>
    <p:extLst>
      <p:ext uri="{BB962C8B-B14F-4D97-AF65-F5344CB8AC3E}">
        <p14:creationId xmlns:p14="http://schemas.microsoft.com/office/powerpoint/2010/main" val="1508169132"/>
      </p:ext>
    </p:extLst>
  </p:cSld>
</p:sld>
</file>

<file path=ppt/slides/slide5.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1" name="A personal memory companion">
            <a:extLst xmlns:a="http://schemas.openxmlformats.org/drawingml/2006/main">
              <a:ext uri="{FF2B5EF4-FFF2-40B4-BE49-F238E27FC236}">
                <a16:creationId xmlns:a16="http://schemas.microsoft.com/office/drawing/2014/main" id="{34EF0CEA-769B-4D77-8D3C-8D2BE025BA03}"/>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A personal memory companion</a:t>
            </a:r>
          </a:p>
        </p:txBody>
      </p:sp>
      <p:sp>
        <p:nvSpPr>
          <p:cNvPr id="2" name="EEG identifies a change. Recorded context makes it">
            <a:extLst xmlns:a="http://schemas.openxmlformats.org/drawingml/2006/main">
              <a:ext uri="{FF2B5EF4-FFF2-40B4-BE49-F238E27FC236}">
                <a16:creationId xmlns:a16="http://schemas.microsoft.com/office/drawing/2014/main" id="{4878D2C6-1694-41F4-9E39-1B1ECC6F7C1D}"/>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EEG identifies a change. Recorded context makes it useful.</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1054381ac1247ba"/>
          <a:stretch xmlns:a="http://schemas.openxmlformats.org/drawingml/2006/main"/>
        </p:blipFill>
        <p:spPr>
          <a:xfrm xmlns:a="http://schemas.openxmlformats.org/drawingml/2006/main">
            <a:off x="1058965" y="3333750"/>
            <a:ext cx="6930820" cy="4905375"/>
          </a:xfrm>
          <a:prstGeom xmlns:a="http://schemas.openxmlformats.org/drawingml/2006/main" prst="rect">
            <a:avLst/>
          </a:prstGeom>
        </p:spPr>
      </p:pic>
      <p:sp>
        <p:nvSpPr>
          <p:cNvPr id="4" name="Neurosity Crown">
            <a:extLst xmlns:a="http://schemas.openxmlformats.org/drawingml/2006/main">
              <a:ext uri="{FF2B5EF4-FFF2-40B4-BE49-F238E27FC236}">
                <a16:creationId xmlns:a16="http://schemas.microsoft.com/office/drawing/2014/main" id="{FC98F36B-DCCC-4B10-8C79-F61F2E98FC91}"/>
              </a:ext>
            </a:extLst>
          </p:cNvPr>
          <p:cNvSpPr>
            <a:spLocks xmlns:a="http://schemas.openxmlformats.org/drawingml/2006/main" noGrp="1"/>
          </p:cNvSpPr>
          <p:nvPr/>
        </p:nvSpPr>
        <p:spPr>
          <a:xfrm xmlns:a="http://schemas.openxmlformats.org/drawingml/2006/main">
            <a:off x="1428750" y="84582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000" b="1">
                <a:solidFill>
                  <a:srgbClr val="191A18"/>
                </a:solidFill>
                <a:latin typeface="Poppins"/>
                <a:ea typeface="Poppins"/>
                <a:cs typeface="Poppins"/>
              </a:defRPr>
            </a:pPr>
            <a:r>
              <a:rPr sz="3000" b="1">
                <a:solidFill>
                  <a:srgbClr val="191A18"/>
                </a:solidFill>
                <a:latin typeface="Poppins"/>
                <a:ea typeface="Poppins"/>
                <a:cs typeface="Poppins"/>
              </a:rPr>
              <a:t>Neurosity Crown</a:t>
            </a:r>
          </a:p>
        </p:txBody>
      </p:sp>
      <p:sp>
        <p:nvSpPr>
          <p:cNvPr id="5" name="Sense">
            <a:extLst xmlns:a="http://schemas.openxmlformats.org/drawingml/2006/main">
              <a:ext uri="{FF2B5EF4-FFF2-40B4-BE49-F238E27FC236}">
                <a16:creationId xmlns:a16="http://schemas.microsoft.com/office/drawing/2014/main" id="{19D5337C-DF90-427B-82B5-D7193BB30C23}"/>
              </a:ext>
            </a:extLst>
          </p:cNvPr>
          <p:cNvSpPr>
            <a:spLocks xmlns:a="http://schemas.openxmlformats.org/drawingml/2006/main" noGrp="1"/>
          </p:cNvSpPr>
          <p:nvPr/>
        </p:nvSpPr>
        <p:spPr>
          <a:xfrm xmlns:a="http://schemas.openxmlformats.org/drawingml/2006/main">
            <a:off x="9334500" y="3476625"/>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326B8C"/>
                </a:solidFill>
                <a:latin typeface="Poppins"/>
                <a:ea typeface="Poppins"/>
                <a:cs typeface="Poppins"/>
              </a:defRPr>
            </a:pPr>
            <a:r>
              <a:rPr sz="3225" b="1">
                <a:solidFill>
                  <a:srgbClr val="326B8C"/>
                </a:solidFill>
                <a:latin typeface="Poppins"/>
                <a:ea typeface="Poppins"/>
                <a:cs typeface="Poppins"/>
              </a:rPr>
              <a:t>Sense</a:t>
            </a:r>
          </a:p>
        </p:txBody>
      </p:sp>
      <p:sp>
        <p:nvSpPr>
          <p:cNvPr id="6" name="EEG compared with your personal baseline">
            <a:extLst xmlns:a="http://schemas.openxmlformats.org/drawingml/2006/main">
              <a:ext uri="{FF2B5EF4-FFF2-40B4-BE49-F238E27FC236}">
                <a16:creationId xmlns:a16="http://schemas.microsoft.com/office/drawing/2014/main" id="{CDF65213-EFBE-4823-A6C6-31398D7B46D5}"/>
              </a:ext>
            </a:extLst>
          </p:cNvPr>
          <p:cNvSpPr>
            <a:spLocks xmlns:a="http://schemas.openxmlformats.org/drawingml/2006/main" noGrp="1"/>
          </p:cNvSpPr>
          <p:nvPr/>
        </p:nvSpPr>
        <p:spPr>
          <a:xfrm xmlns:a="http://schemas.openxmlformats.org/drawingml/2006/main">
            <a:off x="9334500" y="4124325"/>
            <a:ext cx="7620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5A5D59"/>
                </a:solidFill>
                <a:latin typeface="Poppins"/>
                <a:ea typeface="Poppins"/>
                <a:cs typeface="Poppins"/>
              </a:defRPr>
            </a:pPr>
            <a:r>
              <a:rPr sz="2400" b="0">
                <a:solidFill>
                  <a:srgbClr val="5A5D59"/>
                </a:solidFill>
                <a:latin typeface="Poppins"/>
                <a:ea typeface="Poppins"/>
                <a:cs typeface="Poppins"/>
              </a:rPr>
              <a:t>EEG compared with your personal baseline</a:t>
            </a:r>
          </a:p>
        </p:txBody>
      </p:sp>
      <p:sp>
        <p:nvSpPr>
          <p:cNvPr id="7" name="Capture context">
            <a:extLst xmlns:a="http://schemas.openxmlformats.org/drawingml/2006/main">
              <a:ext uri="{FF2B5EF4-FFF2-40B4-BE49-F238E27FC236}">
                <a16:creationId xmlns:a16="http://schemas.microsoft.com/office/drawing/2014/main" id="{7ED77B5E-1DC8-4B71-B574-88B5A5FAB49E}"/>
              </a:ext>
            </a:extLst>
          </p:cNvPr>
          <p:cNvSpPr>
            <a:spLocks xmlns:a="http://schemas.openxmlformats.org/drawingml/2006/main" noGrp="1"/>
          </p:cNvSpPr>
          <p:nvPr/>
        </p:nvSpPr>
        <p:spPr>
          <a:xfrm xmlns:a="http://schemas.openxmlformats.org/drawingml/2006/main">
            <a:off x="9334500" y="527685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9B712B"/>
                </a:solidFill>
                <a:latin typeface="Poppins"/>
                <a:ea typeface="Poppins"/>
                <a:cs typeface="Poppins"/>
              </a:defRPr>
            </a:pPr>
            <a:r>
              <a:rPr sz="3225" b="1">
                <a:solidFill>
                  <a:srgbClr val="9B712B"/>
                </a:solidFill>
                <a:latin typeface="Poppins"/>
                <a:ea typeface="Poppins"/>
                <a:cs typeface="Poppins"/>
              </a:rPr>
              <a:t>Capture context</a:t>
            </a:r>
          </a:p>
        </p:txBody>
      </p:sp>
      <p:sp>
        <p:nvSpPr>
          <p:cNvPr id="8" name="Ray-Ban Meta glasses: the wearable camera concept">
            <a:extLst xmlns:a="http://schemas.openxmlformats.org/drawingml/2006/main">
              <a:ext uri="{FF2B5EF4-FFF2-40B4-BE49-F238E27FC236}">
                <a16:creationId xmlns:a16="http://schemas.microsoft.com/office/drawing/2014/main" id="{B67F7795-CA93-415B-99E2-4BDD333190A8}"/>
              </a:ext>
            </a:extLst>
          </p:cNvPr>
          <p:cNvSpPr>
            <a:spLocks xmlns:a="http://schemas.openxmlformats.org/drawingml/2006/main" noGrp="1"/>
          </p:cNvSpPr>
          <p:nvPr/>
        </p:nvSpPr>
        <p:spPr>
          <a:xfrm xmlns:a="http://schemas.openxmlformats.org/drawingml/2006/main">
            <a:off x="9334500" y="5934075"/>
            <a:ext cx="7620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5A5D59"/>
                </a:solidFill>
                <a:latin typeface="Poppins"/>
                <a:ea typeface="Poppins"/>
                <a:cs typeface="Poppins"/>
              </a:defRPr>
            </a:pPr>
            <a:r>
              <a:rPr sz="2400" b="0">
                <a:solidFill>
                  <a:srgbClr val="5A5D59"/>
                </a:solidFill>
                <a:latin typeface="Poppins"/>
                <a:ea typeface="Poppins"/>
                <a:cs typeface="Poppins"/>
              </a:rPr>
              <a:t>Ray-Ban Meta glasses: the wearable camera concept</a:t>
            </a:r>
          </a:p>
        </p:txBody>
      </p:sp>
      <p:sp>
        <p:nvSpPr>
          <p:cNvPr id="9" name="Revisit">
            <a:extLst xmlns:a="http://schemas.openxmlformats.org/drawingml/2006/main">
              <a:ext uri="{FF2B5EF4-FFF2-40B4-BE49-F238E27FC236}">
                <a16:creationId xmlns:a16="http://schemas.microsoft.com/office/drawing/2014/main" id="{DBC30805-835A-4156-9EF8-E7DA32E0C0AF}"/>
              </a:ext>
            </a:extLst>
          </p:cNvPr>
          <p:cNvSpPr>
            <a:spLocks xmlns:a="http://schemas.openxmlformats.org/drawingml/2006/main" noGrp="1"/>
          </p:cNvSpPr>
          <p:nvPr/>
        </p:nvSpPr>
        <p:spPr>
          <a:xfrm xmlns:a="http://schemas.openxmlformats.org/drawingml/2006/main">
            <a:off x="9334500" y="7172325"/>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91A18"/>
                </a:solidFill>
                <a:latin typeface="Poppins"/>
                <a:ea typeface="Poppins"/>
                <a:cs typeface="Poppins"/>
              </a:defRPr>
            </a:pPr>
            <a:r>
              <a:rPr sz="3225" b="1">
                <a:solidFill>
                  <a:srgbClr val="191A18"/>
                </a:solidFill>
                <a:latin typeface="Poppins"/>
                <a:ea typeface="Poppins"/>
                <a:cs typeface="Poppins"/>
              </a:rPr>
              <a:t>Revisit</a:t>
            </a:r>
          </a:p>
        </p:txBody>
      </p:sp>
      <p:sp>
        <p:nvSpPr>
          <p:cNvPr id="10" name="Search, reflect, and share in Memorypalace">
            <a:extLst xmlns:a="http://schemas.openxmlformats.org/drawingml/2006/main">
              <a:ext uri="{FF2B5EF4-FFF2-40B4-BE49-F238E27FC236}">
                <a16:creationId xmlns:a16="http://schemas.microsoft.com/office/drawing/2014/main" id="{D132C1F2-77F8-4068-B841-148BB7E07086}"/>
              </a:ext>
            </a:extLst>
          </p:cNvPr>
          <p:cNvSpPr>
            <a:spLocks xmlns:a="http://schemas.openxmlformats.org/drawingml/2006/main" noGrp="1"/>
          </p:cNvSpPr>
          <p:nvPr/>
        </p:nvSpPr>
        <p:spPr>
          <a:xfrm xmlns:a="http://schemas.openxmlformats.org/drawingml/2006/main">
            <a:off x="9334500" y="7829550"/>
            <a:ext cx="7620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5A5D59"/>
                </a:solidFill>
                <a:latin typeface="Poppins"/>
                <a:ea typeface="Poppins"/>
                <a:cs typeface="Poppins"/>
              </a:defRPr>
            </a:pPr>
            <a:r>
              <a:rPr sz="2400" b="0">
                <a:solidFill>
                  <a:srgbClr val="5A5D59"/>
                </a:solidFill>
                <a:latin typeface="Poppins"/>
                <a:ea typeface="Poppins"/>
                <a:cs typeface="Poppins"/>
              </a:rPr>
              <a:t>Search, reflect, and share in Memorypalace</a:t>
            </a:r>
          </a:p>
        </p:txBody>
      </p:sp>
    </p:spTree>
    <p:extLst>
      <p:ext uri="{BB962C8B-B14F-4D97-AF65-F5344CB8AC3E}">
        <p14:creationId xmlns:p14="http://schemas.microsoft.com/office/powerpoint/2010/main" val="1355520107"/>
      </p:ext>
    </p:extLst>
  </p:cSld>
</p:sld>
</file>

<file path=ppt/slides/slide6.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0" name="Two checks before a moment is flagged">
            <a:extLst xmlns:a="http://schemas.openxmlformats.org/drawingml/2006/main">
              <a:ext uri="{FF2B5EF4-FFF2-40B4-BE49-F238E27FC236}">
                <a16:creationId xmlns:a16="http://schemas.microsoft.com/office/drawing/2014/main" id="{90E59F7D-3DC4-4149-B34F-2CB46D75B4C3}"/>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Two checks before a moment is flagged</a:t>
            </a:r>
          </a:p>
        </p:txBody>
      </p:sp>
      <p:sp>
        <p:nvSpPr>
          <p:cNvPr id="2" name="A change from your baseline, followed by a sustain">
            <a:extLst xmlns:a="http://schemas.openxmlformats.org/drawingml/2006/main">
              <a:ext uri="{FF2B5EF4-FFF2-40B4-BE49-F238E27FC236}">
                <a16:creationId xmlns:a16="http://schemas.microsoft.com/office/drawing/2014/main" id="{CF23FD06-8E1E-40C2-B3A1-D989254A3D4B}"/>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A change from your baseline, followed by a sustained elevation.</a:t>
            </a:r>
          </a:p>
        </p:txBody>
      </p:sp>
      <p:sp>
        <p:nvSpPr>
          <p:cNvPr id="3" name="01">
            <a:extLst xmlns:a="http://schemas.openxmlformats.org/drawingml/2006/main">
              <a:ext uri="{FF2B5EF4-FFF2-40B4-BE49-F238E27FC236}">
                <a16:creationId xmlns:a16="http://schemas.microsoft.com/office/drawing/2014/main" id="{DB034997-1299-4C8A-A1C1-CDCD90C78460}"/>
              </a:ext>
            </a:extLst>
          </p:cNvPr>
          <p:cNvSpPr>
            <a:spLocks xmlns:a="http://schemas.openxmlformats.org/drawingml/2006/main" noGrp="1"/>
          </p:cNvSpPr>
          <p:nvPr/>
        </p:nvSpPr>
        <p:spPr>
          <a:xfrm xmlns:a="http://schemas.openxmlformats.org/drawingml/2006/main">
            <a:off x="1047750" y="3619500"/>
            <a:ext cx="2095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200" b="1">
                <a:solidFill>
                  <a:srgbClr val="326B8C"/>
                </a:solidFill>
                <a:latin typeface="Poppins"/>
                <a:ea typeface="Poppins"/>
                <a:cs typeface="Poppins"/>
              </a:defRPr>
            </a:pPr>
            <a:r>
              <a:rPr sz="7200" b="1">
                <a:solidFill>
                  <a:srgbClr val="326B8C"/>
                </a:solidFill>
                <a:latin typeface="Poppins"/>
                <a:ea typeface="Poppins"/>
                <a:cs typeface="Poppins"/>
              </a:rPr>
              <a:t>01</a:t>
            </a:r>
          </a:p>
        </p:txBody>
      </p:sp>
      <p:sp>
        <p:nvSpPr>
          <p:cNvPr id="4" name="Change from your normal">
            <a:extLst xmlns:a="http://schemas.openxmlformats.org/drawingml/2006/main">
              <a:ext uri="{FF2B5EF4-FFF2-40B4-BE49-F238E27FC236}">
                <a16:creationId xmlns:a16="http://schemas.microsoft.com/office/drawing/2014/main" id="{FA83D023-7960-4CA6-AC0B-998C810F5831}"/>
              </a:ext>
            </a:extLst>
          </p:cNvPr>
          <p:cNvSpPr>
            <a:spLocks xmlns:a="http://schemas.openxmlformats.org/drawingml/2006/main" noGrp="1"/>
          </p:cNvSpPr>
          <p:nvPr/>
        </p:nvSpPr>
        <p:spPr>
          <a:xfrm xmlns:a="http://schemas.openxmlformats.org/drawingml/2006/main">
            <a:off x="3333750" y="3733800"/>
            <a:ext cx="1333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91A18"/>
                </a:solidFill>
                <a:latin typeface="Poppins"/>
                <a:ea typeface="Poppins"/>
                <a:cs typeface="Poppins"/>
              </a:defRPr>
            </a:pPr>
            <a:r>
              <a:rPr sz="4350" b="1">
                <a:solidFill>
                  <a:srgbClr val="191A18"/>
                </a:solidFill>
                <a:latin typeface="Poppins"/>
                <a:ea typeface="Poppins"/>
                <a:cs typeface="Poppins"/>
              </a:rPr>
              <a:t>Change from your normal</a:t>
            </a:r>
          </a:p>
        </p:txBody>
      </p:sp>
      <p:sp>
        <p:nvSpPr>
          <p:cNvPr id="5" name="Compare theta/alpha activity with your own resting">
            <a:extLst xmlns:a="http://schemas.openxmlformats.org/drawingml/2006/main">
              <a:ext uri="{FF2B5EF4-FFF2-40B4-BE49-F238E27FC236}">
                <a16:creationId xmlns:a16="http://schemas.microsoft.com/office/drawing/2014/main" id="{E1F15C8A-725F-4B4D-9D2C-93C187B77552}"/>
              </a:ext>
            </a:extLst>
          </p:cNvPr>
          <p:cNvSpPr>
            <a:spLocks xmlns:a="http://schemas.openxmlformats.org/drawingml/2006/main" noGrp="1"/>
          </p:cNvSpPr>
          <p:nvPr/>
        </p:nvSpPr>
        <p:spPr>
          <a:xfrm xmlns:a="http://schemas.openxmlformats.org/drawingml/2006/main">
            <a:off x="3333750" y="4953000"/>
            <a:ext cx="1295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5A5D59"/>
                </a:solidFill>
                <a:latin typeface="Poppins"/>
                <a:ea typeface="Poppins"/>
                <a:cs typeface="Poppins"/>
              </a:defRPr>
            </a:pPr>
            <a:r>
              <a:rPr sz="3000" b="0">
                <a:solidFill>
                  <a:srgbClr val="5A5D59"/>
                </a:solidFill>
                <a:latin typeface="Poppins"/>
                <a:ea typeface="Poppins"/>
                <a:cs typeface="Poppins"/>
              </a:rPr>
              <a:t>Compare theta/alpha activity with your own resting baseline.</a:t>
            </a:r>
          </a:p>
        </p:txBody>
      </p:sp>
      <p:sp>
        <p:nvSpPr>
          <p:cNvPr id="6" name="diagram">
            <a:extLst xmlns:a="http://schemas.openxmlformats.org/drawingml/2006/main">
              <a:ext uri="{FF2B5EF4-FFF2-40B4-BE49-F238E27FC236}">
                <a16:creationId xmlns:a16="http://schemas.microsoft.com/office/drawing/2014/main" id="{7192D91F-E58C-48C0-8A83-4ECCA1A57AF1}"/>
              </a:ext>
            </a:extLst>
          </p:cNvPr>
          <p:cNvSpPr>
            <a:spLocks xmlns:a="http://schemas.openxmlformats.org/drawingml/2006/main" noGrp="1"/>
          </p:cNvSpPr>
          <p:nvPr/>
        </p:nvSpPr>
        <p:spPr>
          <a:xfrm xmlns:a="http://schemas.openxmlformats.org/drawingml/2006/main">
            <a:off x="1047750" y="6562725"/>
            <a:ext cx="16144875" cy="19050"/>
          </a:xfrm>
          <a:prstGeom xmlns:a="http://schemas.openxmlformats.org/drawingml/2006/main" prst="rect">
            <a:avLst/>
          </a:prstGeom>
          <a:solidFill xmlns:a="http://schemas.openxmlformats.org/drawingml/2006/main">
            <a:srgbClr val="D6D2C7"/>
          </a:solidFill>
          <a:ln xmlns:a="http://schemas.openxmlformats.org/drawingml/2006/main" w="0">
            <a:noFill/>
          </a:ln>
        </p:spPr>
      </p:sp>
      <p:sp>
        <p:nvSpPr>
          <p:cNvPr id="7" name="02">
            <a:extLst xmlns:a="http://schemas.openxmlformats.org/drawingml/2006/main">
              <a:ext uri="{FF2B5EF4-FFF2-40B4-BE49-F238E27FC236}">
                <a16:creationId xmlns:a16="http://schemas.microsoft.com/office/drawing/2014/main" id="{5B2358F2-7C52-4052-B660-0570B6AF435B}"/>
              </a:ext>
            </a:extLst>
          </p:cNvPr>
          <p:cNvSpPr>
            <a:spLocks xmlns:a="http://schemas.openxmlformats.org/drawingml/2006/main" noGrp="1"/>
          </p:cNvSpPr>
          <p:nvPr/>
        </p:nvSpPr>
        <p:spPr>
          <a:xfrm xmlns:a="http://schemas.openxmlformats.org/drawingml/2006/main">
            <a:off x="1047750" y="7181850"/>
            <a:ext cx="2095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200" b="1">
                <a:solidFill>
                  <a:srgbClr val="9B712B"/>
                </a:solidFill>
                <a:latin typeface="Poppins"/>
                <a:ea typeface="Poppins"/>
                <a:cs typeface="Poppins"/>
              </a:defRPr>
            </a:pPr>
            <a:r>
              <a:rPr sz="7200" b="1">
                <a:solidFill>
                  <a:srgbClr val="9B712B"/>
                </a:solidFill>
                <a:latin typeface="Poppins"/>
                <a:ea typeface="Poppins"/>
                <a:cs typeface="Poppins"/>
              </a:rPr>
              <a:t>02</a:t>
            </a:r>
          </a:p>
        </p:txBody>
      </p:sp>
      <p:sp>
        <p:nvSpPr>
          <p:cNvPr id="8" name="Sustained burst confirmation">
            <a:extLst xmlns:a="http://schemas.openxmlformats.org/drawingml/2006/main">
              <a:ext uri="{FF2B5EF4-FFF2-40B4-BE49-F238E27FC236}">
                <a16:creationId xmlns:a16="http://schemas.microsoft.com/office/drawing/2014/main" id="{562A8B9C-9F76-41B0-A402-56C6929C6148}"/>
              </a:ext>
            </a:extLst>
          </p:cNvPr>
          <p:cNvSpPr>
            <a:spLocks xmlns:a="http://schemas.openxmlformats.org/drawingml/2006/main" noGrp="1"/>
          </p:cNvSpPr>
          <p:nvPr/>
        </p:nvSpPr>
        <p:spPr>
          <a:xfrm xmlns:a="http://schemas.openxmlformats.org/drawingml/2006/main">
            <a:off x="3333750" y="7286625"/>
            <a:ext cx="1333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91A18"/>
                </a:solidFill>
                <a:latin typeface="Poppins"/>
                <a:ea typeface="Poppins"/>
                <a:cs typeface="Poppins"/>
              </a:defRPr>
            </a:pPr>
            <a:r>
              <a:rPr sz="4350" b="1">
                <a:solidFill>
                  <a:srgbClr val="191A18"/>
                </a:solidFill>
                <a:latin typeface="Poppins"/>
                <a:ea typeface="Poppins"/>
                <a:cs typeface="Poppins"/>
              </a:rPr>
              <a:t>Sustained burst confirmation</a:t>
            </a:r>
          </a:p>
        </p:txBody>
      </p:sp>
      <p:sp>
        <p:nvSpPr>
          <p:cNvPr id="9" name="Keep the event only after four fresh windows stay ">
            <a:extLst xmlns:a="http://schemas.openxmlformats.org/drawingml/2006/main">
              <a:ext uri="{FF2B5EF4-FFF2-40B4-BE49-F238E27FC236}">
                <a16:creationId xmlns:a16="http://schemas.microsoft.com/office/drawing/2014/main" id="{5830D4A1-B41E-4F0F-9D7C-CCE9BCDA7A42}"/>
              </a:ext>
            </a:extLst>
          </p:cNvPr>
          <p:cNvSpPr>
            <a:spLocks xmlns:a="http://schemas.openxmlformats.org/drawingml/2006/main" noGrp="1"/>
          </p:cNvSpPr>
          <p:nvPr/>
        </p:nvSpPr>
        <p:spPr>
          <a:xfrm xmlns:a="http://schemas.openxmlformats.org/drawingml/2006/main">
            <a:off x="3333750" y="8382000"/>
            <a:ext cx="1295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5A5D59"/>
                </a:solidFill>
                <a:latin typeface="Poppins"/>
                <a:ea typeface="Poppins"/>
                <a:cs typeface="Poppins"/>
              </a:defRPr>
            </a:pPr>
            <a:r>
              <a:rPr sz="3000" b="0">
                <a:solidFill>
                  <a:srgbClr val="5A5D59"/>
                </a:solidFill>
                <a:latin typeface="Poppins"/>
                <a:ea typeface="Poppins"/>
                <a:cs typeface="Poppins"/>
              </a:rPr>
              <a:t>Keep the event only after four fresh windows stay elevated.</a:t>
            </a:r>
          </a:p>
        </p:txBody>
      </p:sp>
    </p:spTree>
    <p:extLst>
      <p:ext uri="{BB962C8B-B14F-4D97-AF65-F5344CB8AC3E}">
        <p14:creationId xmlns:p14="http://schemas.microsoft.com/office/powerpoint/2010/main" val="452733991"/>
      </p:ext>
    </p:extLst>
  </p:cSld>
</p:sld>
</file>

<file path=ppt/slides/slide7.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4" name="Start by learning your normal">
            <a:extLst xmlns:a="http://schemas.openxmlformats.org/drawingml/2006/main">
              <a:ext uri="{FF2B5EF4-FFF2-40B4-BE49-F238E27FC236}">
                <a16:creationId xmlns:a16="http://schemas.microsoft.com/office/drawing/2014/main" id="{48CAE38D-BEE4-42B5-8A80-B062484A218F}"/>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Start by learning your normal</a:t>
            </a:r>
          </a:p>
        </p:txBody>
      </p:sp>
      <p:sp>
        <p:nvSpPr>
          <p:cNvPr id="2" name="First-time calibration gives each wearer a persona">
            <a:extLst xmlns:a="http://schemas.openxmlformats.org/drawingml/2006/main">
              <a:ext uri="{FF2B5EF4-FFF2-40B4-BE49-F238E27FC236}">
                <a16:creationId xmlns:a16="http://schemas.microsoft.com/office/drawing/2014/main" id="{E40477E2-D568-4E60-A13A-903CA9D33C15}"/>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First-time calibration gives each wearer a personal reference.</a:t>
            </a:r>
          </a:p>
        </p:txBody>
      </p:sp>
      <p:graphicFrame>
        <p:nvGraphicFramePr>
          <p:cNvPr id="16" name="Chart"/>
          <p:cNvGraphicFramePr/>
          <p:nvPr/>
        </p:nvGraphicFramePr>
        <p:xfrm>
          <a:off xmlns:a="http://schemas.openxmlformats.org/drawingml/2006/main" x="1047750" y="3190875"/>
          <a:ext xmlns:a="http://schemas.openxmlformats.org/drawingml/2006/main" cx="5095875" cy="2667000"/>
        </p:xfrm>
        <a:graphic xmlns:a="http://schemas.openxmlformats.org/drawingml/2006/main">
          <a:graphicData uri="http://schemas.openxmlformats.org/drawingml/2006/chart">
            <c:chart xmlns:r="http://schemas.openxmlformats.org/officeDocument/2006/relationships" xmlns:c="http://schemas.openxmlformats.org/drawingml/2006/chart" r:id="R1afe1ebdecd5429c"/>
          </a:graphicData>
        </a:graphic>
      </p:graphicFrame>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21c590963004640"/>
          <a:stretch xmlns:a="http://schemas.openxmlformats.org/drawingml/2006/main"/>
        </p:blipFill>
        <p:spPr>
          <a:xfrm xmlns:a="http://schemas.openxmlformats.org/drawingml/2006/main">
            <a:off x="2714625" y="6124575"/>
            <a:ext cx="1762125" cy="1762125"/>
          </a:xfrm>
          <a:prstGeom xmlns:a="http://schemas.openxmlformats.org/drawingml/2006/main" prst="rect">
            <a:avLst/>
          </a:prstGeom>
        </p:spPr>
      </p:pic>
      <p:sp>
        <p:nvSpPr>
          <p:cNvPr id="5" name="20 µV peak-to-peak">
            <a:extLst xmlns:a="http://schemas.openxmlformats.org/drawingml/2006/main">
              <a:ext uri="{FF2B5EF4-FFF2-40B4-BE49-F238E27FC236}">
                <a16:creationId xmlns:a16="http://schemas.microsoft.com/office/drawing/2014/main" id="{8910D8B0-E0A2-4175-8DDC-4898929D31F8}"/>
              </a:ext>
            </a:extLst>
          </p:cNvPr>
          <p:cNvSpPr>
            <a:spLocks xmlns:a="http://schemas.openxmlformats.org/drawingml/2006/main" noGrp="1"/>
          </p:cNvSpPr>
          <p:nvPr/>
        </p:nvSpPr>
        <p:spPr>
          <a:xfrm xmlns:a="http://schemas.openxmlformats.org/drawingml/2006/main">
            <a:off x="1047750" y="808672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625" b="1">
                <a:solidFill>
                  <a:srgbClr val="326B8C"/>
                </a:solidFill>
                <a:latin typeface="Poppins"/>
                <a:ea typeface="Poppins"/>
                <a:cs typeface="Poppins"/>
              </a:defRPr>
            </a:pPr>
            <a:r>
              <a:rPr sz="2625" b="1">
                <a:solidFill>
                  <a:srgbClr val="326B8C"/>
                </a:solidFill>
                <a:latin typeface="Poppins"/>
                <a:ea typeface="Poppins"/>
                <a:cs typeface="Poppins"/>
              </a:rPr>
              <a:t>20 µV peak-to-peak</a:t>
            </a:r>
          </a:p>
        </p:txBody>
      </p:sp>
      <p:graphicFrame>
        <p:nvGraphicFramePr>
          <p:cNvPr id="19" name="Chart"/>
          <p:cNvGraphicFramePr/>
          <p:nvPr/>
        </p:nvGraphicFramePr>
        <p:xfrm>
          <a:off xmlns:a="http://schemas.openxmlformats.org/drawingml/2006/main" x="6477000" y="3190875"/>
          <a:ext xmlns:a="http://schemas.openxmlformats.org/drawingml/2006/main" cx="5095875" cy="2667000"/>
        </p:xfrm>
        <a:graphic xmlns:a="http://schemas.openxmlformats.org/drawingml/2006/main">
          <a:graphicData uri="http://schemas.openxmlformats.org/drawingml/2006/chart">
            <c:chart xmlns:r="http://schemas.openxmlformats.org/officeDocument/2006/relationships" xmlns:c="http://schemas.openxmlformats.org/drawingml/2006/chart" r:id="R129af092950c4900"/>
          </a:graphicData>
        </a:graphic>
      </p:graphicFrame>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81b9f6ab4944261"/>
          <a:stretch xmlns:a="http://schemas.openxmlformats.org/drawingml/2006/main"/>
        </p:blipFill>
        <p:spPr>
          <a:xfrm xmlns:a="http://schemas.openxmlformats.org/drawingml/2006/main">
            <a:off x="8143875" y="6124575"/>
            <a:ext cx="1762125" cy="1762125"/>
          </a:xfrm>
          <a:prstGeom xmlns:a="http://schemas.openxmlformats.org/drawingml/2006/main" prst="rect">
            <a:avLst/>
          </a:prstGeom>
        </p:spPr>
      </p:pic>
      <p:sp>
        <p:nvSpPr>
          <p:cNvPr id="8" name="40 µV peak-to-peak">
            <a:extLst xmlns:a="http://schemas.openxmlformats.org/drawingml/2006/main">
              <a:ext uri="{FF2B5EF4-FFF2-40B4-BE49-F238E27FC236}">
                <a16:creationId xmlns:a16="http://schemas.microsoft.com/office/drawing/2014/main" id="{B4776202-9992-415A-A47C-FA2B3D1F0D00}"/>
              </a:ext>
            </a:extLst>
          </p:cNvPr>
          <p:cNvSpPr>
            <a:spLocks xmlns:a="http://schemas.openxmlformats.org/drawingml/2006/main" noGrp="1"/>
          </p:cNvSpPr>
          <p:nvPr/>
        </p:nvSpPr>
        <p:spPr>
          <a:xfrm xmlns:a="http://schemas.openxmlformats.org/drawingml/2006/main">
            <a:off x="6477000" y="808672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625" b="1">
                <a:solidFill>
                  <a:srgbClr val="9B712B"/>
                </a:solidFill>
                <a:latin typeface="Poppins"/>
                <a:ea typeface="Poppins"/>
                <a:cs typeface="Poppins"/>
              </a:defRPr>
            </a:pPr>
            <a:r>
              <a:rPr sz="2625" b="1">
                <a:solidFill>
                  <a:srgbClr val="9B712B"/>
                </a:solidFill>
                <a:latin typeface="Poppins"/>
                <a:ea typeface="Poppins"/>
                <a:cs typeface="Poppins"/>
              </a:rPr>
              <a:t>40 µV peak-to-peak</a:t>
            </a:r>
          </a:p>
        </p:txBody>
      </p:sp>
      <p:graphicFrame>
        <p:nvGraphicFramePr>
          <p:cNvPr id="22" name="Chart"/>
          <p:cNvGraphicFramePr/>
          <p:nvPr/>
        </p:nvGraphicFramePr>
        <p:xfrm>
          <a:off xmlns:a="http://schemas.openxmlformats.org/drawingml/2006/main" x="11906250" y="3190875"/>
          <a:ext xmlns:a="http://schemas.openxmlformats.org/drawingml/2006/main" cx="5095875" cy="2667000"/>
        </p:xfrm>
        <a:graphic xmlns:a="http://schemas.openxmlformats.org/drawingml/2006/main">
          <a:graphicData uri="http://schemas.openxmlformats.org/drawingml/2006/chart">
            <c:chart xmlns:r="http://schemas.openxmlformats.org/officeDocument/2006/relationships" xmlns:c="http://schemas.openxmlformats.org/drawingml/2006/chart" r:id="Rc7e5bba8e2df4769"/>
          </a:graphicData>
        </a:graphic>
      </p:graphicFrame>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20f6743b8cb4e36"/>
          <a:stretch xmlns:a="http://schemas.openxmlformats.org/drawingml/2006/main"/>
        </p:blipFill>
        <p:spPr>
          <a:xfrm xmlns:a="http://schemas.openxmlformats.org/drawingml/2006/main">
            <a:off x="13573125" y="6124575"/>
            <a:ext cx="1762125" cy="1762125"/>
          </a:xfrm>
          <a:prstGeom xmlns:a="http://schemas.openxmlformats.org/drawingml/2006/main" prst="rect">
            <a:avLst/>
          </a:prstGeom>
        </p:spPr>
      </p:pic>
      <p:sp>
        <p:nvSpPr>
          <p:cNvPr id="11" name="70 µV peak-to-peak">
            <a:extLst xmlns:a="http://schemas.openxmlformats.org/drawingml/2006/main">
              <a:ext uri="{FF2B5EF4-FFF2-40B4-BE49-F238E27FC236}">
                <a16:creationId xmlns:a16="http://schemas.microsoft.com/office/drawing/2014/main" id="{A10EF763-8FF2-43A4-8447-A7A4D2FE2118}"/>
              </a:ext>
            </a:extLst>
          </p:cNvPr>
          <p:cNvSpPr>
            <a:spLocks xmlns:a="http://schemas.openxmlformats.org/drawingml/2006/main" noGrp="1"/>
          </p:cNvSpPr>
          <p:nvPr/>
        </p:nvSpPr>
        <p:spPr>
          <a:xfrm xmlns:a="http://schemas.openxmlformats.org/drawingml/2006/main">
            <a:off x="11906250" y="8086725"/>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625" b="1">
                <a:solidFill>
                  <a:srgbClr val="36705C"/>
                </a:solidFill>
                <a:latin typeface="Poppins"/>
                <a:ea typeface="Poppins"/>
                <a:cs typeface="Poppins"/>
              </a:defRPr>
            </a:pPr>
            <a:r>
              <a:rPr sz="2625" b="1">
                <a:solidFill>
                  <a:srgbClr val="36705C"/>
                </a:solidFill>
                <a:latin typeface="Poppins"/>
                <a:ea typeface="Poppins"/>
                <a:cs typeface="Poppins"/>
              </a:rPr>
              <a:t>70 µV peak-to-peak</a:t>
            </a:r>
          </a:p>
        </p:txBody>
      </p:sp>
      <p:sp>
        <p:nvSpPr>
          <p:cNvPr id="12" name="Different ranges. A baseline that belongs to you.">
            <a:extLst xmlns:a="http://schemas.openxmlformats.org/drawingml/2006/main">
              <a:ext uri="{FF2B5EF4-FFF2-40B4-BE49-F238E27FC236}">
                <a16:creationId xmlns:a16="http://schemas.microsoft.com/office/drawing/2014/main" id="{44B4ADD5-CBDF-4249-A3AE-467AB58073F1}"/>
              </a:ext>
            </a:extLst>
          </p:cNvPr>
          <p:cNvSpPr>
            <a:spLocks xmlns:a="http://schemas.openxmlformats.org/drawingml/2006/main" noGrp="1"/>
          </p:cNvSpPr>
          <p:nvPr/>
        </p:nvSpPr>
        <p:spPr>
          <a:xfrm xmlns:a="http://schemas.openxmlformats.org/drawingml/2006/main">
            <a:off x="1047750" y="9020175"/>
            <a:ext cx="1619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Different ranges. A baseline that belongs to you.</a:t>
            </a:r>
          </a:p>
        </p:txBody>
      </p:sp>
      <p:sp>
        <p:nvSpPr>
          <p:cNvPr id="13" name="Illustrative raw EEG • peak-to-peak = highest minu">
            <a:extLst xmlns:a="http://schemas.openxmlformats.org/drawingml/2006/main">
              <a:ext uri="{FF2B5EF4-FFF2-40B4-BE49-F238E27FC236}">
                <a16:creationId xmlns:a16="http://schemas.microsoft.com/office/drawing/2014/main" id="{D0B15922-31BB-4A8C-9583-5ECDEA02DA46}"/>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Illustrative raw EEG • peak-to-peak = highest minus lowest • trigger uses normalized theta/alpha activity</a:t>
            </a:r>
          </a:p>
        </p:txBody>
      </p:sp>
    </p:spTree>
    <p:extLst>
      <p:ext uri="{BB962C8B-B14F-4D97-AF65-F5344CB8AC3E}">
        <p14:creationId xmlns:p14="http://schemas.microsoft.com/office/powerpoint/2010/main" val="1501552677"/>
      </p:ext>
    </p:extLst>
  </p:cSld>
</p:sld>
</file>

<file path=ppt/slides/slide8.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8" name="Your baseline makes the signal meaningful">
            <a:extLst xmlns:a="http://schemas.openxmlformats.org/drawingml/2006/main">
              <a:ext uri="{FF2B5EF4-FFF2-40B4-BE49-F238E27FC236}">
                <a16:creationId xmlns:a16="http://schemas.microsoft.com/office/drawing/2014/main" id="{EDFBC15E-632B-420E-9FB8-6356F55380B6}"/>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Your baseline makes the signal meaningful</a:t>
            </a:r>
          </a:p>
        </p:txBody>
      </p:sp>
      <p:sp>
        <p:nvSpPr>
          <p:cNvPr id="2" name="The same reading can be unusual for one person and">
            <a:extLst xmlns:a="http://schemas.openxmlformats.org/drawingml/2006/main">
              <a:ext uri="{FF2B5EF4-FFF2-40B4-BE49-F238E27FC236}">
                <a16:creationId xmlns:a16="http://schemas.microsoft.com/office/drawing/2014/main" id="{D768D940-FF27-4646-8F72-E9D48030BFBB}"/>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The same reading can be unusual for one person and normal for another.</a:t>
            </a:r>
          </a:p>
        </p:txBody>
      </p:sp>
      <p:graphicFrame>
        <p:nvGraphicFramePr>
          <p:cNvPr id="10" name="Chart"/>
          <p:cNvGraphicFramePr/>
          <p:nvPr/>
        </p:nvGraphicFramePr>
        <p:xfrm>
          <a:off xmlns:a="http://schemas.openxmlformats.org/drawingml/2006/main" x="1238250" y="3238500"/>
          <a:ext xmlns:a="http://schemas.openxmlformats.org/drawingml/2006/main" cx="10668000" cy="5095875"/>
        </p:xfrm>
        <a:graphic xmlns:a="http://schemas.openxmlformats.org/drawingml/2006/main">
          <a:graphicData uri="http://schemas.openxmlformats.org/drawingml/2006/chart">
            <c:chart xmlns:r="http://schemas.openxmlformats.org/officeDocument/2006/relationships" xmlns:c="http://schemas.openxmlformats.org/drawingml/2006/chart" r:id="Rdf28b8be970342fd"/>
          </a:graphicData>
        </a:graphic>
      </p:graphicFrame>
      <p:sp>
        <p:nvSpPr>
          <p:cNvPr id="4" name="Same raw value.&#10;Different meaning.">
            <a:extLst xmlns:a="http://schemas.openxmlformats.org/drawingml/2006/main">
              <a:ext uri="{FF2B5EF4-FFF2-40B4-BE49-F238E27FC236}">
                <a16:creationId xmlns:a16="http://schemas.microsoft.com/office/drawing/2014/main" id="{DB91D943-CD5C-4206-A591-46CA3E45B211}"/>
              </a:ext>
            </a:extLst>
          </p:cNvPr>
          <p:cNvSpPr>
            <a:spLocks xmlns:a="http://schemas.openxmlformats.org/drawingml/2006/main" noGrp="1"/>
          </p:cNvSpPr>
          <p:nvPr/>
        </p:nvSpPr>
        <p:spPr>
          <a:xfrm xmlns:a="http://schemas.openxmlformats.org/drawingml/2006/main">
            <a:off x="12620625" y="390525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191A18"/>
                </a:solidFill>
                <a:latin typeface="Poppins"/>
                <a:ea typeface="Poppins"/>
                <a:cs typeface="Poppins"/>
              </a:defRPr>
            </a:pPr>
            <a:r>
              <a:rPr sz="3600" b="1">
                <a:solidFill>
                  <a:srgbClr val="191A18"/>
                </a:solidFill>
                <a:latin typeface="Poppins"/>
                <a:ea typeface="Poppins"/>
                <a:cs typeface="Poppins"/>
              </a:rPr>
              <a:t>Same raw value.</a:t>
            </a:r>
          </a:p>
          <a:p xmlns:a="http://schemas.openxmlformats.org/drawingml/2006/main">
            <a:pPr algn="l">
              <a:defRPr sz="3600" b="1">
                <a:solidFill>
                  <a:srgbClr val="191A18"/>
                </a:solidFill>
                <a:latin typeface="Poppins"/>
                <a:ea typeface="Poppins"/>
                <a:cs typeface="Poppins"/>
              </a:defRPr>
            </a:pPr>
            <a:r>
              <a:rPr sz="3600" b="1">
                <a:solidFill>
                  <a:srgbClr val="191A18"/>
                </a:solidFill>
                <a:latin typeface="Poppins"/>
                <a:ea typeface="Poppins"/>
                <a:cs typeface="Poppins"/>
              </a:rPr>
              <a:t>Different meaning.</a:t>
            </a:r>
          </a:p>
        </p:txBody>
      </p:sp>
      <p:sp>
        <p:nvSpPr>
          <p:cNvPr id="5" name="A: unusual change">
            <a:extLst xmlns:a="http://schemas.openxmlformats.org/drawingml/2006/main">
              <a:ext uri="{FF2B5EF4-FFF2-40B4-BE49-F238E27FC236}">
                <a16:creationId xmlns:a16="http://schemas.microsoft.com/office/drawing/2014/main" id="{C810F335-3C40-4050-B227-7475C7D625AA}"/>
              </a:ext>
            </a:extLst>
          </p:cNvPr>
          <p:cNvSpPr>
            <a:spLocks xmlns:a="http://schemas.openxmlformats.org/drawingml/2006/main" noGrp="1"/>
          </p:cNvSpPr>
          <p:nvPr/>
        </p:nvSpPr>
        <p:spPr>
          <a:xfrm xmlns:a="http://schemas.openxmlformats.org/drawingml/2006/main">
            <a:off x="12620625" y="61341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9B712B"/>
                </a:solidFill>
                <a:latin typeface="Poppins"/>
                <a:ea typeface="Poppins"/>
                <a:cs typeface="Poppins"/>
              </a:defRPr>
            </a:pPr>
            <a:r>
              <a:rPr sz="2700" b="1">
                <a:solidFill>
                  <a:srgbClr val="9B712B"/>
                </a:solidFill>
                <a:latin typeface="Poppins"/>
                <a:ea typeface="Poppins"/>
                <a:cs typeface="Poppins"/>
              </a:rPr>
              <a:t>A: unusual change</a:t>
            </a:r>
          </a:p>
        </p:txBody>
      </p:sp>
      <p:sp>
        <p:nvSpPr>
          <p:cNvPr id="6" name="B: within usual range">
            <a:extLst xmlns:a="http://schemas.openxmlformats.org/drawingml/2006/main">
              <a:ext uri="{FF2B5EF4-FFF2-40B4-BE49-F238E27FC236}">
                <a16:creationId xmlns:a16="http://schemas.microsoft.com/office/drawing/2014/main" id="{F044627D-DD8D-4E72-96EF-3ECBE1F813FA}"/>
              </a:ext>
            </a:extLst>
          </p:cNvPr>
          <p:cNvSpPr>
            <a:spLocks xmlns:a="http://schemas.openxmlformats.org/drawingml/2006/main" noGrp="1"/>
          </p:cNvSpPr>
          <p:nvPr/>
        </p:nvSpPr>
        <p:spPr>
          <a:xfrm xmlns:a="http://schemas.openxmlformats.org/drawingml/2006/main">
            <a:off x="12620625" y="71437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326B8C"/>
                </a:solidFill>
                <a:latin typeface="Poppins"/>
                <a:ea typeface="Poppins"/>
                <a:cs typeface="Poppins"/>
              </a:defRPr>
            </a:pPr>
            <a:r>
              <a:rPr sz="2700" b="1">
                <a:solidFill>
                  <a:srgbClr val="326B8C"/>
                </a:solidFill>
                <a:latin typeface="Poppins"/>
                <a:ea typeface="Poppins"/>
                <a:cs typeface="Poppins"/>
              </a:rPr>
              <a:t>B: within usual range</a:t>
            </a:r>
          </a:p>
        </p:txBody>
      </p:sp>
      <p:sp>
        <p:nvSpPr>
          <p:cNvPr id="7" name="Illustrative example • the current baseline routin">
            <a:extLst xmlns:a="http://schemas.openxmlformats.org/drawingml/2006/main">
              <a:ext uri="{FF2B5EF4-FFF2-40B4-BE49-F238E27FC236}">
                <a16:creationId xmlns:a16="http://schemas.microsoft.com/office/drawing/2014/main" id="{BE5A5C02-6F26-4800-8B6E-CE62992706ED}"/>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Illustrative example • the current baseline routine collects 120 seconds of EEG</a:t>
            </a:r>
          </a:p>
        </p:txBody>
      </p:sp>
      <p:pic xmlns:a="http://schemas.openxmlformats.org/drawingml/2006/main" xmlns:r="http://schemas.openxmlformats.org/officeDocument/2006/relationships">
        <p:nvPicPr>
          <p:cNvPr id="11" name="baseline video">
            <a:hlinkClick action="ppaction://media"/>
          </p:cNvPr>
          <p:cNvPicPr>
            <a:picLocks noChangeAspect="1"/>
          </p:cNvPicPr>
          <p:nvPr>
            <a:videoFile r:link="rIdMemoryVideo8"/>
            <p:extLst>
              <p:ext uri="{DAA4B4D4-6D71-4841-9C94-3DE7FCFB9230}">
                <p14:media xmlns:p14="http://schemas.microsoft.com/office/powerpoint/2010/main" r:embed="rIdMemoryMedia8"/>
              </p:ext>
            </p:extLst>
          </p:nvPr>
        </p:nvPicPr>
        <p:blipFill>
          <a:blip r:embed="rIdMemoryPoster8"/>
          <a:stretch>
            <a:fillRect/>
          </a:stretch>
        </p:blipFill>
        <p:spPr>
          <a:xfrm>
            <a:off x="0" y="0"/>
            <a:ext cx="18288000" cy="10287000"/>
          </a:xfrm>
          <a:prstGeom prst="rect">
            <a:avLst/>
          </a:prstGeom>
        </p:spPr>
      </p:pic>
    </p:spTree>
    <p:extLst>
      <p:ext uri="{BB962C8B-B14F-4D97-AF65-F5344CB8AC3E}">
        <p14:creationId xmlns:p14="http://schemas.microsoft.com/office/powerpoint/2010/main" val="1941680223"/>
      </p:ext>
    </p:extLst>
  </p:cSld>
</p:sld>
</file>

<file path=ppt/slides/slide9.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1" name="Four fresh windows confirm one event">
            <a:extLst xmlns:a="http://schemas.openxmlformats.org/drawingml/2006/main">
              <a:ext uri="{FF2B5EF4-FFF2-40B4-BE49-F238E27FC236}">
                <a16:creationId xmlns:a16="http://schemas.microsoft.com/office/drawing/2014/main" id="{976B7A28-F47E-4256-9A83-6EF2E7CC5F6B}"/>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Four fresh windows confirm one event</a:t>
            </a:r>
          </a:p>
        </p:txBody>
      </p:sp>
      <p:sp>
        <p:nvSpPr>
          <p:cNvPr id="2" name="Each window uses new EEG samples. A dip below the ">
            <a:extLst xmlns:a="http://schemas.openxmlformats.org/drawingml/2006/main">
              <a:ext uri="{FF2B5EF4-FFF2-40B4-BE49-F238E27FC236}">
                <a16:creationId xmlns:a16="http://schemas.microsoft.com/office/drawing/2014/main" id="{78168C64-F77E-45D0-A2D5-C593E056B70D}"/>
              </a:ext>
            </a:extLst>
          </p:cNvPr>
          <p:cNvSpPr>
            <a:spLocks xmlns:a="http://schemas.openxmlformats.org/drawingml/2006/main" noGrp="1"/>
          </p:cNvSpPr>
          <p:nvPr/>
        </p:nvSpPr>
        <p:spPr>
          <a:xfrm xmlns:a="http://schemas.openxmlformats.org/drawingml/2006/main">
            <a:off x="1047750" y="2028825"/>
            <a:ext cx="1619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Each window uses new EEG samples. A dip below the threshold resets the count.</a:t>
            </a:r>
          </a:p>
        </p:txBody>
      </p:sp>
      <p:sp>
        <p:nvSpPr>
          <p:cNvPr id="3" name="diagram">
            <a:extLst xmlns:a="http://schemas.openxmlformats.org/drawingml/2006/main">
              <a:ext uri="{FF2B5EF4-FFF2-40B4-BE49-F238E27FC236}">
                <a16:creationId xmlns:a16="http://schemas.microsoft.com/office/drawing/2014/main" id="{A1A5D41A-F057-44F6-B365-DCA4D10F3EA0}"/>
              </a:ext>
            </a:extLst>
          </p:cNvPr>
          <p:cNvSpPr>
            <a:spLocks xmlns:a="http://schemas.openxmlformats.org/drawingml/2006/main" noGrp="1"/>
          </p:cNvSpPr>
          <p:nvPr/>
        </p:nvSpPr>
        <p:spPr>
          <a:xfrm xmlns:a="http://schemas.openxmlformats.org/drawingml/2006/main">
            <a:off x="104775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4" name="0–4 s">
            <a:extLst xmlns:a="http://schemas.openxmlformats.org/drawingml/2006/main">
              <a:ext uri="{FF2B5EF4-FFF2-40B4-BE49-F238E27FC236}">
                <a16:creationId xmlns:a16="http://schemas.microsoft.com/office/drawing/2014/main" id="{E2F1912D-7475-4283-8BE5-385993B0FB0C}"/>
              </a:ext>
            </a:extLst>
          </p:cNvPr>
          <p:cNvSpPr>
            <a:spLocks xmlns:a="http://schemas.openxmlformats.org/drawingml/2006/main" noGrp="1"/>
          </p:cNvSpPr>
          <p:nvPr/>
        </p:nvSpPr>
        <p:spPr>
          <a:xfrm xmlns:a="http://schemas.openxmlformats.org/drawingml/2006/main">
            <a:off x="121920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0–4 s</a:t>
            </a:r>
          </a:p>
        </p:txBody>
      </p:sp>
      <p:sp>
        <p:nvSpPr>
          <p:cNvPr id="5" name="Elevated">
            <a:extLst xmlns:a="http://schemas.openxmlformats.org/drawingml/2006/main">
              <a:ext uri="{FF2B5EF4-FFF2-40B4-BE49-F238E27FC236}">
                <a16:creationId xmlns:a16="http://schemas.microsoft.com/office/drawing/2014/main" id="{76C2583B-F9C2-4726-853F-EA213898ABB8}"/>
              </a:ext>
            </a:extLst>
          </p:cNvPr>
          <p:cNvSpPr>
            <a:spLocks xmlns:a="http://schemas.openxmlformats.org/drawingml/2006/main" noGrp="1"/>
          </p:cNvSpPr>
          <p:nvPr/>
        </p:nvSpPr>
        <p:spPr>
          <a:xfrm xmlns:a="http://schemas.openxmlformats.org/drawingml/2006/main">
            <a:off x="121920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sp>
        <p:nvSpPr>
          <p:cNvPr id="6" name="diagram">
            <a:extLst xmlns:a="http://schemas.openxmlformats.org/drawingml/2006/main">
              <a:ext uri="{FF2B5EF4-FFF2-40B4-BE49-F238E27FC236}">
                <a16:creationId xmlns:a16="http://schemas.microsoft.com/office/drawing/2014/main" id="{4FDEACC9-A747-468D-82AA-BA1539EAC250}"/>
              </a:ext>
            </a:extLst>
          </p:cNvPr>
          <p:cNvSpPr>
            <a:spLocks xmlns:a="http://schemas.openxmlformats.org/drawingml/2006/main" noGrp="1"/>
          </p:cNvSpPr>
          <p:nvPr/>
        </p:nvSpPr>
        <p:spPr>
          <a:xfrm xmlns:a="http://schemas.openxmlformats.org/drawingml/2006/main">
            <a:off x="509587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7" name="4–8 s">
            <a:extLst xmlns:a="http://schemas.openxmlformats.org/drawingml/2006/main">
              <a:ext uri="{FF2B5EF4-FFF2-40B4-BE49-F238E27FC236}">
                <a16:creationId xmlns:a16="http://schemas.microsoft.com/office/drawing/2014/main" id="{7B4D6872-DB67-4B5B-8991-0467BC7E43B3}"/>
              </a:ext>
            </a:extLst>
          </p:cNvPr>
          <p:cNvSpPr>
            <a:spLocks xmlns:a="http://schemas.openxmlformats.org/drawingml/2006/main" noGrp="1"/>
          </p:cNvSpPr>
          <p:nvPr/>
        </p:nvSpPr>
        <p:spPr>
          <a:xfrm xmlns:a="http://schemas.openxmlformats.org/drawingml/2006/main">
            <a:off x="526732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4–8 s</a:t>
            </a:r>
          </a:p>
        </p:txBody>
      </p:sp>
      <p:sp>
        <p:nvSpPr>
          <p:cNvPr id="8" name="Elevated">
            <a:extLst xmlns:a="http://schemas.openxmlformats.org/drawingml/2006/main">
              <a:ext uri="{FF2B5EF4-FFF2-40B4-BE49-F238E27FC236}">
                <a16:creationId xmlns:a16="http://schemas.microsoft.com/office/drawing/2014/main" id="{63A6C79F-3899-4CAE-98B8-469CAF093EA4}"/>
              </a:ext>
            </a:extLst>
          </p:cNvPr>
          <p:cNvSpPr>
            <a:spLocks xmlns:a="http://schemas.openxmlformats.org/drawingml/2006/main" noGrp="1"/>
          </p:cNvSpPr>
          <p:nvPr/>
        </p:nvSpPr>
        <p:spPr>
          <a:xfrm xmlns:a="http://schemas.openxmlformats.org/drawingml/2006/main">
            <a:off x="526732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457200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0" name="diagram">
            <a:extLst xmlns:a="http://schemas.openxmlformats.org/drawingml/2006/main">
              <a:ext uri="{FF2B5EF4-FFF2-40B4-BE49-F238E27FC236}">
                <a16:creationId xmlns:a16="http://schemas.microsoft.com/office/drawing/2014/main" id="{790C507C-9247-4D6F-B4EA-0B8AED275062}"/>
              </a:ext>
            </a:extLst>
          </p:cNvPr>
          <p:cNvSpPr>
            <a:spLocks xmlns:a="http://schemas.openxmlformats.org/drawingml/2006/main" noGrp="1"/>
          </p:cNvSpPr>
          <p:nvPr/>
        </p:nvSpPr>
        <p:spPr>
          <a:xfrm xmlns:a="http://schemas.openxmlformats.org/drawingml/2006/main">
            <a:off x="9144000"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1" name="8–12 s">
            <a:extLst xmlns:a="http://schemas.openxmlformats.org/drawingml/2006/main">
              <a:ext uri="{FF2B5EF4-FFF2-40B4-BE49-F238E27FC236}">
                <a16:creationId xmlns:a16="http://schemas.microsoft.com/office/drawing/2014/main" id="{78C18E26-402C-4032-AE84-A32722BB31E7}"/>
              </a:ext>
            </a:extLst>
          </p:cNvPr>
          <p:cNvSpPr>
            <a:spLocks xmlns:a="http://schemas.openxmlformats.org/drawingml/2006/main" noGrp="1"/>
          </p:cNvSpPr>
          <p:nvPr/>
        </p:nvSpPr>
        <p:spPr>
          <a:xfrm xmlns:a="http://schemas.openxmlformats.org/drawingml/2006/main">
            <a:off x="9315450"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8–12 s</a:t>
            </a:r>
          </a:p>
        </p:txBody>
      </p:sp>
      <p:sp>
        <p:nvSpPr>
          <p:cNvPr id="12" name="Elevated">
            <a:extLst xmlns:a="http://schemas.openxmlformats.org/drawingml/2006/main">
              <a:ext uri="{FF2B5EF4-FFF2-40B4-BE49-F238E27FC236}">
                <a16:creationId xmlns:a16="http://schemas.microsoft.com/office/drawing/2014/main" id="{07DBCE6B-9E18-4428-8C66-3AA74B7A5880}"/>
              </a:ext>
            </a:extLst>
          </p:cNvPr>
          <p:cNvSpPr>
            <a:spLocks xmlns:a="http://schemas.openxmlformats.org/drawingml/2006/main" noGrp="1"/>
          </p:cNvSpPr>
          <p:nvPr/>
        </p:nvSpPr>
        <p:spPr>
          <a:xfrm xmlns:a="http://schemas.openxmlformats.org/drawingml/2006/main">
            <a:off x="9315450"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8620125"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4" name="diagram">
            <a:extLst xmlns:a="http://schemas.openxmlformats.org/drawingml/2006/main">
              <a:ext uri="{FF2B5EF4-FFF2-40B4-BE49-F238E27FC236}">
                <a16:creationId xmlns:a16="http://schemas.microsoft.com/office/drawing/2014/main" id="{22F03800-BF41-4CF0-9A04-F86B1A3A0349}"/>
              </a:ext>
            </a:extLst>
          </p:cNvPr>
          <p:cNvSpPr>
            <a:spLocks xmlns:a="http://schemas.openxmlformats.org/drawingml/2006/main" noGrp="1"/>
          </p:cNvSpPr>
          <p:nvPr/>
        </p:nvSpPr>
        <p:spPr>
          <a:xfrm xmlns:a="http://schemas.openxmlformats.org/drawingml/2006/main">
            <a:off x="13192125" y="4000500"/>
            <a:ext cx="3524250" cy="2095500"/>
          </a:xfrm>
          <a:prstGeom xmlns:a="http://schemas.openxmlformats.org/drawingml/2006/main" prst="rect">
            <a:avLst/>
          </a:prstGeom>
          <a:solidFill xmlns:a="http://schemas.openxmlformats.org/drawingml/2006/main">
            <a:srgbClr val="326B8C"/>
          </a:solidFill>
          <a:ln xmlns:a="http://schemas.openxmlformats.org/drawingml/2006/main" w="0">
            <a:noFill/>
          </a:ln>
        </p:spPr>
      </p:sp>
      <p:sp>
        <p:nvSpPr>
          <p:cNvPr id="15" name="12–16 s">
            <a:extLst xmlns:a="http://schemas.openxmlformats.org/drawingml/2006/main">
              <a:ext uri="{FF2B5EF4-FFF2-40B4-BE49-F238E27FC236}">
                <a16:creationId xmlns:a16="http://schemas.microsoft.com/office/drawing/2014/main" id="{67C2D3D4-63D3-4B30-9CAA-8D77BB73725D}"/>
              </a:ext>
            </a:extLst>
          </p:cNvPr>
          <p:cNvSpPr>
            <a:spLocks xmlns:a="http://schemas.openxmlformats.org/drawingml/2006/main" noGrp="1"/>
          </p:cNvSpPr>
          <p:nvPr/>
        </p:nvSpPr>
        <p:spPr>
          <a:xfrm xmlns:a="http://schemas.openxmlformats.org/drawingml/2006/main">
            <a:off x="13363575" y="4343400"/>
            <a:ext cx="3181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FFFFFF"/>
                </a:solidFill>
                <a:latin typeface="Poppins"/>
                <a:ea typeface="Poppins"/>
                <a:cs typeface="Poppins"/>
              </a:defRPr>
            </a:pPr>
            <a:r>
              <a:rPr sz="4200" b="1">
                <a:solidFill>
                  <a:srgbClr val="FFFFFF"/>
                </a:solidFill>
                <a:latin typeface="Poppins"/>
                <a:ea typeface="Poppins"/>
                <a:cs typeface="Poppins"/>
              </a:rPr>
              <a:t>12–16 s</a:t>
            </a:r>
          </a:p>
        </p:txBody>
      </p:sp>
      <p:sp>
        <p:nvSpPr>
          <p:cNvPr id="16" name="Elevated">
            <a:extLst xmlns:a="http://schemas.openxmlformats.org/drawingml/2006/main">
              <a:ext uri="{FF2B5EF4-FFF2-40B4-BE49-F238E27FC236}">
                <a16:creationId xmlns:a16="http://schemas.microsoft.com/office/drawing/2014/main" id="{BF57DCCB-B1B6-4AA0-9635-98531A377F7D}"/>
              </a:ext>
            </a:extLst>
          </p:cNvPr>
          <p:cNvSpPr>
            <a:spLocks xmlns:a="http://schemas.openxmlformats.org/drawingml/2006/main" noGrp="1"/>
          </p:cNvSpPr>
          <p:nvPr/>
        </p:nvSpPr>
        <p:spPr>
          <a:xfrm xmlns:a="http://schemas.openxmlformats.org/drawingml/2006/main">
            <a:off x="13363575" y="5267325"/>
            <a:ext cx="3181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Poppins"/>
                <a:ea typeface="Poppins"/>
                <a:cs typeface="Poppins"/>
              </a:defRPr>
            </a:pPr>
            <a:r>
              <a:rPr sz="2400" b="0">
                <a:solidFill>
                  <a:srgbClr val="FFFFFF"/>
                </a:solidFill>
                <a:latin typeface="Poppins"/>
                <a:ea typeface="Poppins"/>
                <a:cs typeface="Poppins"/>
              </a:rPr>
              <a:t>Elevated</a:t>
            </a:r>
          </a:p>
        </p:txBody>
      </p:sp>
      <p:cxnSp>
        <p:nvCxnSpPr>
          <p:cNvPr id="37" name=""/>
          <p:cNvCxnSpPr>
            <a:stCxn xmlns:a="http://schemas.openxmlformats.org/drawingml/2006/main" id="10" idx="3"/>
            <a:endCxn xmlns:a="http://schemas.openxmlformats.org/drawingml/2006/main" id="14" idx="1"/>
          </p:cNvCxnSpPr>
          <p:nvPr/>
        </p:nvCxnSpPr>
        <p:spPr>
          <a:xfrm xmlns:a="http://schemas.openxmlformats.org/drawingml/2006/main">
            <a:off x="12668250" y="5048250"/>
            <a:ext cx="5238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8" name="4 / 4 confirmed">
            <a:extLst xmlns:a="http://schemas.openxmlformats.org/drawingml/2006/main">
              <a:ext uri="{FF2B5EF4-FFF2-40B4-BE49-F238E27FC236}">
                <a16:creationId xmlns:a16="http://schemas.microsoft.com/office/drawing/2014/main" id="{6CA87654-736C-45FC-A0B8-F62003CD1158}"/>
              </a:ext>
            </a:extLst>
          </p:cNvPr>
          <p:cNvSpPr>
            <a:spLocks xmlns:a="http://schemas.openxmlformats.org/drawingml/2006/main" noGrp="1"/>
          </p:cNvSpPr>
          <p:nvPr/>
        </p:nvSpPr>
        <p:spPr>
          <a:xfrm xmlns:a="http://schemas.openxmlformats.org/drawingml/2006/main">
            <a:off x="1047750" y="7000875"/>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75" b="1">
                <a:solidFill>
                  <a:srgbClr val="191A18"/>
                </a:solidFill>
                <a:latin typeface="Poppins"/>
                <a:ea typeface="Poppins"/>
                <a:cs typeface="Poppins"/>
              </a:defRPr>
            </a:pPr>
            <a:r>
              <a:rPr sz="4875" b="1">
                <a:solidFill>
                  <a:srgbClr val="191A18"/>
                </a:solidFill>
                <a:latin typeface="Poppins"/>
                <a:ea typeface="Poppins"/>
                <a:cs typeface="Poppins"/>
              </a:rPr>
              <a:t>4 / 4 confirmed</a:t>
            </a:r>
          </a:p>
        </p:txBody>
      </p:sp>
      <p:sp>
        <p:nvSpPr>
          <p:cNvPr id="19" name="Flag the moment">
            <a:extLst xmlns:a="http://schemas.openxmlformats.org/drawingml/2006/main">
              <a:ext uri="{FF2B5EF4-FFF2-40B4-BE49-F238E27FC236}">
                <a16:creationId xmlns:a16="http://schemas.microsoft.com/office/drawing/2014/main" id="{2F9C0A33-120D-4193-B0BC-90238CC854E1}"/>
              </a:ext>
            </a:extLst>
          </p:cNvPr>
          <p:cNvSpPr>
            <a:spLocks xmlns:a="http://schemas.openxmlformats.org/drawingml/2006/main" noGrp="1"/>
          </p:cNvSpPr>
          <p:nvPr/>
        </p:nvSpPr>
        <p:spPr>
          <a:xfrm xmlns:a="http://schemas.openxmlformats.org/drawingml/2006/main">
            <a:off x="1047750" y="8210550"/>
            <a:ext cx="1381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425" b="1">
                <a:solidFill>
                  <a:srgbClr val="9B712B"/>
                </a:solidFill>
                <a:latin typeface="Poppins"/>
                <a:ea typeface="Poppins"/>
                <a:cs typeface="Poppins"/>
              </a:defRPr>
            </a:pPr>
            <a:r>
              <a:rPr sz="4425" b="1">
                <a:solidFill>
                  <a:srgbClr val="9B712B"/>
                </a:solidFill>
                <a:latin typeface="Poppins"/>
                <a:ea typeface="Poppins"/>
                <a:cs typeface="Poppins"/>
              </a:rPr>
              <a:t>Flag the moment</a:t>
            </a:r>
          </a:p>
        </p:txBody>
      </p:sp>
      <p:sp>
        <p:nvSpPr>
          <p:cNvPr id="20" name="Current detector: 4-second non-overlapping windows">
            <a:extLst xmlns:a="http://schemas.openxmlformats.org/drawingml/2006/main">
              <a:ext uri="{FF2B5EF4-FFF2-40B4-BE49-F238E27FC236}">
                <a16:creationId xmlns:a16="http://schemas.microsoft.com/office/drawing/2014/main" id="{B678A514-8597-4BDB-B6C4-9250FBEF1B2A}"/>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Current detector: 4-second non-overlapping windows • illustrative signal sequence</a:t>
            </a:r>
          </a:p>
        </p:txBody>
      </p:sp>
      <p:pic xmlns:a="http://schemas.openxmlformats.org/drawingml/2006/main" xmlns:r="http://schemas.openxmlformats.org/officeDocument/2006/relationships">
        <p:nvPicPr>
          <p:cNvPr id="38" name="persistence video">
            <a:hlinkClick action="ppaction://media"/>
          </p:cNvPr>
          <p:cNvPicPr>
            <a:picLocks noChangeAspect="1"/>
          </p:cNvPicPr>
          <p:nvPr>
            <a:videoFile r:link="rIdMemoryVideo9"/>
            <p:extLst>
              <p:ext uri="{DAA4B4D4-6D71-4841-9C94-3DE7FCFB9230}">
                <p14:media xmlns:p14="http://schemas.microsoft.com/office/powerpoint/2010/main" r:embed="rIdMemoryMedia9"/>
              </p:ext>
            </p:extLst>
          </p:nvPr>
        </p:nvPicPr>
        <p:blipFill>
          <a:blip r:embed="rIdMemoryPoster9"/>
          <a:stretch>
            <a:fillRect/>
          </a:stretch>
        </p:blipFill>
        <p:spPr>
          <a:xfrm>
            <a:off x="0" y="0"/>
            <a:ext cx="18288000" cy="10287000"/>
          </a:xfrm>
          <a:prstGeom prst="rect">
            <a:avLst/>
          </a:prstGeom>
        </p:spPr>
      </p:pic>
    </p:spTree>
    <p:extLst>
      <p:ext uri="{BB962C8B-B14F-4D97-AF65-F5344CB8AC3E}">
        <p14:creationId xmlns:p14="http://schemas.microsoft.com/office/powerpoint/2010/main" val="1445401081"/>
      </p:ext>
    </p:extLst>
  </p:cSld>
</p:sld>
</file>

<file path=ppt/slides/slide10.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Fresh samples reduced false alarms">
            <a:extLst xmlns:a="http://schemas.openxmlformats.org/drawingml/2006/main">
              <a:ext uri="{FF2B5EF4-FFF2-40B4-BE49-F238E27FC236}">
                <a16:creationId xmlns:a16="http://schemas.microsoft.com/office/drawing/2014/main" id="{E4F6AC6B-AD4B-44C8-929F-50A6E42ACD55}"/>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Fresh samples reduced false alarms</a:t>
            </a:r>
          </a:p>
        </p:txBody>
      </p:sp>
      <p:sp>
        <p:nvSpPr>
          <p:cNvPr id="2" name="Changing the overlap changed the result—even with ">
            <a:extLst xmlns:a="http://schemas.openxmlformats.org/drawingml/2006/main">
              <a:ext uri="{FF2B5EF4-FFF2-40B4-BE49-F238E27FC236}">
                <a16:creationId xmlns:a16="http://schemas.microsoft.com/office/drawing/2014/main" id="{9C02F145-68E0-4DE6-BCDF-D8FA717F986E}"/>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Changing the overlap changed the result—even with the same threshold.</a:t>
            </a:r>
          </a:p>
        </p:txBody>
      </p:sp>
      <p:graphicFrame>
        <p:nvGraphicFramePr>
          <p:cNvPr id="7" name="Chart"/>
          <p:cNvGraphicFramePr/>
          <p:nvPr/>
        </p:nvGraphicFramePr>
        <p:xfrm>
          <a:off xmlns:a="http://schemas.openxmlformats.org/drawingml/2006/main" x="1047750" y="3143250"/>
          <a:ext xmlns:a="http://schemas.openxmlformats.org/drawingml/2006/main" cx="16192500" cy="5143500"/>
        </p:xfrm>
        <a:graphic xmlns:a="http://schemas.openxmlformats.org/drawingml/2006/main">
          <a:graphicData uri="http://schemas.openxmlformats.org/drawingml/2006/chart">
            <c:chart xmlns:r="http://schemas.openxmlformats.org/officeDocument/2006/relationships" xmlns:c="http://schemas.openxmlformats.org/drawingml/2006/chart" r:id="R69df292a91e845ff"/>
          </a:graphicData>
        </a:graphic>
      </p:graphicFrame>
      <p:sp>
        <p:nvSpPr>
          <p:cNvPr id="4" name="Controlled synthetic fixture • same data and thres">
            <a:extLst xmlns:a="http://schemas.openxmlformats.org/drawingml/2006/main">
              <a:ext uri="{FF2B5EF4-FFF2-40B4-BE49-F238E27FC236}">
                <a16:creationId xmlns:a16="http://schemas.microsoft.com/office/drawing/2014/main" id="{39D58273-7E9A-48EA-82EB-1B492B00893C}"/>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Controlled synthetic fixture • same data and threshold • source: confusion-detector/README.md</a:t>
            </a:r>
          </a:p>
        </p:txBody>
      </p:sp>
    </p:spTree>
    <p:extLst>
      <p:ext uri="{BB962C8B-B14F-4D97-AF65-F5344CB8AC3E}">
        <p14:creationId xmlns:p14="http://schemas.microsoft.com/office/powerpoint/2010/main" val="1820297362"/>
      </p:ext>
    </p:extLst>
  </p:cSld>
</p:sld>
</file>

<file path=ppt/slides/slide11.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7" name="Find the moment again">
            <a:extLst xmlns:a="http://schemas.openxmlformats.org/drawingml/2006/main">
              <a:ext uri="{FF2B5EF4-FFF2-40B4-BE49-F238E27FC236}">
                <a16:creationId xmlns:a16="http://schemas.microsoft.com/office/drawing/2014/main" id="{99303993-B502-4C88-9EC1-FDDFCF886D69}"/>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Find the moment again</a:t>
            </a:r>
          </a:p>
        </p:txBody>
      </p:sp>
      <p:sp>
        <p:nvSpPr>
          <p:cNvPr id="2" name="Search what you remember. Open the original clip.">
            <a:extLst xmlns:a="http://schemas.openxmlformats.org/drawingml/2006/main">
              <a:ext uri="{FF2B5EF4-FFF2-40B4-BE49-F238E27FC236}">
                <a16:creationId xmlns:a16="http://schemas.microsoft.com/office/drawing/2014/main" id="{3D3DA3CA-3887-4349-9632-3A8C7DD78263}"/>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Search what you remember. Open the original clip.</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a1ee7ea6783485c"/>
          <a:stretch xmlns:a="http://schemas.openxmlformats.org/drawingml/2006/main"/>
        </p:blipFill>
        <p:spPr>
          <a:xfrm xmlns:a="http://schemas.openxmlformats.org/drawingml/2006/main">
            <a:off x="1434042" y="3190875"/>
            <a:ext cx="11514667" cy="6477000"/>
          </a:xfrm>
          <a:prstGeom xmlns:a="http://schemas.openxmlformats.org/drawingml/2006/main" prst="rect">
            <a:avLst/>
          </a:prstGeom>
        </p:spPr>
      </p:pic>
      <p:sp>
        <p:nvSpPr>
          <p:cNvPr id="4" name="“laptop keyboard”">
            <a:extLst xmlns:a="http://schemas.openxmlformats.org/drawingml/2006/main">
              <a:ext uri="{FF2B5EF4-FFF2-40B4-BE49-F238E27FC236}">
                <a16:creationId xmlns:a16="http://schemas.microsoft.com/office/drawing/2014/main" id="{1771809B-091B-4F15-9083-7DE4CE7AC9B4}"/>
              </a:ext>
            </a:extLst>
          </p:cNvPr>
          <p:cNvSpPr>
            <a:spLocks xmlns:a="http://schemas.openxmlformats.org/drawingml/2006/main" noGrp="1"/>
          </p:cNvSpPr>
          <p:nvPr/>
        </p:nvSpPr>
        <p:spPr>
          <a:xfrm xmlns:a="http://schemas.openxmlformats.org/drawingml/2006/main">
            <a:off x="13811250" y="3857625"/>
            <a:ext cx="3524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326B8C"/>
                </a:solidFill>
                <a:latin typeface="Poppins"/>
                <a:ea typeface="Poppins"/>
                <a:cs typeface="Poppins"/>
              </a:defRPr>
            </a:pPr>
            <a:r>
              <a:rPr sz="3075" b="1">
                <a:solidFill>
                  <a:srgbClr val="326B8C"/>
                </a:solidFill>
                <a:latin typeface="Poppins"/>
                <a:ea typeface="Poppins"/>
                <a:cs typeface="Poppins"/>
              </a:rPr>
              <a:t>“laptop keyboard”</a:t>
            </a:r>
          </a:p>
        </p:txBody>
      </p:sp>
      <p:sp>
        <p:nvSpPr>
          <p:cNvPr id="5" name="Search by a detail&#10;you still remember.">
            <a:extLst xmlns:a="http://schemas.openxmlformats.org/drawingml/2006/main">
              <a:ext uri="{FF2B5EF4-FFF2-40B4-BE49-F238E27FC236}">
                <a16:creationId xmlns:a16="http://schemas.microsoft.com/office/drawing/2014/main" id="{73BC70E4-E344-4AA4-9B0E-3A3FA87394F0}"/>
              </a:ext>
            </a:extLst>
          </p:cNvPr>
          <p:cNvSpPr>
            <a:spLocks xmlns:a="http://schemas.openxmlformats.org/drawingml/2006/main" noGrp="1"/>
          </p:cNvSpPr>
          <p:nvPr/>
        </p:nvSpPr>
        <p:spPr>
          <a:xfrm xmlns:a="http://schemas.openxmlformats.org/drawingml/2006/main">
            <a:off x="13811250" y="5762625"/>
            <a:ext cx="3429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Search by a detail</a:t>
            </a:r>
          </a:p>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you still remember.</a:t>
            </a:r>
          </a:p>
        </p:txBody>
      </p:sp>
      <p:sp>
        <p:nvSpPr>
          <p:cNvPr id="6" name="Open live demo →">
            <a:extLst xmlns:a="http://schemas.openxmlformats.org/drawingml/2006/main">
              <a:ext uri="{FF2B5EF4-FFF2-40B4-BE49-F238E27FC236}">
                <a16:creationId xmlns:a16="http://schemas.microsoft.com/office/drawing/2014/main" id="{754E2758-7902-48A7-BFF3-623B0D0DE6EA}"/>
              </a:ext>
            </a:extLst>
          </p:cNvPr>
          <p:cNvSpPr>
            <a:spLocks xmlns:a="http://schemas.openxmlformats.org/drawingml/2006/main" noGrp="1"/>
          </p:cNvSpPr>
          <p:nvPr/>
        </p:nvSpPr>
        <p:spPr>
          <a:xfrm xmlns:a="http://schemas.openxmlformats.org/drawingml/2006/main">
            <a:off x="13811250" y="85725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326B8C"/>
                </a:solidFill>
                <a:latin typeface="Poppins"/>
                <a:ea typeface="Poppins"/>
                <a:cs typeface="Poppins"/>
              </a:defRPr>
            </a:pPr>
            <a:r>
              <a:rPr sz="2400" b="1">
                <a:solidFill>
                  <a:srgbClr val="326B8C"/>
                </a:solidFill>
                <a:latin typeface="Poppins"/>
                <a:ea typeface="Poppins"/>
                <a:cs typeface="Poppins"/>
                <a:hlinkClick xmlns:r="http://schemas.openxmlformats.org/officeDocument/2006/relationships" r:id="Rf05a569ee8524224"/>
              </a:rPr>
              <a:t>Open live demo →</a:t>
            </a:r>
          </a:p>
        </p:txBody>
      </p:sp>
    </p:spTree>
    <p:extLst>
      <p:ext uri="{BB962C8B-B14F-4D97-AF65-F5344CB8AC3E}">
        <p14:creationId xmlns:p14="http://schemas.microsoft.com/office/powerpoint/2010/main" val="1045261575"/>
      </p:ext>
    </p:extLst>
  </p:cSld>
</p:sld>
</file>

<file path=ppt/slides/slide12.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7" name="Elastic for memory search">
            <a:extLst xmlns:a="http://schemas.openxmlformats.org/drawingml/2006/main">
              <a:ext uri="{FF2B5EF4-FFF2-40B4-BE49-F238E27FC236}">
                <a16:creationId xmlns:a16="http://schemas.microsoft.com/office/drawing/2014/main" id="{4BE7D8C4-F84F-4D38-81DA-F1A42A393A9F}"/>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Elastic for memory search</a:t>
            </a:r>
          </a:p>
        </p:txBody>
      </p:sp>
      <p:sp>
        <p:nvSpPr>
          <p:cNvPr id="2" name="Sponsor challenge: turn messy data into insights, ">
            <a:extLst xmlns:a="http://schemas.openxmlformats.org/drawingml/2006/main">
              <a:ext uri="{FF2B5EF4-FFF2-40B4-BE49-F238E27FC236}">
                <a16:creationId xmlns:a16="http://schemas.microsoft.com/office/drawing/2014/main" id="{D39E9775-B3AC-46DF-9D07-95CB90302CE5}"/>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Sponsor challenge: turn messy data into insights, answers or actions.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7a671c95f2b407e"/>
          <a:stretch xmlns:a="http://schemas.openxmlformats.org/drawingml/2006/main"/>
        </p:blipFill>
        <p:spPr>
          <a:xfrm xmlns:a="http://schemas.openxmlformats.org/drawingml/2006/main">
            <a:off x="13124685" y="619125"/>
            <a:ext cx="3754380" cy="1285875"/>
          </a:xfrm>
          <a:prstGeom xmlns:a="http://schemas.openxmlformats.org/drawingml/2006/main" prst="rect">
            <a:avLst/>
          </a:prstGeom>
        </p:spPr>
      </p:pic>
      <p:sp>
        <p:nvSpPr>
          <p:cNvPr id="4" name="diagram">
            <a:extLst xmlns:a="http://schemas.openxmlformats.org/drawingml/2006/main">
              <a:ext uri="{FF2B5EF4-FFF2-40B4-BE49-F238E27FC236}">
                <a16:creationId xmlns:a16="http://schemas.microsoft.com/office/drawing/2014/main" id="{6FD0F463-28AA-4C96-9B75-9394CD2BDB2C}"/>
              </a:ext>
            </a:extLst>
          </p:cNvPr>
          <p:cNvSpPr>
            <a:spLocks xmlns:a="http://schemas.openxmlformats.org/drawingml/2006/main" noGrp="1"/>
          </p:cNvSpPr>
          <p:nvPr/>
        </p:nvSpPr>
        <p:spPr>
          <a:xfrm xmlns:a="http://schemas.openxmlformats.org/drawingml/2006/main">
            <a:off x="1047750"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5" name="Recorded moment">
            <a:extLst xmlns:a="http://schemas.openxmlformats.org/drawingml/2006/main">
              <a:ext uri="{FF2B5EF4-FFF2-40B4-BE49-F238E27FC236}">
                <a16:creationId xmlns:a16="http://schemas.microsoft.com/office/drawing/2014/main" id="{A70AEB11-1F3A-4017-B702-6A9868ECE900}"/>
              </a:ext>
            </a:extLst>
          </p:cNvPr>
          <p:cNvSpPr>
            <a:spLocks xmlns:a="http://schemas.openxmlformats.org/drawingml/2006/main" noGrp="1"/>
          </p:cNvSpPr>
          <p:nvPr/>
        </p:nvSpPr>
        <p:spPr>
          <a:xfrm xmlns:a="http://schemas.openxmlformats.org/drawingml/2006/main">
            <a:off x="1047750"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91A18"/>
                </a:solidFill>
                <a:latin typeface="Poppins"/>
                <a:ea typeface="Poppins"/>
                <a:cs typeface="Poppins"/>
              </a:defRPr>
            </a:pPr>
            <a:r>
              <a:rPr sz="3225" b="1">
                <a:solidFill>
                  <a:srgbClr val="191A18"/>
                </a:solidFill>
                <a:latin typeface="Poppins"/>
                <a:ea typeface="Poppins"/>
                <a:cs typeface="Poppins"/>
              </a:rPr>
              <a:t>Recorded moment</a:t>
            </a:r>
          </a:p>
        </p:txBody>
      </p:sp>
      <p:sp>
        <p:nvSpPr>
          <p:cNvPr id="6" name="Video + time + EEG context">
            <a:extLst xmlns:a="http://schemas.openxmlformats.org/drawingml/2006/main">
              <a:ext uri="{FF2B5EF4-FFF2-40B4-BE49-F238E27FC236}">
                <a16:creationId xmlns:a16="http://schemas.microsoft.com/office/drawing/2014/main" id="{E204E818-1C99-4B01-B910-D806F9DDC4F5}"/>
              </a:ext>
            </a:extLst>
          </p:cNvPr>
          <p:cNvSpPr>
            <a:spLocks xmlns:a="http://schemas.openxmlformats.org/drawingml/2006/main" noGrp="1"/>
          </p:cNvSpPr>
          <p:nvPr/>
        </p:nvSpPr>
        <p:spPr>
          <a:xfrm xmlns:a="http://schemas.openxmlformats.org/drawingml/2006/main">
            <a:off x="1047750"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Video + time + EEG context</a:t>
            </a:r>
          </a:p>
        </p:txBody>
      </p:sp>
      <p:sp>
        <p:nvSpPr>
          <p:cNvPr id="7" name="diagram">
            <a:extLst xmlns:a="http://schemas.openxmlformats.org/drawingml/2006/main">
              <a:ext uri="{FF2B5EF4-FFF2-40B4-BE49-F238E27FC236}">
                <a16:creationId xmlns:a16="http://schemas.microsoft.com/office/drawing/2014/main" id="{6709198E-FC4C-4985-B687-3B5F9650EF1A}"/>
              </a:ext>
            </a:extLst>
          </p:cNvPr>
          <p:cNvSpPr>
            <a:spLocks xmlns:a="http://schemas.openxmlformats.org/drawingml/2006/main" noGrp="1"/>
          </p:cNvSpPr>
          <p:nvPr/>
        </p:nvSpPr>
        <p:spPr>
          <a:xfrm xmlns:a="http://schemas.openxmlformats.org/drawingml/2006/main">
            <a:off x="6683375"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8" name="Jina v5 Omni">
            <a:extLst xmlns:a="http://schemas.openxmlformats.org/drawingml/2006/main">
              <a:ext uri="{FF2B5EF4-FFF2-40B4-BE49-F238E27FC236}">
                <a16:creationId xmlns:a16="http://schemas.microsoft.com/office/drawing/2014/main" id="{51A43F9A-F361-43C7-99A3-34350150ED19}"/>
              </a:ext>
            </a:extLst>
          </p:cNvPr>
          <p:cNvSpPr>
            <a:spLocks xmlns:a="http://schemas.openxmlformats.org/drawingml/2006/main" noGrp="1"/>
          </p:cNvSpPr>
          <p:nvPr/>
        </p:nvSpPr>
        <p:spPr>
          <a:xfrm xmlns:a="http://schemas.openxmlformats.org/drawingml/2006/main">
            <a:off x="6683375"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326B8C"/>
                </a:solidFill>
                <a:latin typeface="Poppins"/>
                <a:ea typeface="Poppins"/>
                <a:cs typeface="Poppins"/>
              </a:defRPr>
            </a:pPr>
            <a:r>
              <a:rPr sz="3225" b="1">
                <a:solidFill>
                  <a:srgbClr val="326B8C"/>
                </a:solidFill>
                <a:latin typeface="Poppins"/>
                <a:ea typeface="Poppins"/>
                <a:cs typeface="Poppins"/>
              </a:rPr>
              <a:t>Jina v5 Omni</a:t>
            </a:r>
          </a:p>
        </p:txBody>
      </p:sp>
      <p:sp>
        <p:nvSpPr>
          <p:cNvPr id="9" name="A shared space for clips&#10;and search questions">
            <a:extLst xmlns:a="http://schemas.openxmlformats.org/drawingml/2006/main">
              <a:ext uri="{FF2B5EF4-FFF2-40B4-BE49-F238E27FC236}">
                <a16:creationId xmlns:a16="http://schemas.microsoft.com/office/drawing/2014/main" id="{CE859C30-31D1-4FBD-9118-E570BDCACFA4}"/>
              </a:ext>
            </a:extLst>
          </p:cNvPr>
          <p:cNvSpPr>
            <a:spLocks xmlns:a="http://schemas.openxmlformats.org/drawingml/2006/main" noGrp="1"/>
          </p:cNvSpPr>
          <p:nvPr/>
        </p:nvSpPr>
        <p:spPr>
          <a:xfrm xmlns:a="http://schemas.openxmlformats.org/drawingml/2006/main">
            <a:off x="6683375"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A shared space for clips</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and search questions</a:t>
            </a:r>
          </a:p>
        </p:txBody>
      </p:sp>
      <p:cxnSp>
        <p:nvCxnSpPr>
          <p:cNvPr id="26" name=""/>
          <p:cNvCxnSpPr>
            <a:stCxn xmlns:a="http://schemas.openxmlformats.org/drawingml/2006/main" id="4" idx="3"/>
            <a:endCxn xmlns:a="http://schemas.openxmlformats.org/drawingml/2006/main" id="7" idx="1"/>
          </p:cNvCxnSpPr>
          <p:nvPr/>
        </p:nvCxnSpPr>
        <p:spPr>
          <a:xfrm xmlns:a="http://schemas.openxmlformats.org/drawingml/2006/main">
            <a:off x="5969000" y="4905375"/>
            <a:ext cx="7143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1" name="diagram">
            <a:extLst xmlns:a="http://schemas.openxmlformats.org/drawingml/2006/main">
              <a:ext uri="{FF2B5EF4-FFF2-40B4-BE49-F238E27FC236}">
                <a16:creationId xmlns:a16="http://schemas.microsoft.com/office/drawing/2014/main" id="{2DF8097B-F689-4190-9019-4F212F64631D}"/>
              </a:ext>
            </a:extLst>
          </p:cNvPr>
          <p:cNvSpPr>
            <a:spLocks xmlns:a="http://schemas.openxmlformats.org/drawingml/2006/main" noGrp="1"/>
          </p:cNvSpPr>
          <p:nvPr/>
        </p:nvSpPr>
        <p:spPr>
          <a:xfrm xmlns:a="http://schemas.openxmlformats.org/drawingml/2006/main">
            <a:off x="12319000" y="4095750"/>
            <a:ext cx="4921250" cy="1619250"/>
          </a:xfrm>
          <a:prstGeom xmlns:a="http://schemas.openxmlformats.org/drawingml/2006/main" prst="rect">
            <a:avLst/>
          </a:prstGeom>
          <a:noFill xmlns:a="http://schemas.openxmlformats.org/drawingml/2006/main"/>
          <a:ln xmlns:a="http://schemas.openxmlformats.org/drawingml/2006/main" w="0">
            <a:noFill/>
          </a:ln>
        </p:spPr>
      </p:sp>
      <p:sp>
        <p:nvSpPr>
          <p:cNvPr id="12" name="Hybrid search">
            <a:extLst xmlns:a="http://schemas.openxmlformats.org/drawingml/2006/main">
              <a:ext uri="{FF2B5EF4-FFF2-40B4-BE49-F238E27FC236}">
                <a16:creationId xmlns:a16="http://schemas.microsoft.com/office/drawing/2014/main" id="{1E63EC04-4043-4B7C-95AF-03BA0B1DAF0F}"/>
              </a:ext>
            </a:extLst>
          </p:cNvPr>
          <p:cNvSpPr>
            <a:spLocks xmlns:a="http://schemas.openxmlformats.org/drawingml/2006/main" noGrp="1"/>
          </p:cNvSpPr>
          <p:nvPr/>
        </p:nvSpPr>
        <p:spPr>
          <a:xfrm xmlns:a="http://schemas.openxmlformats.org/drawingml/2006/main">
            <a:off x="12319000" y="4095750"/>
            <a:ext cx="492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9B712B"/>
                </a:solidFill>
                <a:latin typeface="Poppins"/>
                <a:ea typeface="Poppins"/>
                <a:cs typeface="Poppins"/>
              </a:defRPr>
            </a:pPr>
            <a:r>
              <a:rPr sz="3225" b="1">
                <a:solidFill>
                  <a:srgbClr val="9B712B"/>
                </a:solidFill>
                <a:latin typeface="Poppins"/>
                <a:ea typeface="Poppins"/>
                <a:cs typeface="Poppins"/>
              </a:rPr>
              <a:t>Hybrid search</a:t>
            </a:r>
          </a:p>
        </p:txBody>
      </p:sp>
      <p:sp>
        <p:nvSpPr>
          <p:cNvPr id="13" name="Keywords + meaning&#10;BM25 + kNN → RRF">
            <a:extLst xmlns:a="http://schemas.openxmlformats.org/drawingml/2006/main">
              <a:ext uri="{FF2B5EF4-FFF2-40B4-BE49-F238E27FC236}">
                <a16:creationId xmlns:a16="http://schemas.microsoft.com/office/drawing/2014/main" id="{BC23FBA5-1BB6-42DD-963E-6415A611BAC8}"/>
              </a:ext>
            </a:extLst>
          </p:cNvPr>
          <p:cNvSpPr>
            <a:spLocks xmlns:a="http://schemas.openxmlformats.org/drawingml/2006/main" noGrp="1"/>
          </p:cNvSpPr>
          <p:nvPr/>
        </p:nvSpPr>
        <p:spPr>
          <a:xfrm xmlns:a="http://schemas.openxmlformats.org/drawingml/2006/main">
            <a:off x="12319000" y="5010150"/>
            <a:ext cx="492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Keywords + meaning</a:t>
            </a:r>
          </a:p>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BM25 + kNN → RRF</a:t>
            </a:r>
          </a:p>
        </p:txBody>
      </p:sp>
      <p:cxnSp>
        <p:nvCxnSpPr>
          <p:cNvPr id="30" name=""/>
          <p:cNvCxnSpPr>
            <a:stCxn xmlns:a="http://schemas.openxmlformats.org/drawingml/2006/main" id="7" idx="3"/>
            <a:endCxn xmlns:a="http://schemas.openxmlformats.org/drawingml/2006/main" id="11" idx="1"/>
          </p:cNvCxnSpPr>
          <p:nvPr/>
        </p:nvCxnSpPr>
        <p:spPr>
          <a:xfrm xmlns:a="http://schemas.openxmlformats.org/drawingml/2006/main">
            <a:off x="11604625" y="4905375"/>
            <a:ext cx="714375" cy="0"/>
          </a:xfrm>
          <a:prstGeom xmlns:a="http://schemas.openxmlformats.org/drawingml/2006/main" prst="straightConnector1">
            <a:avLst/>
          </a:prstGeom>
          <a:ln xmlns:a="http://schemas.openxmlformats.org/drawingml/2006/main" w="38100">
            <a:solidFill>
              <a:srgbClr val="9B712B"/>
            </a:solidFill>
            <a:tailEnd type="triangle" w="med" len="med"/>
          </a:ln>
        </p:spPr>
      </p:cxnSp>
      <p:sp>
        <p:nvSpPr>
          <p:cNvPr id="15" name="A question becomes a replayable memory.">
            <a:extLst xmlns:a="http://schemas.openxmlformats.org/drawingml/2006/main">
              <a:ext uri="{FF2B5EF4-FFF2-40B4-BE49-F238E27FC236}">
                <a16:creationId xmlns:a16="http://schemas.microsoft.com/office/drawing/2014/main" id="{F775D216-C208-43C4-891D-E31E15B034FF}"/>
              </a:ext>
            </a:extLst>
          </p:cNvPr>
          <p:cNvSpPr>
            <a:spLocks xmlns:a="http://schemas.openxmlformats.org/drawingml/2006/main" noGrp="1"/>
          </p:cNvSpPr>
          <p:nvPr/>
        </p:nvSpPr>
        <p:spPr>
          <a:xfrm xmlns:a="http://schemas.openxmlformats.org/drawingml/2006/main">
            <a:off x="1047750" y="7848600"/>
            <a:ext cx="1543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125" b="1">
                <a:solidFill>
                  <a:srgbClr val="191A18"/>
                </a:solidFill>
                <a:latin typeface="Poppins"/>
                <a:ea typeface="Poppins"/>
                <a:cs typeface="Poppins"/>
              </a:defRPr>
            </a:pPr>
            <a:r>
              <a:rPr sz="4125" b="1">
                <a:solidFill>
                  <a:srgbClr val="191A18"/>
                </a:solidFill>
                <a:latin typeface="Poppins"/>
                <a:ea typeface="Poppins"/>
                <a:cs typeface="Poppins"/>
              </a:rPr>
              <a:t>A question becomes a replayable memory.</a:t>
            </a:r>
          </a:p>
        </p:txBody>
      </p:sp>
      <p:sp>
        <p:nvSpPr>
          <p:cNvPr id="16" name="Implemented with Elastic Cloud Serverless and Elas">
            <a:extLst xmlns:a="http://schemas.openxmlformats.org/drawingml/2006/main">
              <a:ext uri="{FF2B5EF4-FFF2-40B4-BE49-F238E27FC236}">
                <a16:creationId xmlns:a16="http://schemas.microsoft.com/office/drawing/2014/main" id="{C50A21EB-B2BB-4869-AB05-3D7B831DD5BE}"/>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Implemented with Elastic Cloud Serverless and Elastic Inference Service</a:t>
            </a:r>
          </a:p>
        </p:txBody>
      </p:sp>
    </p:spTree>
    <p:extLst>
      <p:ext uri="{BB962C8B-B14F-4D97-AF65-F5344CB8AC3E}">
        <p14:creationId xmlns:p14="http://schemas.microsoft.com/office/powerpoint/2010/main" val="624972014"/>
      </p:ext>
    </p:extLst>
  </p:cSld>
</p:sld>
</file>

<file path=ppt/slides/slide13.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16" name="Meta connects your moments">
            <a:extLst xmlns:a="http://schemas.openxmlformats.org/drawingml/2006/main">
              <a:ext uri="{FF2B5EF4-FFF2-40B4-BE49-F238E27FC236}">
                <a16:creationId xmlns:a16="http://schemas.microsoft.com/office/drawing/2014/main" id="{B03E4E0F-5247-47E2-B71F-1970E69466DE}"/>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Meta connects your moments</a:t>
            </a:r>
          </a:p>
        </p:txBody>
      </p:sp>
      <p:sp>
        <p:nvSpPr>
          <p:cNvPr id="2" name="Understand a moment, ask about it, then share what">
            <a:extLst xmlns:a="http://schemas.openxmlformats.org/drawingml/2006/main">
              <a:ext uri="{FF2B5EF4-FFF2-40B4-BE49-F238E27FC236}">
                <a16:creationId xmlns:a16="http://schemas.microsoft.com/office/drawing/2014/main" id="{C57FC883-B89B-4745-8445-6BAF53CD35BA}"/>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Understand a moment, ask about it, then share what matters.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327d709d0ae47e8"/>
          <a:stretch xmlns:a="http://schemas.openxmlformats.org/drawingml/2006/main"/>
        </p:blipFill>
        <p:spPr>
          <a:xfrm xmlns:a="http://schemas.openxmlformats.org/drawingml/2006/main">
            <a:off x="14229292" y="666750"/>
            <a:ext cx="2116667" cy="1190625"/>
          </a:xfrm>
          <a:prstGeom xmlns:a="http://schemas.openxmlformats.org/drawingml/2006/main" prst="rect">
            <a:avLst/>
          </a:prstGeom>
        </p:spPr>
      </p:pic>
      <p:sp>
        <p:nvSpPr>
          <p:cNvPr id="4" name="Describe the moment">
            <a:extLst xmlns:a="http://schemas.openxmlformats.org/drawingml/2006/main">
              <a:ext uri="{FF2B5EF4-FFF2-40B4-BE49-F238E27FC236}">
                <a16:creationId xmlns:a16="http://schemas.microsoft.com/office/drawing/2014/main" id="{1436384D-48C1-405B-9853-01F6D5099FC7}"/>
              </a:ext>
            </a:extLst>
          </p:cNvPr>
          <p:cNvSpPr>
            <a:spLocks xmlns:a="http://schemas.openxmlformats.org/drawingml/2006/main" noGrp="1"/>
          </p:cNvSpPr>
          <p:nvPr/>
        </p:nvSpPr>
        <p:spPr>
          <a:xfrm xmlns:a="http://schemas.openxmlformats.org/drawingml/2006/main">
            <a:off x="1047750" y="333375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Describe the moment</a:t>
            </a:r>
          </a:p>
        </p:txBody>
      </p:sp>
      <p:sp>
        <p:nvSpPr>
          <p:cNvPr id="5" name="Muse Spark">
            <a:extLst xmlns:a="http://schemas.openxmlformats.org/drawingml/2006/main">
              <a:ext uri="{FF2B5EF4-FFF2-40B4-BE49-F238E27FC236}">
                <a16:creationId xmlns:a16="http://schemas.microsoft.com/office/drawing/2014/main" id="{5783B8C4-6222-4F48-9474-3C4FB15E9455}"/>
              </a:ext>
            </a:extLst>
          </p:cNvPr>
          <p:cNvSpPr>
            <a:spLocks xmlns:a="http://schemas.openxmlformats.org/drawingml/2006/main" noGrp="1"/>
          </p:cNvSpPr>
          <p:nvPr/>
        </p:nvSpPr>
        <p:spPr>
          <a:xfrm xmlns:a="http://schemas.openxmlformats.org/drawingml/2006/main">
            <a:off x="7858125" y="3333750"/>
            <a:ext cx="895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326B8C"/>
                </a:solidFill>
                <a:latin typeface="Poppins"/>
                <a:ea typeface="Poppins"/>
                <a:cs typeface="Poppins"/>
              </a:defRPr>
            </a:pPr>
            <a:r>
              <a:rPr sz="2625" b="1">
                <a:solidFill>
                  <a:srgbClr val="326B8C"/>
                </a:solidFill>
                <a:latin typeface="Poppins"/>
                <a:ea typeface="Poppins"/>
                <a:cs typeface="Poppins"/>
              </a:rPr>
              <a:t>Muse Spark</a:t>
            </a:r>
          </a:p>
        </p:txBody>
      </p:sp>
      <p:sp>
        <p:nvSpPr>
          <p:cNvPr id="6" name="Turns a recorded clip into a searchable descriptio">
            <a:extLst xmlns:a="http://schemas.openxmlformats.org/drawingml/2006/main">
              <a:ext uri="{FF2B5EF4-FFF2-40B4-BE49-F238E27FC236}">
                <a16:creationId xmlns:a16="http://schemas.microsoft.com/office/drawing/2014/main" id="{30A54F9F-9286-4E70-A24C-F2D5BC21D627}"/>
              </a:ext>
            </a:extLst>
          </p:cNvPr>
          <p:cNvSpPr>
            <a:spLocks xmlns:a="http://schemas.openxmlformats.org/drawingml/2006/main" noGrp="1"/>
          </p:cNvSpPr>
          <p:nvPr/>
        </p:nvSpPr>
        <p:spPr>
          <a:xfrm xmlns:a="http://schemas.openxmlformats.org/drawingml/2006/main">
            <a:off x="7858125" y="4029075"/>
            <a:ext cx="9001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Turns a recorded clip into a searchable description.</a:t>
            </a:r>
          </a:p>
        </p:txBody>
      </p:sp>
      <p:sp>
        <p:nvSpPr>
          <p:cNvPr id="7" name="diagram">
            <a:extLst xmlns:a="http://schemas.openxmlformats.org/drawingml/2006/main">
              <a:ext uri="{FF2B5EF4-FFF2-40B4-BE49-F238E27FC236}">
                <a16:creationId xmlns:a16="http://schemas.microsoft.com/office/drawing/2014/main" id="{EC1192AD-FB86-4BDF-B6E1-0B6BF19D730C}"/>
              </a:ext>
            </a:extLst>
          </p:cNvPr>
          <p:cNvSpPr>
            <a:spLocks xmlns:a="http://schemas.openxmlformats.org/drawingml/2006/main" noGrp="1"/>
          </p:cNvSpPr>
          <p:nvPr/>
        </p:nvSpPr>
        <p:spPr>
          <a:xfrm xmlns:a="http://schemas.openxmlformats.org/drawingml/2006/main">
            <a:off x="1047750" y="5057775"/>
            <a:ext cx="16097250" cy="19050"/>
          </a:xfrm>
          <a:prstGeom xmlns:a="http://schemas.openxmlformats.org/drawingml/2006/main" prst="rect">
            <a:avLst/>
          </a:prstGeom>
          <a:solidFill xmlns:a="http://schemas.openxmlformats.org/drawingml/2006/main">
            <a:srgbClr val="D6D2C7"/>
          </a:solidFill>
          <a:ln xmlns:a="http://schemas.openxmlformats.org/drawingml/2006/main" w="0">
            <a:noFill/>
          </a:ln>
        </p:spPr>
      </p:sp>
      <p:sp>
        <p:nvSpPr>
          <p:cNvPr id="8" name="Talk to Memory Guard">
            <a:extLst xmlns:a="http://schemas.openxmlformats.org/drawingml/2006/main">
              <a:ext uri="{FF2B5EF4-FFF2-40B4-BE49-F238E27FC236}">
                <a16:creationId xmlns:a16="http://schemas.microsoft.com/office/drawing/2014/main" id="{32AB0355-4280-4BD1-B2C1-388197D1E1D0}"/>
              </a:ext>
            </a:extLst>
          </p:cNvPr>
          <p:cNvSpPr>
            <a:spLocks xmlns:a="http://schemas.openxmlformats.org/drawingml/2006/main" noGrp="1"/>
          </p:cNvSpPr>
          <p:nvPr/>
        </p:nvSpPr>
        <p:spPr>
          <a:xfrm xmlns:a="http://schemas.openxmlformats.org/drawingml/2006/main">
            <a:off x="1047750" y="533400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Talk to Memory Guard</a:t>
            </a:r>
          </a:p>
        </p:txBody>
      </p:sp>
      <p:sp>
        <p:nvSpPr>
          <p:cNvPr id="9" name="Muse Voice Transcribe + Muse Spark">
            <a:extLst xmlns:a="http://schemas.openxmlformats.org/drawingml/2006/main">
              <a:ext uri="{FF2B5EF4-FFF2-40B4-BE49-F238E27FC236}">
                <a16:creationId xmlns:a16="http://schemas.microsoft.com/office/drawing/2014/main" id="{37555D4F-0DFE-41A0-AC31-45AC964C4CAA}"/>
              </a:ext>
            </a:extLst>
          </p:cNvPr>
          <p:cNvSpPr>
            <a:spLocks xmlns:a="http://schemas.openxmlformats.org/drawingml/2006/main" noGrp="1"/>
          </p:cNvSpPr>
          <p:nvPr/>
        </p:nvSpPr>
        <p:spPr>
          <a:xfrm xmlns:a="http://schemas.openxmlformats.org/drawingml/2006/main">
            <a:off x="7858125" y="5334000"/>
            <a:ext cx="895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326B8C"/>
                </a:solidFill>
                <a:latin typeface="Poppins"/>
                <a:ea typeface="Poppins"/>
                <a:cs typeface="Poppins"/>
              </a:defRPr>
            </a:pPr>
            <a:r>
              <a:rPr sz="2625" b="1">
                <a:solidFill>
                  <a:srgbClr val="326B8C"/>
                </a:solidFill>
                <a:latin typeface="Poppins"/>
                <a:ea typeface="Poppins"/>
                <a:cs typeface="Poppins"/>
              </a:rPr>
              <a:t>Muse Voice Transcribe + Muse Spark</a:t>
            </a:r>
          </a:p>
        </p:txBody>
      </p:sp>
      <p:sp>
        <p:nvSpPr>
          <p:cNvPr id="10" name="Transcribes your question, then reasons over retri">
            <a:extLst xmlns:a="http://schemas.openxmlformats.org/drawingml/2006/main">
              <a:ext uri="{FF2B5EF4-FFF2-40B4-BE49-F238E27FC236}">
                <a16:creationId xmlns:a16="http://schemas.microsoft.com/office/drawing/2014/main" id="{798C2E83-8967-4401-89F8-F81DB6BD491C}"/>
              </a:ext>
            </a:extLst>
          </p:cNvPr>
          <p:cNvSpPr>
            <a:spLocks xmlns:a="http://schemas.openxmlformats.org/drawingml/2006/main" noGrp="1"/>
          </p:cNvSpPr>
          <p:nvPr/>
        </p:nvSpPr>
        <p:spPr>
          <a:xfrm xmlns:a="http://schemas.openxmlformats.org/drawingml/2006/main">
            <a:off x="7858125" y="6029325"/>
            <a:ext cx="9001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Transcribes your question, then reasons over retrieved moments.</a:t>
            </a:r>
          </a:p>
        </p:txBody>
      </p:sp>
      <p:sp>
        <p:nvSpPr>
          <p:cNvPr id="11" name="diagram">
            <a:extLst xmlns:a="http://schemas.openxmlformats.org/drawingml/2006/main">
              <a:ext uri="{FF2B5EF4-FFF2-40B4-BE49-F238E27FC236}">
                <a16:creationId xmlns:a16="http://schemas.microsoft.com/office/drawing/2014/main" id="{CAD7818C-2B75-4237-851A-3A9BF9A64C41}"/>
              </a:ext>
            </a:extLst>
          </p:cNvPr>
          <p:cNvSpPr>
            <a:spLocks xmlns:a="http://schemas.openxmlformats.org/drawingml/2006/main" noGrp="1"/>
          </p:cNvSpPr>
          <p:nvPr/>
        </p:nvSpPr>
        <p:spPr>
          <a:xfrm xmlns:a="http://schemas.openxmlformats.org/drawingml/2006/main">
            <a:off x="1047750" y="7058025"/>
            <a:ext cx="16097250" cy="19050"/>
          </a:xfrm>
          <a:prstGeom xmlns:a="http://schemas.openxmlformats.org/drawingml/2006/main" prst="rect">
            <a:avLst/>
          </a:prstGeom>
          <a:solidFill xmlns:a="http://schemas.openxmlformats.org/drawingml/2006/main">
            <a:srgbClr val="D6D2C7"/>
          </a:solidFill>
          <a:ln xmlns:a="http://schemas.openxmlformats.org/drawingml/2006/main" w="0">
            <a:noFill/>
          </a:ln>
        </p:spPr>
      </p:sp>
      <p:sp>
        <p:nvSpPr>
          <p:cNvPr id="12" name="Share with someone close">
            <a:extLst xmlns:a="http://schemas.openxmlformats.org/drawingml/2006/main">
              <a:ext uri="{FF2B5EF4-FFF2-40B4-BE49-F238E27FC236}">
                <a16:creationId xmlns:a16="http://schemas.microsoft.com/office/drawing/2014/main" id="{26B2E0D7-99A3-4F2D-B21B-90A599CD9DE0}"/>
              </a:ext>
            </a:extLst>
          </p:cNvPr>
          <p:cNvSpPr>
            <a:spLocks xmlns:a="http://schemas.openxmlformats.org/drawingml/2006/main" noGrp="1"/>
          </p:cNvSpPr>
          <p:nvPr/>
        </p:nvSpPr>
        <p:spPr>
          <a:xfrm xmlns:a="http://schemas.openxmlformats.org/drawingml/2006/main">
            <a:off x="1047750" y="733425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Share with someone close</a:t>
            </a:r>
          </a:p>
        </p:txBody>
      </p:sp>
      <p:sp>
        <p:nvSpPr>
          <p:cNvPr id="13" name="Muse Spark">
            <a:extLst xmlns:a="http://schemas.openxmlformats.org/drawingml/2006/main">
              <a:ext uri="{FF2B5EF4-FFF2-40B4-BE49-F238E27FC236}">
                <a16:creationId xmlns:a16="http://schemas.microsoft.com/office/drawing/2014/main" id="{6218E5BC-54BF-4D4B-8C25-561097AF80CE}"/>
              </a:ext>
            </a:extLst>
          </p:cNvPr>
          <p:cNvSpPr>
            <a:spLocks xmlns:a="http://schemas.openxmlformats.org/drawingml/2006/main" noGrp="1"/>
          </p:cNvSpPr>
          <p:nvPr/>
        </p:nvSpPr>
        <p:spPr>
          <a:xfrm xmlns:a="http://schemas.openxmlformats.org/drawingml/2006/main">
            <a:off x="7858125" y="7334250"/>
            <a:ext cx="8953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326B8C"/>
                </a:solidFill>
                <a:latin typeface="Poppins"/>
                <a:ea typeface="Poppins"/>
                <a:cs typeface="Poppins"/>
              </a:defRPr>
            </a:pPr>
            <a:r>
              <a:rPr sz="2625" b="1">
                <a:solidFill>
                  <a:srgbClr val="326B8C"/>
                </a:solidFill>
                <a:latin typeface="Poppins"/>
                <a:ea typeface="Poppins"/>
                <a:cs typeface="Poppins"/>
              </a:rPr>
              <a:t>Muse Spark</a:t>
            </a:r>
          </a:p>
        </p:txBody>
      </p:sp>
      <p:sp>
        <p:nvSpPr>
          <p:cNvPr id="14" name="Drafts a personal note from moments you select and">
            <a:extLst xmlns:a="http://schemas.openxmlformats.org/drawingml/2006/main">
              <a:ext uri="{FF2B5EF4-FFF2-40B4-BE49-F238E27FC236}">
                <a16:creationId xmlns:a16="http://schemas.microsoft.com/office/drawing/2014/main" id="{EC678600-A51C-4A15-BF66-C116612DF420}"/>
              </a:ext>
            </a:extLst>
          </p:cNvPr>
          <p:cNvSpPr>
            <a:spLocks xmlns:a="http://schemas.openxmlformats.org/drawingml/2006/main" noGrp="1"/>
          </p:cNvSpPr>
          <p:nvPr/>
        </p:nvSpPr>
        <p:spPr>
          <a:xfrm xmlns:a="http://schemas.openxmlformats.org/drawingml/2006/main">
            <a:off x="7858125" y="8029575"/>
            <a:ext cx="9001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5A5D59"/>
                </a:solidFill>
                <a:latin typeface="Poppins"/>
                <a:ea typeface="Poppins"/>
                <a:cs typeface="Poppins"/>
              </a:defRPr>
            </a:pPr>
            <a:r>
              <a:rPr sz="2325" b="0">
                <a:solidFill>
                  <a:srgbClr val="5A5D59"/>
                </a:solidFill>
                <a:latin typeface="Poppins"/>
                <a:ea typeface="Poppins"/>
                <a:cs typeface="Poppins"/>
              </a:rPr>
              <a:t>Drafts a personal note from moments you select and review.</a:t>
            </a:r>
          </a:p>
        </p:txBody>
      </p:sp>
      <p:sp>
        <p:nvSpPr>
          <p:cNvPr id="15" name="Personal context becomes a way to connect.">
            <a:extLst xmlns:a="http://schemas.openxmlformats.org/drawingml/2006/main">
              <a:ext uri="{FF2B5EF4-FFF2-40B4-BE49-F238E27FC236}">
                <a16:creationId xmlns:a16="http://schemas.microsoft.com/office/drawing/2014/main" id="{08B2C5F2-7642-454D-A7C8-6EE300416E68}"/>
              </a:ext>
            </a:extLst>
          </p:cNvPr>
          <p:cNvSpPr>
            <a:spLocks xmlns:a="http://schemas.openxmlformats.org/drawingml/2006/main" noGrp="1"/>
          </p:cNvSpPr>
          <p:nvPr/>
        </p:nvSpPr>
        <p:spPr>
          <a:xfrm xmlns:a="http://schemas.openxmlformats.org/drawingml/2006/main">
            <a:off x="1047750" y="9458325"/>
            <a:ext cx="1590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B712B"/>
                </a:solidFill>
                <a:latin typeface="Poppins"/>
                <a:ea typeface="Poppins"/>
                <a:cs typeface="Poppins"/>
              </a:defRPr>
            </a:pPr>
            <a:r>
              <a:rPr sz="2550" b="1">
                <a:solidFill>
                  <a:srgbClr val="9B712B"/>
                </a:solidFill>
                <a:latin typeface="Poppins"/>
                <a:ea typeface="Poppins"/>
                <a:cs typeface="Poppins"/>
              </a:rPr>
              <a:t>Personal context becomes a way to connect.</a:t>
            </a:r>
          </a:p>
        </p:txBody>
      </p:sp>
    </p:spTree>
    <p:extLst>
      <p:ext uri="{BB962C8B-B14F-4D97-AF65-F5344CB8AC3E}">
        <p14:creationId xmlns:p14="http://schemas.microsoft.com/office/powerpoint/2010/main" val="452785411"/>
      </p:ext>
    </p:extLst>
  </p:cSld>
</p:sld>
</file>

<file path=ppt/slides/slide14.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9" name="84 numbers and a logistic regression">
            <a:extLst xmlns:a="http://schemas.openxmlformats.org/drawingml/2006/main">
              <a:ext uri="{FF2B5EF4-FFF2-40B4-BE49-F238E27FC236}">
                <a16:creationId xmlns:a16="http://schemas.microsoft.com/office/drawing/2014/main" id="{381FEFD5-381A-4A89-B238-FFCB24702DFC}"/>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84 numbers and a logistic regression</a:t>
            </a:r>
          </a:p>
        </p:txBody>
      </p:sp>
      <p:sp>
        <p:nvSpPr>
          <p:cNvPr id="2" name="Voloridge • extracting sustained state changes fro">
            <a:extLst xmlns:a="http://schemas.openxmlformats.org/drawingml/2006/main">
              <a:ext uri="{FF2B5EF4-FFF2-40B4-BE49-F238E27FC236}">
                <a16:creationId xmlns:a16="http://schemas.microsoft.com/office/drawing/2014/main" id="{049AB5E1-5703-489B-8CBD-25847A7DE69B}"/>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Voloridge • extracting sustained state changes from public EEG data</a:t>
            </a:r>
          </a:p>
        </p:txBody>
      </p:sp>
      <p:sp>
        <p:nvSpPr>
          <p:cNvPr id="3" name="diagram">
            <a:extLst xmlns:a="http://schemas.openxmlformats.org/drawingml/2006/main">
              <a:ext uri="{FF2B5EF4-FFF2-40B4-BE49-F238E27FC236}">
                <a16:creationId xmlns:a16="http://schemas.microsoft.com/office/drawing/2014/main" id="{5933F754-3177-4F75-85E8-AC657B7FAD66}"/>
              </a:ext>
            </a:extLst>
          </p:cNvPr>
          <p:cNvSpPr>
            <a:spLocks xmlns:a="http://schemas.openxmlformats.org/drawingml/2006/main" noGrp="1"/>
          </p:cNvSpPr>
          <p:nvPr/>
        </p:nvSpPr>
        <p:spPr>
          <a:xfrm xmlns:a="http://schemas.openxmlformats.org/drawingml/2006/main">
            <a:off x="14954250" y="381000"/>
            <a:ext cx="2286000" cy="1524000"/>
          </a:xfrm>
          <a:prstGeom xmlns:a="http://schemas.openxmlformats.org/drawingml/2006/main" prst="rect">
            <a:avLst/>
          </a:prstGeom>
          <a:solidFill xmlns:a="http://schemas.openxmlformats.org/drawingml/2006/main">
            <a:srgbClr val="102F45"/>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8ff2ed5350a4cff"/>
          <a:stretch xmlns:a="http://schemas.openxmlformats.org/drawingml/2006/main"/>
        </p:blipFill>
        <p:spPr>
          <a:xfrm xmlns:a="http://schemas.openxmlformats.org/drawingml/2006/main">
            <a:off x="15049500" y="429292"/>
            <a:ext cx="2095500" cy="1389317"/>
          </a:xfrm>
          <a:prstGeom xmlns:a="http://schemas.openxmlformats.org/drawingml/2006/main" prst="rect">
            <a:avLst/>
          </a:prstGeom>
        </p:spPr>
      </p:pic>
      <p:sp>
        <p:nvSpPr>
          <p:cNvPr id="5" name="The pipeline">
            <a:extLst xmlns:a="http://schemas.openxmlformats.org/drawingml/2006/main">
              <a:ext uri="{FF2B5EF4-FFF2-40B4-BE49-F238E27FC236}">
                <a16:creationId xmlns:a16="http://schemas.microsoft.com/office/drawing/2014/main" id="{C10E2C0E-4E50-4B31-8C06-0A9EC8EEBFCF}"/>
              </a:ext>
            </a:extLst>
          </p:cNvPr>
          <p:cNvSpPr>
            <a:spLocks xmlns:a="http://schemas.openxmlformats.org/drawingml/2006/main" noGrp="1"/>
          </p:cNvSpPr>
          <p:nvPr/>
        </p:nvSpPr>
        <p:spPr>
          <a:xfrm xmlns:a="http://schemas.openxmlformats.org/drawingml/2006/main">
            <a:off x="1047750" y="3228975"/>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326B8C"/>
                </a:solidFill>
                <a:latin typeface="Poppins"/>
                <a:ea typeface="Poppins"/>
                <a:cs typeface="Poppins"/>
              </a:defRPr>
            </a:pPr>
            <a:r>
              <a:rPr sz="3150" b="1">
                <a:solidFill>
                  <a:srgbClr val="326B8C"/>
                </a:solidFill>
                <a:latin typeface="Poppins"/>
                <a:ea typeface="Poppins"/>
                <a:cs typeface="Poppins"/>
              </a:rPr>
              <a:t>The pipeline</a:t>
            </a:r>
          </a:p>
        </p:txBody>
      </p:sp>
      <p:sp>
        <p:nvSpPr>
          <p:cNvPr id="6" name="28 EEG channels, 200 Hz">
            <a:extLst xmlns:a="http://schemas.openxmlformats.org/drawingml/2006/main">
              <a:ext uri="{FF2B5EF4-FFF2-40B4-BE49-F238E27FC236}">
                <a16:creationId xmlns:a16="http://schemas.microsoft.com/office/drawing/2014/main" id="{04428764-0C3B-4905-ACB9-0EAAC0D97783}"/>
              </a:ext>
            </a:extLst>
          </p:cNvPr>
          <p:cNvSpPr>
            <a:spLocks xmlns:a="http://schemas.openxmlformats.org/drawingml/2006/main" noGrp="1"/>
          </p:cNvSpPr>
          <p:nvPr/>
        </p:nvSpPr>
        <p:spPr>
          <a:xfrm xmlns:a="http://schemas.openxmlformats.org/drawingml/2006/main">
            <a:off x="1047750" y="41148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91A18"/>
                </a:solidFill>
                <a:latin typeface="Poppins"/>
                <a:ea typeface="Poppins"/>
                <a:cs typeface="Poppins"/>
              </a:defRPr>
            </a:pPr>
            <a:r>
              <a:rPr sz="2550" b="1">
                <a:solidFill>
                  <a:srgbClr val="191A18"/>
                </a:solidFill>
                <a:latin typeface="Poppins"/>
                <a:ea typeface="Poppins"/>
                <a:cs typeface="Poppins"/>
              </a:rPr>
              <a:t>28 EEG channels, 200 Hz</a:t>
            </a:r>
          </a:p>
        </p:txBody>
      </p:sp>
      <p:sp>
        <p:nvSpPr>
          <p:cNvPr id="7" name="Shin et al. 2018 • five people, 15 sessions">
            <a:extLst xmlns:a="http://schemas.openxmlformats.org/drawingml/2006/main">
              <a:ext uri="{FF2B5EF4-FFF2-40B4-BE49-F238E27FC236}">
                <a16:creationId xmlns:a16="http://schemas.microsoft.com/office/drawing/2014/main" id="{F513D052-9E94-4888-AE89-246C06F79B32}"/>
              </a:ext>
            </a:extLst>
          </p:cNvPr>
          <p:cNvSpPr>
            <a:spLocks xmlns:a="http://schemas.openxmlformats.org/drawingml/2006/main" noGrp="1"/>
          </p:cNvSpPr>
          <p:nvPr/>
        </p:nvSpPr>
        <p:spPr>
          <a:xfrm xmlns:a="http://schemas.openxmlformats.org/drawingml/2006/main">
            <a:off x="1047750" y="465772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Shin et al. 2018 • five people, 15 sessions</a:t>
            </a:r>
          </a:p>
        </p:txBody>
      </p:sp>
      <p:sp>
        <p:nvSpPr>
          <p:cNvPr id="8" name="Regress out eye channels">
            <a:extLst xmlns:a="http://schemas.openxmlformats.org/drawingml/2006/main">
              <a:ext uri="{FF2B5EF4-FFF2-40B4-BE49-F238E27FC236}">
                <a16:creationId xmlns:a16="http://schemas.microsoft.com/office/drawing/2014/main" id="{C51A2EAE-90E0-45EF-9A5A-A2E50C66D33E}"/>
              </a:ext>
            </a:extLst>
          </p:cNvPr>
          <p:cNvSpPr>
            <a:spLocks xmlns:a="http://schemas.openxmlformats.org/drawingml/2006/main" noGrp="1"/>
          </p:cNvSpPr>
          <p:nvPr/>
        </p:nvSpPr>
        <p:spPr>
          <a:xfrm xmlns:a="http://schemas.openxmlformats.org/drawingml/2006/main">
            <a:off x="1047750" y="54292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91A18"/>
                </a:solidFill>
                <a:latin typeface="Poppins"/>
                <a:ea typeface="Poppins"/>
                <a:cs typeface="Poppins"/>
              </a:defRPr>
            </a:pPr>
            <a:r>
              <a:rPr sz="2550" b="1">
                <a:solidFill>
                  <a:srgbClr val="191A18"/>
                </a:solidFill>
                <a:latin typeface="Poppins"/>
                <a:ea typeface="Poppins"/>
                <a:cs typeface="Poppins"/>
              </a:rPr>
              <a:t>Regress out eye channels</a:t>
            </a:r>
          </a:p>
        </p:txBody>
      </p:sp>
      <p:sp>
        <p:nvSpPr>
          <p:cNvPr id="9" name="Fit before task; freeze before scoring">
            <a:extLst xmlns:a="http://schemas.openxmlformats.org/drawingml/2006/main">
              <a:ext uri="{FF2B5EF4-FFF2-40B4-BE49-F238E27FC236}">
                <a16:creationId xmlns:a16="http://schemas.microsoft.com/office/drawing/2014/main" id="{D54FA2E0-DD67-4AA8-B56E-6B9F8B411E1F}"/>
              </a:ext>
            </a:extLst>
          </p:cNvPr>
          <p:cNvSpPr>
            <a:spLocks xmlns:a="http://schemas.openxmlformats.org/drawingml/2006/main" noGrp="1"/>
          </p:cNvSpPr>
          <p:nvPr/>
        </p:nvSpPr>
        <p:spPr>
          <a:xfrm xmlns:a="http://schemas.openxmlformats.org/drawingml/2006/main">
            <a:off x="1047750" y="597217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Fit before task; freeze before scoring</a:t>
            </a:r>
          </a:p>
        </p:txBody>
      </p:sp>
      <p:sp>
        <p:nvSpPr>
          <p:cNvPr id="10" name="Theta / alpha / beta log power">
            <a:extLst xmlns:a="http://schemas.openxmlformats.org/drawingml/2006/main">
              <a:ext uri="{FF2B5EF4-FFF2-40B4-BE49-F238E27FC236}">
                <a16:creationId xmlns:a16="http://schemas.microsoft.com/office/drawing/2014/main" id="{511711D7-2226-4796-A47F-81ED12177C61}"/>
              </a:ext>
            </a:extLst>
          </p:cNvPr>
          <p:cNvSpPr>
            <a:spLocks xmlns:a="http://schemas.openxmlformats.org/drawingml/2006/main" noGrp="1"/>
          </p:cNvSpPr>
          <p:nvPr/>
        </p:nvSpPr>
        <p:spPr>
          <a:xfrm xmlns:a="http://schemas.openxmlformats.org/drawingml/2006/main">
            <a:off x="1047750" y="67437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91A18"/>
                </a:solidFill>
                <a:latin typeface="Poppins"/>
                <a:ea typeface="Poppins"/>
                <a:cs typeface="Poppins"/>
              </a:defRPr>
            </a:pPr>
            <a:r>
              <a:rPr sz="2550" b="1">
                <a:solidFill>
                  <a:srgbClr val="191A18"/>
                </a:solidFill>
                <a:latin typeface="Poppins"/>
                <a:ea typeface="Poppins"/>
                <a:cs typeface="Poppins"/>
              </a:rPr>
              <a:t>Theta / alpha / beta log power</a:t>
            </a:r>
          </a:p>
        </p:txBody>
      </p:sp>
      <p:sp>
        <p:nvSpPr>
          <p:cNvPr id="11" name="84 features • 2-second windows, every 0.25 s">
            <a:extLst xmlns:a="http://schemas.openxmlformats.org/drawingml/2006/main">
              <a:ext uri="{FF2B5EF4-FFF2-40B4-BE49-F238E27FC236}">
                <a16:creationId xmlns:a16="http://schemas.microsoft.com/office/drawing/2014/main" id="{340BA2A0-7B73-4906-8CFD-E71F082651E6}"/>
              </a:ext>
            </a:extLst>
          </p:cNvPr>
          <p:cNvSpPr>
            <a:spLocks xmlns:a="http://schemas.openxmlformats.org/drawingml/2006/main" noGrp="1"/>
          </p:cNvSpPr>
          <p:nvPr/>
        </p:nvSpPr>
        <p:spPr>
          <a:xfrm xmlns:a="http://schemas.openxmlformats.org/drawingml/2006/main">
            <a:off x="1047750" y="728662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84 features • 2-second windows, every 0.25 s</a:t>
            </a:r>
          </a:p>
        </p:txBody>
      </p:sp>
      <p:sp>
        <p:nvSpPr>
          <p:cNvPr id="12" name="Logistic regression → moving average">
            <a:extLst xmlns:a="http://schemas.openxmlformats.org/drawingml/2006/main">
              <a:ext uri="{FF2B5EF4-FFF2-40B4-BE49-F238E27FC236}">
                <a16:creationId xmlns:a16="http://schemas.microsoft.com/office/drawing/2014/main" id="{B5A81D59-0B3D-4136-95AC-CF4278379A13}"/>
              </a:ext>
            </a:extLst>
          </p:cNvPr>
          <p:cNvSpPr>
            <a:spLocks xmlns:a="http://schemas.openxmlformats.org/drawingml/2006/main" noGrp="1"/>
          </p:cNvSpPr>
          <p:nvPr/>
        </p:nvSpPr>
        <p:spPr>
          <a:xfrm xmlns:a="http://schemas.openxmlformats.org/drawingml/2006/main">
            <a:off x="1047750" y="80581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91A18"/>
                </a:solidFill>
                <a:latin typeface="Poppins"/>
                <a:ea typeface="Poppins"/>
                <a:cs typeface="Poppins"/>
              </a:defRPr>
            </a:pPr>
            <a:r>
              <a:rPr sz="2550" b="1">
                <a:solidFill>
                  <a:srgbClr val="191A18"/>
                </a:solidFill>
                <a:latin typeface="Poppins"/>
                <a:ea typeface="Poppins"/>
                <a:cs typeface="Poppins"/>
              </a:rPr>
              <a:t>Logistic regression → moving average</a:t>
            </a:r>
          </a:p>
        </p:txBody>
      </p:sp>
      <p:sp>
        <p:nvSpPr>
          <p:cNvPr id="13" name="Task versus rest • one smoothing parameter">
            <a:extLst xmlns:a="http://schemas.openxmlformats.org/drawingml/2006/main">
              <a:ext uri="{FF2B5EF4-FFF2-40B4-BE49-F238E27FC236}">
                <a16:creationId xmlns:a16="http://schemas.microsoft.com/office/drawing/2014/main" id="{DAA6B009-8820-4BBF-BBE8-ECBAF6C00818}"/>
              </a:ext>
            </a:extLst>
          </p:cNvPr>
          <p:cNvSpPr>
            <a:spLocks xmlns:a="http://schemas.openxmlformats.org/drawingml/2006/main" noGrp="1"/>
          </p:cNvSpPr>
          <p:nvPr/>
        </p:nvSpPr>
        <p:spPr>
          <a:xfrm xmlns:a="http://schemas.openxmlformats.org/drawingml/2006/main">
            <a:off x="1047750" y="8601075"/>
            <a:ext cx="790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Task versus rest • one smoothing parameter</a:t>
            </a:r>
          </a:p>
        </p:txBody>
      </p:sp>
      <p:sp>
        <p:nvSpPr>
          <p:cNvPr id="14" name="More complexity did not win">
            <a:extLst xmlns:a="http://schemas.openxmlformats.org/drawingml/2006/main">
              <a:ext uri="{FF2B5EF4-FFF2-40B4-BE49-F238E27FC236}">
                <a16:creationId xmlns:a16="http://schemas.microsoft.com/office/drawing/2014/main" id="{EAB66432-2881-4A8F-BC9A-95ED49C9852D}"/>
              </a:ext>
            </a:extLst>
          </p:cNvPr>
          <p:cNvSpPr>
            <a:spLocks xmlns:a="http://schemas.openxmlformats.org/drawingml/2006/main" noGrp="1"/>
          </p:cNvSpPr>
          <p:nvPr/>
        </p:nvSpPr>
        <p:spPr>
          <a:xfrm xmlns:a="http://schemas.openxmlformats.org/drawingml/2006/main">
            <a:off x="9620250" y="3228975"/>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191A18"/>
                </a:solidFill>
                <a:latin typeface="Poppins"/>
                <a:ea typeface="Poppins"/>
                <a:cs typeface="Poppins"/>
              </a:defRPr>
            </a:pPr>
            <a:r>
              <a:rPr sz="3075" b="1">
                <a:solidFill>
                  <a:srgbClr val="191A18"/>
                </a:solidFill>
                <a:latin typeface="Poppins"/>
                <a:ea typeface="Poppins"/>
                <a:cs typeface="Poppins"/>
              </a:rPr>
              <a:t>More complexity did not win</a:t>
            </a:r>
          </a:p>
        </p:txBody>
      </p:sp>
      <p:sp>
        <p:nvSpPr>
          <p:cNvPr id="15" name="Riemannian tangent space">
            <a:extLst xmlns:a="http://schemas.openxmlformats.org/drawingml/2006/main">
              <a:ext uri="{FF2B5EF4-FFF2-40B4-BE49-F238E27FC236}">
                <a16:creationId xmlns:a16="http://schemas.microsoft.com/office/drawing/2014/main" id="{D024E7A4-3A33-4EFB-A1C4-559D5915917F}"/>
              </a:ext>
            </a:extLst>
          </p:cNvPr>
          <p:cNvSpPr>
            <a:spLocks xmlns:a="http://schemas.openxmlformats.org/drawingml/2006/main" noGrp="1"/>
          </p:cNvSpPr>
          <p:nvPr/>
        </p:nvSpPr>
        <p:spPr>
          <a:xfrm xmlns:a="http://schemas.openxmlformats.org/drawingml/2006/main">
            <a:off x="9620250" y="41433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Riemannian tangent space</a:t>
            </a:r>
          </a:p>
        </p:txBody>
      </p:sp>
      <p:sp>
        <p:nvSpPr>
          <p:cNvPr id="16" name="1,218 features">
            <a:extLst xmlns:a="http://schemas.openxmlformats.org/drawingml/2006/main">
              <a:ext uri="{FF2B5EF4-FFF2-40B4-BE49-F238E27FC236}">
                <a16:creationId xmlns:a16="http://schemas.microsoft.com/office/drawing/2014/main" id="{F24E632F-B56F-42E5-BD57-5D276D03415F}"/>
              </a:ext>
            </a:extLst>
          </p:cNvPr>
          <p:cNvSpPr>
            <a:spLocks xmlns:a="http://schemas.openxmlformats.org/drawingml/2006/main" noGrp="1"/>
          </p:cNvSpPr>
          <p:nvPr/>
        </p:nvSpPr>
        <p:spPr>
          <a:xfrm xmlns:a="http://schemas.openxmlformats.org/drawingml/2006/main">
            <a:off x="14430375" y="4143375"/>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1,218 features</a:t>
            </a:r>
          </a:p>
        </p:txBody>
      </p:sp>
      <p:sp>
        <p:nvSpPr>
          <p:cNvPr id="17" name="26-bin Fourier spectrum">
            <a:extLst xmlns:a="http://schemas.openxmlformats.org/drawingml/2006/main">
              <a:ext uri="{FF2B5EF4-FFF2-40B4-BE49-F238E27FC236}">
                <a16:creationId xmlns:a16="http://schemas.microsoft.com/office/drawing/2014/main" id="{2B48EB5B-D454-47BC-842F-C99A64969B30}"/>
              </a:ext>
            </a:extLst>
          </p:cNvPr>
          <p:cNvSpPr>
            <a:spLocks xmlns:a="http://schemas.openxmlformats.org/drawingml/2006/main" noGrp="1"/>
          </p:cNvSpPr>
          <p:nvPr/>
        </p:nvSpPr>
        <p:spPr>
          <a:xfrm xmlns:a="http://schemas.openxmlformats.org/drawingml/2006/main">
            <a:off x="9620250" y="483870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26-bin Fourier spectrum</a:t>
            </a:r>
          </a:p>
        </p:txBody>
      </p:sp>
      <p:sp>
        <p:nvSpPr>
          <p:cNvPr id="18" name="728 features">
            <a:extLst xmlns:a="http://schemas.openxmlformats.org/drawingml/2006/main">
              <a:ext uri="{FF2B5EF4-FFF2-40B4-BE49-F238E27FC236}">
                <a16:creationId xmlns:a16="http://schemas.microsoft.com/office/drawing/2014/main" id="{D474784E-9E7D-4099-8B58-7B5BBF5B08C9}"/>
              </a:ext>
            </a:extLst>
          </p:cNvPr>
          <p:cNvSpPr>
            <a:spLocks xmlns:a="http://schemas.openxmlformats.org/drawingml/2006/main" noGrp="1"/>
          </p:cNvSpPr>
          <p:nvPr/>
        </p:nvSpPr>
        <p:spPr>
          <a:xfrm xmlns:a="http://schemas.openxmlformats.org/drawingml/2006/main">
            <a:off x="14430375" y="4838700"/>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728 features</a:t>
            </a:r>
          </a:p>
        </p:txBody>
      </p:sp>
      <p:sp>
        <p:nvSpPr>
          <p:cNvPr id="19" name="Zigzag topology">
            <a:extLst xmlns:a="http://schemas.openxmlformats.org/drawingml/2006/main">
              <a:ext uri="{FF2B5EF4-FFF2-40B4-BE49-F238E27FC236}">
                <a16:creationId xmlns:a16="http://schemas.microsoft.com/office/drawing/2014/main" id="{560FC4CB-D7BF-4A9A-BE6F-FB24401A4B42}"/>
              </a:ext>
            </a:extLst>
          </p:cNvPr>
          <p:cNvSpPr>
            <a:spLocks xmlns:a="http://schemas.openxmlformats.org/drawingml/2006/main" noGrp="1"/>
          </p:cNvSpPr>
          <p:nvPr/>
        </p:nvSpPr>
        <p:spPr>
          <a:xfrm xmlns:a="http://schemas.openxmlformats.org/drawingml/2006/main">
            <a:off x="9620250" y="553402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Zigzag topology</a:t>
            </a:r>
          </a:p>
        </p:txBody>
      </p:sp>
      <p:sp>
        <p:nvSpPr>
          <p:cNvPr id="20" name="108 features">
            <a:extLst xmlns:a="http://schemas.openxmlformats.org/drawingml/2006/main">
              <a:ext uri="{FF2B5EF4-FFF2-40B4-BE49-F238E27FC236}">
                <a16:creationId xmlns:a16="http://schemas.microsoft.com/office/drawing/2014/main" id="{5F714D1C-D066-4E22-8E1D-BA116CF4C12A}"/>
              </a:ext>
            </a:extLst>
          </p:cNvPr>
          <p:cNvSpPr>
            <a:spLocks xmlns:a="http://schemas.openxmlformats.org/drawingml/2006/main" noGrp="1"/>
          </p:cNvSpPr>
          <p:nvPr/>
        </p:nvSpPr>
        <p:spPr>
          <a:xfrm xmlns:a="http://schemas.openxmlformats.org/drawingml/2006/main">
            <a:off x="14430375" y="5534025"/>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108 features</a:t>
            </a:r>
          </a:p>
        </p:txBody>
      </p:sp>
      <p:sp>
        <p:nvSpPr>
          <p:cNvPr id="21" name="Bayesian state-space">
            <a:extLst xmlns:a="http://schemas.openxmlformats.org/drawingml/2006/main">
              <a:ext uri="{FF2B5EF4-FFF2-40B4-BE49-F238E27FC236}">
                <a16:creationId xmlns:a16="http://schemas.microsoft.com/office/drawing/2014/main" id="{EB6236BC-6E77-4EC0-975F-2E8D841CA739}"/>
              </a:ext>
            </a:extLst>
          </p:cNvPr>
          <p:cNvSpPr>
            <a:spLocks xmlns:a="http://schemas.openxmlformats.org/drawingml/2006/main" noGrp="1"/>
          </p:cNvSpPr>
          <p:nvPr/>
        </p:nvSpPr>
        <p:spPr>
          <a:xfrm xmlns:a="http://schemas.openxmlformats.org/drawingml/2006/main">
            <a:off x="9620250" y="622935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Bayesian state-space</a:t>
            </a:r>
          </a:p>
        </p:txBody>
      </p:sp>
      <p:sp>
        <p:nvSpPr>
          <p:cNvPr id="22" name="Latent state">
            <a:extLst xmlns:a="http://schemas.openxmlformats.org/drawingml/2006/main">
              <a:ext uri="{FF2B5EF4-FFF2-40B4-BE49-F238E27FC236}">
                <a16:creationId xmlns:a16="http://schemas.microsoft.com/office/drawing/2014/main" id="{4A5EBBBC-236B-4EAC-A8A8-D0BD1017FF99}"/>
              </a:ext>
            </a:extLst>
          </p:cNvPr>
          <p:cNvSpPr>
            <a:spLocks xmlns:a="http://schemas.openxmlformats.org/drawingml/2006/main" noGrp="1"/>
          </p:cNvSpPr>
          <p:nvPr/>
        </p:nvSpPr>
        <p:spPr>
          <a:xfrm xmlns:a="http://schemas.openxmlformats.org/drawingml/2006/main">
            <a:off x="14430375" y="6229350"/>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Latent state</a:t>
            </a:r>
          </a:p>
        </p:txBody>
      </p:sp>
      <p:sp>
        <p:nvSpPr>
          <p:cNvPr id="23" name="Three more alternatives">
            <a:extLst xmlns:a="http://schemas.openxmlformats.org/drawingml/2006/main">
              <a:ext uri="{FF2B5EF4-FFF2-40B4-BE49-F238E27FC236}">
                <a16:creationId xmlns:a16="http://schemas.microsoft.com/office/drawing/2014/main" id="{DFA51F70-C60B-47EA-BDFA-AD63263F20F7}"/>
              </a:ext>
            </a:extLst>
          </p:cNvPr>
          <p:cNvSpPr>
            <a:spLocks xmlns:a="http://schemas.openxmlformats.org/drawingml/2006/main" noGrp="1"/>
          </p:cNvSpPr>
          <p:nvPr/>
        </p:nvSpPr>
        <p:spPr>
          <a:xfrm xmlns:a="http://schemas.openxmlformats.org/drawingml/2006/main">
            <a:off x="9620250" y="69246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A5D59"/>
                </a:solidFill>
                <a:latin typeface="Poppins"/>
                <a:ea typeface="Poppins"/>
                <a:cs typeface="Poppins"/>
              </a:defRPr>
            </a:pPr>
            <a:r>
              <a:rPr sz="2100" b="0">
                <a:solidFill>
                  <a:srgbClr val="5A5D59"/>
                </a:solidFill>
                <a:latin typeface="Poppins"/>
                <a:ea typeface="Poppins"/>
                <a:cs typeface="Poppins"/>
              </a:rPr>
              <a:t>Three more alternatives</a:t>
            </a:r>
          </a:p>
        </p:txBody>
      </p:sp>
      <p:sp>
        <p:nvSpPr>
          <p:cNvPr id="24" name="Lost or tied">
            <a:extLst xmlns:a="http://schemas.openxmlformats.org/drawingml/2006/main">
              <a:ext uri="{FF2B5EF4-FFF2-40B4-BE49-F238E27FC236}">
                <a16:creationId xmlns:a16="http://schemas.microsoft.com/office/drawing/2014/main" id="{79C0B3D2-28D4-45A6-895B-BAF91DBB24F7}"/>
              </a:ext>
            </a:extLst>
          </p:cNvPr>
          <p:cNvSpPr>
            <a:spLocks xmlns:a="http://schemas.openxmlformats.org/drawingml/2006/main" noGrp="1"/>
          </p:cNvSpPr>
          <p:nvPr/>
        </p:nvSpPr>
        <p:spPr>
          <a:xfrm xmlns:a="http://schemas.openxmlformats.org/drawingml/2006/main">
            <a:off x="14430375" y="6924675"/>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A5D59"/>
                </a:solidFill>
                <a:latin typeface="Poppins"/>
                <a:ea typeface="Poppins"/>
                <a:cs typeface="Poppins"/>
              </a:defRPr>
            </a:pPr>
            <a:r>
              <a:rPr sz="2025" b="0">
                <a:solidFill>
                  <a:srgbClr val="5A5D59"/>
                </a:solidFill>
                <a:latin typeface="Poppins"/>
                <a:ea typeface="Poppins"/>
                <a:cs typeface="Poppins"/>
              </a:rPr>
              <a:t>Lost or tied</a:t>
            </a:r>
          </a:p>
        </p:txBody>
      </p:sp>
      <p:sp>
        <p:nvSpPr>
          <p:cNvPr id="25" name="diagram">
            <a:extLst xmlns:a="http://schemas.openxmlformats.org/drawingml/2006/main">
              <a:ext uri="{FF2B5EF4-FFF2-40B4-BE49-F238E27FC236}">
                <a16:creationId xmlns:a16="http://schemas.microsoft.com/office/drawing/2014/main" id="{DA6A986A-DB26-4FBD-9BB6-F017407E6B4A}"/>
              </a:ext>
            </a:extLst>
          </p:cNvPr>
          <p:cNvSpPr>
            <a:spLocks xmlns:a="http://schemas.openxmlformats.org/drawingml/2006/main" noGrp="1"/>
          </p:cNvSpPr>
          <p:nvPr/>
        </p:nvSpPr>
        <p:spPr>
          <a:xfrm xmlns:a="http://schemas.openxmlformats.org/drawingml/2006/main">
            <a:off x="9620250" y="7877175"/>
            <a:ext cx="7524750" cy="28575"/>
          </a:xfrm>
          <a:prstGeom xmlns:a="http://schemas.openxmlformats.org/drawingml/2006/main" prst="rect">
            <a:avLst/>
          </a:prstGeom>
          <a:solidFill xmlns:a="http://schemas.openxmlformats.org/drawingml/2006/main">
            <a:srgbClr val="9B712B"/>
          </a:solidFill>
          <a:ln xmlns:a="http://schemas.openxmlformats.org/drawingml/2006/main" w="0">
            <a:noFill/>
          </a:ln>
        </p:spPr>
      </p:sp>
      <p:sp>
        <p:nvSpPr>
          <p:cNvPr id="26" name="Band power + logistic">
            <a:extLst xmlns:a="http://schemas.openxmlformats.org/drawingml/2006/main">
              <a:ext uri="{FF2B5EF4-FFF2-40B4-BE49-F238E27FC236}">
                <a16:creationId xmlns:a16="http://schemas.microsoft.com/office/drawing/2014/main" id="{D790CAEE-16B9-4960-83DB-EE638C41D403}"/>
              </a:ext>
            </a:extLst>
          </p:cNvPr>
          <p:cNvSpPr>
            <a:spLocks xmlns:a="http://schemas.openxmlformats.org/drawingml/2006/main" noGrp="1"/>
          </p:cNvSpPr>
          <p:nvPr/>
        </p:nvSpPr>
        <p:spPr>
          <a:xfrm xmlns:a="http://schemas.openxmlformats.org/drawingml/2006/main">
            <a:off x="9620250" y="8172450"/>
            <a:ext cx="7477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91A18"/>
                </a:solidFill>
                <a:latin typeface="Poppins"/>
                <a:ea typeface="Poppins"/>
                <a:cs typeface="Poppins"/>
              </a:defRPr>
            </a:pPr>
            <a:r>
              <a:rPr sz="3000" b="1">
                <a:solidFill>
                  <a:srgbClr val="191A18"/>
                </a:solidFill>
                <a:latin typeface="Poppins"/>
                <a:ea typeface="Poppins"/>
                <a:cs typeface="Poppins"/>
              </a:rPr>
              <a:t>Band power + logistic</a:t>
            </a:r>
          </a:p>
        </p:txBody>
      </p:sp>
      <p:sp>
        <p:nvSpPr>
          <p:cNvPr id="27" name="84 features + one smoothing parameter">
            <a:extLst xmlns:a="http://schemas.openxmlformats.org/drawingml/2006/main">
              <a:ext uri="{FF2B5EF4-FFF2-40B4-BE49-F238E27FC236}">
                <a16:creationId xmlns:a16="http://schemas.microsoft.com/office/drawing/2014/main" id="{F19E8F04-9722-4B47-849D-4A975479AB04}"/>
              </a:ext>
            </a:extLst>
          </p:cNvPr>
          <p:cNvSpPr>
            <a:spLocks xmlns:a="http://schemas.openxmlformats.org/drawingml/2006/main" noGrp="1"/>
          </p:cNvSpPr>
          <p:nvPr/>
        </p:nvSpPr>
        <p:spPr>
          <a:xfrm xmlns:a="http://schemas.openxmlformats.org/drawingml/2006/main">
            <a:off x="9620250" y="886777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9B712B"/>
                </a:solidFill>
                <a:latin typeface="Poppins"/>
                <a:ea typeface="Poppins"/>
                <a:cs typeface="Poppins"/>
              </a:defRPr>
            </a:pPr>
            <a:r>
              <a:rPr sz="2250" b="1">
                <a:solidFill>
                  <a:srgbClr val="9B712B"/>
                </a:solidFill>
                <a:latin typeface="Poppins"/>
                <a:ea typeface="Poppins"/>
                <a:cs typeface="Poppins"/>
              </a:rPr>
              <a:t>84 features + one smoothing parameter</a:t>
            </a:r>
          </a:p>
        </p:txBody>
      </p:sp>
      <p:sp>
        <p:nvSpPr>
          <p:cNvPr id="28" name="Paired comparisons against each method’s own basel">
            <a:extLst xmlns:a="http://schemas.openxmlformats.org/drawingml/2006/main">
              <a:ext uri="{FF2B5EF4-FFF2-40B4-BE49-F238E27FC236}">
                <a16:creationId xmlns:a16="http://schemas.microsoft.com/office/drawing/2014/main" id="{98EA48DE-8380-4247-82C7-43A3E9779A4A}"/>
              </a:ext>
            </a:extLst>
          </p:cNvPr>
          <p:cNvSpPr>
            <a:spLocks xmlns:a="http://schemas.openxmlformats.org/drawingml/2006/main" noGrp="1"/>
          </p:cNvSpPr>
          <p:nvPr/>
        </p:nvSpPr>
        <p:spPr>
          <a:xfrm xmlns:a="http://schemas.openxmlformats.org/drawingml/2006/main">
            <a:off x="1047750" y="9486900"/>
            <a:ext cx="1609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A5D59"/>
                </a:solidFill>
                <a:latin typeface="Poppins"/>
                <a:ea typeface="Poppins"/>
                <a:cs typeface="Poppins"/>
              </a:defRPr>
            </a:pPr>
            <a:r>
              <a:rPr sz="1875" b="0">
                <a:solidFill>
                  <a:srgbClr val="5A5D59"/>
                </a:solidFill>
                <a:latin typeface="Poppins"/>
                <a:ea typeface="Poppins"/>
                <a:cs typeface="Poppins"/>
              </a:rPr>
              <a:t>Paired comparisons against each method’s own baseline • source: eeg-state-detection/README.md</a:t>
            </a:r>
          </a:p>
        </p:txBody>
      </p:sp>
    </p:spTree>
    <p:extLst>
      <p:ext uri="{BB962C8B-B14F-4D97-AF65-F5344CB8AC3E}">
        <p14:creationId xmlns:p14="http://schemas.microsoft.com/office/powerpoint/2010/main" val="1299058917"/>
      </p:ext>
    </p:extLst>
  </p:cSld>
</p:sld>
</file>

<file path=ppt/slides/slide15.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9" name="Does the signal survive a harder test?">
            <a:extLst xmlns:a="http://schemas.openxmlformats.org/drawingml/2006/main">
              <a:ext uri="{FF2B5EF4-FFF2-40B4-BE49-F238E27FC236}">
                <a16:creationId xmlns:a16="http://schemas.microsoft.com/office/drawing/2014/main" id="{8718EF27-47A4-4DAD-928D-2F44001CD660}"/>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Does the signal survive a harder test?</a:t>
            </a:r>
          </a:p>
        </p:txBody>
      </p:sp>
      <p:sp>
        <p:nvSpPr>
          <p:cNvPr id="2" name="Voloridge • models frozen before scoring held-out ">
            <a:extLst xmlns:a="http://schemas.openxmlformats.org/drawingml/2006/main">
              <a:ext uri="{FF2B5EF4-FFF2-40B4-BE49-F238E27FC236}">
                <a16:creationId xmlns:a16="http://schemas.microsoft.com/office/drawing/2014/main" id="{3889F8F1-341D-4D1A-9E65-A44AF68CA9AC}"/>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Voloridge • models frozen before scoring held-out task blocks</a:t>
            </a:r>
          </a:p>
        </p:txBody>
      </p:sp>
      <p:sp>
        <p:nvSpPr>
          <p:cNvPr id="3" name="diagram">
            <a:extLst xmlns:a="http://schemas.openxmlformats.org/drawingml/2006/main">
              <a:ext uri="{FF2B5EF4-FFF2-40B4-BE49-F238E27FC236}">
                <a16:creationId xmlns:a16="http://schemas.microsoft.com/office/drawing/2014/main" id="{7C6E313C-6A53-44F4-B9F1-6B14C8B8E109}"/>
              </a:ext>
            </a:extLst>
          </p:cNvPr>
          <p:cNvSpPr>
            <a:spLocks xmlns:a="http://schemas.openxmlformats.org/drawingml/2006/main" noGrp="1"/>
          </p:cNvSpPr>
          <p:nvPr/>
        </p:nvSpPr>
        <p:spPr>
          <a:xfrm xmlns:a="http://schemas.openxmlformats.org/drawingml/2006/main">
            <a:off x="14954250" y="381000"/>
            <a:ext cx="2286000" cy="1524000"/>
          </a:xfrm>
          <a:prstGeom xmlns:a="http://schemas.openxmlformats.org/drawingml/2006/main" prst="rect">
            <a:avLst/>
          </a:prstGeom>
          <a:solidFill xmlns:a="http://schemas.openxmlformats.org/drawingml/2006/main">
            <a:srgbClr val="102F45"/>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c1500e873f542c7"/>
          <a:stretch xmlns:a="http://schemas.openxmlformats.org/drawingml/2006/main"/>
        </p:blipFill>
        <p:spPr>
          <a:xfrm xmlns:a="http://schemas.openxmlformats.org/drawingml/2006/main">
            <a:off x="15049500" y="429292"/>
            <a:ext cx="2095500" cy="1389317"/>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ae254f4246a4eec"/>
          <a:stretch xmlns:a="http://schemas.openxmlformats.org/drawingml/2006/main"/>
        </p:blipFill>
        <p:spPr>
          <a:xfrm xmlns:a="http://schemas.openxmlformats.org/drawingml/2006/main">
            <a:off x="1514841" y="3000375"/>
            <a:ext cx="15258317" cy="5667375"/>
          </a:xfrm>
          <a:prstGeom xmlns:a="http://schemas.openxmlformats.org/drawingml/2006/main" prst="rect">
            <a:avLst/>
          </a:prstGeom>
        </p:spPr>
      </p:pic>
      <p:sp>
        <p:nvSpPr>
          <p:cNvPr id="6" name="Grey: random alignment of the same signal. 8 of 15">
            <a:extLst xmlns:a="http://schemas.openxmlformats.org/drawingml/2006/main">
              <a:ext uri="{FF2B5EF4-FFF2-40B4-BE49-F238E27FC236}">
                <a16:creationId xmlns:a16="http://schemas.microsoft.com/office/drawing/2014/main" id="{9E795F68-6E3C-4628-8960-C97F4B02DD77}"/>
              </a:ext>
            </a:extLst>
          </p:cNvPr>
          <p:cNvSpPr>
            <a:spLocks xmlns:a="http://schemas.openxmlformats.org/drawingml/2006/main" noGrp="1"/>
          </p:cNvSpPr>
          <p:nvPr/>
        </p:nvSpPr>
        <p:spPr>
          <a:xfrm xmlns:a="http://schemas.openxmlformats.org/drawingml/2006/main">
            <a:off x="1047750" y="88296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91A18"/>
                </a:solidFill>
                <a:latin typeface="Poppins"/>
                <a:ea typeface="Poppins"/>
                <a:cs typeface="Poppins"/>
              </a:defRPr>
            </a:pPr>
            <a:r>
              <a:rPr sz="2175" b="1">
                <a:solidFill>
                  <a:srgbClr val="191A18"/>
                </a:solidFill>
                <a:latin typeface="Poppins"/>
                <a:ea typeface="Poppins"/>
                <a:cs typeface="Poppins"/>
              </a:rPr>
              <a:t>Grey: random alignment of the same signal. 8 of 15 sessions beat it at p ≤ 0.05.</a:t>
            </a:r>
          </a:p>
        </p:txBody>
      </p:sp>
      <p:sp>
        <p:nvSpPr>
          <p:cNvPr id="7" name="diagram">
            <a:extLst xmlns:a="http://schemas.openxmlformats.org/drawingml/2006/main">
              <a:ext uri="{FF2B5EF4-FFF2-40B4-BE49-F238E27FC236}">
                <a16:creationId xmlns:a16="http://schemas.microsoft.com/office/drawing/2014/main" id="{F8F00F33-6B59-417E-A0AD-A4FCB252F504}"/>
              </a:ext>
            </a:extLst>
          </p:cNvPr>
          <p:cNvSpPr>
            <a:spLocks xmlns:a="http://schemas.openxmlformats.org/drawingml/2006/main" noGrp="1"/>
          </p:cNvSpPr>
          <p:nvPr/>
        </p:nvSpPr>
        <p:spPr>
          <a:xfrm xmlns:a="http://schemas.openxmlformats.org/drawingml/2006/main">
            <a:off x="1047750" y="9572625"/>
            <a:ext cx="16097250" cy="19050"/>
          </a:xfrm>
          <a:prstGeom xmlns:a="http://schemas.openxmlformats.org/drawingml/2006/main" prst="rect">
            <a:avLst/>
          </a:prstGeom>
          <a:solidFill xmlns:a="http://schemas.openxmlformats.org/drawingml/2006/main">
            <a:srgbClr val="9B712B"/>
          </a:solidFill>
          <a:ln xmlns:a="http://schemas.openxmlformats.org/drawingml/2006/main" w="0">
            <a:noFill/>
          </a:ln>
        </p:spPr>
      </p:sp>
      <p:sp>
        <p:nvSpPr>
          <p:cNvPr id="8" name="Brief-event detector: 3× its baseline, but p = 0.1">
            <a:extLst xmlns:a="http://schemas.openxmlformats.org/drawingml/2006/main">
              <a:ext uri="{FF2B5EF4-FFF2-40B4-BE49-F238E27FC236}">
                <a16:creationId xmlns:a16="http://schemas.microsoft.com/office/drawing/2014/main" id="{02DDE46D-6019-4887-8009-402BC898853E}"/>
              </a:ext>
            </a:extLst>
          </p:cNvPr>
          <p:cNvSpPr>
            <a:spLocks xmlns:a="http://schemas.openxmlformats.org/drawingml/2006/main" noGrp="1"/>
          </p:cNvSpPr>
          <p:nvPr/>
        </p:nvSpPr>
        <p:spPr>
          <a:xfrm xmlns:a="http://schemas.openxmlformats.org/drawingml/2006/main">
            <a:off x="1047750" y="9725025"/>
            <a:ext cx="1619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9B712B"/>
                </a:solidFill>
                <a:latin typeface="Poppins"/>
                <a:ea typeface="Poppins"/>
                <a:cs typeface="Poppins"/>
              </a:defRPr>
            </a:pPr>
            <a:r>
              <a:rPr sz="1875" b="1">
                <a:solidFill>
                  <a:srgbClr val="9B712B"/>
                </a:solidFill>
                <a:latin typeface="Poppins"/>
                <a:ea typeface="Poppins"/>
                <a:cs typeface="Poppins"/>
              </a:rPr>
              <a:t>Brief-event detector: 3× its baseline, but p = 0.13 against random flags — rejected.</a:t>
            </a:r>
          </a:p>
        </p:txBody>
      </p:sp>
    </p:spTree>
    <p:extLst>
      <p:ext uri="{BB962C8B-B14F-4D97-AF65-F5344CB8AC3E}">
        <p14:creationId xmlns:p14="http://schemas.microsoft.com/office/powerpoint/2010/main" val="368004228"/>
      </p:ext>
    </p:extLst>
  </p:cSld>
</p:sld>
</file>

<file path=ppt/slides/slide16.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26" name="System architecture">
            <a:extLst xmlns:a="http://schemas.openxmlformats.org/drawingml/2006/main">
              <a:ext uri="{FF2B5EF4-FFF2-40B4-BE49-F238E27FC236}">
                <a16:creationId xmlns:a16="http://schemas.microsoft.com/office/drawing/2014/main" id="{3A2E9C28-76B0-4FEB-A873-C1EE1E32B10C}"/>
              </a:ext>
            </a:extLst>
          </p:cNvPr>
          <p:cNvSpPr>
            <a:spLocks xmlns:a="http://schemas.openxmlformats.org/drawingml/2006/main" noGrp="1"/>
          </p:cNvSpPr>
          <p:nvPr/>
        </p:nvSpPr>
        <p:spPr>
          <a:xfrm xmlns:a="http://schemas.openxmlformats.org/drawingml/2006/main">
            <a:off x="1000125" y="742950"/>
            <a:ext cx="1628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191A18"/>
                </a:solidFill>
                <a:latin typeface="Poppins"/>
                <a:ea typeface="Poppins"/>
                <a:cs typeface="Poppins"/>
              </a:defRPr>
            </a:pPr>
            <a:r>
              <a:rPr sz="5400" b="1">
                <a:solidFill>
                  <a:srgbClr val="191A18"/>
                </a:solidFill>
                <a:latin typeface="Poppins"/>
                <a:ea typeface="Poppins"/>
                <a:cs typeface="Poppins"/>
              </a:rPr>
              <a:t>System architecture</a:t>
            </a:r>
          </a:p>
        </p:txBody>
      </p:sp>
      <p:sp>
        <p:nvSpPr>
          <p:cNvPr id="2" name="A signal and its recorded context become one searc">
            <a:extLst xmlns:a="http://schemas.openxmlformats.org/drawingml/2006/main">
              <a:ext uri="{FF2B5EF4-FFF2-40B4-BE49-F238E27FC236}">
                <a16:creationId xmlns:a16="http://schemas.microsoft.com/office/drawing/2014/main" id="{BF43BEE5-6DE7-4A57-BCE1-D7F6DF188617}"/>
              </a:ext>
            </a:extLst>
          </p:cNvPr>
          <p:cNvSpPr>
            <a:spLocks xmlns:a="http://schemas.openxmlformats.org/drawingml/2006/main" noGrp="1"/>
          </p:cNvSpPr>
          <p:nvPr/>
        </p:nvSpPr>
        <p:spPr>
          <a:xfrm xmlns:a="http://schemas.openxmlformats.org/drawingml/2006/main">
            <a:off x="1047750" y="2028825"/>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5A5D59"/>
                </a:solidFill>
                <a:latin typeface="Poppins"/>
                <a:ea typeface="Poppins"/>
                <a:cs typeface="Poppins"/>
              </a:defRPr>
            </a:pPr>
            <a:r>
              <a:rPr sz="2625" b="0">
                <a:solidFill>
                  <a:srgbClr val="5A5D59"/>
                </a:solidFill>
                <a:latin typeface="Poppins"/>
                <a:ea typeface="Poppins"/>
                <a:cs typeface="Poppins"/>
              </a:rPr>
              <a:t>A signal and its recorded context become one searchable moment.</a:t>
            </a:r>
          </a:p>
        </p:txBody>
      </p:sp>
      <p:sp>
        <p:nvSpPr>
          <p:cNvPr id="3" name="diagram">
            <a:extLst xmlns:a="http://schemas.openxmlformats.org/drawingml/2006/main">
              <a:ext uri="{FF2B5EF4-FFF2-40B4-BE49-F238E27FC236}">
                <a16:creationId xmlns:a16="http://schemas.microsoft.com/office/drawing/2014/main" id="{47A91290-C714-4F8A-B680-5B97B63A5A3A}"/>
              </a:ext>
            </a:extLst>
          </p:cNvPr>
          <p:cNvSpPr>
            <a:spLocks xmlns:a="http://schemas.openxmlformats.org/drawingml/2006/main" noGrp="1"/>
          </p:cNvSpPr>
          <p:nvPr/>
        </p:nvSpPr>
        <p:spPr>
          <a:xfrm xmlns:a="http://schemas.openxmlformats.org/drawingml/2006/main">
            <a:off x="1047750" y="3905250"/>
            <a:ext cx="3619500" cy="1619250"/>
          </a:xfrm>
          <a:prstGeom xmlns:a="http://schemas.openxmlformats.org/drawingml/2006/main" prst="rect">
            <a:avLst/>
          </a:prstGeom>
          <a:noFill xmlns:a="http://schemas.openxmlformats.org/drawingml/2006/main"/>
          <a:ln xmlns:a="http://schemas.openxmlformats.org/drawingml/2006/main" w="0">
            <a:noFill/>
          </a:ln>
        </p:spPr>
      </p:sp>
      <p:sp>
        <p:nvSpPr>
          <p:cNvPr id="4" name="Crown EEG">
            <a:extLst xmlns:a="http://schemas.openxmlformats.org/drawingml/2006/main">
              <a:ext uri="{FF2B5EF4-FFF2-40B4-BE49-F238E27FC236}">
                <a16:creationId xmlns:a16="http://schemas.microsoft.com/office/drawing/2014/main" id="{AAE2598A-40AF-42F3-BDFF-C98080F8D2A2}"/>
              </a:ext>
            </a:extLst>
          </p:cNvPr>
          <p:cNvSpPr>
            <a:spLocks xmlns:a="http://schemas.openxmlformats.org/drawingml/2006/main" noGrp="1"/>
          </p:cNvSpPr>
          <p:nvPr/>
        </p:nvSpPr>
        <p:spPr>
          <a:xfrm xmlns:a="http://schemas.openxmlformats.org/drawingml/2006/main">
            <a:off x="1047750" y="39052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326B8C"/>
                </a:solidFill>
                <a:latin typeface="Poppins"/>
                <a:ea typeface="Poppins"/>
                <a:cs typeface="Poppins"/>
              </a:defRPr>
            </a:pPr>
            <a:r>
              <a:rPr sz="3300" b="1">
                <a:solidFill>
                  <a:srgbClr val="326B8C"/>
                </a:solidFill>
                <a:latin typeface="Poppins"/>
                <a:ea typeface="Poppins"/>
                <a:cs typeface="Poppins"/>
              </a:rPr>
              <a:t>Crown EEG</a:t>
            </a:r>
          </a:p>
        </p:txBody>
      </p:sp>
      <p:sp>
        <p:nvSpPr>
          <p:cNvPr id="5" name="Signal packets">
            <a:extLst xmlns:a="http://schemas.openxmlformats.org/drawingml/2006/main">
              <a:ext uri="{FF2B5EF4-FFF2-40B4-BE49-F238E27FC236}">
                <a16:creationId xmlns:a16="http://schemas.microsoft.com/office/drawing/2014/main" id="{6DCB4B31-682A-4FE9-988B-ADB27BF21AEB}"/>
              </a:ext>
            </a:extLst>
          </p:cNvPr>
          <p:cNvSpPr>
            <a:spLocks xmlns:a="http://schemas.openxmlformats.org/drawingml/2006/main" noGrp="1"/>
          </p:cNvSpPr>
          <p:nvPr/>
        </p:nvSpPr>
        <p:spPr>
          <a:xfrm xmlns:a="http://schemas.openxmlformats.org/drawingml/2006/main">
            <a:off x="1047750" y="468630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Signal packets</a:t>
            </a:r>
          </a:p>
        </p:txBody>
      </p:sp>
      <p:sp>
        <p:nvSpPr>
          <p:cNvPr id="6" name="diagram">
            <a:extLst xmlns:a="http://schemas.openxmlformats.org/drawingml/2006/main">
              <a:ext uri="{FF2B5EF4-FFF2-40B4-BE49-F238E27FC236}">
                <a16:creationId xmlns:a16="http://schemas.microsoft.com/office/drawing/2014/main" id="{8F2B4728-2058-42A2-AF49-C40D1D371AFF}"/>
              </a:ext>
            </a:extLst>
          </p:cNvPr>
          <p:cNvSpPr>
            <a:spLocks xmlns:a="http://schemas.openxmlformats.org/drawingml/2006/main" noGrp="1"/>
          </p:cNvSpPr>
          <p:nvPr/>
        </p:nvSpPr>
        <p:spPr>
          <a:xfrm xmlns:a="http://schemas.openxmlformats.org/drawingml/2006/main">
            <a:off x="1047750" y="7143750"/>
            <a:ext cx="4000500" cy="1619250"/>
          </a:xfrm>
          <a:prstGeom xmlns:a="http://schemas.openxmlformats.org/drawingml/2006/main" prst="rect">
            <a:avLst/>
          </a:prstGeom>
          <a:noFill xmlns:a="http://schemas.openxmlformats.org/drawingml/2006/main"/>
          <a:ln xmlns:a="http://schemas.openxmlformats.org/drawingml/2006/main" w="0">
            <a:noFill/>
          </a:ln>
        </p:spPr>
      </p:sp>
      <p:sp>
        <p:nvSpPr>
          <p:cNvPr id="7" name="Camera client">
            <a:extLst xmlns:a="http://schemas.openxmlformats.org/drawingml/2006/main">
              <a:ext uri="{FF2B5EF4-FFF2-40B4-BE49-F238E27FC236}">
                <a16:creationId xmlns:a16="http://schemas.microsoft.com/office/drawing/2014/main" id="{0DC25F20-E60D-4575-B912-69A7466593C5}"/>
              </a:ext>
            </a:extLst>
          </p:cNvPr>
          <p:cNvSpPr>
            <a:spLocks xmlns:a="http://schemas.openxmlformats.org/drawingml/2006/main" noGrp="1"/>
          </p:cNvSpPr>
          <p:nvPr/>
        </p:nvSpPr>
        <p:spPr>
          <a:xfrm xmlns:a="http://schemas.openxmlformats.org/drawingml/2006/main">
            <a:off x="1047750" y="71437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9B712B"/>
                </a:solidFill>
                <a:latin typeface="Poppins"/>
                <a:ea typeface="Poppins"/>
                <a:cs typeface="Poppins"/>
              </a:defRPr>
            </a:pPr>
            <a:r>
              <a:rPr sz="3300" b="1">
                <a:solidFill>
                  <a:srgbClr val="9B712B"/>
                </a:solidFill>
                <a:latin typeface="Poppins"/>
                <a:ea typeface="Poppins"/>
                <a:cs typeface="Poppins"/>
              </a:rPr>
              <a:t>Camera client</a:t>
            </a:r>
          </a:p>
        </p:txBody>
      </p:sp>
      <p:sp>
        <p:nvSpPr>
          <p:cNvPr id="8" name="Video + capture commands">
            <a:extLst xmlns:a="http://schemas.openxmlformats.org/drawingml/2006/main">
              <a:ext uri="{FF2B5EF4-FFF2-40B4-BE49-F238E27FC236}">
                <a16:creationId xmlns:a16="http://schemas.microsoft.com/office/drawing/2014/main" id="{A0F847CC-3514-4B43-A430-F806C5E3806F}"/>
              </a:ext>
            </a:extLst>
          </p:cNvPr>
          <p:cNvSpPr>
            <a:spLocks xmlns:a="http://schemas.openxmlformats.org/drawingml/2006/main" noGrp="1"/>
          </p:cNvSpPr>
          <p:nvPr/>
        </p:nvSpPr>
        <p:spPr>
          <a:xfrm xmlns:a="http://schemas.openxmlformats.org/drawingml/2006/main">
            <a:off x="1047750" y="79248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Video + capture commands</a:t>
            </a:r>
          </a:p>
        </p:txBody>
      </p:sp>
      <p:sp>
        <p:nvSpPr>
          <p:cNvPr id="9" name="diagram">
            <a:extLst xmlns:a="http://schemas.openxmlformats.org/drawingml/2006/main">
              <a:ext uri="{FF2B5EF4-FFF2-40B4-BE49-F238E27FC236}">
                <a16:creationId xmlns:a16="http://schemas.microsoft.com/office/drawing/2014/main" id="{867C391C-0558-4083-BC73-C8B04B675839}"/>
              </a:ext>
            </a:extLst>
          </p:cNvPr>
          <p:cNvSpPr>
            <a:spLocks xmlns:a="http://schemas.openxmlformats.org/drawingml/2006/main" noGrp="1"/>
          </p:cNvSpPr>
          <p:nvPr/>
        </p:nvSpPr>
        <p:spPr>
          <a:xfrm xmlns:a="http://schemas.openxmlformats.org/drawingml/2006/main">
            <a:off x="6477000" y="5381625"/>
            <a:ext cx="4857750" cy="1666875"/>
          </a:xfrm>
          <a:prstGeom xmlns:a="http://schemas.openxmlformats.org/drawingml/2006/main" prst="rect">
            <a:avLst/>
          </a:prstGeom>
          <a:noFill xmlns:a="http://schemas.openxmlformats.org/drawingml/2006/main"/>
          <a:ln xmlns:a="http://schemas.openxmlformats.org/drawingml/2006/main" w="0">
            <a:noFill/>
          </a:ln>
        </p:spPr>
      </p:sp>
      <p:sp>
        <p:nvSpPr>
          <p:cNvPr id="10" name="Python backend">
            <a:extLst xmlns:a="http://schemas.openxmlformats.org/drawingml/2006/main">
              <a:ext uri="{FF2B5EF4-FFF2-40B4-BE49-F238E27FC236}">
                <a16:creationId xmlns:a16="http://schemas.microsoft.com/office/drawing/2014/main" id="{3B8AD5BF-A000-4E35-A2D1-59B18D967EE4}"/>
              </a:ext>
            </a:extLst>
          </p:cNvPr>
          <p:cNvSpPr>
            <a:spLocks xmlns:a="http://schemas.openxmlformats.org/drawingml/2006/main" noGrp="1"/>
          </p:cNvSpPr>
          <p:nvPr/>
        </p:nvSpPr>
        <p:spPr>
          <a:xfrm xmlns:a="http://schemas.openxmlformats.org/drawingml/2006/main">
            <a:off x="6477000" y="53816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91A18"/>
                </a:solidFill>
                <a:latin typeface="Poppins"/>
                <a:ea typeface="Poppins"/>
                <a:cs typeface="Poppins"/>
              </a:defRPr>
            </a:pPr>
            <a:r>
              <a:rPr sz="3300" b="1">
                <a:solidFill>
                  <a:srgbClr val="191A18"/>
                </a:solidFill>
                <a:latin typeface="Poppins"/>
                <a:ea typeface="Poppins"/>
                <a:cs typeface="Poppins"/>
              </a:rPr>
              <a:t>Python backend</a:t>
            </a:r>
          </a:p>
        </p:txBody>
      </p:sp>
      <p:sp>
        <p:nvSpPr>
          <p:cNvPr id="11" name="Detect • finalize • store">
            <a:extLst xmlns:a="http://schemas.openxmlformats.org/drawingml/2006/main">
              <a:ext uri="{FF2B5EF4-FFF2-40B4-BE49-F238E27FC236}">
                <a16:creationId xmlns:a16="http://schemas.microsoft.com/office/drawing/2014/main" id="{D93B8780-A505-4A15-9A11-970AEFFEACF7}"/>
              </a:ext>
            </a:extLst>
          </p:cNvPr>
          <p:cNvSpPr>
            <a:spLocks xmlns:a="http://schemas.openxmlformats.org/drawingml/2006/main" noGrp="1"/>
          </p:cNvSpPr>
          <p:nvPr/>
        </p:nvSpPr>
        <p:spPr>
          <a:xfrm xmlns:a="http://schemas.openxmlformats.org/drawingml/2006/main">
            <a:off x="6477000" y="6162675"/>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Detect • finalize • store</a:t>
            </a:r>
          </a:p>
        </p:txBody>
      </p:sp>
      <p:sp>
        <p:nvSpPr>
          <p:cNvPr id="12" name="diagram">
            <a:extLst xmlns:a="http://schemas.openxmlformats.org/drawingml/2006/main">
              <a:ext uri="{FF2B5EF4-FFF2-40B4-BE49-F238E27FC236}">
                <a16:creationId xmlns:a16="http://schemas.microsoft.com/office/drawing/2014/main" id="{92400371-E800-46DD-8C8F-5A6B06DAE233}"/>
              </a:ext>
            </a:extLst>
          </p:cNvPr>
          <p:cNvSpPr>
            <a:spLocks xmlns:a="http://schemas.openxmlformats.org/drawingml/2006/main" noGrp="1"/>
          </p:cNvSpPr>
          <p:nvPr/>
        </p:nvSpPr>
        <p:spPr>
          <a:xfrm xmlns:a="http://schemas.openxmlformats.org/drawingml/2006/main">
            <a:off x="13239750" y="3429000"/>
            <a:ext cx="3810000" cy="1524000"/>
          </a:xfrm>
          <a:prstGeom xmlns:a="http://schemas.openxmlformats.org/drawingml/2006/main" prst="rect">
            <a:avLst/>
          </a:prstGeom>
          <a:noFill xmlns:a="http://schemas.openxmlformats.org/drawingml/2006/main"/>
          <a:ln xmlns:a="http://schemas.openxmlformats.org/drawingml/2006/main" w="0">
            <a:noFill/>
          </a:ln>
        </p:spPr>
      </p:sp>
      <p:sp>
        <p:nvSpPr>
          <p:cNvPr id="13" name="Meta">
            <a:extLst xmlns:a="http://schemas.openxmlformats.org/drawingml/2006/main">
              <a:ext uri="{FF2B5EF4-FFF2-40B4-BE49-F238E27FC236}">
                <a16:creationId xmlns:a16="http://schemas.microsoft.com/office/drawing/2014/main" id="{61EC746E-8D8C-431F-A31D-8061EB777BA6}"/>
              </a:ext>
            </a:extLst>
          </p:cNvPr>
          <p:cNvSpPr>
            <a:spLocks xmlns:a="http://schemas.openxmlformats.org/drawingml/2006/main" noGrp="1"/>
          </p:cNvSpPr>
          <p:nvPr/>
        </p:nvSpPr>
        <p:spPr>
          <a:xfrm xmlns:a="http://schemas.openxmlformats.org/drawingml/2006/main">
            <a:off x="13239750" y="342900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326B8C"/>
                </a:solidFill>
                <a:latin typeface="Poppins"/>
                <a:ea typeface="Poppins"/>
                <a:cs typeface="Poppins"/>
              </a:defRPr>
            </a:pPr>
            <a:r>
              <a:rPr sz="3300" b="1">
                <a:solidFill>
                  <a:srgbClr val="326B8C"/>
                </a:solidFill>
                <a:latin typeface="Poppins"/>
                <a:ea typeface="Poppins"/>
                <a:cs typeface="Poppins"/>
              </a:rPr>
              <a:t>Meta</a:t>
            </a:r>
          </a:p>
        </p:txBody>
      </p:sp>
      <p:sp>
        <p:nvSpPr>
          <p:cNvPr id="14" name="Describe the moment">
            <a:extLst xmlns:a="http://schemas.openxmlformats.org/drawingml/2006/main">
              <a:ext uri="{FF2B5EF4-FFF2-40B4-BE49-F238E27FC236}">
                <a16:creationId xmlns:a16="http://schemas.microsoft.com/office/drawing/2014/main" id="{F867AF24-E5A6-43AC-B636-0EAD51F4F733}"/>
              </a:ext>
            </a:extLst>
          </p:cNvPr>
          <p:cNvSpPr>
            <a:spLocks xmlns:a="http://schemas.openxmlformats.org/drawingml/2006/main" noGrp="1"/>
          </p:cNvSpPr>
          <p:nvPr/>
        </p:nvSpPr>
        <p:spPr>
          <a:xfrm xmlns:a="http://schemas.openxmlformats.org/drawingml/2006/main">
            <a:off x="13239750" y="421005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Describe the moment</a:t>
            </a:r>
          </a:p>
        </p:txBody>
      </p:sp>
      <p:sp>
        <p:nvSpPr>
          <p:cNvPr id="15" name="diagram">
            <a:extLst xmlns:a="http://schemas.openxmlformats.org/drawingml/2006/main">
              <a:ext uri="{FF2B5EF4-FFF2-40B4-BE49-F238E27FC236}">
                <a16:creationId xmlns:a16="http://schemas.microsoft.com/office/drawing/2014/main" id="{6B44F360-9619-49FE-94C3-3D3D6E85B8E6}"/>
              </a:ext>
            </a:extLst>
          </p:cNvPr>
          <p:cNvSpPr>
            <a:spLocks xmlns:a="http://schemas.openxmlformats.org/drawingml/2006/main" noGrp="1"/>
          </p:cNvSpPr>
          <p:nvPr/>
        </p:nvSpPr>
        <p:spPr>
          <a:xfrm xmlns:a="http://schemas.openxmlformats.org/drawingml/2006/main">
            <a:off x="13239750" y="5810250"/>
            <a:ext cx="3810000" cy="1524000"/>
          </a:xfrm>
          <a:prstGeom xmlns:a="http://schemas.openxmlformats.org/drawingml/2006/main" prst="rect">
            <a:avLst/>
          </a:prstGeom>
          <a:noFill xmlns:a="http://schemas.openxmlformats.org/drawingml/2006/main"/>
          <a:ln xmlns:a="http://schemas.openxmlformats.org/drawingml/2006/main" w="0">
            <a:noFill/>
          </a:ln>
        </p:spPr>
      </p:sp>
      <p:sp>
        <p:nvSpPr>
          <p:cNvPr id="16" name="Elastic">
            <a:extLst xmlns:a="http://schemas.openxmlformats.org/drawingml/2006/main">
              <a:ext uri="{FF2B5EF4-FFF2-40B4-BE49-F238E27FC236}">
                <a16:creationId xmlns:a16="http://schemas.microsoft.com/office/drawing/2014/main" id="{F0DA2DEC-9AFB-4C38-9C05-21BC27042A02}"/>
              </a:ext>
            </a:extLst>
          </p:cNvPr>
          <p:cNvSpPr>
            <a:spLocks xmlns:a="http://schemas.openxmlformats.org/drawingml/2006/main" noGrp="1"/>
          </p:cNvSpPr>
          <p:nvPr/>
        </p:nvSpPr>
        <p:spPr>
          <a:xfrm xmlns:a="http://schemas.openxmlformats.org/drawingml/2006/main">
            <a:off x="13239750" y="58102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9B712B"/>
                </a:solidFill>
                <a:latin typeface="Poppins"/>
                <a:ea typeface="Poppins"/>
                <a:cs typeface="Poppins"/>
              </a:defRPr>
            </a:pPr>
            <a:r>
              <a:rPr sz="3300" b="1">
                <a:solidFill>
                  <a:srgbClr val="9B712B"/>
                </a:solidFill>
                <a:latin typeface="Poppins"/>
                <a:ea typeface="Poppins"/>
                <a:cs typeface="Poppins"/>
              </a:rPr>
              <a:t>Elastic</a:t>
            </a:r>
          </a:p>
        </p:txBody>
      </p:sp>
      <p:sp>
        <p:nvSpPr>
          <p:cNvPr id="17" name="Index + retrieve">
            <a:extLst xmlns:a="http://schemas.openxmlformats.org/drawingml/2006/main">
              <a:ext uri="{FF2B5EF4-FFF2-40B4-BE49-F238E27FC236}">
                <a16:creationId xmlns:a16="http://schemas.microsoft.com/office/drawing/2014/main" id="{F717D18E-7A99-4AAA-8111-E2F5C870614E}"/>
              </a:ext>
            </a:extLst>
          </p:cNvPr>
          <p:cNvSpPr>
            <a:spLocks xmlns:a="http://schemas.openxmlformats.org/drawingml/2006/main" noGrp="1"/>
          </p:cNvSpPr>
          <p:nvPr/>
        </p:nvSpPr>
        <p:spPr>
          <a:xfrm xmlns:a="http://schemas.openxmlformats.org/drawingml/2006/main">
            <a:off x="13239750" y="659130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Index + retrieve</a:t>
            </a:r>
          </a:p>
        </p:txBody>
      </p:sp>
      <p:sp>
        <p:nvSpPr>
          <p:cNvPr id="18" name="diagram">
            <a:extLst xmlns:a="http://schemas.openxmlformats.org/drawingml/2006/main">
              <a:ext uri="{FF2B5EF4-FFF2-40B4-BE49-F238E27FC236}">
                <a16:creationId xmlns:a16="http://schemas.microsoft.com/office/drawing/2014/main" id="{1F783242-09B6-4102-B184-A475D70D7CA6}"/>
              </a:ext>
            </a:extLst>
          </p:cNvPr>
          <p:cNvSpPr>
            <a:spLocks xmlns:a="http://schemas.openxmlformats.org/drawingml/2006/main" noGrp="1"/>
          </p:cNvSpPr>
          <p:nvPr/>
        </p:nvSpPr>
        <p:spPr>
          <a:xfrm xmlns:a="http://schemas.openxmlformats.org/drawingml/2006/main">
            <a:off x="13239750" y="8134350"/>
            <a:ext cx="4095750" cy="1428750"/>
          </a:xfrm>
          <a:prstGeom xmlns:a="http://schemas.openxmlformats.org/drawingml/2006/main" prst="rect">
            <a:avLst/>
          </a:prstGeom>
          <a:noFill xmlns:a="http://schemas.openxmlformats.org/drawingml/2006/main"/>
          <a:ln xmlns:a="http://schemas.openxmlformats.org/drawingml/2006/main" w="0">
            <a:noFill/>
          </a:ln>
        </p:spPr>
      </p:sp>
      <p:sp>
        <p:nvSpPr>
          <p:cNvPr id="19" name="Web app">
            <a:extLst xmlns:a="http://schemas.openxmlformats.org/drawingml/2006/main">
              <a:ext uri="{FF2B5EF4-FFF2-40B4-BE49-F238E27FC236}">
                <a16:creationId xmlns:a16="http://schemas.microsoft.com/office/drawing/2014/main" id="{E27761B4-7D30-4F8B-937D-901CC255C449}"/>
              </a:ext>
            </a:extLst>
          </p:cNvPr>
          <p:cNvSpPr>
            <a:spLocks xmlns:a="http://schemas.openxmlformats.org/drawingml/2006/main" noGrp="1"/>
          </p:cNvSpPr>
          <p:nvPr/>
        </p:nvSpPr>
        <p:spPr>
          <a:xfrm xmlns:a="http://schemas.openxmlformats.org/drawingml/2006/main">
            <a:off x="13239750" y="813435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91A18"/>
                </a:solidFill>
                <a:latin typeface="Poppins"/>
                <a:ea typeface="Poppins"/>
                <a:cs typeface="Poppins"/>
              </a:defRPr>
            </a:pPr>
            <a:r>
              <a:rPr sz="3300" b="1">
                <a:solidFill>
                  <a:srgbClr val="191A18"/>
                </a:solidFill>
                <a:latin typeface="Poppins"/>
                <a:ea typeface="Poppins"/>
                <a:cs typeface="Poppins"/>
              </a:rPr>
              <a:t>Web app</a:t>
            </a:r>
          </a:p>
        </p:txBody>
      </p:sp>
      <p:sp>
        <p:nvSpPr>
          <p:cNvPr id="20" name="Search • replay • share">
            <a:extLst xmlns:a="http://schemas.openxmlformats.org/drawingml/2006/main">
              <a:ext uri="{FF2B5EF4-FFF2-40B4-BE49-F238E27FC236}">
                <a16:creationId xmlns:a16="http://schemas.microsoft.com/office/drawing/2014/main" id="{F7597F94-706B-4A31-8D68-365E0EA2A1EA}"/>
              </a:ext>
            </a:extLst>
          </p:cNvPr>
          <p:cNvSpPr>
            <a:spLocks xmlns:a="http://schemas.openxmlformats.org/drawingml/2006/main" noGrp="1"/>
          </p:cNvSpPr>
          <p:nvPr/>
        </p:nvSpPr>
        <p:spPr>
          <a:xfrm xmlns:a="http://schemas.openxmlformats.org/drawingml/2006/main">
            <a:off x="13239750" y="8915400"/>
            <a:ext cx="409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A5D59"/>
                </a:solidFill>
                <a:latin typeface="Poppins"/>
                <a:ea typeface="Poppins"/>
                <a:cs typeface="Poppins"/>
              </a:defRPr>
            </a:pPr>
            <a:r>
              <a:rPr sz="2175" b="0">
                <a:solidFill>
                  <a:srgbClr val="5A5D59"/>
                </a:solidFill>
                <a:latin typeface="Poppins"/>
                <a:ea typeface="Poppins"/>
                <a:cs typeface="Poppins"/>
              </a:rPr>
              <a:t>Search • replay • share</a:t>
            </a:r>
          </a:p>
        </p:txBody>
      </p:sp>
      <p:cxnSp>
        <p:nvCxnSpPr>
          <p:cNvPr id="46" name=""/>
          <p:cNvCxnSpPr>
            <a:stCxn xmlns:a="http://schemas.openxmlformats.org/drawingml/2006/main" id="3" idx="3"/>
            <a:endCxn xmlns:a="http://schemas.openxmlformats.org/drawingml/2006/main" id="9" idx="1"/>
          </p:cNvCxnSpPr>
          <p:nvPr/>
        </p:nvCxnSpPr>
        <p:spPr>
          <a:xfrm xmlns:a="http://schemas.openxmlformats.org/drawingml/2006/main">
            <a:off x="4667250" y="4714875"/>
            <a:ext cx="1809750" cy="1500188"/>
          </a:xfrm>
          <a:prstGeom xmlns:a="http://schemas.openxmlformats.org/drawingml/2006/main" prst="bentConnector3">
            <a:avLst>
              <a:gd name="adj1" fmla="val 50000"/>
            </a:avLst>
          </a:prstGeom>
          <a:ln xmlns:a="http://schemas.openxmlformats.org/drawingml/2006/main" w="28575">
            <a:solidFill>
              <a:srgbClr val="326B8C"/>
            </a:solidFill>
            <a:tailEnd type="triangle" w="med" len="med"/>
          </a:ln>
        </p:spPr>
      </p:cxnSp>
      <p:cxnSp>
        <p:nvCxnSpPr>
          <p:cNvPr id="47" name=""/>
          <p:cNvCxnSpPr>
            <a:stCxn xmlns:a="http://schemas.openxmlformats.org/drawingml/2006/main" id="6" idx="3"/>
            <a:endCxn xmlns:a="http://schemas.openxmlformats.org/drawingml/2006/main" id="9" idx="1"/>
          </p:cNvCxnSpPr>
          <p:nvPr/>
        </p:nvCxnSpPr>
        <p:spPr>
          <a:xfrm xmlns:a="http://schemas.openxmlformats.org/drawingml/2006/main" flipV="1">
            <a:off x="5048250" y="6215063"/>
            <a:ext cx="1428750" cy="1738313"/>
          </a:xfrm>
          <a:prstGeom xmlns:a="http://schemas.openxmlformats.org/drawingml/2006/main" prst="bentConnector3">
            <a:avLst>
              <a:gd name="adj1" fmla="val 50000"/>
            </a:avLst>
          </a:prstGeom>
          <a:ln xmlns:a="http://schemas.openxmlformats.org/drawingml/2006/main" w="28575">
            <a:solidFill>
              <a:srgbClr val="9B712B"/>
            </a:solidFill>
            <a:headEnd type="triangle" w="med" len="med"/>
            <a:tailEnd type="triangle" w="med" len="med"/>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flipV="1">
            <a:off x="11334750" y="4191000"/>
            <a:ext cx="1905000" cy="2024063"/>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cxnSp>
        <p:nvCxnSpPr>
          <p:cNvPr id="49" name=""/>
          <p:cNvCxnSpPr>
            <a:stCxn xmlns:a="http://schemas.openxmlformats.org/drawingml/2006/main" id="9" idx="3"/>
            <a:endCxn xmlns:a="http://schemas.openxmlformats.org/drawingml/2006/main" id="15" idx="1"/>
          </p:cNvCxnSpPr>
          <p:nvPr/>
        </p:nvCxnSpPr>
        <p:spPr>
          <a:xfrm xmlns:a="http://schemas.openxmlformats.org/drawingml/2006/main">
            <a:off x="11334750" y="6215063"/>
            <a:ext cx="1905000" cy="357188"/>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cxnSp>
        <p:nvCxnSpPr>
          <p:cNvPr id="50" name=""/>
          <p:cNvCxnSpPr>
            <a:stCxn xmlns:a="http://schemas.openxmlformats.org/drawingml/2006/main" id="9" idx="3"/>
            <a:endCxn xmlns:a="http://schemas.openxmlformats.org/drawingml/2006/main" id="18" idx="1"/>
          </p:cNvCxnSpPr>
          <p:nvPr/>
        </p:nvCxnSpPr>
        <p:spPr>
          <a:xfrm xmlns:a="http://schemas.openxmlformats.org/drawingml/2006/main">
            <a:off x="11334750" y="6215063"/>
            <a:ext cx="1905000" cy="2633663"/>
          </a:xfrm>
          <a:prstGeom xmlns:a="http://schemas.openxmlformats.org/drawingml/2006/main" prst="bentConnector3">
            <a:avLst>
              <a:gd name="adj1" fmla="val 50000"/>
            </a:avLst>
          </a:prstGeom>
          <a:ln xmlns:a="http://schemas.openxmlformats.org/drawingml/2006/main" w="28575">
            <a:solidFill>
              <a:srgbClr val="5A5D59"/>
            </a:solidFill>
            <a:headEnd type="triangle" w="med" len="med"/>
            <a:tailEnd type="triangle" w="med" len="med"/>
          </a:ln>
        </p:spPr>
      </p:cxnSp>
    </p:spTree>
    <p:extLst>
      <p:ext uri="{BB962C8B-B14F-4D97-AF65-F5344CB8AC3E}">
        <p14:creationId xmlns:p14="http://schemas.microsoft.com/office/powerpoint/2010/main" val="1220753988"/>
      </p:ext>
    </p:extLst>
  </p:cSld>
</p:sld>
</file>

<file path=ppt/slides/slide17.xml><?xml version="1.0" encoding="utf-8"?>
<p:sld xmlns:p="http://schemas.openxmlformats.org/presentationml/2006/main">
  <p:cSld>
    <p:bg>
      <p:bgPr>
        <a:solidFill xmlns:a="http://schemas.openxmlformats.org/drawingml/2006/main">
          <a:srgbClr val="F3EFE6"/>
        </a:solidFill>
      </p:bgPr>
    </p:bg>
    <p:spTree>
      <p:nvGrpSpPr>
        <p:cNvPr id="1" name=""/>
        <p:cNvGrpSpPr/>
        <p:nvPr/>
      </p:nvGrpSpPr>
      <p:grpSpPr>
        <a:xfrm xmlns:a="http://schemas.openxmlformats.org/drawingml/2006/main"/>
      </p:grpSpPr>
      <p:sp>
        <p:nvSpPr>
          <p:cNvPr id="5" name="Memorypalace">
            <a:extLst xmlns:a="http://schemas.openxmlformats.org/drawingml/2006/main">
              <a:ext uri="{FF2B5EF4-FFF2-40B4-BE49-F238E27FC236}">
                <a16:creationId xmlns:a16="http://schemas.microsoft.com/office/drawing/2014/main" id="{485B2435-1138-4EAB-8DF8-0D0566F38990}"/>
              </a:ext>
            </a:extLst>
          </p:cNvPr>
          <p:cNvSpPr>
            <a:spLocks xmlns:a="http://schemas.openxmlformats.org/drawingml/2006/main" noGrp="1"/>
          </p:cNvSpPr>
          <p:nvPr/>
        </p:nvSpPr>
        <p:spPr>
          <a:xfrm xmlns:a="http://schemas.openxmlformats.org/drawingml/2006/main">
            <a:off x="1047750" y="1885950"/>
            <a:ext cx="1619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700" b="1">
                <a:solidFill>
                  <a:srgbClr val="191A18"/>
                </a:solidFill>
                <a:latin typeface="Poppins"/>
                <a:ea typeface="Poppins"/>
                <a:cs typeface="Poppins"/>
              </a:defRPr>
            </a:pPr>
            <a:r>
              <a:rPr sz="8700" b="1">
                <a:solidFill>
                  <a:srgbClr val="191A18"/>
                </a:solidFill>
                <a:latin typeface="Poppins"/>
                <a:ea typeface="Poppins"/>
                <a:cs typeface="Poppins"/>
              </a:rPr>
              <a:t>Memorypalace</a:t>
            </a:r>
          </a:p>
        </p:txBody>
      </p:sp>
      <p:sp>
        <p:nvSpPr>
          <p:cNvPr id="2" name="Your day has more to tell you.">
            <a:extLst xmlns:a="http://schemas.openxmlformats.org/drawingml/2006/main">
              <a:ext uri="{FF2B5EF4-FFF2-40B4-BE49-F238E27FC236}">
                <a16:creationId xmlns:a16="http://schemas.microsoft.com/office/drawing/2014/main" id="{510B0EE6-CFD7-4371-BBAE-C9DF1060181E}"/>
              </a:ext>
            </a:extLst>
          </p:cNvPr>
          <p:cNvSpPr>
            <a:spLocks xmlns:a="http://schemas.openxmlformats.org/drawingml/2006/main" noGrp="1"/>
          </p:cNvSpPr>
          <p:nvPr/>
        </p:nvSpPr>
        <p:spPr>
          <a:xfrm xmlns:a="http://schemas.openxmlformats.org/drawingml/2006/main">
            <a:off x="1047750" y="4152900"/>
            <a:ext cx="15335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750" b="1">
                <a:solidFill>
                  <a:srgbClr val="191A18"/>
                </a:solidFill>
                <a:latin typeface="Poppins"/>
                <a:ea typeface="Poppins"/>
                <a:cs typeface="Poppins"/>
              </a:defRPr>
            </a:pPr>
            <a:r>
              <a:rPr sz="6750" b="1">
                <a:solidFill>
                  <a:srgbClr val="191A18"/>
                </a:solidFill>
                <a:latin typeface="Poppins"/>
                <a:ea typeface="Poppins"/>
                <a:cs typeface="Poppins"/>
              </a:rPr>
              <a:t>Your day has more to tell you.</a:t>
            </a:r>
          </a:p>
        </p:txBody>
      </p:sp>
      <p:sp>
        <p:nvSpPr>
          <p:cNvPr id="3" name="Keep the context. Revisit it when you have time.">
            <a:extLst xmlns:a="http://schemas.openxmlformats.org/drawingml/2006/main">
              <a:ext uri="{FF2B5EF4-FFF2-40B4-BE49-F238E27FC236}">
                <a16:creationId xmlns:a16="http://schemas.microsoft.com/office/drawing/2014/main" id="{011A5082-23C7-4C64-9F87-66A065924F65}"/>
              </a:ext>
            </a:extLst>
          </p:cNvPr>
          <p:cNvSpPr>
            <a:spLocks xmlns:a="http://schemas.openxmlformats.org/drawingml/2006/main" noGrp="1"/>
          </p:cNvSpPr>
          <p:nvPr/>
        </p:nvSpPr>
        <p:spPr>
          <a:xfrm xmlns:a="http://schemas.openxmlformats.org/drawingml/2006/main">
            <a:off x="1047750" y="7181850"/>
            <a:ext cx="15621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0">
                <a:solidFill>
                  <a:srgbClr val="326B8C"/>
                </a:solidFill>
                <a:latin typeface="Poppins"/>
                <a:ea typeface="Poppins"/>
                <a:cs typeface="Poppins"/>
              </a:defRPr>
            </a:pPr>
            <a:r>
              <a:rPr sz="3525" b="0">
                <a:solidFill>
                  <a:srgbClr val="326B8C"/>
                </a:solidFill>
                <a:latin typeface="Poppins"/>
                <a:ea typeface="Poppins"/>
                <a:cs typeface="Poppins"/>
              </a:rPr>
              <a:t>Keep the context. Revisit it when you have time.</a:t>
            </a:r>
          </a:p>
        </p:txBody>
      </p:sp>
      <p:sp>
        <p:nvSpPr>
          <p:cNvPr id="4" name="Try the live demo →">
            <a:extLst xmlns:a="http://schemas.openxmlformats.org/drawingml/2006/main">
              <a:ext uri="{FF2B5EF4-FFF2-40B4-BE49-F238E27FC236}">
                <a16:creationId xmlns:a16="http://schemas.microsoft.com/office/drawing/2014/main" id="{42C08DED-5180-43A1-B4F0-EE3A7B43CBD0}"/>
              </a:ext>
            </a:extLst>
          </p:cNvPr>
          <p:cNvSpPr>
            <a:spLocks xmlns:a="http://schemas.openxmlformats.org/drawingml/2006/main" noGrp="1"/>
          </p:cNvSpPr>
          <p:nvPr/>
        </p:nvSpPr>
        <p:spPr>
          <a:xfrm xmlns:a="http://schemas.openxmlformats.org/drawingml/2006/main">
            <a:off x="1047750" y="89249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B712B"/>
                </a:solidFill>
                <a:latin typeface="Poppins"/>
                <a:ea typeface="Poppins"/>
                <a:cs typeface="Poppins"/>
              </a:defRPr>
            </a:pPr>
            <a:r>
              <a:rPr sz="2550" b="1">
                <a:solidFill>
                  <a:srgbClr val="9B712B"/>
                </a:solidFill>
                <a:latin typeface="Poppins"/>
                <a:ea typeface="Poppins"/>
                <a:cs typeface="Poppins"/>
                <a:hlinkClick xmlns:r="http://schemas.openxmlformats.org/officeDocument/2006/relationships" r:id="R50cdaab80f2b41c1"/>
              </a:rPr>
              <a:t>Try the live demo →</a:t>
            </a:r>
          </a:p>
        </p:txBody>
      </p:sp>
    </p:spTree>
    <p:extLst>
      <p:ext uri="{BB962C8B-B14F-4D97-AF65-F5344CB8AC3E}">
        <p14:creationId xmlns:p14="http://schemas.microsoft.com/office/powerpoint/2010/main" val="503572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2026-09-20T10:29:35.2060000Z</dcterms:created>
  <dcterms:modified xsi:type="dcterms:W3CDTF">2026-09-20T10:29:35.2060000Z</dcterms:modified>
</coreProperties>
</file>