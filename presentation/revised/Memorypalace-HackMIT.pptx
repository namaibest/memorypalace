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1.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2.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slides/charts/chart3.xml" ContentType="application/vnd.openxmlformats-officedocument.drawingml.chart+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Default Extension="mp4" ContentType="video/mp4"/>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df879a3079644e6d" /><Relationship Type="http://schemas.openxmlformats.org/officeDocument/2006/relationships/extended-properties" Target="/docProps/app.xml" Id="Rc6f94fdbf7cf4823" /><Relationship Type="http://schemas.openxmlformats.org/officeDocument/2006/relationships/officeDocument" Target="/ppt/presentation.xml" Id="R8d0198e01a084231" /></Relationships>
</file>

<file path=ppt/presentation.xml><?xml version="1.0" encoding="utf-8"?>
<p:presentation xmlns:p="http://schemas.openxmlformats.org/presentationml/2006/main">
  <p:sldMasterIdLst>
    <p:sldMasterId xmlns:r="http://schemas.openxmlformats.org/officeDocument/2006/relationships" id="2147483648" r:id="R969d6af097ca49dd"/>
  </p:sldMasterIdLst>
  <p:notesMasterIdLst>
    <p:notesMasterId xmlns:r="http://schemas.openxmlformats.org/officeDocument/2006/relationships" r:id="Re48a3ba51f9d4466"/>
  </p:notesMasterIdLst>
  <p:sldIdLst>
    <p:sldId xmlns:r="http://schemas.openxmlformats.org/officeDocument/2006/relationships" id="256" r:id="R9c791d04c7564123"/>
    <p:sldId xmlns:r="http://schemas.openxmlformats.org/officeDocument/2006/relationships" id="257" r:id="R9219a1044f7941f8"/>
    <p:sldId xmlns:r="http://schemas.openxmlformats.org/officeDocument/2006/relationships" id="258" r:id="R83ca646fa41d4406"/>
    <p:sldId xmlns:r="http://schemas.openxmlformats.org/officeDocument/2006/relationships" id="259" r:id="R7169fdb8a4894aa2"/>
    <p:sldId xmlns:r="http://schemas.openxmlformats.org/officeDocument/2006/relationships" id="260" r:id="R2bfa83754f3a44f2"/>
    <p:sldId xmlns:r="http://schemas.openxmlformats.org/officeDocument/2006/relationships" id="261" r:id="R74c3f525f08c4613"/>
    <p:sldId xmlns:r="http://schemas.openxmlformats.org/officeDocument/2006/relationships" id="262" r:id="Rc849913522e4454d"/>
    <p:sldId xmlns:r="http://schemas.openxmlformats.org/officeDocument/2006/relationships" id="263" r:id="R405ba5e3071f41b8"/>
    <p:sldId xmlns:r="http://schemas.openxmlformats.org/officeDocument/2006/relationships" id="264" r:id="R2115cc61548c4dfe"/>
    <p:sldId xmlns:r="http://schemas.openxmlformats.org/officeDocument/2006/relationships" id="265" r:id="Rf2f43595d3bf4ab7"/>
    <p:sldId xmlns:r="http://schemas.openxmlformats.org/officeDocument/2006/relationships" id="266" r:id="R0794e62088944170"/>
    <p:sldId xmlns:r="http://schemas.openxmlformats.org/officeDocument/2006/relationships" id="267" r:id="Rc6a8abc6b18c4f4e"/>
    <p:sldId xmlns:r="http://schemas.openxmlformats.org/officeDocument/2006/relationships" id="268" r:id="R40d2a9a638f34c88"/>
    <p:sldId xmlns:r="http://schemas.openxmlformats.org/officeDocument/2006/relationships" id="269" r:id="Rc29f84181c754950"/>
  </p:sldIdLst>
  <p:sldSz cx="18288000" cy="10287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7f9a3e118a7493c" /><Relationship Type="http://schemas.openxmlformats.org/officeDocument/2006/relationships/slideMaster" Target="/ppt/slideMasters/slideMaster1.xml" Id="R969d6af097ca49dd" /><Relationship Type="http://schemas.openxmlformats.org/officeDocument/2006/relationships/notesMaster" Target="/ppt/notesMasters/notesMaster1.xml" Id="Re48a3ba51f9d4466" /><Relationship Type="http://schemas.openxmlformats.org/officeDocument/2006/relationships/presProps" Target="/ppt/presProps.xml" Id="Rb7ddaae405244a8c" /><Relationship Type="http://schemas.openxmlformats.org/officeDocument/2006/relationships/tableStyles" Target="/ppt/tableStyles.xml" Id="R012d3629b8a7453e" /><Relationship Type="http://schemas.openxmlformats.org/officeDocument/2006/relationships/slide" Target="/ppt/slides/slide1.xml" Id="R9c791d04c7564123" /><Relationship Type="http://schemas.openxmlformats.org/officeDocument/2006/relationships/slide" Target="/ppt/slides/slide2.xml" Id="R9219a1044f7941f8" /><Relationship Type="http://schemas.openxmlformats.org/officeDocument/2006/relationships/slide" Target="/ppt/slides/slide3.xml" Id="R83ca646fa41d4406" /><Relationship Type="http://schemas.openxmlformats.org/officeDocument/2006/relationships/slide" Target="/ppt/slides/slide4.xml" Id="R7169fdb8a4894aa2" /><Relationship Type="http://schemas.openxmlformats.org/officeDocument/2006/relationships/slide" Target="/ppt/slides/slide5.xml" Id="R2bfa83754f3a44f2" /><Relationship Type="http://schemas.openxmlformats.org/officeDocument/2006/relationships/slide" Target="/ppt/slides/slide6.xml" Id="R74c3f525f08c4613" /><Relationship Type="http://schemas.openxmlformats.org/officeDocument/2006/relationships/slide" Target="/ppt/slides/slide7.xml" Id="Rc849913522e4454d" /><Relationship Type="http://schemas.openxmlformats.org/officeDocument/2006/relationships/slide" Target="/ppt/slides/slide8.xml" Id="R405ba5e3071f41b8" /><Relationship Type="http://schemas.openxmlformats.org/officeDocument/2006/relationships/slide" Target="/ppt/slides/slide9.xml" Id="R2115cc61548c4dfe" /><Relationship Type="http://schemas.openxmlformats.org/officeDocument/2006/relationships/slide" Target="/ppt/slides/slide10.xml" Id="Rf2f43595d3bf4ab7" /><Relationship Type="http://schemas.openxmlformats.org/officeDocument/2006/relationships/slide" Target="/ppt/slides/slide11.xml" Id="R0794e62088944170" /><Relationship Type="http://schemas.openxmlformats.org/officeDocument/2006/relationships/slide" Target="/ppt/slides/slide12.xml" Id="Rc6a8abc6b18c4f4e" /><Relationship Type="http://schemas.openxmlformats.org/officeDocument/2006/relationships/slide" Target="/ppt/slides/slide13.xml" Id="R40d2a9a638f34c88" /><Relationship Type="http://schemas.openxmlformats.org/officeDocument/2006/relationships/slide" Target="/ppt/slides/slide14.xml" Id="Rc29f84181c75495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33695a560fd4c3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9f1cdfe79074163" /><Relationship Type="http://schemas.openxmlformats.org/officeDocument/2006/relationships/notesMaster" Target="/ppt/notesMasters/notesMaster1.xml" Id="Rbee3277cb4254816" /></Relationships>
</file>

<file path=ppt/notesSlides/_rels/notesSlide2.xml.rels>&#65279;<?xml version="1.0" encoding="utf-8"?><Relationships xmlns="http://schemas.openxmlformats.org/package/2006/relationships"><Relationship Type="http://schemas.openxmlformats.org/officeDocument/2006/relationships/slide" Target="/ppt/slides/slide2.xml" Id="Rb63aa8cbd1494161" /><Relationship Type="http://schemas.openxmlformats.org/officeDocument/2006/relationships/notesMaster" Target="/ppt/notesMasters/notesMaster1.xml" Id="Reafb8487ed3e4975" /></Relationships>
</file>

<file path=ppt/notesSlides/_rels/notesSlide3.xml.rels>&#65279;<?xml version="1.0" encoding="utf-8"?><Relationships xmlns="http://schemas.openxmlformats.org/package/2006/relationships"><Relationship Type="http://schemas.openxmlformats.org/officeDocument/2006/relationships/slide" Target="/ppt/slides/slide3.xml" Id="R0baac027d3f24b90" /><Relationship Type="http://schemas.openxmlformats.org/officeDocument/2006/relationships/notesMaster" Target="/ppt/notesMasters/notesMaster1.xml" Id="R67be8b9d72bb4edf" /></Relationships>
</file>

<file path=ppt/notesSlides/_rels/notesSlide4.xml.rels>&#65279;<?xml version="1.0" encoding="utf-8"?><Relationships xmlns="http://schemas.openxmlformats.org/package/2006/relationships"><Relationship Type="http://schemas.openxmlformats.org/officeDocument/2006/relationships/slide" Target="/ppt/slides/slide4.xml" Id="R773ac7723cfb4c00" /><Relationship Type="http://schemas.openxmlformats.org/officeDocument/2006/relationships/notesMaster" Target="/ppt/notesMasters/notesMaster1.xml" Id="Re5484e29fda14058" /></Relationships>
</file>

<file path=ppt/notesSlides/_rels/notesSlide5.xml.rels>&#65279;<?xml version="1.0" encoding="utf-8"?><Relationships xmlns="http://schemas.openxmlformats.org/package/2006/relationships"><Relationship Type="http://schemas.openxmlformats.org/officeDocument/2006/relationships/slide" Target="/ppt/slides/slide5.xml" Id="R07b614062e734704" /><Relationship Type="http://schemas.openxmlformats.org/officeDocument/2006/relationships/notesMaster" Target="/ppt/notesMasters/notesMaster1.xml" Id="R10493d9b3ca64037" /></Relationships>
</file>

<file path=ppt/notesSlides/_rels/notesSlide6.xml.rels>&#65279;<?xml version="1.0" encoding="utf-8"?><Relationships xmlns="http://schemas.openxmlformats.org/package/2006/relationships"><Relationship Type="http://schemas.openxmlformats.org/officeDocument/2006/relationships/slide" Target="/ppt/slides/slide6.xml" Id="R4134acd75e0f4867" /><Relationship Type="http://schemas.openxmlformats.org/officeDocument/2006/relationships/notesMaster" Target="/ppt/notesMasters/notesMaster1.xml" Id="Ra7b7f36a6f9c47dd" /></Relationships>
</file>

<file path=ppt/notesSlides/_rels/notesSlide7.xml.rels>&#65279;<?xml version="1.0" encoding="utf-8"?><Relationships xmlns="http://schemas.openxmlformats.org/package/2006/relationships"><Relationship Type="http://schemas.openxmlformats.org/officeDocument/2006/relationships/slide" Target="/ppt/slides/slide7.xml" Id="R4b6da02bbcaa438b" /><Relationship Type="http://schemas.openxmlformats.org/officeDocument/2006/relationships/notesMaster" Target="/ppt/notesMasters/notesMaster1.xml" Id="R232233a99e404e30" /></Relationships>
</file>

<file path=ppt/notesSlides/_rels/notesSlide8.xml.rels>&#65279;<?xml version="1.0" encoding="utf-8"?><Relationships xmlns="http://schemas.openxmlformats.org/package/2006/relationships"><Relationship Type="http://schemas.openxmlformats.org/officeDocument/2006/relationships/slide" Target="/ppt/slides/slide8.xml" Id="R50c4973580654138" /><Relationship Type="http://schemas.openxmlformats.org/officeDocument/2006/relationships/notesMaster" Target="/ppt/notesMasters/notesMaster1.xml" Id="R1e1c2d3898e94aaa" /></Relationships>
</file>

<file path=ppt/notesSlides/_rels/notesSlide9.xml.rels>&#65279;<?xml version="1.0" encoding="utf-8"?><Relationships xmlns="http://schemas.openxmlformats.org/package/2006/relationships"><Relationship Type="http://schemas.openxmlformats.org/officeDocument/2006/relationships/slide" Target="/ppt/slides/slide9.xml" Id="R29d0c5d1c27040f1" /><Relationship Type="http://schemas.openxmlformats.org/officeDocument/2006/relationships/notesMaster" Target="/ppt/notesMasters/notesMaster1.xml" Id="Rda8e8574200e48ab"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61bd22999bbf4e9a" /><Relationship Type="http://schemas.openxmlformats.org/officeDocument/2006/relationships/notesMaster" Target="/ppt/notesMasters/notesMaster1.xml" Id="Rdc3b736899a04350"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e36483d403854a14" /><Relationship Type="http://schemas.openxmlformats.org/officeDocument/2006/relationships/notesMaster" Target="/ppt/notesMasters/notesMaster1.xml" Id="Rafb0bf8c7aff44ee"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1867fa7f754a4ec8" /><Relationship Type="http://schemas.openxmlformats.org/officeDocument/2006/relationships/notesMaster" Target="/ppt/notesMasters/notesMaster1.xml" Id="R2206f48d95104cbc"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2b62df2de6be4674" /><Relationship Type="http://schemas.openxmlformats.org/officeDocument/2006/relationships/notesMaster" Target="/ppt/notesMasters/notesMaster1.xml" Id="R6f096bf082154211"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a79af9089bc14dd9" /><Relationship Type="http://schemas.openxmlformats.org/officeDocument/2006/relationships/notesMaster" Target="/ppt/notesMasters/notesMaster1.xml" Id="R02f67c61644547a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Memorypalace. Revisit the moments you almost forgot. A personal memory companion that links changes in EEG activity with recorded context. Begin the 36-second film on the next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Play the embedded 36-second concept film with sound. It illustrates the intended wearable experience, using the approved mannequin and revised desk reaction. The neural strengths shown in the film are illustrative story values. The running prototype uses the phone camera and supports synthetic EEG replay plus a Crown adapter.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near miss, the database incident and the unfamiliar word are narrative examples, not clinical detections. The problem is the lost context and the effort of reviewing a whole day. Memorypalace aims to make a small collection of meaningful moments easy to revisit.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Hardware concept: Neurosity Crown for sensing EEG and Ray-Ban Meta glasses for first-person context, supported by the Memorypalace app. Crown is an EEG sensor, not a neurostimulation device; Ray-Ban Meta glasses are not Meta Quest. The current working recorder is an Android phone camera, with a Crown stream adapter. Twenty minutes is the requested onboarding target, not a measured result; code baseline currently uses 120 seconds. Sources: hardware-demo/eegdemo/pipeline.py; hardware-demo/README.md; https://neurosity.co/crown ; https://wearables.developer.meta.com/docs/develop/dat/build-integration-android/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Current implementation: clean frontal EEG, theta (4–8 Hz) over alpha (8–13 Hz) band power, four-second non-overlapping windows, per-wearer z-score, threshold 2.0, four consecutive elevated windows. It measures a sustained load proxy. Phase-shift detection is not present in the inspected implementation; avoid describing this method as phase-shift inference or as a state-of-the-art benchmark. Source: confusion-detector/src/config.py; confusion-detector/src/cognitive_load.py; hardware-demo/eegdemo/pipeline.py.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Illustrative arithmetic: raw theta/alpha index 3.0; A mean 1.0 and standard deviation 0.5 gives z=4.0; B mean 2.6 and standard deviation 0.5 gives z=0.8. These are explanatory values, not measured people or clinical thresholds. The implemented trigger threshold is z=2.0. Source: confusion-detector/src/detector.py and config.py. The chart remains editable beneath its animated video overlay.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Four consecutive windows above z=2.0 are required. No overlap means samples are not reused; it does not prove statistical independence of brain activity. The active backend finalizes an ongoing recording on this trigger, attaches the signal context, and saves it. The concept film illustrates the broader event-capture vision. Sources: confusion-detector/src/config.py; hardware-demo/eegdemo/server.py Runtime.trigger.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Controlled comparison reported in confusion-detector/README.md, The one result that matters: 4-second windows, 75% overlap (hop 1s) 30.3 false alarms/hour; 50% overlap (hop 2s) 18.9; no overlap (hop 4s) 1.3. Same stationary synthetic fixture and threshold. Do not generalize the absolute rate to people or drifting baselines; the drifting fixture reported 7.2/hour at the default setting. This chart is engineering evidence for avoiding repeated samples, not a clinical performance claim.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Live demo at http://localhost:3000/explore. Query: laptop keyboard. The screenshot is captured from the running project, not a fabricated interface. Elastic combines keyword and vector retrieval, with timeline and intensity filters. Sources: app/components/explore; hardware-demo/eegdemo/elastic_store.py. Keep the standalone app running when using the demo link.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Challenge source: DOCS_sponsor/elastic. Implementation: Elastic Cloud Serverless, Jina v5 Omni via Elastic Inference, semantic metadata, BM25 + dense kNN with RRF, date and EEG-intensity filters. The persisted video is linked from the retrieved moment. Sources: hardware-demo/eegdemo/elastic_store.py; FULFILLMENT_SPONSORS.md. Logo source: https://www.apmdigest.com/sites/default/files/2024-09/logo_elastic.png ; brand owner https://www.elastic.co/ . Official method references: https://www.elastic.co/docs/solutions/search/multimodal-search ; https://www.elastic.co/docs/reference/elasticsearch/rest-apis/reciprocal-rank-fusion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Sponsor challenge is quoted from DOCS_sponsor/meta: Bringing People Closer Together with AI. Implemented Share flow: user selects moments and recipient, Muse Spark writes a grounded first-person note, user reviews and edits, then invokes native Share or Copy. This deck does not send anything. Meta also powers scene descriptions, voice transcription and Memory Guard when selected. Sources: app/components/share/SharePage.tsx; hardware-demo/eegdemo/agent.py share_note; hardware-demo/eegdemo/server.py compose_share. Logo: official Meta logo via Wikimedia Commons, https://upload.wikimedia.org/wikipedia/commons/a/ab/Meta-Logo.png ; brand source https://www.meta.com/brand/resources/meta/company-brand/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Challenge source: DOCS_sponsor/VoloRidge. Dataset: OpenNeuro ds006394 / NEMAR on006394, surprise-related visual and auditory events, CC0; 33 participants listed, 56 usable recordings. This is offline leave-one-subject-out logistic regression, not a live Memorypalace accuracy claim. Values from xueqi-validation/results/electrode_ablation_table.csv: 16 channels AUC .712, 8 .705, 4 .697, 2 temple .599. Channel positions differ across configurations, so the chart does not isolate channel count alone. Source: xueqi-validation/RESULTS.md. https://openneuro.org/datasets/ds006394 ; logo from https://www.voloridge.com/themes/custom/voloridge/logo.svg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Actual wiring: Crown publisher sends EEG to Python backend. Android camera client polls authenticated commands and uploads video to the backend. Backend persists the catalog, calls Meta enrichment and Elastic indexing. Next.js browser accesses backend through server routes. Source: hardware-demo/eegdemo/server.py; pipeline.py; library.py; elastic_store.py; app/lib/backend.ts. The native diagram is editable.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Memorypalace turns a fleeting reaction into a moment you can revisit, understand, and choose to share. Invite the judges to try the running retrieval demo. The film describes the wearable concept; the charts and sponsor slides show the implemented work.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6406bbfa67a465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d1c7512ccb44e48" /><Relationship Type="http://schemas.openxmlformats.org/officeDocument/2006/relationships/slideLayout" Target="/ppt/slideLayouts/slideLayout1.xml" Id="Rb25843062d01408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25843062d01408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a67778a6a34b40cf" /><Relationship Type="http://schemas.openxmlformats.org/officeDocument/2006/relationships/image" Target="/ppt/media/image.png" Id="R59041042803f4bc4" /><Relationship Type="http://schemas.openxmlformats.org/officeDocument/2006/relationships/notesSlide" Target="/ppt/notesSlides/notesSlide1.xml" Id="Raf3828d84a204260" /></Relationships>
</file>

<file path=ppt/slides/_rels/slide2.xml.rels><?xml version='1.0' encoding='UTF-8' standalone='yes'?>
<Relationships xmlns="http://schemas.openxmlformats.org/package/2006/relationships"><Relationship Type="http://schemas.openxmlformats.org/officeDocument/2006/relationships/slideLayout" Target="/ppt/slideLayouts/slideLayout1.xml" Id="R6abe10c1774942ce"/><Relationship Type="http://schemas.openxmlformats.org/officeDocument/2006/relationships/image" Target="/ppt/media/image2.png" Id="R45e61e042b74434f"/><Relationship Type="http://schemas.openxmlformats.org/officeDocument/2006/relationships/notesSlide" Target="/ppt/notesSlides/notesSlide2.xml" Id="Rea7f927419b34fea"/><Relationship Id="rIdMemoryVideo2" Type="http://schemas.openxmlformats.org/officeDocument/2006/relationships/video" Target="../media/intro.mp4"/><Relationship Id="rIdMemoryMedia2" Type="http://schemas.microsoft.com/office/2007/relationships/media" Target="../media/intro.mp4"/><Relationship Id="rIdMemoryPoster2" Type="http://schemas.openxmlformats.org/officeDocument/2006/relationships/image" Target="../media/intro-poster.png"/></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f9e57e49bb2946c4" /><Relationship Type="http://schemas.openxmlformats.org/officeDocument/2006/relationships/image" Target="/ppt/media/image3.png" Id="Rbbc63cab9cd94bef" /><Relationship Type="http://schemas.openxmlformats.org/officeDocument/2006/relationships/image" Target="/ppt/media/image4.png" Id="R61f3730165d944da" /><Relationship Type="http://schemas.openxmlformats.org/officeDocument/2006/relationships/image" Target="/ppt/media/image5.png" Id="R2d28ab0df6424a7a" /><Relationship Type="http://schemas.openxmlformats.org/officeDocument/2006/relationships/notesSlide" Target="/ppt/notesSlides/notesSlide3.xml" Id="R71593ba3ba3a489d"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b2d70ec683de4503" /><Relationship Type="http://schemas.openxmlformats.org/officeDocument/2006/relationships/notesSlide" Target="/ppt/notesSlides/notesSlide4.xml" Id="Rfad560b35b634ee1"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f9b90efb4e29457e" /><Relationship Type="http://schemas.openxmlformats.org/officeDocument/2006/relationships/notesSlide" Target="/ppt/notesSlides/notesSlide5.xml" Id="R304c2d18be1242a4" /></Relationships>
</file>

<file path=ppt/slides/_rels/slide6.xml.rels><?xml version='1.0' encoding='UTF-8' standalone='yes'?>
<Relationships xmlns="http://schemas.openxmlformats.org/package/2006/relationships"><Relationship Type="http://schemas.openxmlformats.org/officeDocument/2006/relationships/slideLayout" Target="/ppt/slideLayouts/slideLayout1.xml" Id="R6487e3062566495b"/><Relationship Type="http://schemas.openxmlformats.org/officeDocument/2006/relationships/chart" Target="/ppt/slides/charts/chart1.xml" Id="R7a06f96dca8c4524"/><Relationship Type="http://schemas.openxmlformats.org/officeDocument/2006/relationships/notesSlide" Target="/ppt/notesSlides/notesSlide6.xml" Id="R995ea73debc04f46"/><Relationship Id="rIdMemoryVideo6" Type="http://schemas.openxmlformats.org/officeDocument/2006/relationships/video" Target="../media/baseline.mp4"/><Relationship Id="rIdMemoryMedia6" Type="http://schemas.microsoft.com/office/2007/relationships/media" Target="../media/baseline.mp4"/><Relationship Id="rIdMemoryPoster6" Type="http://schemas.openxmlformats.org/officeDocument/2006/relationships/image" Target="../media/baseline-poster.png"/></Relationships>
</file>

<file path=ppt/slides/_rels/slide7.xml.rels><?xml version='1.0' encoding='UTF-8' standalone='yes'?>
<Relationships xmlns="http://schemas.openxmlformats.org/package/2006/relationships"><Relationship Type="http://schemas.openxmlformats.org/officeDocument/2006/relationships/slideLayout" Target="/ppt/slideLayouts/slideLayout1.xml" Id="Rdebf162b00764061"/><Relationship Type="http://schemas.openxmlformats.org/officeDocument/2006/relationships/notesSlide" Target="/ppt/notesSlides/notesSlide7.xml" Id="R09e2ce6f29f04d74"/><Relationship Id="rIdMemoryVideo7" Type="http://schemas.openxmlformats.org/officeDocument/2006/relationships/video" Target="../media/persistence.mp4"/><Relationship Id="rIdMemoryMedia7" Type="http://schemas.microsoft.com/office/2007/relationships/media" Target="../media/persistence.mp4"/><Relationship Id="rIdMemoryPoster7" Type="http://schemas.openxmlformats.org/officeDocument/2006/relationships/image" Target="../media/persistence-poster.png"/></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e1d7867ba57e4b10" /><Relationship Type="http://schemas.openxmlformats.org/officeDocument/2006/relationships/chart" Target="/ppt/slides/charts/chart2.xml" Id="Re4ee643391ec47f3" /><Relationship Type="http://schemas.openxmlformats.org/officeDocument/2006/relationships/notesSlide" Target="/ppt/notesSlides/notesSlide8.xml" Id="R4eb27e73df0646ee"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a534a769202740df" /><Relationship Type="http://schemas.openxmlformats.org/officeDocument/2006/relationships/image" Target="/ppt/media/image6.png" Id="Rdcca9bcbc6b94e6f" /><Relationship Type="http://schemas.openxmlformats.org/officeDocument/2006/relationships/hyperlink" Target="http://localhost:3000/explore" TargetMode="External" Id="R08f4af23d292472c" /><Relationship Type="http://schemas.openxmlformats.org/officeDocument/2006/relationships/notesSlide" Target="/ppt/notesSlides/notesSlide9.xml" Id="Rec53b552a9d74da2"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37fac1eb5be54d11" /><Relationship Type="http://schemas.openxmlformats.org/officeDocument/2006/relationships/image" Target="/ppt/media/image7.png" Id="R0c9b07bc3ab24d6b" /><Relationship Type="http://schemas.openxmlformats.org/officeDocument/2006/relationships/notesSlide" Target="/ppt/notesSlides/notesSlide10.xml" Id="R9f73c5c87c7a4879"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9b5bc698a3ad4ed9" /><Relationship Type="http://schemas.openxmlformats.org/officeDocument/2006/relationships/image" Target="/ppt/media/image8.png" Id="Rc2bb9cb040694ab2" /><Relationship Type="http://schemas.openxmlformats.org/officeDocument/2006/relationships/image" Target="/ppt/media/image9.png" Id="R8057dbe2cb514268" /><Relationship Type="http://schemas.openxmlformats.org/officeDocument/2006/relationships/notesSlide" Target="/ppt/notesSlides/notesSlide11.xml" Id="Re7986d0af4ac4743"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0008f0ecc3444424" /><Relationship Type="http://schemas.openxmlformats.org/officeDocument/2006/relationships/image" Target="/ppt/media/image10.png" Id="R8f66047f91524d6a" /><Relationship Type="http://schemas.openxmlformats.org/officeDocument/2006/relationships/chart" Target="/ppt/slides/charts/chart3.xml" Id="R69f2c491fdf24cad" /><Relationship Type="http://schemas.openxmlformats.org/officeDocument/2006/relationships/notesSlide" Target="/ppt/notesSlides/notesSlide12.xml" Id="R1b482dba478f44c5"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099311d9465a4678" /><Relationship Type="http://schemas.openxmlformats.org/officeDocument/2006/relationships/notesSlide" Target="/ppt/notesSlides/notesSlide13.xml" Id="R8b38444692e84fd6"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cfdfe8b458c54dd0" /><Relationship Type="http://schemas.openxmlformats.org/officeDocument/2006/relationships/hyperlink" Target="http://localhost:3000/" TargetMode="External" Id="R6d5230514f364d1a" /><Relationship Type="http://schemas.openxmlformats.org/officeDocument/2006/relationships/notesSlide" Target="/ppt/notesSlides/notesSlide14.xml" Id="R107c40b564ca4b6c"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chart1.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2100">
                <a:solidFill>
                  <a:srgbClr val="5A5D59"/>
                </a:solidFill>
                <a:latin typeface="Poppins"/>
                <a:ea typeface="Poppins"/>
                <a:cs typeface="Poppins"/>
              </a:rPr>
              <a:t>Change from personal baseline (standard deviations)</a:t>
            </a:r>
          </a:p>
        </c:rich>
      </c:tx>
      <c:overlay val="0"/>
      <c:txPr>
        <a:bodyPr xmlns:a="http://schemas.openxmlformats.org/drawingml/2006/main" anchorCtr="1"/>
        <a:lstStyle xmlns:a="http://schemas.openxmlformats.org/drawingml/2006/main"/>
        <a:p xmlns:a="http://schemas.openxmlformats.org/drawingml/2006/main">
          <a:pPr>
            <a:defRPr sz="2100">
              <a:solidFill>
                <a:srgbClr val="5A5D59"/>
              </a:solidFill>
              <a:latin typeface="Poppins"/>
              <a:ea typeface="Poppins"/>
              <a:cs typeface="Poppins"/>
            </a:defRPr>
          </a:pPr>
        </a:p>
      </c:txPr>
    </c:title>
    <c:plotArea>
      <c:barChart>
        <c:barDir val="col"/>
        <c:grouping val="clustered"/>
        <c:varyColors val="0"/>
        <c:ser>
          <c:idx val="0"/>
          <c:order val="0"/>
          <c:tx>
            <c:v>Change from personal baseline (standard deviations)</c:v>
          </c:tx>
          <c:spPr>
            <a:solidFill xmlns:a="http://schemas.openxmlformats.org/drawingml/2006/main">
              <a:srgbClr val="326B8C"/>
            </a:solidFill>
          </c:spPr>
          <c:dPt>
            <c:idx val="0"/>
            <c:invertIfNegative val="0"/>
            <c:spPr>
              <a:solidFill xmlns:a="http://schemas.openxmlformats.org/drawingml/2006/main">
                <a:srgbClr val="9B712B"/>
              </a:solidFill>
            </c:spPr>
          </c:dPt>
          <c:dPt>
            <c:idx val="1"/>
            <c:invertIfNegative val="0"/>
            <c:spPr>
              <a:solidFill xmlns:a="http://schemas.openxmlformats.org/drawingml/2006/main">
                <a:srgbClr val="326B8C"/>
              </a:solidFill>
            </c:spPr>
          </c:dPt>
          <c:dLbls>
            <c:dLbl>
              <c:idx val="0"/>
              <c:tx>
                <c:rich>
                  <a:bodyPr xmlns:a="http://schemas.openxmlformats.org/drawingml/2006/main"/>
                  <a:lstStyle xmlns:a="http://schemas.openxmlformats.org/drawingml/2006/main"/>
                  <a:p xmlns:a="http://schemas.openxmlformats.org/drawingml/2006/main">
                    <a:r>
                      <a:rPr sz="2700" b="1">
                        <a:solidFill>
                          <a:srgbClr val="191A18"/>
                        </a:solidFill>
                        <a:latin typeface="Poppins"/>
                        <a:ea typeface="Poppins"/>
                        <a:cs typeface="Poppins"/>
                      </a:rPr>
                      <a:t>4.0</a:t>
                    </a:r>
                  </a:p>
                </c:rich>
              </c:tx>
              <c:txPr>
                <a:bodyPr xmlns:a="http://schemas.openxmlformats.org/drawingml/2006/main" anchorCtr="1"/>
                <a:lstStyle xmlns:a="http://schemas.openxmlformats.org/drawingml/2006/main"/>
                <a:p xmlns:a="http://schemas.openxmlformats.org/drawingml/2006/main">
                  <a:pPr>
                    <a:defRPr sz="2700" b="1">
                      <a:solidFill>
                        <a:srgbClr val="191A18"/>
                      </a:solidFill>
                      <a:latin typeface="Poppins"/>
                      <a:ea typeface="Poppins"/>
                      <a:cs typeface="Poppins"/>
                    </a:defRPr>
                  </a:pPr>
                </a:p>
              </c:txPr>
              <c:showLegendKey val="0"/>
              <c:showVal val="0"/>
              <c:showCatName val="0"/>
              <c:showSerName val="0"/>
              <c:showPercent val="0"/>
              <c:showBubbleSize val="0"/>
            </c:dLbl>
            <c:dLbl>
              <c:idx val="1"/>
              <c:tx>
                <c:rich>
                  <a:bodyPr xmlns:a="http://schemas.openxmlformats.org/drawingml/2006/main"/>
                  <a:lstStyle xmlns:a="http://schemas.openxmlformats.org/drawingml/2006/main"/>
                  <a:p xmlns:a="http://schemas.openxmlformats.org/drawingml/2006/main">
                    <a:r>
                      <a:rPr sz="2700" b="1">
                        <a:solidFill>
                          <a:srgbClr val="191A18"/>
                        </a:solidFill>
                        <a:latin typeface="Poppins"/>
                        <a:ea typeface="Poppins"/>
                        <a:cs typeface="Poppins"/>
                      </a:rPr>
                      <a:t>0.8</a:t>
                    </a:r>
                  </a:p>
                </c:rich>
              </c:tx>
              <c:txPr>
                <a:bodyPr xmlns:a="http://schemas.openxmlformats.org/drawingml/2006/main" anchorCtr="1"/>
                <a:lstStyle xmlns:a="http://schemas.openxmlformats.org/drawingml/2006/main"/>
                <a:p xmlns:a="http://schemas.openxmlformats.org/drawingml/2006/main">
                  <a:pPr>
                    <a:defRPr sz="2700" b="1">
                      <a:solidFill>
                        <a:srgbClr val="191A18"/>
                      </a:solidFill>
                      <a:latin typeface="Poppins"/>
                      <a:ea typeface="Poppins"/>
                      <a:cs typeface="Poppins"/>
                    </a:defRPr>
                  </a:pPr>
                </a:p>
              </c:txPr>
              <c:showLegendKey val="0"/>
              <c:showVal val="0"/>
              <c:showCatName val="0"/>
              <c:showSerName val="0"/>
              <c:showPercent val="0"/>
              <c:showBubbleSize val="0"/>
            </c:dLbl>
          </c:dLbls>
          <c:cat>
            <c:strRef>
              <c:f>'Chart Data'!$A$2:$A$3</c:f>
              <c:strCache>
                <c:ptCount val="2"/>
                <c:pt idx="0">
                  <c:v>Wearer A</c:v>
                </c:pt>
                <c:pt idx="1">
                  <c:v>Wearer B</c:v>
                </c:pt>
              </c:strCache>
            </c:strRef>
          </c:cat>
          <c:val>
            <c:numRef>
              <c:f>'Chart Data'!$B$2:$B$3</c:f>
              <c:numCache>
                <c:formatCode>0.0</c:formatCode>
                <c:ptCount val="2"/>
                <c:pt idx="0">
                  <c:v>4</c:v>
                </c:pt>
                <c:pt idx="1">
                  <c:v>0.8</c:v>
                </c:pt>
              </c:numCache>
            </c:numRef>
          </c:val>
        </c:ser>
        <c:dLbls>
          <c:txPr>
            <a:bodyPr xmlns:a="http://schemas.openxmlformats.org/drawingml/2006/main" anchorCtr="1"/>
            <a:lstStyle xmlns:a="http://schemas.openxmlformats.org/drawingml/2006/main"/>
            <a:p xmlns:a="http://schemas.openxmlformats.org/drawingml/2006/main">
              <a:pPr>
                <a:defRPr sz="2700" b="1">
                  <a:solidFill>
                    <a:srgbClr val="191A18"/>
                  </a:solidFill>
                  <a:latin typeface="Poppins"/>
                  <a:ea typeface="Poppins"/>
                  <a:cs typeface="Poppins"/>
                </a:defRPr>
              </a:pPr>
            </a:p>
          </c:txPr>
          <c:dLblPos val="outEnd"/>
          <c:showLegendKey val="0"/>
          <c:showVal val="1"/>
          <c:showCatName val="0"/>
          <c:showSerName val="0"/>
          <c:showPercent val="0"/>
          <c:showBubbleSize val="0"/>
          <c:showLeaderLines val="0"/>
        </c:dLbls>
        <c:gapWidth val="14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6D2C7"/>
            </a:solidFill>
          </a:ln>
        </c:spPr>
        <c:txPr>
          <a:bodyPr xmlns:a="http://schemas.openxmlformats.org/drawingml/2006/main" anchorCtr="1"/>
          <a:lstStyle xmlns:a="http://schemas.openxmlformats.org/drawingml/2006/main"/>
          <a:p xmlns:a="http://schemas.openxmlformats.org/drawingml/2006/main">
            <a:pPr>
              <a:defRPr sz="2400">
                <a:solidFill>
                  <a:srgbClr val="191A18"/>
                </a:solidFill>
                <a:latin typeface="Poppins"/>
                <a:ea typeface="Poppins"/>
                <a:cs typeface="Poppins"/>
              </a:defRPr>
            </a:pPr>
          </a:p>
        </c:txPr>
        <c:crossAx val="48672768"/>
      </c:catAx>
      <c:valAx>
        <c:axId val="48672768"/>
        <c:scaling>
          <c:orientation val="minMax"/>
          <c:max val="5"/>
          <c:min val="0"/>
        </c:scaling>
        <c:delete val="0"/>
        <c:axPos val="l"/>
        <c:majorGridlines>
          <c:spPr>
            <a:ln xmlns:a="http://schemas.openxmlformats.org/drawingml/2006/main" w="9525">
              <a:solidFill>
                <a:srgbClr val="D6D2C7"/>
              </a:solidFill>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875">
                <a:solidFill>
                  <a:srgbClr val="5A5D59"/>
                </a:solidFill>
                <a:latin typeface="Poppins"/>
                <a:ea typeface="Poppins"/>
                <a:cs typeface="Poppins"/>
              </a:defRPr>
            </a:pPr>
          </a:p>
        </c:txPr>
        <c:crossAx val="48650112"/>
        <c:crossBetween val="between"/>
      </c:valAx>
      <c:spPr>
        <a:solidFill xmlns:a="http://schemas.openxmlformats.org/drawingml/2006/main">
          <a:srgbClr val="F3EFE6"/>
        </a:solidFill>
        <a:ln xmlns:a="http://schemas.openxmlformats.org/drawingml/2006/main">
          <a:noFill/>
        </a:ln>
      </c:spPr>
    </c:plotArea>
    <c:plotVisOnly val="1"/>
  </c:chart>
  <c:spPr>
    <a:solidFill xmlns:a="http://schemas.openxmlformats.org/drawingml/2006/main">
      <a:srgbClr val="F3EFE6"/>
    </a:solidFill>
    <a:ln xmlns:a="http://schemas.openxmlformats.org/drawingml/2006/main">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2100">
                <a:solidFill>
                  <a:srgbClr val="5A5D59"/>
                </a:solidFill>
                <a:latin typeface="Poppins"/>
                <a:ea typeface="Poppins"/>
                <a:cs typeface="Poppins"/>
              </a:rPr>
              <a:t>False alarms per hour</a:t>
            </a:r>
          </a:p>
        </c:rich>
      </c:tx>
      <c:overlay val="0"/>
      <c:txPr>
        <a:bodyPr xmlns:a="http://schemas.openxmlformats.org/drawingml/2006/main" anchorCtr="1"/>
        <a:lstStyle xmlns:a="http://schemas.openxmlformats.org/drawingml/2006/main"/>
        <a:p xmlns:a="http://schemas.openxmlformats.org/drawingml/2006/main">
          <a:pPr>
            <a:defRPr sz="2100">
              <a:solidFill>
                <a:srgbClr val="5A5D59"/>
              </a:solidFill>
              <a:latin typeface="Poppins"/>
              <a:ea typeface="Poppins"/>
              <a:cs typeface="Poppins"/>
            </a:defRPr>
          </a:pPr>
        </a:p>
      </c:txPr>
    </c:title>
    <c:plotArea>
      <c:barChart>
        <c:barDir val="col"/>
        <c:grouping val="clustered"/>
        <c:varyColors val="0"/>
        <c:ser>
          <c:idx val="0"/>
          <c:order val="0"/>
          <c:tx>
            <c:v>False alarms per hour</c:v>
          </c:tx>
          <c:spPr>
            <a:solidFill xmlns:a="http://schemas.openxmlformats.org/drawingml/2006/main">
              <a:srgbClr val="326B8C"/>
            </a:solidFill>
          </c:spPr>
          <c:dPt>
            <c:idx val="0"/>
            <c:invertIfNegative val="0"/>
            <c:spPr>
              <a:solidFill xmlns:a="http://schemas.openxmlformats.org/drawingml/2006/main">
                <a:srgbClr val="AC493B"/>
              </a:solidFill>
            </c:spPr>
          </c:dPt>
          <c:dPt>
            <c:idx val="1"/>
            <c:invertIfNegative val="0"/>
            <c:spPr>
              <a:solidFill xmlns:a="http://schemas.openxmlformats.org/drawingml/2006/main">
                <a:srgbClr val="9B712B"/>
              </a:solidFill>
            </c:spPr>
          </c:dPt>
          <c:dPt>
            <c:idx val="2"/>
            <c:invertIfNegative val="0"/>
            <c:spPr>
              <a:solidFill xmlns:a="http://schemas.openxmlformats.org/drawingml/2006/main">
                <a:srgbClr val="326B8C"/>
              </a:solidFill>
            </c:spPr>
          </c:dPt>
          <c:dLbls>
            <c:dLbl>
              <c:idx val="0"/>
              <c:tx>
                <c:rich>
                  <a:bodyPr xmlns:a="http://schemas.openxmlformats.org/drawingml/2006/main"/>
                  <a:lstStyle xmlns:a="http://schemas.openxmlformats.org/drawingml/2006/main"/>
                  <a:p xmlns:a="http://schemas.openxmlformats.org/drawingml/2006/main">
                    <a:r>
                      <a:rPr sz="2700" b="1">
                        <a:solidFill>
                          <a:srgbClr val="191A18"/>
                        </a:solidFill>
                        <a:latin typeface="Poppins"/>
                        <a:ea typeface="Poppins"/>
                        <a:cs typeface="Poppins"/>
                      </a:rPr>
                      <a:t>30.3</a:t>
                    </a:r>
                  </a:p>
                </c:rich>
              </c:tx>
              <c:txPr>
                <a:bodyPr xmlns:a="http://schemas.openxmlformats.org/drawingml/2006/main" anchorCtr="1"/>
                <a:lstStyle xmlns:a="http://schemas.openxmlformats.org/drawingml/2006/main"/>
                <a:p xmlns:a="http://schemas.openxmlformats.org/drawingml/2006/main">
                  <a:pPr>
                    <a:defRPr sz="2700" b="1">
                      <a:solidFill>
                        <a:srgbClr val="191A18"/>
                      </a:solidFill>
                      <a:latin typeface="Poppins"/>
                      <a:ea typeface="Poppins"/>
                      <a:cs typeface="Poppins"/>
                    </a:defRPr>
                  </a:pPr>
                </a:p>
              </c:txPr>
              <c:showLegendKey val="0"/>
              <c:showVal val="0"/>
              <c:showCatName val="0"/>
              <c:showSerName val="0"/>
              <c:showPercent val="0"/>
              <c:showBubbleSize val="0"/>
            </c:dLbl>
            <c:dLbl>
              <c:idx val="1"/>
              <c:tx>
                <c:rich>
                  <a:bodyPr xmlns:a="http://schemas.openxmlformats.org/drawingml/2006/main"/>
                  <a:lstStyle xmlns:a="http://schemas.openxmlformats.org/drawingml/2006/main"/>
                  <a:p xmlns:a="http://schemas.openxmlformats.org/drawingml/2006/main">
                    <a:r>
                      <a:rPr sz="2700" b="1">
                        <a:solidFill>
                          <a:srgbClr val="191A18"/>
                        </a:solidFill>
                        <a:latin typeface="Poppins"/>
                        <a:ea typeface="Poppins"/>
                        <a:cs typeface="Poppins"/>
                      </a:rPr>
                      <a:t>18.9</a:t>
                    </a:r>
                  </a:p>
                </c:rich>
              </c:tx>
              <c:txPr>
                <a:bodyPr xmlns:a="http://schemas.openxmlformats.org/drawingml/2006/main" anchorCtr="1"/>
                <a:lstStyle xmlns:a="http://schemas.openxmlformats.org/drawingml/2006/main"/>
                <a:p xmlns:a="http://schemas.openxmlformats.org/drawingml/2006/main">
                  <a:pPr>
                    <a:defRPr sz="2700" b="1">
                      <a:solidFill>
                        <a:srgbClr val="191A18"/>
                      </a:solidFill>
                      <a:latin typeface="Poppins"/>
                      <a:ea typeface="Poppins"/>
                      <a:cs typeface="Poppins"/>
                    </a:defRPr>
                  </a:pPr>
                </a:p>
              </c:txPr>
              <c:showLegendKey val="0"/>
              <c:showVal val="0"/>
              <c:showCatName val="0"/>
              <c:showSerName val="0"/>
              <c:showPercent val="0"/>
              <c:showBubbleSize val="0"/>
            </c:dLbl>
            <c:dLbl>
              <c:idx val="2"/>
              <c:tx>
                <c:rich>
                  <a:bodyPr xmlns:a="http://schemas.openxmlformats.org/drawingml/2006/main"/>
                  <a:lstStyle xmlns:a="http://schemas.openxmlformats.org/drawingml/2006/main"/>
                  <a:p xmlns:a="http://schemas.openxmlformats.org/drawingml/2006/main">
                    <a:r>
                      <a:rPr sz="2700" b="1">
                        <a:solidFill>
                          <a:srgbClr val="191A18"/>
                        </a:solidFill>
                        <a:latin typeface="Poppins"/>
                        <a:ea typeface="Poppins"/>
                        <a:cs typeface="Poppins"/>
                      </a:rPr>
                      <a:t>1.3</a:t>
                    </a:r>
                  </a:p>
                </c:rich>
              </c:tx>
              <c:txPr>
                <a:bodyPr xmlns:a="http://schemas.openxmlformats.org/drawingml/2006/main" anchorCtr="1"/>
                <a:lstStyle xmlns:a="http://schemas.openxmlformats.org/drawingml/2006/main"/>
                <a:p xmlns:a="http://schemas.openxmlformats.org/drawingml/2006/main">
                  <a:pPr>
                    <a:defRPr sz="2700" b="1">
                      <a:solidFill>
                        <a:srgbClr val="191A18"/>
                      </a:solidFill>
                      <a:latin typeface="Poppins"/>
                      <a:ea typeface="Poppins"/>
                      <a:cs typeface="Poppins"/>
                    </a:defRPr>
                  </a:pPr>
                </a:p>
              </c:txPr>
              <c:showLegendKey val="0"/>
              <c:showVal val="0"/>
              <c:showCatName val="0"/>
              <c:showSerName val="0"/>
              <c:showPercent val="0"/>
              <c:showBubbleSize val="0"/>
            </c:dLbl>
          </c:dLbls>
          <c:cat>
            <c:strRef>
              <c:f>'Chart Data'!$A$2:$A$4</c:f>
              <c:strCache>
                <c:ptCount val="3"/>
                <c:pt idx="0">
                  <c:v>75% overlap</c:v>
                </c:pt>
                <c:pt idx="1">
                  <c:v>50% overlap</c:v>
                </c:pt>
                <c:pt idx="2">
                  <c:v>No overlap</c:v>
                </c:pt>
              </c:strCache>
            </c:strRef>
          </c:cat>
          <c:val>
            <c:numRef>
              <c:f>'Chart Data'!$B$2:$B$4</c:f>
              <c:numCache>
                <c:formatCode>0.0</c:formatCode>
                <c:ptCount val="3"/>
                <c:pt idx="0">
                  <c:v>30.3</c:v>
                </c:pt>
                <c:pt idx="1">
                  <c:v>18.9</c:v>
                </c:pt>
                <c:pt idx="2">
                  <c:v>1.3</c:v>
                </c:pt>
              </c:numCache>
            </c:numRef>
          </c:val>
        </c:ser>
        <c:dLbls>
          <c:txPr>
            <a:bodyPr xmlns:a="http://schemas.openxmlformats.org/drawingml/2006/main" anchorCtr="1"/>
            <a:lstStyle xmlns:a="http://schemas.openxmlformats.org/drawingml/2006/main"/>
            <a:p xmlns:a="http://schemas.openxmlformats.org/drawingml/2006/main">
              <a:pPr>
                <a:defRPr sz="2700" b="1">
                  <a:solidFill>
                    <a:srgbClr val="191A18"/>
                  </a:solidFill>
                  <a:latin typeface="Poppins"/>
                  <a:ea typeface="Poppins"/>
                  <a:cs typeface="Poppins"/>
                </a:defRPr>
              </a:pPr>
            </a:p>
          </c:txPr>
          <c:dLblPos val="outEnd"/>
          <c:showLegendKey val="0"/>
          <c:showVal val="1"/>
          <c:showCatName val="0"/>
          <c:showSerName val="0"/>
          <c:showPercent val="0"/>
          <c:showBubbleSize val="0"/>
          <c:showLeaderLines val="0"/>
        </c:dLbls>
        <c:gapWidth val="14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6D2C7"/>
            </a:solidFill>
          </a:ln>
        </c:spPr>
        <c:txPr>
          <a:bodyPr xmlns:a="http://schemas.openxmlformats.org/drawingml/2006/main" anchorCtr="1"/>
          <a:lstStyle xmlns:a="http://schemas.openxmlformats.org/drawingml/2006/main"/>
          <a:p xmlns:a="http://schemas.openxmlformats.org/drawingml/2006/main">
            <a:pPr>
              <a:defRPr sz="2400">
                <a:solidFill>
                  <a:srgbClr val="191A18"/>
                </a:solidFill>
                <a:latin typeface="Poppins"/>
                <a:ea typeface="Poppins"/>
                <a:cs typeface="Poppins"/>
              </a:defRPr>
            </a:pPr>
          </a:p>
        </c:txPr>
        <c:crossAx val="48672768"/>
      </c:catAx>
      <c:valAx>
        <c:axId val="48672768"/>
        <c:scaling>
          <c:orientation val="minMax"/>
          <c:max val="35"/>
          <c:min val="0"/>
        </c:scaling>
        <c:delete val="0"/>
        <c:axPos val="l"/>
        <c:majorGridlines>
          <c:spPr>
            <a:ln xmlns:a="http://schemas.openxmlformats.org/drawingml/2006/main" w="9525">
              <a:solidFill>
                <a:srgbClr val="D6D2C7"/>
              </a:solidFill>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875">
                <a:solidFill>
                  <a:srgbClr val="5A5D59"/>
                </a:solidFill>
                <a:latin typeface="Poppins"/>
                <a:ea typeface="Poppins"/>
                <a:cs typeface="Poppins"/>
              </a:defRPr>
            </a:pPr>
          </a:p>
        </c:txPr>
        <c:crossAx val="48650112"/>
        <c:crossBetween val="between"/>
      </c:valAx>
      <c:spPr>
        <a:solidFill xmlns:a="http://schemas.openxmlformats.org/drawingml/2006/main">
          <a:srgbClr val="F3EFE6"/>
        </a:solidFill>
        <a:ln xmlns:a="http://schemas.openxmlformats.org/drawingml/2006/main">
          <a:noFill/>
        </a:ln>
      </c:spPr>
    </c:plotArea>
    <c:plotVisOnly val="1"/>
  </c:chart>
  <c:spPr>
    <a:solidFill xmlns:a="http://schemas.openxmlformats.org/drawingml/2006/main">
      <a:srgbClr val="F3EFE6"/>
    </a:solidFill>
    <a:ln xmlns:a="http://schemas.openxmlformats.org/drawingml/2006/main">
      <a:noFill/>
    </a:l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2100">
                <a:solidFill>
                  <a:srgbClr val="5A5D59"/>
                </a:solidFill>
                <a:latin typeface="Poppins"/>
                <a:ea typeface="Poppins"/>
                <a:cs typeface="Poppins"/>
              </a:rPr>
              <a:t>AUROC on held-out participants</a:t>
            </a:r>
          </a:p>
        </c:rich>
      </c:tx>
      <c:overlay val="0"/>
      <c:txPr>
        <a:bodyPr xmlns:a="http://schemas.openxmlformats.org/drawingml/2006/main" anchorCtr="1"/>
        <a:lstStyle xmlns:a="http://schemas.openxmlformats.org/drawingml/2006/main"/>
        <a:p xmlns:a="http://schemas.openxmlformats.org/drawingml/2006/main">
          <a:pPr>
            <a:defRPr sz="2100">
              <a:solidFill>
                <a:srgbClr val="5A5D59"/>
              </a:solidFill>
              <a:latin typeface="Poppins"/>
              <a:ea typeface="Poppins"/>
              <a:cs typeface="Poppins"/>
            </a:defRPr>
          </a:pPr>
        </a:p>
      </c:txPr>
    </c:title>
    <c:plotArea>
      <c:barChart>
        <c:barDir val="col"/>
        <c:grouping val="clustered"/>
        <c:varyColors val="0"/>
        <c:ser>
          <c:idx val="0"/>
          <c:order val="0"/>
          <c:tx>
            <c:v>AUROC on held-out participants</c:v>
          </c:tx>
          <c:spPr>
            <a:solidFill xmlns:a="http://schemas.openxmlformats.org/drawingml/2006/main">
              <a:srgbClr val="326B8C"/>
            </a:solidFill>
          </c:spPr>
          <c:dPt>
            <c:idx val="0"/>
            <c:invertIfNegative val="0"/>
            <c:spPr>
              <a:solidFill xmlns:a="http://schemas.openxmlformats.org/drawingml/2006/main">
                <a:srgbClr val="326B8C"/>
              </a:solidFill>
            </c:spPr>
          </c:dPt>
          <c:dPt>
            <c:idx val="1"/>
            <c:invertIfNegative val="0"/>
            <c:spPr>
              <a:solidFill xmlns:a="http://schemas.openxmlformats.org/drawingml/2006/main">
                <a:srgbClr val="326B8C"/>
              </a:solidFill>
            </c:spPr>
          </c:dPt>
          <c:dPt>
            <c:idx val="2"/>
            <c:invertIfNegative val="0"/>
            <c:spPr>
              <a:solidFill xmlns:a="http://schemas.openxmlformats.org/drawingml/2006/main">
                <a:srgbClr val="326B8C"/>
              </a:solidFill>
            </c:spPr>
          </c:dPt>
          <c:dPt>
            <c:idx val="3"/>
            <c:invertIfNegative val="0"/>
            <c:spPr>
              <a:solidFill xmlns:a="http://schemas.openxmlformats.org/drawingml/2006/main">
                <a:srgbClr val="9B712B"/>
              </a:solidFill>
            </c:spPr>
          </c:dPt>
          <c:dLbls>
            <c:dLbl>
              <c:idx val="0"/>
              <c:tx>
                <c:rich>
                  <a:bodyPr xmlns:a="http://schemas.openxmlformats.org/drawingml/2006/main"/>
                  <a:lstStyle xmlns:a="http://schemas.openxmlformats.org/drawingml/2006/main"/>
                  <a:p xmlns:a="http://schemas.openxmlformats.org/drawingml/2006/main">
                    <a:r>
                      <a:rPr sz="2700" b="1">
                        <a:solidFill>
                          <a:srgbClr val="191A18"/>
                        </a:solidFill>
                        <a:latin typeface="Poppins"/>
                        <a:ea typeface="Poppins"/>
                        <a:cs typeface="Poppins"/>
                      </a:rPr>
                      <a:t>0.712</a:t>
                    </a:r>
                  </a:p>
                </c:rich>
              </c:tx>
              <c:txPr>
                <a:bodyPr xmlns:a="http://schemas.openxmlformats.org/drawingml/2006/main" anchorCtr="1"/>
                <a:lstStyle xmlns:a="http://schemas.openxmlformats.org/drawingml/2006/main"/>
                <a:p xmlns:a="http://schemas.openxmlformats.org/drawingml/2006/main">
                  <a:pPr>
                    <a:defRPr sz="2700" b="1">
                      <a:solidFill>
                        <a:srgbClr val="191A18"/>
                      </a:solidFill>
                      <a:latin typeface="Poppins"/>
                      <a:ea typeface="Poppins"/>
                      <a:cs typeface="Poppins"/>
                    </a:defRPr>
                  </a:pPr>
                </a:p>
              </c:txPr>
              <c:showLegendKey val="0"/>
              <c:showVal val="0"/>
              <c:showCatName val="0"/>
              <c:showSerName val="0"/>
              <c:showPercent val="0"/>
              <c:showBubbleSize val="0"/>
            </c:dLbl>
            <c:dLbl>
              <c:idx val="1"/>
              <c:tx>
                <c:rich>
                  <a:bodyPr xmlns:a="http://schemas.openxmlformats.org/drawingml/2006/main"/>
                  <a:lstStyle xmlns:a="http://schemas.openxmlformats.org/drawingml/2006/main"/>
                  <a:p xmlns:a="http://schemas.openxmlformats.org/drawingml/2006/main">
                    <a:r>
                      <a:rPr sz="2700" b="1">
                        <a:solidFill>
                          <a:srgbClr val="191A18"/>
                        </a:solidFill>
                        <a:latin typeface="Poppins"/>
                        <a:ea typeface="Poppins"/>
                        <a:cs typeface="Poppins"/>
                      </a:rPr>
                      <a:t>0.705</a:t>
                    </a:r>
                  </a:p>
                </c:rich>
              </c:tx>
              <c:txPr>
                <a:bodyPr xmlns:a="http://schemas.openxmlformats.org/drawingml/2006/main" anchorCtr="1"/>
                <a:lstStyle xmlns:a="http://schemas.openxmlformats.org/drawingml/2006/main"/>
                <a:p xmlns:a="http://schemas.openxmlformats.org/drawingml/2006/main">
                  <a:pPr>
                    <a:defRPr sz="2700" b="1">
                      <a:solidFill>
                        <a:srgbClr val="191A18"/>
                      </a:solidFill>
                      <a:latin typeface="Poppins"/>
                      <a:ea typeface="Poppins"/>
                      <a:cs typeface="Poppins"/>
                    </a:defRPr>
                  </a:pPr>
                </a:p>
              </c:txPr>
              <c:showLegendKey val="0"/>
              <c:showVal val="0"/>
              <c:showCatName val="0"/>
              <c:showSerName val="0"/>
              <c:showPercent val="0"/>
              <c:showBubbleSize val="0"/>
            </c:dLbl>
            <c:dLbl>
              <c:idx val="2"/>
              <c:tx>
                <c:rich>
                  <a:bodyPr xmlns:a="http://schemas.openxmlformats.org/drawingml/2006/main"/>
                  <a:lstStyle xmlns:a="http://schemas.openxmlformats.org/drawingml/2006/main"/>
                  <a:p xmlns:a="http://schemas.openxmlformats.org/drawingml/2006/main">
                    <a:r>
                      <a:rPr sz="2700" b="1">
                        <a:solidFill>
                          <a:srgbClr val="191A18"/>
                        </a:solidFill>
                        <a:latin typeface="Poppins"/>
                        <a:ea typeface="Poppins"/>
                        <a:cs typeface="Poppins"/>
                      </a:rPr>
                      <a:t>0.697</a:t>
                    </a:r>
                  </a:p>
                </c:rich>
              </c:tx>
              <c:txPr>
                <a:bodyPr xmlns:a="http://schemas.openxmlformats.org/drawingml/2006/main" anchorCtr="1"/>
                <a:lstStyle xmlns:a="http://schemas.openxmlformats.org/drawingml/2006/main"/>
                <a:p xmlns:a="http://schemas.openxmlformats.org/drawingml/2006/main">
                  <a:pPr>
                    <a:defRPr sz="2700" b="1">
                      <a:solidFill>
                        <a:srgbClr val="191A18"/>
                      </a:solidFill>
                      <a:latin typeface="Poppins"/>
                      <a:ea typeface="Poppins"/>
                      <a:cs typeface="Poppins"/>
                    </a:defRPr>
                  </a:pPr>
                </a:p>
              </c:txPr>
              <c:showLegendKey val="0"/>
              <c:showVal val="0"/>
              <c:showCatName val="0"/>
              <c:showSerName val="0"/>
              <c:showPercent val="0"/>
              <c:showBubbleSize val="0"/>
            </c:dLbl>
            <c:dLbl>
              <c:idx val="3"/>
              <c:tx>
                <c:rich>
                  <a:bodyPr xmlns:a="http://schemas.openxmlformats.org/drawingml/2006/main"/>
                  <a:lstStyle xmlns:a="http://schemas.openxmlformats.org/drawingml/2006/main"/>
                  <a:p xmlns:a="http://schemas.openxmlformats.org/drawingml/2006/main">
                    <a:r>
                      <a:rPr sz="2700" b="1">
                        <a:solidFill>
                          <a:srgbClr val="191A18"/>
                        </a:solidFill>
                        <a:latin typeface="Poppins"/>
                        <a:ea typeface="Poppins"/>
                        <a:cs typeface="Poppins"/>
                      </a:rPr>
                      <a:t>0.599</a:t>
                    </a:r>
                  </a:p>
                </c:rich>
              </c:tx>
              <c:txPr>
                <a:bodyPr xmlns:a="http://schemas.openxmlformats.org/drawingml/2006/main" anchorCtr="1"/>
                <a:lstStyle xmlns:a="http://schemas.openxmlformats.org/drawingml/2006/main"/>
                <a:p xmlns:a="http://schemas.openxmlformats.org/drawingml/2006/main">
                  <a:pPr>
                    <a:defRPr sz="2700" b="1">
                      <a:solidFill>
                        <a:srgbClr val="191A18"/>
                      </a:solidFill>
                      <a:latin typeface="Poppins"/>
                      <a:ea typeface="Poppins"/>
                      <a:cs typeface="Poppins"/>
                    </a:defRPr>
                  </a:pPr>
                </a:p>
              </c:txPr>
              <c:showLegendKey val="0"/>
              <c:showVal val="0"/>
              <c:showCatName val="0"/>
              <c:showSerName val="0"/>
              <c:showPercent val="0"/>
              <c:showBubbleSize val="0"/>
            </c:dLbl>
          </c:dLbls>
          <c:cat>
            <c:strRef>
              <c:f>'Chart Data'!$A$2:$A$5</c:f>
              <c:strCache>
                <c:ptCount val="4"/>
                <c:pt idx="0">
                  <c:v>16 channels</c:v>
                </c:pt>
                <c:pt idx="1">
                  <c:v>8 channels</c:v>
                </c:pt>
                <c:pt idx="2">
                  <c:v>4 channels</c:v>
                </c:pt>
                <c:pt idx="3">
                  <c:v>2 temples</c:v>
                </c:pt>
              </c:strCache>
            </c:strRef>
          </c:cat>
          <c:val>
            <c:numRef>
              <c:f>'Chart Data'!$B$2:$B$5</c:f>
              <c:numCache>
                <c:formatCode>0.000</c:formatCode>
                <c:ptCount val="4"/>
                <c:pt idx="0">
                  <c:v>0.712</c:v>
                </c:pt>
                <c:pt idx="1">
                  <c:v>0.705</c:v>
                </c:pt>
                <c:pt idx="2">
                  <c:v>0.697</c:v>
                </c:pt>
                <c:pt idx="3">
                  <c:v>0.599</c:v>
                </c:pt>
              </c:numCache>
            </c:numRef>
          </c:val>
        </c:ser>
        <c:dLbls>
          <c:txPr>
            <a:bodyPr xmlns:a="http://schemas.openxmlformats.org/drawingml/2006/main" anchorCtr="1"/>
            <a:lstStyle xmlns:a="http://schemas.openxmlformats.org/drawingml/2006/main"/>
            <a:p xmlns:a="http://schemas.openxmlformats.org/drawingml/2006/main">
              <a:pPr>
                <a:defRPr sz="2700" b="1">
                  <a:solidFill>
                    <a:srgbClr val="191A18"/>
                  </a:solidFill>
                  <a:latin typeface="Poppins"/>
                  <a:ea typeface="Poppins"/>
                  <a:cs typeface="Poppins"/>
                </a:defRPr>
              </a:pPr>
            </a:p>
          </c:txPr>
          <c:dLblPos val="outEnd"/>
          <c:showLegendKey val="0"/>
          <c:showVal val="1"/>
          <c:showCatName val="0"/>
          <c:showSerName val="0"/>
          <c:showPercent val="0"/>
          <c:showBubbleSize val="0"/>
          <c:showLeaderLines val="0"/>
        </c:dLbls>
        <c:gapWidth val="14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6D2C7"/>
            </a:solidFill>
          </a:ln>
        </c:spPr>
        <c:txPr>
          <a:bodyPr xmlns:a="http://schemas.openxmlformats.org/drawingml/2006/main" anchorCtr="1"/>
          <a:lstStyle xmlns:a="http://schemas.openxmlformats.org/drawingml/2006/main"/>
          <a:p xmlns:a="http://schemas.openxmlformats.org/drawingml/2006/main">
            <a:pPr>
              <a:defRPr sz="2400">
                <a:solidFill>
                  <a:srgbClr val="191A18"/>
                </a:solidFill>
                <a:latin typeface="Poppins"/>
                <a:ea typeface="Poppins"/>
                <a:cs typeface="Poppins"/>
              </a:defRPr>
            </a:pPr>
          </a:p>
        </c:txPr>
        <c:crossAx val="48672768"/>
      </c:catAx>
      <c:valAx>
        <c:axId val="48672768"/>
        <c:scaling>
          <c:orientation val="minMax"/>
          <c:max val="1"/>
          <c:min val="0"/>
        </c:scaling>
        <c:delete val="0"/>
        <c:axPos val="l"/>
        <c:majorGridlines>
          <c:spPr>
            <a:ln xmlns:a="http://schemas.openxmlformats.org/drawingml/2006/main" w="9525">
              <a:solidFill>
                <a:srgbClr val="D6D2C7"/>
              </a:solidFill>
            </a:ln>
          </c:spPr>
        </c:majorGridlines>
        <c:numFmt formatCode="0.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875">
                <a:solidFill>
                  <a:srgbClr val="5A5D59"/>
                </a:solidFill>
                <a:latin typeface="Poppins"/>
                <a:ea typeface="Poppins"/>
                <a:cs typeface="Poppins"/>
              </a:defRPr>
            </a:pPr>
          </a:p>
        </c:txPr>
        <c:crossAx val="48650112"/>
        <c:crossBetween val="between"/>
      </c:valAx>
      <c:spPr>
        <a:solidFill xmlns:a="http://schemas.openxmlformats.org/drawingml/2006/main">
          <a:srgbClr val="F3EFE6"/>
        </a:solidFill>
        <a:ln xmlns:a="http://schemas.openxmlformats.org/drawingml/2006/main">
          <a:noFill/>
        </a:ln>
      </c:spPr>
    </c:plotArea>
    <c:plotVisOnly val="1"/>
  </c:chart>
  <c:spPr>
    <a:solidFill xmlns:a="http://schemas.openxmlformats.org/drawingml/2006/main">
      <a:srgbClr val="F3EFE6"/>
    </a:solidFill>
    <a:ln xmlns:a="http://schemas.openxmlformats.org/drawingml/2006/main">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3EFE6"/>
        </a:solidFill>
      </p:bgPr>
    </p:bg>
    <p:spTree>
      <p:nvGrpSpPr>
        <p:cNvPr id="1" name=""/>
        <p:cNvGrpSpPr/>
        <p:nvPr/>
      </p:nvGrpSpPr>
      <p:grpSpPr>
        <a:xfrm xmlns:a="http://schemas.openxmlformats.org/drawingml/2006/main"/>
      </p:grpSpPr>
      <p:pic>
        <p:nvPicPr>
          <p:cNvPr id="4" name=""/>
          <p:cNvPicPr>
            <a:picLocks xmlns:a="http://schemas.openxmlformats.org/drawingml/2006/main" noChangeAspect="1"/>
          </p:cNvPicPr>
          <p:nvPr/>
        </p:nvPicPr>
        <p:blipFill>
          <a:blip xmlns:r="http://schemas.openxmlformats.org/officeDocument/2006/relationships" xmlns:a="http://schemas.openxmlformats.org/drawingml/2006/main" r:embed="R59041042803f4bc4"/>
          <a:stretch xmlns:a="http://schemas.openxmlformats.org/drawingml/2006/main"/>
        </p:blipFill>
        <p:spPr>
          <a:xfrm xmlns:a="http://schemas.openxmlformats.org/drawingml/2006/main">
            <a:off x="622597" y="0"/>
            <a:ext cx="17042806" cy="9591675"/>
          </a:xfrm>
          <a:prstGeom xmlns:a="http://schemas.openxmlformats.org/drawingml/2006/main" prst="rect">
            <a:avLst/>
          </a:prstGeom>
        </p:spPr>
      </p:pic>
      <p:sp>
        <p:nvSpPr>
          <p:cNvPr id="2" name="Revisit the moments you almost forgot.">
            <a:extLst xmlns:a="http://schemas.openxmlformats.org/drawingml/2006/main">
              <a:ext uri="{FF2B5EF4-FFF2-40B4-BE49-F238E27FC236}">
                <a16:creationId xmlns:a16="http://schemas.microsoft.com/office/drawing/2014/main" id="{012AD1DE-AC45-4D0D-8500-2AECD7D8270F}"/>
              </a:ext>
            </a:extLst>
          </p:cNvPr>
          <p:cNvSpPr>
            <a:spLocks xmlns:a="http://schemas.openxmlformats.org/drawingml/2006/main" noGrp="1"/>
          </p:cNvSpPr>
          <p:nvPr/>
        </p:nvSpPr>
        <p:spPr>
          <a:xfrm xmlns:a="http://schemas.openxmlformats.org/drawingml/2006/main">
            <a:off x="1524000" y="6905625"/>
            <a:ext cx="15240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3900" b="0">
                <a:solidFill>
                  <a:srgbClr val="191A18"/>
                </a:solidFill>
                <a:latin typeface="Poppins"/>
                <a:ea typeface="Poppins"/>
                <a:cs typeface="Poppins"/>
              </a:defRPr>
            </a:pPr>
            <a:r>
              <a:rPr sz="3900" b="0">
                <a:solidFill>
                  <a:srgbClr val="191A18"/>
                </a:solidFill>
                <a:latin typeface="Poppins"/>
                <a:ea typeface="Poppins"/>
                <a:cs typeface="Poppins"/>
              </a:rPr>
              <a:t>Revisit the moments you almost forgot.</a:t>
            </a:r>
          </a:p>
        </p:txBody>
      </p:sp>
      <p:sp>
        <p:nvSpPr>
          <p:cNvPr id="3" name="HackMIT 2026">
            <a:extLst xmlns:a="http://schemas.openxmlformats.org/drawingml/2006/main">
              <a:ext uri="{FF2B5EF4-FFF2-40B4-BE49-F238E27FC236}">
                <a16:creationId xmlns:a16="http://schemas.microsoft.com/office/drawing/2014/main" id="{F9614537-768E-4B9B-8187-77CF5523066F}"/>
              </a:ext>
            </a:extLst>
          </p:cNvPr>
          <p:cNvSpPr>
            <a:spLocks xmlns:a="http://schemas.openxmlformats.org/drawingml/2006/main" noGrp="1"/>
          </p:cNvSpPr>
          <p:nvPr/>
        </p:nvSpPr>
        <p:spPr>
          <a:xfrm xmlns:a="http://schemas.openxmlformats.org/drawingml/2006/main">
            <a:off x="1524000" y="8639175"/>
            <a:ext cx="15240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250" b="0">
                <a:solidFill>
                  <a:srgbClr val="9B712B"/>
                </a:solidFill>
                <a:latin typeface="Poppins"/>
                <a:ea typeface="Poppins"/>
                <a:cs typeface="Poppins"/>
              </a:defRPr>
            </a:pPr>
            <a:r>
              <a:rPr sz="2250" b="0">
                <a:solidFill>
                  <a:srgbClr val="9B712B"/>
                </a:solidFill>
                <a:latin typeface="Poppins"/>
                <a:ea typeface="Poppins"/>
                <a:cs typeface="Poppins"/>
              </a:rPr>
              <a:t>HackMIT 2026</a:t>
            </a:r>
          </a:p>
        </p:txBody>
      </p:sp>
    </p:spTree>
    <p:extLst>
      <p:ext uri="{BB962C8B-B14F-4D97-AF65-F5344CB8AC3E}">
        <p14:creationId xmlns:p14="http://schemas.microsoft.com/office/powerpoint/2010/main" val="491402434"/>
      </p:ext>
    </p:extLst>
  </p:cSld>
</p:sld>
</file>

<file path=ppt/slides/slide2.xml><?xml version="1.0" encoding="utf-8"?>
<p:sld xmlns:p="http://schemas.openxmlformats.org/presentationml/2006/main">
  <p:cSld>
    <p:bg>
      <p:bgPr>
        <a:solidFill xmlns:a="http://schemas.openxmlformats.org/drawingml/2006/main">
          <a:srgbClr val="F3EFE6"/>
        </a:solidFill>
      </p:bgPr>
    </p:bg>
    <p:spTree>
      <p:nvGrpSpPr>
        <p:cNvPr id="1" name=""/>
        <p:cNvGrpSpPr/>
        <p:nvPr/>
      </p:nvGrpSpPr>
      <p:grpSpPr>
        <a:xfrm xmlns:a="http://schemas.openxmlformats.org/drawingml/2006/main"/>
      </p:grpSpPr>
      <p:pic xmlns:a="http://schemas.openxmlformats.org/drawingml/2006/main" xmlns:r="http://schemas.openxmlformats.org/officeDocument/2006/relationships">
        <p:nvPicPr>
          <p:cNvPr id="2" name="intro video">
            <a:hlinkClick action="ppaction://media"/>
          </p:cNvPr>
          <p:cNvPicPr>
            <a:picLocks noChangeAspect="1"/>
          </p:cNvPicPr>
          <p:nvPr>
            <a:videoFile r:link="rIdMemoryVideo2"/>
            <p:extLst>
              <p:ext uri="{DAA4B4D4-6D71-4841-9C94-3DE7FCFB9230}">
                <p14:media xmlns:p14="http://schemas.microsoft.com/office/powerpoint/2010/main" r:embed="rIdMemoryMedia2"/>
              </p:ext>
            </p:extLst>
          </p:nvPr>
        </p:nvPicPr>
        <p:blipFill>
          <a:blip r:embed="rIdMemoryPoster2"/>
          <a:stretch>
            <a:fillRect/>
          </a:stretch>
        </p:blipFill>
        <p:spPr>
          <a:xfrm>
            <a:off x="0" y="0"/>
            <a:ext cx="18288000" cy="10287000"/>
          </a:xfrm>
          <a:prstGeom prst="rect">
            <a:avLst/>
          </a:prstGeom>
        </p:spPr>
      </p:pic>
    </p:spTree>
    <p:extLst>
      <p:ext uri="{BB962C8B-B14F-4D97-AF65-F5344CB8AC3E}">
        <p14:creationId xmlns:p14="http://schemas.microsoft.com/office/powerpoint/2010/main" val="1108175751"/>
      </p:ext>
    </p:extLst>
  </p:cSld>
</p:sld>
</file>

<file path=ppt/slides/slide3.xml><?xml version="1.0" encoding="utf-8"?>
<p:sld xmlns:p="http://schemas.openxmlformats.org/presentationml/2006/main">
  <p:cSld>
    <p:bg>
      <p:bgPr>
        <a:solidFill xmlns:a="http://schemas.openxmlformats.org/drawingml/2006/main">
          <a:srgbClr val="F3EFE6"/>
        </a:solidFill>
      </p:bgPr>
    </p:bg>
    <p:spTree>
      <p:nvGrpSpPr>
        <p:cNvPr id="1" name=""/>
        <p:cNvGrpSpPr/>
        <p:nvPr/>
      </p:nvGrpSpPr>
      <p:grpSpPr>
        <a:xfrm xmlns:a="http://schemas.openxmlformats.org/drawingml/2006/main"/>
      </p:grpSpPr>
      <p:sp>
        <p:nvSpPr>
          <p:cNvPr id="13" name="Your day moves faster than your memory">
            <a:extLst xmlns:a="http://schemas.openxmlformats.org/drawingml/2006/main">
              <a:ext uri="{FF2B5EF4-FFF2-40B4-BE49-F238E27FC236}">
                <a16:creationId xmlns:a16="http://schemas.microsoft.com/office/drawing/2014/main" id="{8BA36717-4BBC-4831-9404-984EE9BAD9CA}"/>
              </a:ext>
            </a:extLst>
          </p:cNvPr>
          <p:cNvSpPr>
            <a:spLocks xmlns:a="http://schemas.openxmlformats.org/drawingml/2006/main" noGrp="1"/>
          </p:cNvSpPr>
          <p:nvPr/>
        </p:nvSpPr>
        <p:spPr>
          <a:xfrm xmlns:a="http://schemas.openxmlformats.org/drawingml/2006/main">
            <a:off x="1000125" y="742950"/>
            <a:ext cx="162877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5400" b="1">
                <a:solidFill>
                  <a:srgbClr val="191A18"/>
                </a:solidFill>
                <a:latin typeface="Poppins"/>
                <a:ea typeface="Poppins"/>
                <a:cs typeface="Poppins"/>
              </a:defRPr>
            </a:pPr>
            <a:r>
              <a:rPr sz="5400" b="1">
                <a:solidFill>
                  <a:srgbClr val="191A18"/>
                </a:solidFill>
                <a:latin typeface="Poppins"/>
                <a:ea typeface="Poppins"/>
                <a:cs typeface="Poppins"/>
              </a:rPr>
              <a:t>Your day moves faster than your memory</a:t>
            </a:r>
          </a:p>
        </p:txBody>
      </p:sp>
      <p:sp>
        <p:nvSpPr>
          <p:cNvPr id="2" name="You remember the reaction. The context is harder t">
            <a:extLst xmlns:a="http://schemas.openxmlformats.org/drawingml/2006/main">
              <a:ext uri="{FF2B5EF4-FFF2-40B4-BE49-F238E27FC236}">
                <a16:creationId xmlns:a16="http://schemas.microsoft.com/office/drawing/2014/main" id="{E59BD66E-AB91-4C91-8C23-1D39E08755D9}"/>
              </a:ext>
            </a:extLst>
          </p:cNvPr>
          <p:cNvSpPr>
            <a:spLocks xmlns:a="http://schemas.openxmlformats.org/drawingml/2006/main" noGrp="1"/>
          </p:cNvSpPr>
          <p:nvPr/>
        </p:nvSpPr>
        <p:spPr>
          <a:xfrm xmlns:a="http://schemas.openxmlformats.org/drawingml/2006/main">
            <a:off x="1047750" y="2028825"/>
            <a:ext cx="16192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625" b="0">
                <a:solidFill>
                  <a:srgbClr val="5A5D59"/>
                </a:solidFill>
                <a:latin typeface="Poppins"/>
                <a:ea typeface="Poppins"/>
                <a:cs typeface="Poppins"/>
              </a:defRPr>
            </a:pPr>
            <a:r>
              <a:rPr sz="2625" b="0">
                <a:solidFill>
                  <a:srgbClr val="5A5D59"/>
                </a:solidFill>
                <a:latin typeface="Poppins"/>
                <a:ea typeface="Poppins"/>
                <a:cs typeface="Poppins"/>
              </a:rPr>
              <a:t>You remember the reaction. The context is harder to recover.</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bbc63cab9cd94bef"/>
          <a:srcRect xmlns:a="http://schemas.openxmlformats.org/drawingml/2006/main" l="41" t="0" r="41" b="0"/>
          <a:stretch xmlns:a="http://schemas.openxmlformats.org/drawingml/2006/main">
            <a:fillRect l="0" t="0" r="0" b="0"/>
          </a:stretch>
        </p:blipFill>
        <p:spPr>
          <a:xfrm xmlns:a="http://schemas.openxmlformats.org/drawingml/2006/main">
            <a:off x="1047750" y="3381375"/>
            <a:ext cx="5143500" cy="2895600"/>
          </a:xfrm>
          <a:prstGeom xmlns:a="http://schemas.openxmlformats.org/drawingml/2006/main" prst="rect">
            <a:avLst/>
          </a:prstGeom>
        </p:spPr>
      </p:pic>
      <p:sp>
        <p:nvSpPr>
          <p:cNvPr id="4" name="A close call">
            <a:extLst xmlns:a="http://schemas.openxmlformats.org/drawingml/2006/main">
              <a:ext uri="{FF2B5EF4-FFF2-40B4-BE49-F238E27FC236}">
                <a16:creationId xmlns:a16="http://schemas.microsoft.com/office/drawing/2014/main" id="{6D280610-AFD4-4E1C-B389-802A8721822C}"/>
              </a:ext>
            </a:extLst>
          </p:cNvPr>
          <p:cNvSpPr>
            <a:spLocks xmlns:a="http://schemas.openxmlformats.org/drawingml/2006/main" noGrp="1"/>
          </p:cNvSpPr>
          <p:nvPr/>
        </p:nvSpPr>
        <p:spPr>
          <a:xfrm xmlns:a="http://schemas.openxmlformats.org/drawingml/2006/main">
            <a:off x="1047750" y="6619875"/>
            <a:ext cx="5143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075" b="1">
                <a:solidFill>
                  <a:srgbClr val="191A18"/>
                </a:solidFill>
                <a:latin typeface="Poppins"/>
                <a:ea typeface="Poppins"/>
                <a:cs typeface="Poppins"/>
              </a:defRPr>
            </a:pPr>
            <a:r>
              <a:rPr sz="3075" b="1">
                <a:solidFill>
                  <a:srgbClr val="191A18"/>
                </a:solidFill>
                <a:latin typeface="Poppins"/>
                <a:ea typeface="Poppins"/>
                <a:cs typeface="Poppins"/>
              </a:rPr>
              <a:t>A close call</a:t>
            </a:r>
          </a:p>
        </p:txBody>
      </p:sp>
      <p:sp>
        <p:nvSpPr>
          <p:cNvPr id="5" name="What caught my attention?">
            <a:extLst xmlns:a="http://schemas.openxmlformats.org/drawingml/2006/main">
              <a:ext uri="{FF2B5EF4-FFF2-40B4-BE49-F238E27FC236}">
                <a16:creationId xmlns:a16="http://schemas.microsoft.com/office/drawing/2014/main" id="{F3B34194-1303-4C0C-B685-952789948855}"/>
              </a:ext>
            </a:extLst>
          </p:cNvPr>
          <p:cNvSpPr>
            <a:spLocks xmlns:a="http://schemas.openxmlformats.org/drawingml/2006/main" noGrp="1"/>
          </p:cNvSpPr>
          <p:nvPr/>
        </p:nvSpPr>
        <p:spPr>
          <a:xfrm xmlns:a="http://schemas.openxmlformats.org/drawingml/2006/main">
            <a:off x="1047750" y="7429500"/>
            <a:ext cx="50958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550" b="0">
                <a:solidFill>
                  <a:srgbClr val="5A5D59"/>
                </a:solidFill>
                <a:latin typeface="Poppins"/>
                <a:ea typeface="Poppins"/>
                <a:cs typeface="Poppins"/>
              </a:defRPr>
            </a:pPr>
            <a:r>
              <a:rPr sz="2550" b="0">
                <a:solidFill>
                  <a:srgbClr val="5A5D59"/>
                </a:solidFill>
                <a:latin typeface="Poppins"/>
                <a:ea typeface="Poppins"/>
                <a:cs typeface="Poppins"/>
              </a:rPr>
              <a:t>What caught my attention?</a:t>
            </a:r>
          </a:p>
        </p:txBody>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61f3730165d944da"/>
          <a:srcRect xmlns:a="http://schemas.openxmlformats.org/drawingml/2006/main" l="41" t="0" r="41" b="0"/>
          <a:stretch xmlns:a="http://schemas.openxmlformats.org/drawingml/2006/main">
            <a:fillRect l="0" t="0" r="0" b="0"/>
          </a:stretch>
        </p:blipFill>
        <p:spPr>
          <a:xfrm xmlns:a="http://schemas.openxmlformats.org/drawingml/2006/main">
            <a:off x="6477000" y="3381375"/>
            <a:ext cx="5143500" cy="2895600"/>
          </a:xfrm>
          <a:prstGeom xmlns:a="http://schemas.openxmlformats.org/drawingml/2006/main" prst="rect">
            <a:avLst/>
          </a:prstGeom>
        </p:spPr>
      </p:pic>
      <p:sp>
        <p:nvSpPr>
          <p:cNvPr id="7" name="A frustrating task">
            <a:extLst xmlns:a="http://schemas.openxmlformats.org/drawingml/2006/main">
              <a:ext uri="{FF2B5EF4-FFF2-40B4-BE49-F238E27FC236}">
                <a16:creationId xmlns:a16="http://schemas.microsoft.com/office/drawing/2014/main" id="{B35FEC7A-CCE7-4D2D-9D3E-746A5F95E18D}"/>
              </a:ext>
            </a:extLst>
          </p:cNvPr>
          <p:cNvSpPr>
            <a:spLocks xmlns:a="http://schemas.openxmlformats.org/drawingml/2006/main" noGrp="1"/>
          </p:cNvSpPr>
          <p:nvPr/>
        </p:nvSpPr>
        <p:spPr>
          <a:xfrm xmlns:a="http://schemas.openxmlformats.org/drawingml/2006/main">
            <a:off x="6477000" y="6619875"/>
            <a:ext cx="5143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075" b="1">
                <a:solidFill>
                  <a:srgbClr val="191A18"/>
                </a:solidFill>
                <a:latin typeface="Poppins"/>
                <a:ea typeface="Poppins"/>
                <a:cs typeface="Poppins"/>
              </a:defRPr>
            </a:pPr>
            <a:r>
              <a:rPr sz="3075" b="1">
                <a:solidFill>
                  <a:srgbClr val="191A18"/>
                </a:solidFill>
                <a:latin typeface="Poppins"/>
                <a:ea typeface="Poppins"/>
                <a:cs typeface="Poppins"/>
              </a:rPr>
              <a:t>A frustrating task</a:t>
            </a:r>
          </a:p>
        </p:txBody>
      </p:sp>
      <p:sp>
        <p:nvSpPr>
          <p:cNvPr id="8" name="What went wrong?">
            <a:extLst xmlns:a="http://schemas.openxmlformats.org/drawingml/2006/main">
              <a:ext uri="{FF2B5EF4-FFF2-40B4-BE49-F238E27FC236}">
                <a16:creationId xmlns:a16="http://schemas.microsoft.com/office/drawing/2014/main" id="{FDF1DD88-38A9-4766-BF3C-D0CACD70BEFB}"/>
              </a:ext>
            </a:extLst>
          </p:cNvPr>
          <p:cNvSpPr>
            <a:spLocks xmlns:a="http://schemas.openxmlformats.org/drawingml/2006/main" noGrp="1"/>
          </p:cNvSpPr>
          <p:nvPr/>
        </p:nvSpPr>
        <p:spPr>
          <a:xfrm xmlns:a="http://schemas.openxmlformats.org/drawingml/2006/main">
            <a:off x="6477000" y="7429500"/>
            <a:ext cx="50958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550" b="0">
                <a:solidFill>
                  <a:srgbClr val="5A5D59"/>
                </a:solidFill>
                <a:latin typeface="Poppins"/>
                <a:ea typeface="Poppins"/>
                <a:cs typeface="Poppins"/>
              </a:defRPr>
            </a:pPr>
            <a:r>
              <a:rPr sz="2550" b="0">
                <a:solidFill>
                  <a:srgbClr val="5A5D59"/>
                </a:solidFill>
                <a:latin typeface="Poppins"/>
                <a:ea typeface="Poppins"/>
                <a:cs typeface="Poppins"/>
              </a:rPr>
              <a:t>What went wrong?</a:t>
            </a:r>
          </a:p>
        </p:txBody>
      </p:sp>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2d28ab0df6424a7a"/>
          <a:srcRect xmlns:a="http://schemas.openxmlformats.org/drawingml/2006/main" l="41" t="0" r="41" b="0"/>
          <a:stretch xmlns:a="http://schemas.openxmlformats.org/drawingml/2006/main">
            <a:fillRect l="0" t="0" r="0" b="0"/>
          </a:stretch>
        </p:blipFill>
        <p:spPr>
          <a:xfrm xmlns:a="http://schemas.openxmlformats.org/drawingml/2006/main">
            <a:off x="11906250" y="3381375"/>
            <a:ext cx="5143500" cy="2895600"/>
          </a:xfrm>
          <a:prstGeom xmlns:a="http://schemas.openxmlformats.org/drawingml/2006/main" prst="rect">
            <a:avLst/>
          </a:prstGeom>
        </p:spPr>
      </p:pic>
      <p:sp>
        <p:nvSpPr>
          <p:cNvPr id="10" name="An unfamiliar idea">
            <a:extLst xmlns:a="http://schemas.openxmlformats.org/drawingml/2006/main">
              <a:ext uri="{FF2B5EF4-FFF2-40B4-BE49-F238E27FC236}">
                <a16:creationId xmlns:a16="http://schemas.microsoft.com/office/drawing/2014/main" id="{902211AF-175D-42F5-8F55-B9B36D0AD646}"/>
              </a:ext>
            </a:extLst>
          </p:cNvPr>
          <p:cNvSpPr>
            <a:spLocks xmlns:a="http://schemas.openxmlformats.org/drawingml/2006/main" noGrp="1"/>
          </p:cNvSpPr>
          <p:nvPr/>
        </p:nvSpPr>
        <p:spPr>
          <a:xfrm xmlns:a="http://schemas.openxmlformats.org/drawingml/2006/main">
            <a:off x="11906250" y="6619875"/>
            <a:ext cx="5143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075" b="1">
                <a:solidFill>
                  <a:srgbClr val="191A18"/>
                </a:solidFill>
                <a:latin typeface="Poppins"/>
                <a:ea typeface="Poppins"/>
                <a:cs typeface="Poppins"/>
              </a:defRPr>
            </a:pPr>
            <a:r>
              <a:rPr sz="3075" b="1">
                <a:solidFill>
                  <a:srgbClr val="191A18"/>
                </a:solidFill>
                <a:latin typeface="Poppins"/>
                <a:ea typeface="Poppins"/>
                <a:cs typeface="Poppins"/>
              </a:rPr>
              <a:t>An unfamiliar idea</a:t>
            </a:r>
          </a:p>
        </p:txBody>
      </p:sp>
      <p:sp>
        <p:nvSpPr>
          <p:cNvPr id="11" name="What did I want to learn?">
            <a:extLst xmlns:a="http://schemas.openxmlformats.org/drawingml/2006/main">
              <a:ext uri="{FF2B5EF4-FFF2-40B4-BE49-F238E27FC236}">
                <a16:creationId xmlns:a16="http://schemas.microsoft.com/office/drawing/2014/main" id="{8E1C7D19-7DF5-416D-8098-6EF2DE9B25A1}"/>
              </a:ext>
            </a:extLst>
          </p:cNvPr>
          <p:cNvSpPr>
            <a:spLocks xmlns:a="http://schemas.openxmlformats.org/drawingml/2006/main" noGrp="1"/>
          </p:cNvSpPr>
          <p:nvPr/>
        </p:nvSpPr>
        <p:spPr>
          <a:xfrm xmlns:a="http://schemas.openxmlformats.org/drawingml/2006/main">
            <a:off x="11906250" y="7429500"/>
            <a:ext cx="50958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550" b="0">
                <a:solidFill>
                  <a:srgbClr val="5A5D59"/>
                </a:solidFill>
                <a:latin typeface="Poppins"/>
                <a:ea typeface="Poppins"/>
                <a:cs typeface="Poppins"/>
              </a:defRPr>
            </a:pPr>
            <a:r>
              <a:rPr sz="2550" b="0">
                <a:solidFill>
                  <a:srgbClr val="5A5D59"/>
                </a:solidFill>
                <a:latin typeface="Poppins"/>
                <a:ea typeface="Poppins"/>
                <a:cs typeface="Poppins"/>
              </a:rPr>
              <a:t>What did I want to learn?</a:t>
            </a:r>
          </a:p>
        </p:txBody>
      </p:sp>
      <p:sp>
        <p:nvSpPr>
          <p:cNvPr id="12" name="A moment is useful when you can return to its cont">
            <a:extLst xmlns:a="http://schemas.openxmlformats.org/drawingml/2006/main">
              <a:ext uri="{FF2B5EF4-FFF2-40B4-BE49-F238E27FC236}">
                <a16:creationId xmlns:a16="http://schemas.microsoft.com/office/drawing/2014/main" id="{349F07D8-F4A4-4AD5-8B03-8AE6A9192807}"/>
              </a:ext>
            </a:extLst>
          </p:cNvPr>
          <p:cNvSpPr>
            <a:spLocks xmlns:a="http://schemas.openxmlformats.org/drawingml/2006/main" noGrp="1"/>
          </p:cNvSpPr>
          <p:nvPr/>
        </p:nvSpPr>
        <p:spPr>
          <a:xfrm xmlns:a="http://schemas.openxmlformats.org/drawingml/2006/main">
            <a:off x="1047750" y="8877300"/>
            <a:ext cx="16192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925" b="1">
                <a:solidFill>
                  <a:srgbClr val="326B8C"/>
                </a:solidFill>
                <a:latin typeface="Poppins"/>
                <a:ea typeface="Poppins"/>
                <a:cs typeface="Poppins"/>
              </a:defRPr>
            </a:pPr>
            <a:r>
              <a:rPr sz="2925" b="1">
                <a:solidFill>
                  <a:srgbClr val="326B8C"/>
                </a:solidFill>
                <a:latin typeface="Poppins"/>
                <a:ea typeface="Poppins"/>
                <a:cs typeface="Poppins"/>
              </a:rPr>
              <a:t>A moment is useful when you can return to its context.</a:t>
            </a:r>
          </a:p>
        </p:txBody>
      </p:sp>
    </p:spTree>
    <p:extLst>
      <p:ext uri="{BB962C8B-B14F-4D97-AF65-F5344CB8AC3E}">
        <p14:creationId xmlns:p14="http://schemas.microsoft.com/office/powerpoint/2010/main" val="288508828"/>
      </p:ext>
    </p:extLst>
  </p:cSld>
</p:sld>
</file>

<file path=ppt/slides/slide4.xml><?xml version="1.0" encoding="utf-8"?>
<p:sld xmlns:p="http://schemas.openxmlformats.org/presentationml/2006/main">
  <p:cSld>
    <p:bg>
      <p:bgPr>
        <a:solidFill xmlns:a="http://schemas.openxmlformats.org/drawingml/2006/main">
          <a:srgbClr val="F3EFE6"/>
        </a:solidFill>
      </p:bgPr>
    </p:bg>
    <p:spTree>
      <p:nvGrpSpPr>
        <p:cNvPr id="1" name=""/>
        <p:cNvGrpSpPr/>
        <p:nvPr/>
      </p:nvGrpSpPr>
      <p:grpSpPr>
        <a:xfrm xmlns:a="http://schemas.openxmlformats.org/drawingml/2006/main"/>
      </p:grpSpPr>
      <p:sp>
        <p:nvSpPr>
          <p:cNvPr id="17" name="A personal memory companion">
            <a:extLst xmlns:a="http://schemas.openxmlformats.org/drawingml/2006/main">
              <a:ext uri="{FF2B5EF4-FFF2-40B4-BE49-F238E27FC236}">
                <a16:creationId xmlns:a16="http://schemas.microsoft.com/office/drawing/2014/main" id="{396C9528-F58A-49E5-95DA-7F605F03C7FD}"/>
              </a:ext>
            </a:extLst>
          </p:cNvPr>
          <p:cNvSpPr>
            <a:spLocks xmlns:a="http://schemas.openxmlformats.org/drawingml/2006/main" noGrp="1"/>
          </p:cNvSpPr>
          <p:nvPr/>
        </p:nvSpPr>
        <p:spPr>
          <a:xfrm xmlns:a="http://schemas.openxmlformats.org/drawingml/2006/main">
            <a:off x="1000125" y="742950"/>
            <a:ext cx="162877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5400" b="1">
                <a:solidFill>
                  <a:srgbClr val="191A18"/>
                </a:solidFill>
                <a:latin typeface="Poppins"/>
                <a:ea typeface="Poppins"/>
                <a:cs typeface="Poppins"/>
              </a:defRPr>
            </a:pPr>
            <a:r>
              <a:rPr sz="5400" b="1">
                <a:solidFill>
                  <a:srgbClr val="191A18"/>
                </a:solidFill>
                <a:latin typeface="Poppins"/>
                <a:ea typeface="Poppins"/>
                <a:cs typeface="Poppins"/>
              </a:rPr>
              <a:t>A personal memory companion</a:t>
            </a:r>
          </a:p>
        </p:txBody>
      </p:sp>
      <p:sp>
        <p:nvSpPr>
          <p:cNvPr id="2" name="EEG identifies a change. Recorded context makes it">
            <a:extLst xmlns:a="http://schemas.openxmlformats.org/drawingml/2006/main">
              <a:ext uri="{FF2B5EF4-FFF2-40B4-BE49-F238E27FC236}">
                <a16:creationId xmlns:a16="http://schemas.microsoft.com/office/drawing/2014/main" id="{96634A1E-B5DB-4059-B725-D9BD6F23B263}"/>
              </a:ext>
            </a:extLst>
          </p:cNvPr>
          <p:cNvSpPr>
            <a:spLocks xmlns:a="http://schemas.openxmlformats.org/drawingml/2006/main" noGrp="1"/>
          </p:cNvSpPr>
          <p:nvPr/>
        </p:nvSpPr>
        <p:spPr>
          <a:xfrm xmlns:a="http://schemas.openxmlformats.org/drawingml/2006/main">
            <a:off x="1047750" y="2028825"/>
            <a:ext cx="16192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625" b="0">
                <a:solidFill>
                  <a:srgbClr val="5A5D59"/>
                </a:solidFill>
                <a:latin typeface="Poppins"/>
                <a:ea typeface="Poppins"/>
                <a:cs typeface="Poppins"/>
              </a:defRPr>
            </a:pPr>
            <a:r>
              <a:rPr sz="2625" b="0">
                <a:solidFill>
                  <a:srgbClr val="5A5D59"/>
                </a:solidFill>
                <a:latin typeface="Poppins"/>
                <a:ea typeface="Poppins"/>
                <a:cs typeface="Poppins"/>
              </a:rPr>
              <a:t>EEG identifies a change. Recorded context makes it useful.</a:t>
            </a:r>
          </a:p>
        </p:txBody>
      </p:sp>
      <p:sp>
        <p:nvSpPr>
          <p:cNvPr id="3" name="diagram">
            <a:extLst xmlns:a="http://schemas.openxmlformats.org/drawingml/2006/main">
              <a:ext uri="{FF2B5EF4-FFF2-40B4-BE49-F238E27FC236}">
                <a16:creationId xmlns:a16="http://schemas.microsoft.com/office/drawing/2014/main" id="{F961BA8E-D7BC-43FB-8BBD-35EF184EB710}"/>
              </a:ext>
            </a:extLst>
          </p:cNvPr>
          <p:cNvSpPr>
            <a:spLocks xmlns:a="http://schemas.openxmlformats.org/drawingml/2006/main" noGrp="1"/>
          </p:cNvSpPr>
          <p:nvPr/>
        </p:nvSpPr>
        <p:spPr>
          <a:xfrm xmlns:a="http://schemas.openxmlformats.org/drawingml/2006/main">
            <a:off x="1047750" y="3905250"/>
            <a:ext cx="4921250" cy="1619250"/>
          </a:xfrm>
          <a:prstGeom xmlns:a="http://schemas.openxmlformats.org/drawingml/2006/main" prst="rect">
            <a:avLst/>
          </a:prstGeom>
          <a:noFill xmlns:a="http://schemas.openxmlformats.org/drawingml/2006/main"/>
          <a:ln xmlns:a="http://schemas.openxmlformats.org/drawingml/2006/main" w="0">
            <a:noFill/>
          </a:ln>
        </p:spPr>
      </p:sp>
      <p:sp>
        <p:nvSpPr>
          <p:cNvPr id="4" name="Sense">
            <a:extLst xmlns:a="http://schemas.openxmlformats.org/drawingml/2006/main">
              <a:ext uri="{FF2B5EF4-FFF2-40B4-BE49-F238E27FC236}">
                <a16:creationId xmlns:a16="http://schemas.microsoft.com/office/drawing/2014/main" id="{116484E1-99F0-4557-B80E-CDACF119EF43}"/>
              </a:ext>
            </a:extLst>
          </p:cNvPr>
          <p:cNvSpPr>
            <a:spLocks xmlns:a="http://schemas.openxmlformats.org/drawingml/2006/main" noGrp="1"/>
          </p:cNvSpPr>
          <p:nvPr/>
        </p:nvSpPr>
        <p:spPr>
          <a:xfrm xmlns:a="http://schemas.openxmlformats.org/drawingml/2006/main">
            <a:off x="1047750" y="3905250"/>
            <a:ext cx="4921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225" b="1">
                <a:solidFill>
                  <a:srgbClr val="326B8C"/>
                </a:solidFill>
                <a:latin typeface="Poppins"/>
                <a:ea typeface="Poppins"/>
                <a:cs typeface="Poppins"/>
              </a:defRPr>
            </a:pPr>
            <a:r>
              <a:rPr sz="3225" b="1">
                <a:solidFill>
                  <a:srgbClr val="326B8C"/>
                </a:solidFill>
                <a:latin typeface="Poppins"/>
                <a:ea typeface="Poppins"/>
                <a:cs typeface="Poppins"/>
              </a:rPr>
              <a:t>Sense</a:t>
            </a:r>
          </a:p>
        </p:txBody>
      </p:sp>
      <p:sp>
        <p:nvSpPr>
          <p:cNvPr id="5" name="Neurosity Crown&#10;Personal EEG baseline">
            <a:extLst xmlns:a="http://schemas.openxmlformats.org/drawingml/2006/main">
              <a:ext uri="{FF2B5EF4-FFF2-40B4-BE49-F238E27FC236}">
                <a16:creationId xmlns:a16="http://schemas.microsoft.com/office/drawing/2014/main" id="{96C63539-174A-43BE-A515-C5B2ED03D980}"/>
              </a:ext>
            </a:extLst>
          </p:cNvPr>
          <p:cNvSpPr>
            <a:spLocks xmlns:a="http://schemas.openxmlformats.org/drawingml/2006/main" noGrp="1"/>
          </p:cNvSpPr>
          <p:nvPr/>
        </p:nvSpPr>
        <p:spPr>
          <a:xfrm xmlns:a="http://schemas.openxmlformats.org/drawingml/2006/main">
            <a:off x="1047750" y="4819650"/>
            <a:ext cx="492125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325" b="0">
                <a:solidFill>
                  <a:srgbClr val="5A5D59"/>
                </a:solidFill>
                <a:latin typeface="Poppins"/>
                <a:ea typeface="Poppins"/>
                <a:cs typeface="Poppins"/>
              </a:defRPr>
            </a:pPr>
            <a:r>
              <a:rPr sz="2325" b="0">
                <a:solidFill>
                  <a:srgbClr val="5A5D59"/>
                </a:solidFill>
                <a:latin typeface="Poppins"/>
                <a:ea typeface="Poppins"/>
                <a:cs typeface="Poppins"/>
              </a:rPr>
              <a:t>Neurosity Crown</a:t>
            </a:r>
          </a:p>
          <a:p xmlns:a="http://schemas.openxmlformats.org/drawingml/2006/main">
            <a:pPr algn="l">
              <a:defRPr sz="2325" b="0">
                <a:solidFill>
                  <a:srgbClr val="5A5D59"/>
                </a:solidFill>
                <a:latin typeface="Poppins"/>
                <a:ea typeface="Poppins"/>
                <a:cs typeface="Poppins"/>
              </a:defRPr>
            </a:pPr>
            <a:r>
              <a:rPr sz="2325" b="0">
                <a:solidFill>
                  <a:srgbClr val="5A5D59"/>
                </a:solidFill>
                <a:latin typeface="Poppins"/>
                <a:ea typeface="Poppins"/>
                <a:cs typeface="Poppins"/>
              </a:rPr>
              <a:t>Personal EEG baseline</a:t>
            </a:r>
          </a:p>
        </p:txBody>
      </p:sp>
      <p:sp>
        <p:nvSpPr>
          <p:cNvPr id="6" name="diagram">
            <a:extLst xmlns:a="http://schemas.openxmlformats.org/drawingml/2006/main">
              <a:ext uri="{FF2B5EF4-FFF2-40B4-BE49-F238E27FC236}">
                <a16:creationId xmlns:a16="http://schemas.microsoft.com/office/drawing/2014/main" id="{852FDCF4-AC60-40EF-A936-95D40C09B5C1}"/>
              </a:ext>
            </a:extLst>
          </p:cNvPr>
          <p:cNvSpPr>
            <a:spLocks xmlns:a="http://schemas.openxmlformats.org/drawingml/2006/main" noGrp="1"/>
          </p:cNvSpPr>
          <p:nvPr/>
        </p:nvSpPr>
        <p:spPr>
          <a:xfrm xmlns:a="http://schemas.openxmlformats.org/drawingml/2006/main">
            <a:off x="6683375" y="3905250"/>
            <a:ext cx="4921250" cy="1619250"/>
          </a:xfrm>
          <a:prstGeom xmlns:a="http://schemas.openxmlformats.org/drawingml/2006/main" prst="rect">
            <a:avLst/>
          </a:prstGeom>
          <a:noFill xmlns:a="http://schemas.openxmlformats.org/drawingml/2006/main"/>
          <a:ln xmlns:a="http://schemas.openxmlformats.org/drawingml/2006/main" w="0">
            <a:noFill/>
          </a:ln>
        </p:spPr>
      </p:sp>
      <p:sp>
        <p:nvSpPr>
          <p:cNvPr id="7" name="Capture context">
            <a:extLst xmlns:a="http://schemas.openxmlformats.org/drawingml/2006/main">
              <a:ext uri="{FF2B5EF4-FFF2-40B4-BE49-F238E27FC236}">
                <a16:creationId xmlns:a16="http://schemas.microsoft.com/office/drawing/2014/main" id="{37185DFB-F4B9-4155-AE3B-354AE0BF5B9C}"/>
              </a:ext>
            </a:extLst>
          </p:cNvPr>
          <p:cNvSpPr>
            <a:spLocks xmlns:a="http://schemas.openxmlformats.org/drawingml/2006/main" noGrp="1"/>
          </p:cNvSpPr>
          <p:nvPr/>
        </p:nvSpPr>
        <p:spPr>
          <a:xfrm xmlns:a="http://schemas.openxmlformats.org/drawingml/2006/main">
            <a:off x="6683375" y="3905250"/>
            <a:ext cx="4921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225" b="1">
                <a:solidFill>
                  <a:srgbClr val="9B712B"/>
                </a:solidFill>
                <a:latin typeface="Poppins"/>
                <a:ea typeface="Poppins"/>
                <a:cs typeface="Poppins"/>
              </a:defRPr>
            </a:pPr>
            <a:r>
              <a:rPr sz="3225" b="1">
                <a:solidFill>
                  <a:srgbClr val="9B712B"/>
                </a:solidFill>
                <a:latin typeface="Poppins"/>
                <a:ea typeface="Poppins"/>
                <a:cs typeface="Poppins"/>
              </a:rPr>
              <a:t>Capture context</a:t>
            </a:r>
          </a:p>
        </p:txBody>
      </p:sp>
      <p:sp>
        <p:nvSpPr>
          <p:cNvPr id="8" name="Ray-Ban Meta glasses&#10;Wearable camera concept">
            <a:extLst xmlns:a="http://schemas.openxmlformats.org/drawingml/2006/main">
              <a:ext uri="{FF2B5EF4-FFF2-40B4-BE49-F238E27FC236}">
                <a16:creationId xmlns:a16="http://schemas.microsoft.com/office/drawing/2014/main" id="{5D9D3ED9-A4EB-4263-98E4-8F438E70471E}"/>
              </a:ext>
            </a:extLst>
          </p:cNvPr>
          <p:cNvSpPr>
            <a:spLocks xmlns:a="http://schemas.openxmlformats.org/drawingml/2006/main" noGrp="1"/>
          </p:cNvSpPr>
          <p:nvPr/>
        </p:nvSpPr>
        <p:spPr>
          <a:xfrm xmlns:a="http://schemas.openxmlformats.org/drawingml/2006/main">
            <a:off x="6683375" y="4819650"/>
            <a:ext cx="492125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325" b="0">
                <a:solidFill>
                  <a:srgbClr val="5A5D59"/>
                </a:solidFill>
                <a:latin typeface="Poppins"/>
                <a:ea typeface="Poppins"/>
                <a:cs typeface="Poppins"/>
              </a:defRPr>
            </a:pPr>
            <a:r>
              <a:rPr sz="2325" b="0">
                <a:solidFill>
                  <a:srgbClr val="5A5D59"/>
                </a:solidFill>
                <a:latin typeface="Poppins"/>
                <a:ea typeface="Poppins"/>
                <a:cs typeface="Poppins"/>
              </a:rPr>
              <a:t>Ray-Ban Meta glasses</a:t>
            </a:r>
          </a:p>
          <a:p xmlns:a="http://schemas.openxmlformats.org/drawingml/2006/main">
            <a:pPr algn="l">
              <a:defRPr sz="2325" b="0">
                <a:solidFill>
                  <a:srgbClr val="5A5D59"/>
                </a:solidFill>
                <a:latin typeface="Poppins"/>
                <a:ea typeface="Poppins"/>
                <a:cs typeface="Poppins"/>
              </a:defRPr>
            </a:pPr>
            <a:r>
              <a:rPr sz="2325" b="0">
                <a:solidFill>
                  <a:srgbClr val="5A5D59"/>
                </a:solidFill>
                <a:latin typeface="Poppins"/>
                <a:ea typeface="Poppins"/>
                <a:cs typeface="Poppins"/>
              </a:rPr>
              <a:t>Wearable camera concept</a:t>
            </a:r>
          </a:p>
        </p:txBody>
      </p:sp>
      <p:cxnSp>
        <p:nvCxnSpPr>
          <p:cNvPr id="25" name=""/>
          <p:cNvCxnSpPr>
            <a:stCxn xmlns:a="http://schemas.openxmlformats.org/drawingml/2006/main" id="3" idx="3"/>
            <a:endCxn xmlns:a="http://schemas.openxmlformats.org/drawingml/2006/main" id="6" idx="1"/>
          </p:cNvCxnSpPr>
          <p:nvPr/>
        </p:nvCxnSpPr>
        <p:spPr>
          <a:xfrm xmlns:a="http://schemas.openxmlformats.org/drawingml/2006/main">
            <a:off x="5969000" y="4714875"/>
            <a:ext cx="714375" cy="0"/>
          </a:xfrm>
          <a:prstGeom xmlns:a="http://schemas.openxmlformats.org/drawingml/2006/main" prst="straightConnector1">
            <a:avLst/>
          </a:prstGeom>
          <a:ln xmlns:a="http://schemas.openxmlformats.org/drawingml/2006/main" w="38100">
            <a:solidFill>
              <a:srgbClr val="9B712B"/>
            </a:solidFill>
            <a:tailEnd type="triangle" w="med" len="med"/>
          </a:ln>
        </p:spPr>
      </p:cxnSp>
      <p:sp>
        <p:nvSpPr>
          <p:cNvPr id="10" name="diagram">
            <a:extLst xmlns:a="http://schemas.openxmlformats.org/drawingml/2006/main">
              <a:ext uri="{FF2B5EF4-FFF2-40B4-BE49-F238E27FC236}">
                <a16:creationId xmlns:a16="http://schemas.microsoft.com/office/drawing/2014/main" id="{5B23F016-C807-44A9-8280-4055A14F1C42}"/>
              </a:ext>
            </a:extLst>
          </p:cNvPr>
          <p:cNvSpPr>
            <a:spLocks xmlns:a="http://schemas.openxmlformats.org/drawingml/2006/main" noGrp="1"/>
          </p:cNvSpPr>
          <p:nvPr/>
        </p:nvSpPr>
        <p:spPr>
          <a:xfrm xmlns:a="http://schemas.openxmlformats.org/drawingml/2006/main">
            <a:off x="12319000" y="3905250"/>
            <a:ext cx="4921250" cy="1619250"/>
          </a:xfrm>
          <a:prstGeom xmlns:a="http://schemas.openxmlformats.org/drawingml/2006/main" prst="rect">
            <a:avLst/>
          </a:prstGeom>
          <a:noFill xmlns:a="http://schemas.openxmlformats.org/drawingml/2006/main"/>
          <a:ln xmlns:a="http://schemas.openxmlformats.org/drawingml/2006/main" w="0">
            <a:noFill/>
          </a:ln>
        </p:spPr>
      </p:sp>
      <p:sp>
        <p:nvSpPr>
          <p:cNvPr id="11" name="Revisit">
            <a:extLst xmlns:a="http://schemas.openxmlformats.org/drawingml/2006/main">
              <a:ext uri="{FF2B5EF4-FFF2-40B4-BE49-F238E27FC236}">
                <a16:creationId xmlns:a16="http://schemas.microsoft.com/office/drawing/2014/main" id="{C2459969-7CA0-4D3F-B999-0500002E4BCA}"/>
              </a:ext>
            </a:extLst>
          </p:cNvPr>
          <p:cNvSpPr>
            <a:spLocks xmlns:a="http://schemas.openxmlformats.org/drawingml/2006/main" noGrp="1"/>
          </p:cNvSpPr>
          <p:nvPr/>
        </p:nvSpPr>
        <p:spPr>
          <a:xfrm xmlns:a="http://schemas.openxmlformats.org/drawingml/2006/main">
            <a:off x="12319000" y="3905250"/>
            <a:ext cx="4921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225" b="1">
                <a:solidFill>
                  <a:srgbClr val="191A18"/>
                </a:solidFill>
                <a:latin typeface="Poppins"/>
                <a:ea typeface="Poppins"/>
                <a:cs typeface="Poppins"/>
              </a:defRPr>
            </a:pPr>
            <a:r>
              <a:rPr sz="3225" b="1">
                <a:solidFill>
                  <a:srgbClr val="191A18"/>
                </a:solidFill>
                <a:latin typeface="Poppins"/>
                <a:ea typeface="Poppins"/>
                <a:cs typeface="Poppins"/>
              </a:rPr>
              <a:t>Revisit</a:t>
            </a:r>
          </a:p>
        </p:txBody>
      </p:sp>
      <p:sp>
        <p:nvSpPr>
          <p:cNvPr id="12" name="Memorypalace&#10;Search, reflect and share">
            <a:extLst xmlns:a="http://schemas.openxmlformats.org/drawingml/2006/main">
              <a:ext uri="{FF2B5EF4-FFF2-40B4-BE49-F238E27FC236}">
                <a16:creationId xmlns:a16="http://schemas.microsoft.com/office/drawing/2014/main" id="{422C08A6-A79D-4BDD-B28E-8931F1CBEA97}"/>
              </a:ext>
            </a:extLst>
          </p:cNvPr>
          <p:cNvSpPr>
            <a:spLocks xmlns:a="http://schemas.openxmlformats.org/drawingml/2006/main" noGrp="1"/>
          </p:cNvSpPr>
          <p:nvPr/>
        </p:nvSpPr>
        <p:spPr>
          <a:xfrm xmlns:a="http://schemas.openxmlformats.org/drawingml/2006/main">
            <a:off x="12319000" y="4819650"/>
            <a:ext cx="492125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325" b="0">
                <a:solidFill>
                  <a:srgbClr val="5A5D59"/>
                </a:solidFill>
                <a:latin typeface="Poppins"/>
                <a:ea typeface="Poppins"/>
                <a:cs typeface="Poppins"/>
              </a:defRPr>
            </a:pPr>
            <a:r>
              <a:rPr sz="2325" b="0">
                <a:solidFill>
                  <a:srgbClr val="5A5D59"/>
                </a:solidFill>
                <a:latin typeface="Poppins"/>
                <a:ea typeface="Poppins"/>
                <a:cs typeface="Poppins"/>
              </a:rPr>
              <a:t>Memorypalace</a:t>
            </a:r>
          </a:p>
          <a:p xmlns:a="http://schemas.openxmlformats.org/drawingml/2006/main">
            <a:pPr algn="l">
              <a:defRPr sz="2325" b="0">
                <a:solidFill>
                  <a:srgbClr val="5A5D59"/>
                </a:solidFill>
                <a:latin typeface="Poppins"/>
                <a:ea typeface="Poppins"/>
                <a:cs typeface="Poppins"/>
              </a:defRPr>
            </a:pPr>
            <a:r>
              <a:rPr sz="2325" b="0">
                <a:solidFill>
                  <a:srgbClr val="5A5D59"/>
                </a:solidFill>
                <a:latin typeface="Poppins"/>
                <a:ea typeface="Poppins"/>
                <a:cs typeface="Poppins"/>
              </a:rPr>
              <a:t>Search, reflect and share</a:t>
            </a:r>
          </a:p>
        </p:txBody>
      </p:sp>
      <p:cxnSp>
        <p:nvCxnSpPr>
          <p:cNvPr id="29" name=""/>
          <p:cNvCxnSpPr>
            <a:stCxn xmlns:a="http://schemas.openxmlformats.org/drawingml/2006/main" id="6" idx="3"/>
            <a:endCxn xmlns:a="http://schemas.openxmlformats.org/drawingml/2006/main" id="10" idx="1"/>
          </p:cNvCxnSpPr>
          <p:nvPr/>
        </p:nvCxnSpPr>
        <p:spPr>
          <a:xfrm xmlns:a="http://schemas.openxmlformats.org/drawingml/2006/main">
            <a:off x="11604625" y="4714875"/>
            <a:ext cx="714375" cy="0"/>
          </a:xfrm>
          <a:prstGeom xmlns:a="http://schemas.openxmlformats.org/drawingml/2006/main" prst="straightConnector1">
            <a:avLst/>
          </a:prstGeom>
          <a:ln xmlns:a="http://schemas.openxmlformats.org/drawingml/2006/main" w="38100">
            <a:solidFill>
              <a:srgbClr val="9B712B"/>
            </a:solidFill>
            <a:tailEnd type="triangle" w="med" len="med"/>
          </a:ln>
        </p:spPr>
      </p:cxnSp>
      <p:sp>
        <p:nvSpPr>
          <p:cNvPr id="14" name="20 min">
            <a:extLst xmlns:a="http://schemas.openxmlformats.org/drawingml/2006/main">
              <a:ext uri="{FF2B5EF4-FFF2-40B4-BE49-F238E27FC236}">
                <a16:creationId xmlns:a16="http://schemas.microsoft.com/office/drawing/2014/main" id="{99042CA9-9693-4A95-A225-39FA4C534E55}"/>
              </a:ext>
            </a:extLst>
          </p:cNvPr>
          <p:cNvSpPr>
            <a:spLocks xmlns:a="http://schemas.openxmlformats.org/drawingml/2006/main" noGrp="1"/>
          </p:cNvSpPr>
          <p:nvPr/>
        </p:nvSpPr>
        <p:spPr>
          <a:xfrm xmlns:a="http://schemas.openxmlformats.org/drawingml/2006/main">
            <a:off x="1047750" y="7858125"/>
            <a:ext cx="38100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6600" b="1">
                <a:solidFill>
                  <a:srgbClr val="326B8C"/>
                </a:solidFill>
                <a:latin typeface="Poppins"/>
                <a:ea typeface="Poppins"/>
                <a:cs typeface="Poppins"/>
              </a:defRPr>
            </a:pPr>
            <a:r>
              <a:rPr sz="6600" b="1">
                <a:solidFill>
                  <a:srgbClr val="326B8C"/>
                </a:solidFill>
                <a:latin typeface="Poppins"/>
                <a:ea typeface="Poppins"/>
                <a:cs typeface="Poppins"/>
              </a:rPr>
              <a:t>20 min</a:t>
            </a:r>
          </a:p>
        </p:txBody>
      </p:sp>
      <p:sp>
        <p:nvSpPr>
          <p:cNvPr id="15" name="Onboarding target">
            <a:extLst xmlns:a="http://schemas.openxmlformats.org/drawingml/2006/main">
              <a:ext uri="{FF2B5EF4-FFF2-40B4-BE49-F238E27FC236}">
                <a16:creationId xmlns:a16="http://schemas.microsoft.com/office/drawing/2014/main" id="{7A59FED0-FE17-4E7D-8F1A-5D8EAD36D95C}"/>
              </a:ext>
            </a:extLst>
          </p:cNvPr>
          <p:cNvSpPr>
            <a:spLocks xmlns:a="http://schemas.openxmlformats.org/drawingml/2006/main" noGrp="1"/>
          </p:cNvSpPr>
          <p:nvPr/>
        </p:nvSpPr>
        <p:spPr>
          <a:xfrm xmlns:a="http://schemas.openxmlformats.org/drawingml/2006/main">
            <a:off x="5048250" y="8020050"/>
            <a:ext cx="9239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925" b="1">
                <a:solidFill>
                  <a:srgbClr val="191A18"/>
                </a:solidFill>
                <a:latin typeface="Poppins"/>
                <a:ea typeface="Poppins"/>
                <a:cs typeface="Poppins"/>
              </a:defRPr>
            </a:pPr>
            <a:r>
              <a:rPr sz="2925" b="1">
                <a:solidFill>
                  <a:srgbClr val="191A18"/>
                </a:solidFill>
                <a:latin typeface="Poppins"/>
                <a:ea typeface="Poppins"/>
                <a:cs typeface="Poppins"/>
              </a:rPr>
              <a:t>Onboarding target</a:t>
            </a:r>
          </a:p>
        </p:txBody>
      </p:sp>
      <p:sp>
        <p:nvSpPr>
          <p:cNvPr id="16" name="Fit the sensors, establish your baseline, try a gu">
            <a:extLst xmlns:a="http://schemas.openxmlformats.org/drawingml/2006/main">
              <a:ext uri="{FF2B5EF4-FFF2-40B4-BE49-F238E27FC236}">
                <a16:creationId xmlns:a16="http://schemas.microsoft.com/office/drawing/2014/main" id="{1F767AE5-256D-4573-AD38-EED3701DC08E}"/>
              </a:ext>
            </a:extLst>
          </p:cNvPr>
          <p:cNvSpPr>
            <a:spLocks xmlns:a="http://schemas.openxmlformats.org/drawingml/2006/main" noGrp="1"/>
          </p:cNvSpPr>
          <p:nvPr/>
        </p:nvSpPr>
        <p:spPr>
          <a:xfrm xmlns:a="http://schemas.openxmlformats.org/drawingml/2006/main">
            <a:off x="5048250" y="8639175"/>
            <a:ext cx="11620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325" b="0">
                <a:solidFill>
                  <a:srgbClr val="5A5D59"/>
                </a:solidFill>
                <a:latin typeface="Poppins"/>
                <a:ea typeface="Poppins"/>
                <a:cs typeface="Poppins"/>
              </a:defRPr>
            </a:pPr>
            <a:r>
              <a:rPr sz="2325" b="0">
                <a:solidFill>
                  <a:srgbClr val="5A5D59"/>
                </a:solidFill>
                <a:latin typeface="Poppins"/>
                <a:ea typeface="Poppins"/>
                <a:cs typeface="Poppins"/>
              </a:rPr>
              <a:t>Fit the sensors, establish your baseline, try a guided capture.</a:t>
            </a:r>
          </a:p>
        </p:txBody>
      </p:sp>
    </p:spTree>
    <p:extLst>
      <p:ext uri="{BB962C8B-B14F-4D97-AF65-F5344CB8AC3E}">
        <p14:creationId xmlns:p14="http://schemas.microsoft.com/office/powerpoint/2010/main" val="1205095209"/>
      </p:ext>
    </p:extLst>
  </p:cSld>
</p:sld>
</file>

<file path=ppt/slides/slide5.xml><?xml version="1.0" encoding="utf-8"?>
<p:sld xmlns:p="http://schemas.openxmlformats.org/presentationml/2006/main">
  <p:cSld>
    <p:bg>
      <p:bgPr>
        <a:solidFill xmlns:a="http://schemas.openxmlformats.org/drawingml/2006/main">
          <a:srgbClr val="F3EFE6"/>
        </a:solidFill>
      </p:bgPr>
    </p:bg>
    <p:spTree>
      <p:nvGrpSpPr>
        <p:cNvPr id="1" name=""/>
        <p:cNvGrpSpPr/>
        <p:nvPr/>
      </p:nvGrpSpPr>
      <p:grpSpPr>
        <a:xfrm xmlns:a="http://schemas.openxmlformats.org/drawingml/2006/main"/>
      </p:grpSpPr>
      <p:sp>
        <p:nvSpPr>
          <p:cNvPr id="10" name="Two checks before a moment is flagged">
            <a:extLst xmlns:a="http://schemas.openxmlformats.org/drawingml/2006/main">
              <a:ext uri="{FF2B5EF4-FFF2-40B4-BE49-F238E27FC236}">
                <a16:creationId xmlns:a16="http://schemas.microsoft.com/office/drawing/2014/main" id="{53A43819-4F4B-4F71-B5D2-65A85E81F829}"/>
              </a:ext>
            </a:extLst>
          </p:cNvPr>
          <p:cNvSpPr>
            <a:spLocks xmlns:a="http://schemas.openxmlformats.org/drawingml/2006/main" noGrp="1"/>
          </p:cNvSpPr>
          <p:nvPr/>
        </p:nvSpPr>
        <p:spPr>
          <a:xfrm xmlns:a="http://schemas.openxmlformats.org/drawingml/2006/main">
            <a:off x="1000125" y="742950"/>
            <a:ext cx="162877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5400" b="1">
                <a:solidFill>
                  <a:srgbClr val="191A18"/>
                </a:solidFill>
                <a:latin typeface="Poppins"/>
                <a:ea typeface="Poppins"/>
                <a:cs typeface="Poppins"/>
              </a:defRPr>
            </a:pPr>
            <a:r>
              <a:rPr sz="5400" b="1">
                <a:solidFill>
                  <a:srgbClr val="191A18"/>
                </a:solidFill>
                <a:latin typeface="Poppins"/>
                <a:ea typeface="Poppins"/>
                <a:cs typeface="Poppins"/>
              </a:rPr>
              <a:t>Two checks before a moment is flagged</a:t>
            </a:r>
          </a:p>
        </p:txBody>
      </p:sp>
      <p:sp>
        <p:nvSpPr>
          <p:cNvPr id="2" name="A change from your baseline, followed by a sustain">
            <a:extLst xmlns:a="http://schemas.openxmlformats.org/drawingml/2006/main">
              <a:ext uri="{FF2B5EF4-FFF2-40B4-BE49-F238E27FC236}">
                <a16:creationId xmlns:a16="http://schemas.microsoft.com/office/drawing/2014/main" id="{36782495-DB17-478E-B534-03ED7A71287D}"/>
              </a:ext>
            </a:extLst>
          </p:cNvPr>
          <p:cNvSpPr>
            <a:spLocks xmlns:a="http://schemas.openxmlformats.org/drawingml/2006/main" noGrp="1"/>
          </p:cNvSpPr>
          <p:nvPr/>
        </p:nvSpPr>
        <p:spPr>
          <a:xfrm xmlns:a="http://schemas.openxmlformats.org/drawingml/2006/main">
            <a:off x="1047750" y="2028825"/>
            <a:ext cx="16192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625" b="0">
                <a:solidFill>
                  <a:srgbClr val="5A5D59"/>
                </a:solidFill>
                <a:latin typeface="Poppins"/>
                <a:ea typeface="Poppins"/>
                <a:cs typeface="Poppins"/>
              </a:defRPr>
            </a:pPr>
            <a:r>
              <a:rPr sz="2625" b="0">
                <a:solidFill>
                  <a:srgbClr val="5A5D59"/>
                </a:solidFill>
                <a:latin typeface="Poppins"/>
                <a:ea typeface="Poppins"/>
                <a:cs typeface="Poppins"/>
              </a:rPr>
              <a:t>A change from your baseline, followed by a sustained elevation.</a:t>
            </a:r>
          </a:p>
        </p:txBody>
      </p:sp>
      <p:sp>
        <p:nvSpPr>
          <p:cNvPr id="3" name="01">
            <a:extLst xmlns:a="http://schemas.openxmlformats.org/drawingml/2006/main">
              <a:ext uri="{FF2B5EF4-FFF2-40B4-BE49-F238E27FC236}">
                <a16:creationId xmlns:a16="http://schemas.microsoft.com/office/drawing/2014/main" id="{0D7232FA-7FE8-44E4-A008-7BD18B0C640B}"/>
              </a:ext>
            </a:extLst>
          </p:cNvPr>
          <p:cNvSpPr>
            <a:spLocks xmlns:a="http://schemas.openxmlformats.org/drawingml/2006/main" noGrp="1"/>
          </p:cNvSpPr>
          <p:nvPr/>
        </p:nvSpPr>
        <p:spPr>
          <a:xfrm xmlns:a="http://schemas.openxmlformats.org/drawingml/2006/main">
            <a:off x="1047750" y="3619500"/>
            <a:ext cx="20955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7200" b="1">
                <a:solidFill>
                  <a:srgbClr val="326B8C"/>
                </a:solidFill>
                <a:latin typeface="Poppins"/>
                <a:ea typeface="Poppins"/>
                <a:cs typeface="Poppins"/>
              </a:defRPr>
            </a:pPr>
            <a:r>
              <a:rPr sz="7200" b="1">
                <a:solidFill>
                  <a:srgbClr val="326B8C"/>
                </a:solidFill>
                <a:latin typeface="Poppins"/>
                <a:ea typeface="Poppins"/>
                <a:cs typeface="Poppins"/>
              </a:rPr>
              <a:t>01</a:t>
            </a:r>
          </a:p>
        </p:txBody>
      </p:sp>
      <p:sp>
        <p:nvSpPr>
          <p:cNvPr id="4" name="Change from your normal">
            <a:extLst xmlns:a="http://schemas.openxmlformats.org/drawingml/2006/main">
              <a:ext uri="{FF2B5EF4-FFF2-40B4-BE49-F238E27FC236}">
                <a16:creationId xmlns:a16="http://schemas.microsoft.com/office/drawing/2014/main" id="{8D4A212A-C901-4E6E-A1D0-8C58480576A1}"/>
              </a:ext>
            </a:extLst>
          </p:cNvPr>
          <p:cNvSpPr>
            <a:spLocks xmlns:a="http://schemas.openxmlformats.org/drawingml/2006/main" noGrp="1"/>
          </p:cNvSpPr>
          <p:nvPr/>
        </p:nvSpPr>
        <p:spPr>
          <a:xfrm xmlns:a="http://schemas.openxmlformats.org/drawingml/2006/main">
            <a:off x="3333750" y="3733800"/>
            <a:ext cx="13335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4350" b="1">
                <a:solidFill>
                  <a:srgbClr val="191A18"/>
                </a:solidFill>
                <a:latin typeface="Poppins"/>
                <a:ea typeface="Poppins"/>
                <a:cs typeface="Poppins"/>
              </a:defRPr>
            </a:pPr>
            <a:r>
              <a:rPr sz="4350" b="1">
                <a:solidFill>
                  <a:srgbClr val="191A18"/>
                </a:solidFill>
                <a:latin typeface="Poppins"/>
                <a:ea typeface="Poppins"/>
                <a:cs typeface="Poppins"/>
              </a:rPr>
              <a:t>Change from your normal</a:t>
            </a:r>
          </a:p>
        </p:txBody>
      </p:sp>
      <p:sp>
        <p:nvSpPr>
          <p:cNvPr id="5" name="Compare theta/alpha activity with your own resting">
            <a:extLst xmlns:a="http://schemas.openxmlformats.org/drawingml/2006/main">
              <a:ext uri="{FF2B5EF4-FFF2-40B4-BE49-F238E27FC236}">
                <a16:creationId xmlns:a16="http://schemas.microsoft.com/office/drawing/2014/main" id="{01040B2C-24D6-4586-A7A1-D7831AB84C3C}"/>
              </a:ext>
            </a:extLst>
          </p:cNvPr>
          <p:cNvSpPr>
            <a:spLocks xmlns:a="http://schemas.openxmlformats.org/drawingml/2006/main" noGrp="1"/>
          </p:cNvSpPr>
          <p:nvPr/>
        </p:nvSpPr>
        <p:spPr>
          <a:xfrm xmlns:a="http://schemas.openxmlformats.org/drawingml/2006/main">
            <a:off x="3333750" y="4953000"/>
            <a:ext cx="129540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000" b="0">
                <a:solidFill>
                  <a:srgbClr val="5A5D59"/>
                </a:solidFill>
                <a:latin typeface="Poppins"/>
                <a:ea typeface="Poppins"/>
                <a:cs typeface="Poppins"/>
              </a:defRPr>
            </a:pPr>
            <a:r>
              <a:rPr sz="3000" b="0">
                <a:solidFill>
                  <a:srgbClr val="5A5D59"/>
                </a:solidFill>
                <a:latin typeface="Poppins"/>
                <a:ea typeface="Poppins"/>
                <a:cs typeface="Poppins"/>
              </a:rPr>
              <a:t>Compare theta/alpha activity with your own resting baseline.</a:t>
            </a:r>
          </a:p>
        </p:txBody>
      </p:sp>
      <p:sp>
        <p:nvSpPr>
          <p:cNvPr id="6" name="diagram">
            <a:extLst xmlns:a="http://schemas.openxmlformats.org/drawingml/2006/main">
              <a:ext uri="{FF2B5EF4-FFF2-40B4-BE49-F238E27FC236}">
                <a16:creationId xmlns:a16="http://schemas.microsoft.com/office/drawing/2014/main" id="{929FF836-7336-4A9F-A216-8692E8DB508B}"/>
              </a:ext>
            </a:extLst>
          </p:cNvPr>
          <p:cNvSpPr>
            <a:spLocks xmlns:a="http://schemas.openxmlformats.org/drawingml/2006/main" noGrp="1"/>
          </p:cNvSpPr>
          <p:nvPr/>
        </p:nvSpPr>
        <p:spPr>
          <a:xfrm xmlns:a="http://schemas.openxmlformats.org/drawingml/2006/main">
            <a:off x="1047750" y="6562725"/>
            <a:ext cx="16144875" cy="19050"/>
          </a:xfrm>
          <a:prstGeom xmlns:a="http://schemas.openxmlformats.org/drawingml/2006/main" prst="rect">
            <a:avLst/>
          </a:prstGeom>
          <a:solidFill xmlns:a="http://schemas.openxmlformats.org/drawingml/2006/main">
            <a:srgbClr val="D6D2C7"/>
          </a:solidFill>
          <a:ln xmlns:a="http://schemas.openxmlformats.org/drawingml/2006/main" w="0">
            <a:noFill/>
          </a:ln>
        </p:spPr>
      </p:sp>
      <p:sp>
        <p:nvSpPr>
          <p:cNvPr id="7" name="02">
            <a:extLst xmlns:a="http://schemas.openxmlformats.org/drawingml/2006/main">
              <a:ext uri="{FF2B5EF4-FFF2-40B4-BE49-F238E27FC236}">
                <a16:creationId xmlns:a16="http://schemas.microsoft.com/office/drawing/2014/main" id="{BB066C42-8EEF-424D-BB13-442E78E2C1AD}"/>
              </a:ext>
            </a:extLst>
          </p:cNvPr>
          <p:cNvSpPr>
            <a:spLocks xmlns:a="http://schemas.openxmlformats.org/drawingml/2006/main" noGrp="1"/>
          </p:cNvSpPr>
          <p:nvPr/>
        </p:nvSpPr>
        <p:spPr>
          <a:xfrm xmlns:a="http://schemas.openxmlformats.org/drawingml/2006/main">
            <a:off x="1047750" y="7181850"/>
            <a:ext cx="20955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7200" b="1">
                <a:solidFill>
                  <a:srgbClr val="9B712B"/>
                </a:solidFill>
                <a:latin typeface="Poppins"/>
                <a:ea typeface="Poppins"/>
                <a:cs typeface="Poppins"/>
              </a:defRPr>
            </a:pPr>
            <a:r>
              <a:rPr sz="7200" b="1">
                <a:solidFill>
                  <a:srgbClr val="9B712B"/>
                </a:solidFill>
                <a:latin typeface="Poppins"/>
                <a:ea typeface="Poppins"/>
                <a:cs typeface="Poppins"/>
              </a:rPr>
              <a:t>02</a:t>
            </a:r>
          </a:p>
        </p:txBody>
      </p:sp>
      <p:sp>
        <p:nvSpPr>
          <p:cNvPr id="8" name="Sustained burst confirmation">
            <a:extLst xmlns:a="http://schemas.openxmlformats.org/drawingml/2006/main">
              <a:ext uri="{FF2B5EF4-FFF2-40B4-BE49-F238E27FC236}">
                <a16:creationId xmlns:a16="http://schemas.microsoft.com/office/drawing/2014/main" id="{68CFACA6-D7F4-44AE-B277-BA2171DFDB9F}"/>
              </a:ext>
            </a:extLst>
          </p:cNvPr>
          <p:cNvSpPr>
            <a:spLocks xmlns:a="http://schemas.openxmlformats.org/drawingml/2006/main" noGrp="1"/>
          </p:cNvSpPr>
          <p:nvPr/>
        </p:nvSpPr>
        <p:spPr>
          <a:xfrm xmlns:a="http://schemas.openxmlformats.org/drawingml/2006/main">
            <a:off x="3333750" y="7286625"/>
            <a:ext cx="13335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4350" b="1">
                <a:solidFill>
                  <a:srgbClr val="191A18"/>
                </a:solidFill>
                <a:latin typeface="Poppins"/>
                <a:ea typeface="Poppins"/>
                <a:cs typeface="Poppins"/>
              </a:defRPr>
            </a:pPr>
            <a:r>
              <a:rPr sz="4350" b="1">
                <a:solidFill>
                  <a:srgbClr val="191A18"/>
                </a:solidFill>
                <a:latin typeface="Poppins"/>
                <a:ea typeface="Poppins"/>
                <a:cs typeface="Poppins"/>
              </a:rPr>
              <a:t>Sustained burst confirmation</a:t>
            </a:r>
          </a:p>
        </p:txBody>
      </p:sp>
      <p:sp>
        <p:nvSpPr>
          <p:cNvPr id="9" name="Keep the event only after four fresh windows stay ">
            <a:extLst xmlns:a="http://schemas.openxmlformats.org/drawingml/2006/main">
              <a:ext uri="{FF2B5EF4-FFF2-40B4-BE49-F238E27FC236}">
                <a16:creationId xmlns:a16="http://schemas.microsoft.com/office/drawing/2014/main" id="{19A6B1B0-A29D-4299-ADD4-DB9C1C58157F}"/>
              </a:ext>
            </a:extLst>
          </p:cNvPr>
          <p:cNvSpPr>
            <a:spLocks xmlns:a="http://schemas.openxmlformats.org/drawingml/2006/main" noGrp="1"/>
          </p:cNvSpPr>
          <p:nvPr/>
        </p:nvSpPr>
        <p:spPr>
          <a:xfrm xmlns:a="http://schemas.openxmlformats.org/drawingml/2006/main">
            <a:off x="3333750" y="8382000"/>
            <a:ext cx="12954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000" b="0">
                <a:solidFill>
                  <a:srgbClr val="5A5D59"/>
                </a:solidFill>
                <a:latin typeface="Poppins"/>
                <a:ea typeface="Poppins"/>
                <a:cs typeface="Poppins"/>
              </a:defRPr>
            </a:pPr>
            <a:r>
              <a:rPr sz="3000" b="0">
                <a:solidFill>
                  <a:srgbClr val="5A5D59"/>
                </a:solidFill>
                <a:latin typeface="Poppins"/>
                <a:ea typeface="Poppins"/>
                <a:cs typeface="Poppins"/>
              </a:rPr>
              <a:t>Keep the event only after four fresh windows stay elevated.</a:t>
            </a:r>
          </a:p>
        </p:txBody>
      </p:sp>
    </p:spTree>
    <p:extLst>
      <p:ext uri="{BB962C8B-B14F-4D97-AF65-F5344CB8AC3E}">
        <p14:creationId xmlns:p14="http://schemas.microsoft.com/office/powerpoint/2010/main" val="366366342"/>
      </p:ext>
    </p:extLst>
  </p:cSld>
</p:sld>
</file>

<file path=ppt/slides/slide6.xml><?xml version="1.0" encoding="utf-8"?>
<p:sld xmlns:p="http://schemas.openxmlformats.org/presentationml/2006/main">
  <p:cSld>
    <p:bg>
      <p:bgPr>
        <a:solidFill xmlns:a="http://schemas.openxmlformats.org/drawingml/2006/main">
          <a:srgbClr val="F3EFE6"/>
        </a:solidFill>
      </p:bgPr>
    </p:bg>
    <p:spTree>
      <p:nvGrpSpPr>
        <p:cNvPr id="1" name=""/>
        <p:cNvGrpSpPr/>
        <p:nvPr/>
      </p:nvGrpSpPr>
      <p:grpSpPr>
        <a:xfrm xmlns:a="http://schemas.openxmlformats.org/drawingml/2006/main"/>
      </p:grpSpPr>
      <p:sp>
        <p:nvSpPr>
          <p:cNvPr id="8" name="Your baseline makes the signal meaningful">
            <a:extLst xmlns:a="http://schemas.openxmlformats.org/drawingml/2006/main">
              <a:ext uri="{FF2B5EF4-FFF2-40B4-BE49-F238E27FC236}">
                <a16:creationId xmlns:a16="http://schemas.microsoft.com/office/drawing/2014/main" id="{29DAF0E4-E8BC-46A4-B923-887A895A264F}"/>
              </a:ext>
            </a:extLst>
          </p:cNvPr>
          <p:cNvSpPr>
            <a:spLocks xmlns:a="http://schemas.openxmlformats.org/drawingml/2006/main" noGrp="1"/>
          </p:cNvSpPr>
          <p:nvPr/>
        </p:nvSpPr>
        <p:spPr>
          <a:xfrm xmlns:a="http://schemas.openxmlformats.org/drawingml/2006/main">
            <a:off x="1000125" y="742950"/>
            <a:ext cx="162877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5400" b="1">
                <a:solidFill>
                  <a:srgbClr val="191A18"/>
                </a:solidFill>
                <a:latin typeface="Poppins"/>
                <a:ea typeface="Poppins"/>
                <a:cs typeface="Poppins"/>
              </a:defRPr>
            </a:pPr>
            <a:r>
              <a:rPr sz="5400" b="1">
                <a:solidFill>
                  <a:srgbClr val="191A18"/>
                </a:solidFill>
                <a:latin typeface="Poppins"/>
                <a:ea typeface="Poppins"/>
                <a:cs typeface="Poppins"/>
              </a:rPr>
              <a:t>Your baseline makes the signal meaningful</a:t>
            </a:r>
          </a:p>
        </p:txBody>
      </p:sp>
      <p:sp>
        <p:nvSpPr>
          <p:cNvPr id="2" name="The same reading can be unusual for one person and">
            <a:extLst xmlns:a="http://schemas.openxmlformats.org/drawingml/2006/main">
              <a:ext uri="{FF2B5EF4-FFF2-40B4-BE49-F238E27FC236}">
                <a16:creationId xmlns:a16="http://schemas.microsoft.com/office/drawing/2014/main" id="{2CF3CDCC-9691-4561-B3F1-DD59775E2654}"/>
              </a:ext>
            </a:extLst>
          </p:cNvPr>
          <p:cNvSpPr>
            <a:spLocks xmlns:a="http://schemas.openxmlformats.org/drawingml/2006/main" noGrp="1"/>
          </p:cNvSpPr>
          <p:nvPr/>
        </p:nvSpPr>
        <p:spPr>
          <a:xfrm xmlns:a="http://schemas.openxmlformats.org/drawingml/2006/main">
            <a:off x="1047750" y="2028825"/>
            <a:ext cx="16192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625" b="0">
                <a:solidFill>
                  <a:srgbClr val="5A5D59"/>
                </a:solidFill>
                <a:latin typeface="Poppins"/>
                <a:ea typeface="Poppins"/>
                <a:cs typeface="Poppins"/>
              </a:defRPr>
            </a:pPr>
            <a:r>
              <a:rPr sz="2625" b="0">
                <a:solidFill>
                  <a:srgbClr val="5A5D59"/>
                </a:solidFill>
                <a:latin typeface="Poppins"/>
                <a:ea typeface="Poppins"/>
                <a:cs typeface="Poppins"/>
              </a:rPr>
              <a:t>The same reading can be unusual for one person and normal for another.</a:t>
            </a:r>
          </a:p>
        </p:txBody>
      </p:sp>
      <p:graphicFrame>
        <p:nvGraphicFramePr>
          <p:cNvPr id="10" name="Chart"/>
          <p:cNvGraphicFramePr/>
          <p:nvPr/>
        </p:nvGraphicFramePr>
        <p:xfrm>
          <a:off xmlns:a="http://schemas.openxmlformats.org/drawingml/2006/main" x="1238250" y="3238500"/>
          <a:ext xmlns:a="http://schemas.openxmlformats.org/drawingml/2006/main" cx="10668000" cy="5095875"/>
        </p:xfrm>
        <a:graphic xmlns:a="http://schemas.openxmlformats.org/drawingml/2006/main">
          <a:graphicData uri="http://schemas.openxmlformats.org/drawingml/2006/chart">
            <c:chart xmlns:r="http://schemas.openxmlformats.org/officeDocument/2006/relationships" xmlns:c="http://schemas.openxmlformats.org/drawingml/2006/chart" r:id="R7a06f96dca8c4524"/>
          </a:graphicData>
        </a:graphic>
      </p:graphicFrame>
      <p:sp>
        <p:nvSpPr>
          <p:cNvPr id="4" name="Same raw value.&#10;Different meaning.">
            <a:extLst xmlns:a="http://schemas.openxmlformats.org/drawingml/2006/main">
              <a:ext uri="{FF2B5EF4-FFF2-40B4-BE49-F238E27FC236}">
                <a16:creationId xmlns:a16="http://schemas.microsoft.com/office/drawing/2014/main" id="{1AB1D569-2537-4780-A412-3F0D0E883B12}"/>
              </a:ext>
            </a:extLst>
          </p:cNvPr>
          <p:cNvSpPr>
            <a:spLocks xmlns:a="http://schemas.openxmlformats.org/drawingml/2006/main" noGrp="1"/>
          </p:cNvSpPr>
          <p:nvPr/>
        </p:nvSpPr>
        <p:spPr>
          <a:xfrm xmlns:a="http://schemas.openxmlformats.org/drawingml/2006/main">
            <a:off x="12620625" y="3905250"/>
            <a:ext cx="447675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600" b="1">
                <a:solidFill>
                  <a:srgbClr val="191A18"/>
                </a:solidFill>
                <a:latin typeface="Poppins"/>
                <a:ea typeface="Poppins"/>
                <a:cs typeface="Poppins"/>
              </a:defRPr>
            </a:pPr>
            <a:r>
              <a:rPr sz="3600" b="1">
                <a:solidFill>
                  <a:srgbClr val="191A18"/>
                </a:solidFill>
                <a:latin typeface="Poppins"/>
                <a:ea typeface="Poppins"/>
                <a:cs typeface="Poppins"/>
              </a:rPr>
              <a:t>Same raw value.</a:t>
            </a:r>
          </a:p>
          <a:p xmlns:a="http://schemas.openxmlformats.org/drawingml/2006/main">
            <a:pPr algn="l">
              <a:defRPr sz="3600" b="1">
                <a:solidFill>
                  <a:srgbClr val="191A18"/>
                </a:solidFill>
                <a:latin typeface="Poppins"/>
                <a:ea typeface="Poppins"/>
                <a:cs typeface="Poppins"/>
              </a:defRPr>
            </a:pPr>
            <a:r>
              <a:rPr sz="3600" b="1">
                <a:solidFill>
                  <a:srgbClr val="191A18"/>
                </a:solidFill>
                <a:latin typeface="Poppins"/>
                <a:ea typeface="Poppins"/>
                <a:cs typeface="Poppins"/>
              </a:rPr>
              <a:t>Different meaning.</a:t>
            </a:r>
          </a:p>
        </p:txBody>
      </p:sp>
      <p:sp>
        <p:nvSpPr>
          <p:cNvPr id="5" name="A: unusual change">
            <a:extLst xmlns:a="http://schemas.openxmlformats.org/drawingml/2006/main">
              <a:ext uri="{FF2B5EF4-FFF2-40B4-BE49-F238E27FC236}">
                <a16:creationId xmlns:a16="http://schemas.microsoft.com/office/drawing/2014/main" id="{294DA4F9-5554-4AF7-9D58-653D83C85F87}"/>
              </a:ext>
            </a:extLst>
          </p:cNvPr>
          <p:cNvSpPr>
            <a:spLocks xmlns:a="http://schemas.openxmlformats.org/drawingml/2006/main" noGrp="1"/>
          </p:cNvSpPr>
          <p:nvPr/>
        </p:nvSpPr>
        <p:spPr>
          <a:xfrm xmlns:a="http://schemas.openxmlformats.org/drawingml/2006/main">
            <a:off x="12620625" y="6134100"/>
            <a:ext cx="4572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700" b="1">
                <a:solidFill>
                  <a:srgbClr val="9B712B"/>
                </a:solidFill>
                <a:latin typeface="Poppins"/>
                <a:ea typeface="Poppins"/>
                <a:cs typeface="Poppins"/>
              </a:defRPr>
            </a:pPr>
            <a:r>
              <a:rPr sz="2700" b="1">
                <a:solidFill>
                  <a:srgbClr val="9B712B"/>
                </a:solidFill>
                <a:latin typeface="Poppins"/>
                <a:ea typeface="Poppins"/>
                <a:cs typeface="Poppins"/>
              </a:rPr>
              <a:t>A: unusual change</a:t>
            </a:r>
          </a:p>
        </p:txBody>
      </p:sp>
      <p:sp>
        <p:nvSpPr>
          <p:cNvPr id="6" name="B: within usual range">
            <a:extLst xmlns:a="http://schemas.openxmlformats.org/drawingml/2006/main">
              <a:ext uri="{FF2B5EF4-FFF2-40B4-BE49-F238E27FC236}">
                <a16:creationId xmlns:a16="http://schemas.microsoft.com/office/drawing/2014/main" id="{D2B55C88-7AF1-4316-8A87-E7F81960F515}"/>
              </a:ext>
            </a:extLst>
          </p:cNvPr>
          <p:cNvSpPr>
            <a:spLocks xmlns:a="http://schemas.openxmlformats.org/drawingml/2006/main" noGrp="1"/>
          </p:cNvSpPr>
          <p:nvPr/>
        </p:nvSpPr>
        <p:spPr>
          <a:xfrm xmlns:a="http://schemas.openxmlformats.org/drawingml/2006/main">
            <a:off x="12620625" y="7143750"/>
            <a:ext cx="4572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700" b="1">
                <a:solidFill>
                  <a:srgbClr val="326B8C"/>
                </a:solidFill>
                <a:latin typeface="Poppins"/>
                <a:ea typeface="Poppins"/>
                <a:cs typeface="Poppins"/>
              </a:defRPr>
            </a:pPr>
            <a:r>
              <a:rPr sz="2700" b="1">
                <a:solidFill>
                  <a:srgbClr val="326B8C"/>
                </a:solidFill>
                <a:latin typeface="Poppins"/>
                <a:ea typeface="Poppins"/>
                <a:cs typeface="Poppins"/>
              </a:rPr>
              <a:t>B: within usual range</a:t>
            </a:r>
          </a:p>
        </p:txBody>
      </p:sp>
      <p:sp>
        <p:nvSpPr>
          <p:cNvPr id="7" name="Illustrative example • the current baseline routin">
            <a:extLst xmlns:a="http://schemas.openxmlformats.org/drawingml/2006/main">
              <a:ext uri="{FF2B5EF4-FFF2-40B4-BE49-F238E27FC236}">
                <a16:creationId xmlns:a16="http://schemas.microsoft.com/office/drawing/2014/main" id="{0C538E77-228C-43CE-B2F4-782D6BD7F88B}"/>
              </a:ext>
            </a:extLst>
          </p:cNvPr>
          <p:cNvSpPr>
            <a:spLocks xmlns:a="http://schemas.openxmlformats.org/drawingml/2006/main" noGrp="1"/>
          </p:cNvSpPr>
          <p:nvPr/>
        </p:nvSpPr>
        <p:spPr>
          <a:xfrm xmlns:a="http://schemas.openxmlformats.org/drawingml/2006/main">
            <a:off x="1047750" y="9486900"/>
            <a:ext cx="16097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0">
                <a:solidFill>
                  <a:srgbClr val="5A5D59"/>
                </a:solidFill>
                <a:latin typeface="Poppins"/>
                <a:ea typeface="Poppins"/>
                <a:cs typeface="Poppins"/>
              </a:defRPr>
            </a:pPr>
            <a:r>
              <a:rPr sz="1875" b="0">
                <a:solidFill>
                  <a:srgbClr val="5A5D59"/>
                </a:solidFill>
                <a:latin typeface="Poppins"/>
                <a:ea typeface="Poppins"/>
                <a:cs typeface="Poppins"/>
              </a:rPr>
              <a:t>Illustrative example • the current baseline routine collects 120 seconds of EEG</a:t>
            </a:r>
          </a:p>
        </p:txBody>
      </p:sp>
      <p:pic xmlns:a="http://schemas.openxmlformats.org/drawingml/2006/main" xmlns:r="http://schemas.openxmlformats.org/officeDocument/2006/relationships">
        <p:nvPicPr>
          <p:cNvPr id="11" name="baseline video">
            <a:hlinkClick action="ppaction://media"/>
          </p:cNvPr>
          <p:cNvPicPr>
            <a:picLocks noChangeAspect="1"/>
          </p:cNvPicPr>
          <p:nvPr>
            <a:videoFile r:link="rIdMemoryVideo6"/>
            <p:extLst>
              <p:ext uri="{DAA4B4D4-6D71-4841-9C94-3DE7FCFB9230}">
                <p14:media xmlns:p14="http://schemas.microsoft.com/office/powerpoint/2010/main" r:embed="rIdMemoryMedia6"/>
              </p:ext>
            </p:extLst>
          </p:nvPr>
        </p:nvPicPr>
        <p:blipFill>
          <a:blip r:embed="rIdMemoryPoster6"/>
          <a:stretch>
            <a:fillRect/>
          </a:stretch>
        </p:blipFill>
        <p:spPr>
          <a:xfrm>
            <a:off x="0" y="0"/>
            <a:ext cx="18288000" cy="10287000"/>
          </a:xfrm>
          <a:prstGeom prst="rect">
            <a:avLst/>
          </a:prstGeom>
        </p:spPr>
      </p:pic>
    </p:spTree>
    <p:extLst>
      <p:ext uri="{BB962C8B-B14F-4D97-AF65-F5344CB8AC3E}">
        <p14:creationId xmlns:p14="http://schemas.microsoft.com/office/powerpoint/2010/main" val="1767475317"/>
      </p:ext>
    </p:extLst>
  </p:cSld>
</p:sld>
</file>

<file path=ppt/slides/slide7.xml><?xml version="1.0" encoding="utf-8"?>
<p:sld xmlns:p="http://schemas.openxmlformats.org/presentationml/2006/main">
  <p:cSld>
    <p:bg>
      <p:bgPr>
        <a:solidFill xmlns:a="http://schemas.openxmlformats.org/drawingml/2006/main">
          <a:srgbClr val="F3EFE6"/>
        </a:solidFill>
      </p:bgPr>
    </p:bg>
    <p:spTree>
      <p:nvGrpSpPr>
        <p:cNvPr id="1" name=""/>
        <p:cNvGrpSpPr/>
        <p:nvPr/>
      </p:nvGrpSpPr>
      <p:grpSpPr>
        <a:xfrm xmlns:a="http://schemas.openxmlformats.org/drawingml/2006/main"/>
      </p:grpSpPr>
      <p:sp>
        <p:nvSpPr>
          <p:cNvPr id="21" name="Four fresh windows confirm one event">
            <a:extLst xmlns:a="http://schemas.openxmlformats.org/drawingml/2006/main">
              <a:ext uri="{FF2B5EF4-FFF2-40B4-BE49-F238E27FC236}">
                <a16:creationId xmlns:a16="http://schemas.microsoft.com/office/drawing/2014/main" id="{320A5D14-3C62-4B90-B127-53B691008C54}"/>
              </a:ext>
            </a:extLst>
          </p:cNvPr>
          <p:cNvSpPr>
            <a:spLocks xmlns:a="http://schemas.openxmlformats.org/drawingml/2006/main" noGrp="1"/>
          </p:cNvSpPr>
          <p:nvPr/>
        </p:nvSpPr>
        <p:spPr>
          <a:xfrm xmlns:a="http://schemas.openxmlformats.org/drawingml/2006/main">
            <a:off x="1000125" y="742950"/>
            <a:ext cx="162877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5400" b="1">
                <a:solidFill>
                  <a:srgbClr val="191A18"/>
                </a:solidFill>
                <a:latin typeface="Poppins"/>
                <a:ea typeface="Poppins"/>
                <a:cs typeface="Poppins"/>
              </a:defRPr>
            </a:pPr>
            <a:r>
              <a:rPr sz="5400" b="1">
                <a:solidFill>
                  <a:srgbClr val="191A18"/>
                </a:solidFill>
                <a:latin typeface="Poppins"/>
                <a:ea typeface="Poppins"/>
                <a:cs typeface="Poppins"/>
              </a:rPr>
              <a:t>Four fresh windows confirm one event</a:t>
            </a:r>
          </a:p>
        </p:txBody>
      </p:sp>
      <p:sp>
        <p:nvSpPr>
          <p:cNvPr id="2" name="Each window uses new EEG samples. A dip below the ">
            <a:extLst xmlns:a="http://schemas.openxmlformats.org/drawingml/2006/main">
              <a:ext uri="{FF2B5EF4-FFF2-40B4-BE49-F238E27FC236}">
                <a16:creationId xmlns:a16="http://schemas.microsoft.com/office/drawing/2014/main" id="{84BD6964-243E-4AC5-9E89-BFA0DD97F35F}"/>
              </a:ext>
            </a:extLst>
          </p:cNvPr>
          <p:cNvSpPr>
            <a:spLocks xmlns:a="http://schemas.openxmlformats.org/drawingml/2006/main" noGrp="1"/>
          </p:cNvSpPr>
          <p:nvPr/>
        </p:nvSpPr>
        <p:spPr>
          <a:xfrm xmlns:a="http://schemas.openxmlformats.org/drawingml/2006/main">
            <a:off x="1047750" y="2028825"/>
            <a:ext cx="16192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625" b="0">
                <a:solidFill>
                  <a:srgbClr val="5A5D59"/>
                </a:solidFill>
                <a:latin typeface="Poppins"/>
                <a:ea typeface="Poppins"/>
                <a:cs typeface="Poppins"/>
              </a:defRPr>
            </a:pPr>
            <a:r>
              <a:rPr sz="2625" b="0">
                <a:solidFill>
                  <a:srgbClr val="5A5D59"/>
                </a:solidFill>
                <a:latin typeface="Poppins"/>
                <a:ea typeface="Poppins"/>
                <a:cs typeface="Poppins"/>
              </a:rPr>
              <a:t>Each window uses new EEG samples. A dip below the threshold resets the count.</a:t>
            </a:r>
          </a:p>
        </p:txBody>
      </p:sp>
      <p:sp>
        <p:nvSpPr>
          <p:cNvPr id="3" name="diagram">
            <a:extLst xmlns:a="http://schemas.openxmlformats.org/drawingml/2006/main">
              <a:ext uri="{FF2B5EF4-FFF2-40B4-BE49-F238E27FC236}">
                <a16:creationId xmlns:a16="http://schemas.microsoft.com/office/drawing/2014/main" id="{DF8667D2-68BF-4803-9FEA-D0E81E33D333}"/>
              </a:ext>
            </a:extLst>
          </p:cNvPr>
          <p:cNvSpPr>
            <a:spLocks xmlns:a="http://schemas.openxmlformats.org/drawingml/2006/main" noGrp="1"/>
          </p:cNvSpPr>
          <p:nvPr/>
        </p:nvSpPr>
        <p:spPr>
          <a:xfrm xmlns:a="http://schemas.openxmlformats.org/drawingml/2006/main">
            <a:off x="1047750" y="4000500"/>
            <a:ext cx="3524250" cy="2095500"/>
          </a:xfrm>
          <a:prstGeom xmlns:a="http://schemas.openxmlformats.org/drawingml/2006/main" prst="rect">
            <a:avLst/>
          </a:prstGeom>
          <a:solidFill xmlns:a="http://schemas.openxmlformats.org/drawingml/2006/main">
            <a:srgbClr val="326B8C"/>
          </a:solidFill>
          <a:ln xmlns:a="http://schemas.openxmlformats.org/drawingml/2006/main" w="0">
            <a:noFill/>
          </a:ln>
        </p:spPr>
      </p:sp>
      <p:sp>
        <p:nvSpPr>
          <p:cNvPr id="4" name="0–4 s">
            <a:extLst xmlns:a="http://schemas.openxmlformats.org/drawingml/2006/main">
              <a:ext uri="{FF2B5EF4-FFF2-40B4-BE49-F238E27FC236}">
                <a16:creationId xmlns:a16="http://schemas.microsoft.com/office/drawing/2014/main" id="{381F95F1-43EA-41B7-B705-44F883008CF3}"/>
              </a:ext>
            </a:extLst>
          </p:cNvPr>
          <p:cNvSpPr>
            <a:spLocks xmlns:a="http://schemas.openxmlformats.org/drawingml/2006/main" noGrp="1"/>
          </p:cNvSpPr>
          <p:nvPr/>
        </p:nvSpPr>
        <p:spPr>
          <a:xfrm xmlns:a="http://schemas.openxmlformats.org/drawingml/2006/main">
            <a:off x="1219200" y="4343400"/>
            <a:ext cx="31813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4200" b="1">
                <a:solidFill>
                  <a:srgbClr val="FFFFFF"/>
                </a:solidFill>
                <a:latin typeface="Poppins"/>
                <a:ea typeface="Poppins"/>
                <a:cs typeface="Poppins"/>
              </a:defRPr>
            </a:pPr>
            <a:r>
              <a:rPr sz="4200" b="1">
                <a:solidFill>
                  <a:srgbClr val="FFFFFF"/>
                </a:solidFill>
                <a:latin typeface="Poppins"/>
                <a:ea typeface="Poppins"/>
                <a:cs typeface="Poppins"/>
              </a:rPr>
              <a:t>0–4 s</a:t>
            </a:r>
          </a:p>
        </p:txBody>
      </p:sp>
      <p:sp>
        <p:nvSpPr>
          <p:cNvPr id="5" name="Elevated">
            <a:extLst xmlns:a="http://schemas.openxmlformats.org/drawingml/2006/main">
              <a:ext uri="{FF2B5EF4-FFF2-40B4-BE49-F238E27FC236}">
                <a16:creationId xmlns:a16="http://schemas.microsoft.com/office/drawing/2014/main" id="{FFE962AC-4AD4-47C2-A424-6DDA059ABBFA}"/>
              </a:ext>
            </a:extLst>
          </p:cNvPr>
          <p:cNvSpPr>
            <a:spLocks xmlns:a="http://schemas.openxmlformats.org/drawingml/2006/main" noGrp="1"/>
          </p:cNvSpPr>
          <p:nvPr/>
        </p:nvSpPr>
        <p:spPr>
          <a:xfrm xmlns:a="http://schemas.openxmlformats.org/drawingml/2006/main">
            <a:off x="1219200" y="5267325"/>
            <a:ext cx="31813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0">
                <a:solidFill>
                  <a:srgbClr val="FFFFFF"/>
                </a:solidFill>
                <a:latin typeface="Poppins"/>
                <a:ea typeface="Poppins"/>
                <a:cs typeface="Poppins"/>
              </a:defRPr>
            </a:pPr>
            <a:r>
              <a:rPr sz="2400" b="0">
                <a:solidFill>
                  <a:srgbClr val="FFFFFF"/>
                </a:solidFill>
                <a:latin typeface="Poppins"/>
                <a:ea typeface="Poppins"/>
                <a:cs typeface="Poppins"/>
              </a:rPr>
              <a:t>Elevated</a:t>
            </a:r>
          </a:p>
        </p:txBody>
      </p:sp>
      <p:sp>
        <p:nvSpPr>
          <p:cNvPr id="6" name="diagram">
            <a:extLst xmlns:a="http://schemas.openxmlformats.org/drawingml/2006/main">
              <a:ext uri="{FF2B5EF4-FFF2-40B4-BE49-F238E27FC236}">
                <a16:creationId xmlns:a16="http://schemas.microsoft.com/office/drawing/2014/main" id="{DCEDA0F8-78E0-4E92-AAA8-499E3CF6B54F}"/>
              </a:ext>
            </a:extLst>
          </p:cNvPr>
          <p:cNvSpPr>
            <a:spLocks xmlns:a="http://schemas.openxmlformats.org/drawingml/2006/main" noGrp="1"/>
          </p:cNvSpPr>
          <p:nvPr/>
        </p:nvSpPr>
        <p:spPr>
          <a:xfrm xmlns:a="http://schemas.openxmlformats.org/drawingml/2006/main">
            <a:off x="5095875" y="4000500"/>
            <a:ext cx="3524250" cy="2095500"/>
          </a:xfrm>
          <a:prstGeom xmlns:a="http://schemas.openxmlformats.org/drawingml/2006/main" prst="rect">
            <a:avLst/>
          </a:prstGeom>
          <a:solidFill xmlns:a="http://schemas.openxmlformats.org/drawingml/2006/main">
            <a:srgbClr val="326B8C"/>
          </a:solidFill>
          <a:ln xmlns:a="http://schemas.openxmlformats.org/drawingml/2006/main" w="0">
            <a:noFill/>
          </a:ln>
        </p:spPr>
      </p:sp>
      <p:sp>
        <p:nvSpPr>
          <p:cNvPr id="7" name="4–8 s">
            <a:extLst xmlns:a="http://schemas.openxmlformats.org/drawingml/2006/main">
              <a:ext uri="{FF2B5EF4-FFF2-40B4-BE49-F238E27FC236}">
                <a16:creationId xmlns:a16="http://schemas.microsoft.com/office/drawing/2014/main" id="{1FB7C764-7D6C-4C22-B0D4-96EC5822B402}"/>
              </a:ext>
            </a:extLst>
          </p:cNvPr>
          <p:cNvSpPr>
            <a:spLocks xmlns:a="http://schemas.openxmlformats.org/drawingml/2006/main" noGrp="1"/>
          </p:cNvSpPr>
          <p:nvPr/>
        </p:nvSpPr>
        <p:spPr>
          <a:xfrm xmlns:a="http://schemas.openxmlformats.org/drawingml/2006/main">
            <a:off x="5267325" y="4343400"/>
            <a:ext cx="31813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4200" b="1">
                <a:solidFill>
                  <a:srgbClr val="FFFFFF"/>
                </a:solidFill>
                <a:latin typeface="Poppins"/>
                <a:ea typeface="Poppins"/>
                <a:cs typeface="Poppins"/>
              </a:defRPr>
            </a:pPr>
            <a:r>
              <a:rPr sz="4200" b="1">
                <a:solidFill>
                  <a:srgbClr val="FFFFFF"/>
                </a:solidFill>
                <a:latin typeface="Poppins"/>
                <a:ea typeface="Poppins"/>
                <a:cs typeface="Poppins"/>
              </a:rPr>
              <a:t>4–8 s</a:t>
            </a:r>
          </a:p>
        </p:txBody>
      </p:sp>
      <p:sp>
        <p:nvSpPr>
          <p:cNvPr id="8" name="Elevated">
            <a:extLst xmlns:a="http://schemas.openxmlformats.org/drawingml/2006/main">
              <a:ext uri="{FF2B5EF4-FFF2-40B4-BE49-F238E27FC236}">
                <a16:creationId xmlns:a16="http://schemas.microsoft.com/office/drawing/2014/main" id="{177FC957-7170-4BC0-B74A-2DA9A65607FC}"/>
              </a:ext>
            </a:extLst>
          </p:cNvPr>
          <p:cNvSpPr>
            <a:spLocks xmlns:a="http://schemas.openxmlformats.org/drawingml/2006/main" noGrp="1"/>
          </p:cNvSpPr>
          <p:nvPr/>
        </p:nvSpPr>
        <p:spPr>
          <a:xfrm xmlns:a="http://schemas.openxmlformats.org/drawingml/2006/main">
            <a:off x="5267325" y="5267325"/>
            <a:ext cx="31813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0">
                <a:solidFill>
                  <a:srgbClr val="FFFFFF"/>
                </a:solidFill>
                <a:latin typeface="Poppins"/>
                <a:ea typeface="Poppins"/>
                <a:cs typeface="Poppins"/>
              </a:defRPr>
            </a:pPr>
            <a:r>
              <a:rPr sz="2400" b="0">
                <a:solidFill>
                  <a:srgbClr val="FFFFFF"/>
                </a:solidFill>
                <a:latin typeface="Poppins"/>
                <a:ea typeface="Poppins"/>
                <a:cs typeface="Poppins"/>
              </a:rPr>
              <a:t>Elevated</a:t>
            </a:r>
          </a:p>
        </p:txBody>
      </p:sp>
      <p:cxnSp>
        <p:nvCxnSpPr>
          <p:cNvPr id="29" name=""/>
          <p:cNvCxnSpPr>
            <a:stCxn xmlns:a="http://schemas.openxmlformats.org/drawingml/2006/main" id="3" idx="3"/>
            <a:endCxn xmlns:a="http://schemas.openxmlformats.org/drawingml/2006/main" id="6" idx="1"/>
          </p:cNvCxnSpPr>
          <p:nvPr/>
        </p:nvCxnSpPr>
        <p:spPr>
          <a:xfrm xmlns:a="http://schemas.openxmlformats.org/drawingml/2006/main">
            <a:off x="4572000" y="5048250"/>
            <a:ext cx="523875" cy="0"/>
          </a:xfrm>
          <a:prstGeom xmlns:a="http://schemas.openxmlformats.org/drawingml/2006/main" prst="straightConnector1">
            <a:avLst/>
          </a:prstGeom>
          <a:ln xmlns:a="http://schemas.openxmlformats.org/drawingml/2006/main" w="38100">
            <a:solidFill>
              <a:srgbClr val="9B712B"/>
            </a:solidFill>
            <a:tailEnd type="triangle" w="med" len="med"/>
          </a:ln>
        </p:spPr>
      </p:cxnSp>
      <p:sp>
        <p:nvSpPr>
          <p:cNvPr id="10" name="diagram">
            <a:extLst xmlns:a="http://schemas.openxmlformats.org/drawingml/2006/main">
              <a:ext uri="{FF2B5EF4-FFF2-40B4-BE49-F238E27FC236}">
                <a16:creationId xmlns:a16="http://schemas.microsoft.com/office/drawing/2014/main" id="{151AB846-88B7-4B26-BF39-B711A41D0CE9}"/>
              </a:ext>
            </a:extLst>
          </p:cNvPr>
          <p:cNvSpPr>
            <a:spLocks xmlns:a="http://schemas.openxmlformats.org/drawingml/2006/main" noGrp="1"/>
          </p:cNvSpPr>
          <p:nvPr/>
        </p:nvSpPr>
        <p:spPr>
          <a:xfrm xmlns:a="http://schemas.openxmlformats.org/drawingml/2006/main">
            <a:off x="9144000" y="4000500"/>
            <a:ext cx="3524250" cy="2095500"/>
          </a:xfrm>
          <a:prstGeom xmlns:a="http://schemas.openxmlformats.org/drawingml/2006/main" prst="rect">
            <a:avLst/>
          </a:prstGeom>
          <a:solidFill xmlns:a="http://schemas.openxmlformats.org/drawingml/2006/main">
            <a:srgbClr val="326B8C"/>
          </a:solidFill>
          <a:ln xmlns:a="http://schemas.openxmlformats.org/drawingml/2006/main" w="0">
            <a:noFill/>
          </a:ln>
        </p:spPr>
      </p:sp>
      <p:sp>
        <p:nvSpPr>
          <p:cNvPr id="11" name="8–12 s">
            <a:extLst xmlns:a="http://schemas.openxmlformats.org/drawingml/2006/main">
              <a:ext uri="{FF2B5EF4-FFF2-40B4-BE49-F238E27FC236}">
                <a16:creationId xmlns:a16="http://schemas.microsoft.com/office/drawing/2014/main" id="{17C3EBBD-3CD7-4FC0-A52C-64E1B6F190A7}"/>
              </a:ext>
            </a:extLst>
          </p:cNvPr>
          <p:cNvSpPr>
            <a:spLocks xmlns:a="http://schemas.openxmlformats.org/drawingml/2006/main" noGrp="1"/>
          </p:cNvSpPr>
          <p:nvPr/>
        </p:nvSpPr>
        <p:spPr>
          <a:xfrm xmlns:a="http://schemas.openxmlformats.org/drawingml/2006/main">
            <a:off x="9315450" y="4343400"/>
            <a:ext cx="31813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4200" b="1">
                <a:solidFill>
                  <a:srgbClr val="FFFFFF"/>
                </a:solidFill>
                <a:latin typeface="Poppins"/>
                <a:ea typeface="Poppins"/>
                <a:cs typeface="Poppins"/>
              </a:defRPr>
            </a:pPr>
            <a:r>
              <a:rPr sz="4200" b="1">
                <a:solidFill>
                  <a:srgbClr val="FFFFFF"/>
                </a:solidFill>
                <a:latin typeface="Poppins"/>
                <a:ea typeface="Poppins"/>
                <a:cs typeface="Poppins"/>
              </a:rPr>
              <a:t>8–12 s</a:t>
            </a:r>
          </a:p>
        </p:txBody>
      </p:sp>
      <p:sp>
        <p:nvSpPr>
          <p:cNvPr id="12" name="Elevated">
            <a:extLst xmlns:a="http://schemas.openxmlformats.org/drawingml/2006/main">
              <a:ext uri="{FF2B5EF4-FFF2-40B4-BE49-F238E27FC236}">
                <a16:creationId xmlns:a16="http://schemas.microsoft.com/office/drawing/2014/main" id="{D7C0342D-2FE0-4CFA-B0F2-57B7BEFB3003}"/>
              </a:ext>
            </a:extLst>
          </p:cNvPr>
          <p:cNvSpPr>
            <a:spLocks xmlns:a="http://schemas.openxmlformats.org/drawingml/2006/main" noGrp="1"/>
          </p:cNvSpPr>
          <p:nvPr/>
        </p:nvSpPr>
        <p:spPr>
          <a:xfrm xmlns:a="http://schemas.openxmlformats.org/drawingml/2006/main">
            <a:off x="9315450" y="5267325"/>
            <a:ext cx="31813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0">
                <a:solidFill>
                  <a:srgbClr val="FFFFFF"/>
                </a:solidFill>
                <a:latin typeface="Poppins"/>
                <a:ea typeface="Poppins"/>
                <a:cs typeface="Poppins"/>
              </a:defRPr>
            </a:pPr>
            <a:r>
              <a:rPr sz="2400" b="0">
                <a:solidFill>
                  <a:srgbClr val="FFFFFF"/>
                </a:solidFill>
                <a:latin typeface="Poppins"/>
                <a:ea typeface="Poppins"/>
                <a:cs typeface="Poppins"/>
              </a:rPr>
              <a:t>Elevated</a:t>
            </a:r>
          </a:p>
        </p:txBody>
      </p:sp>
      <p:cxnSp>
        <p:nvCxnSpPr>
          <p:cNvPr id="33" name=""/>
          <p:cNvCxnSpPr>
            <a:stCxn xmlns:a="http://schemas.openxmlformats.org/drawingml/2006/main" id="6" idx="3"/>
            <a:endCxn xmlns:a="http://schemas.openxmlformats.org/drawingml/2006/main" id="10" idx="1"/>
          </p:cNvCxnSpPr>
          <p:nvPr/>
        </p:nvCxnSpPr>
        <p:spPr>
          <a:xfrm xmlns:a="http://schemas.openxmlformats.org/drawingml/2006/main">
            <a:off x="8620125" y="5048250"/>
            <a:ext cx="523875" cy="0"/>
          </a:xfrm>
          <a:prstGeom xmlns:a="http://schemas.openxmlformats.org/drawingml/2006/main" prst="straightConnector1">
            <a:avLst/>
          </a:prstGeom>
          <a:ln xmlns:a="http://schemas.openxmlformats.org/drawingml/2006/main" w="38100">
            <a:solidFill>
              <a:srgbClr val="9B712B"/>
            </a:solidFill>
            <a:tailEnd type="triangle" w="med" len="med"/>
          </a:ln>
        </p:spPr>
      </p:cxnSp>
      <p:sp>
        <p:nvSpPr>
          <p:cNvPr id="14" name="diagram">
            <a:extLst xmlns:a="http://schemas.openxmlformats.org/drawingml/2006/main">
              <a:ext uri="{FF2B5EF4-FFF2-40B4-BE49-F238E27FC236}">
                <a16:creationId xmlns:a16="http://schemas.microsoft.com/office/drawing/2014/main" id="{98DBFE71-2875-46D6-A202-A0DE2D32872B}"/>
              </a:ext>
            </a:extLst>
          </p:cNvPr>
          <p:cNvSpPr>
            <a:spLocks xmlns:a="http://schemas.openxmlformats.org/drawingml/2006/main" noGrp="1"/>
          </p:cNvSpPr>
          <p:nvPr/>
        </p:nvSpPr>
        <p:spPr>
          <a:xfrm xmlns:a="http://schemas.openxmlformats.org/drawingml/2006/main">
            <a:off x="13192125" y="4000500"/>
            <a:ext cx="3524250" cy="2095500"/>
          </a:xfrm>
          <a:prstGeom xmlns:a="http://schemas.openxmlformats.org/drawingml/2006/main" prst="rect">
            <a:avLst/>
          </a:prstGeom>
          <a:solidFill xmlns:a="http://schemas.openxmlformats.org/drawingml/2006/main">
            <a:srgbClr val="326B8C"/>
          </a:solidFill>
          <a:ln xmlns:a="http://schemas.openxmlformats.org/drawingml/2006/main" w="0">
            <a:noFill/>
          </a:ln>
        </p:spPr>
      </p:sp>
      <p:sp>
        <p:nvSpPr>
          <p:cNvPr id="15" name="12–16 s">
            <a:extLst xmlns:a="http://schemas.openxmlformats.org/drawingml/2006/main">
              <a:ext uri="{FF2B5EF4-FFF2-40B4-BE49-F238E27FC236}">
                <a16:creationId xmlns:a16="http://schemas.microsoft.com/office/drawing/2014/main" id="{E172B9B6-24F4-448A-942B-DA25F8CA994E}"/>
              </a:ext>
            </a:extLst>
          </p:cNvPr>
          <p:cNvSpPr>
            <a:spLocks xmlns:a="http://schemas.openxmlformats.org/drawingml/2006/main" noGrp="1"/>
          </p:cNvSpPr>
          <p:nvPr/>
        </p:nvSpPr>
        <p:spPr>
          <a:xfrm xmlns:a="http://schemas.openxmlformats.org/drawingml/2006/main">
            <a:off x="13363575" y="4343400"/>
            <a:ext cx="31813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4200" b="1">
                <a:solidFill>
                  <a:srgbClr val="FFFFFF"/>
                </a:solidFill>
                <a:latin typeface="Poppins"/>
                <a:ea typeface="Poppins"/>
                <a:cs typeface="Poppins"/>
              </a:defRPr>
            </a:pPr>
            <a:r>
              <a:rPr sz="4200" b="1">
                <a:solidFill>
                  <a:srgbClr val="FFFFFF"/>
                </a:solidFill>
                <a:latin typeface="Poppins"/>
                <a:ea typeface="Poppins"/>
                <a:cs typeface="Poppins"/>
              </a:rPr>
              <a:t>12–16 s</a:t>
            </a:r>
          </a:p>
        </p:txBody>
      </p:sp>
      <p:sp>
        <p:nvSpPr>
          <p:cNvPr id="16" name="Elevated">
            <a:extLst xmlns:a="http://schemas.openxmlformats.org/drawingml/2006/main">
              <a:ext uri="{FF2B5EF4-FFF2-40B4-BE49-F238E27FC236}">
                <a16:creationId xmlns:a16="http://schemas.microsoft.com/office/drawing/2014/main" id="{DEF49FC1-CF5F-4A4F-8F35-28B8296B38A6}"/>
              </a:ext>
            </a:extLst>
          </p:cNvPr>
          <p:cNvSpPr>
            <a:spLocks xmlns:a="http://schemas.openxmlformats.org/drawingml/2006/main" noGrp="1"/>
          </p:cNvSpPr>
          <p:nvPr/>
        </p:nvSpPr>
        <p:spPr>
          <a:xfrm xmlns:a="http://schemas.openxmlformats.org/drawingml/2006/main">
            <a:off x="13363575" y="5267325"/>
            <a:ext cx="31813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0">
                <a:solidFill>
                  <a:srgbClr val="FFFFFF"/>
                </a:solidFill>
                <a:latin typeface="Poppins"/>
                <a:ea typeface="Poppins"/>
                <a:cs typeface="Poppins"/>
              </a:defRPr>
            </a:pPr>
            <a:r>
              <a:rPr sz="2400" b="0">
                <a:solidFill>
                  <a:srgbClr val="FFFFFF"/>
                </a:solidFill>
                <a:latin typeface="Poppins"/>
                <a:ea typeface="Poppins"/>
                <a:cs typeface="Poppins"/>
              </a:rPr>
              <a:t>Elevated</a:t>
            </a:r>
          </a:p>
        </p:txBody>
      </p:sp>
      <p:cxnSp>
        <p:nvCxnSpPr>
          <p:cNvPr id="37" name=""/>
          <p:cNvCxnSpPr>
            <a:stCxn xmlns:a="http://schemas.openxmlformats.org/drawingml/2006/main" id="10" idx="3"/>
            <a:endCxn xmlns:a="http://schemas.openxmlformats.org/drawingml/2006/main" id="14" idx="1"/>
          </p:cNvCxnSpPr>
          <p:nvPr/>
        </p:nvCxnSpPr>
        <p:spPr>
          <a:xfrm xmlns:a="http://schemas.openxmlformats.org/drawingml/2006/main">
            <a:off x="12668250" y="5048250"/>
            <a:ext cx="523875" cy="0"/>
          </a:xfrm>
          <a:prstGeom xmlns:a="http://schemas.openxmlformats.org/drawingml/2006/main" prst="straightConnector1">
            <a:avLst/>
          </a:prstGeom>
          <a:ln xmlns:a="http://schemas.openxmlformats.org/drawingml/2006/main" w="38100">
            <a:solidFill>
              <a:srgbClr val="9B712B"/>
            </a:solidFill>
            <a:tailEnd type="triangle" w="med" len="med"/>
          </a:ln>
        </p:spPr>
      </p:cxnSp>
      <p:sp>
        <p:nvSpPr>
          <p:cNvPr id="18" name="4 / 4 confirmed">
            <a:extLst xmlns:a="http://schemas.openxmlformats.org/drawingml/2006/main">
              <a:ext uri="{FF2B5EF4-FFF2-40B4-BE49-F238E27FC236}">
                <a16:creationId xmlns:a16="http://schemas.microsoft.com/office/drawing/2014/main" id="{1D8B1A37-EE8F-4950-9AC2-2527EEC1EE8A}"/>
              </a:ext>
            </a:extLst>
          </p:cNvPr>
          <p:cNvSpPr>
            <a:spLocks xmlns:a="http://schemas.openxmlformats.org/drawingml/2006/main" noGrp="1"/>
          </p:cNvSpPr>
          <p:nvPr/>
        </p:nvSpPr>
        <p:spPr>
          <a:xfrm xmlns:a="http://schemas.openxmlformats.org/drawingml/2006/main">
            <a:off x="1047750" y="7000875"/>
            <a:ext cx="12382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4875" b="1">
                <a:solidFill>
                  <a:srgbClr val="191A18"/>
                </a:solidFill>
                <a:latin typeface="Poppins"/>
                <a:ea typeface="Poppins"/>
                <a:cs typeface="Poppins"/>
              </a:defRPr>
            </a:pPr>
            <a:r>
              <a:rPr sz="4875" b="1">
                <a:solidFill>
                  <a:srgbClr val="191A18"/>
                </a:solidFill>
                <a:latin typeface="Poppins"/>
                <a:ea typeface="Poppins"/>
                <a:cs typeface="Poppins"/>
              </a:rPr>
              <a:t>4 / 4 confirmed</a:t>
            </a:r>
          </a:p>
        </p:txBody>
      </p:sp>
      <p:sp>
        <p:nvSpPr>
          <p:cNvPr id="19" name="Flag the moment">
            <a:extLst xmlns:a="http://schemas.openxmlformats.org/drawingml/2006/main">
              <a:ext uri="{FF2B5EF4-FFF2-40B4-BE49-F238E27FC236}">
                <a16:creationId xmlns:a16="http://schemas.microsoft.com/office/drawing/2014/main" id="{9BBEAD7E-CD9D-4A17-A085-5A4578ECDA09}"/>
              </a:ext>
            </a:extLst>
          </p:cNvPr>
          <p:cNvSpPr>
            <a:spLocks xmlns:a="http://schemas.openxmlformats.org/drawingml/2006/main" noGrp="1"/>
          </p:cNvSpPr>
          <p:nvPr/>
        </p:nvSpPr>
        <p:spPr>
          <a:xfrm xmlns:a="http://schemas.openxmlformats.org/drawingml/2006/main">
            <a:off x="1047750" y="8210550"/>
            <a:ext cx="13811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4425" b="1">
                <a:solidFill>
                  <a:srgbClr val="9B712B"/>
                </a:solidFill>
                <a:latin typeface="Poppins"/>
                <a:ea typeface="Poppins"/>
                <a:cs typeface="Poppins"/>
              </a:defRPr>
            </a:pPr>
            <a:r>
              <a:rPr sz="4425" b="1">
                <a:solidFill>
                  <a:srgbClr val="9B712B"/>
                </a:solidFill>
                <a:latin typeface="Poppins"/>
                <a:ea typeface="Poppins"/>
                <a:cs typeface="Poppins"/>
              </a:rPr>
              <a:t>Flag the moment</a:t>
            </a:r>
          </a:p>
        </p:txBody>
      </p:sp>
      <p:sp>
        <p:nvSpPr>
          <p:cNvPr id="20" name="Current detector: 4-second non-overlapping windows">
            <a:extLst xmlns:a="http://schemas.openxmlformats.org/drawingml/2006/main">
              <a:ext uri="{FF2B5EF4-FFF2-40B4-BE49-F238E27FC236}">
                <a16:creationId xmlns:a16="http://schemas.microsoft.com/office/drawing/2014/main" id="{B833B49F-D97C-4D8D-81FA-6BC78D49823D}"/>
              </a:ext>
            </a:extLst>
          </p:cNvPr>
          <p:cNvSpPr>
            <a:spLocks xmlns:a="http://schemas.openxmlformats.org/drawingml/2006/main" noGrp="1"/>
          </p:cNvSpPr>
          <p:nvPr/>
        </p:nvSpPr>
        <p:spPr>
          <a:xfrm xmlns:a="http://schemas.openxmlformats.org/drawingml/2006/main">
            <a:off x="1047750" y="9486900"/>
            <a:ext cx="16097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0">
                <a:solidFill>
                  <a:srgbClr val="5A5D59"/>
                </a:solidFill>
                <a:latin typeface="Poppins"/>
                <a:ea typeface="Poppins"/>
                <a:cs typeface="Poppins"/>
              </a:defRPr>
            </a:pPr>
            <a:r>
              <a:rPr sz="1875" b="0">
                <a:solidFill>
                  <a:srgbClr val="5A5D59"/>
                </a:solidFill>
                <a:latin typeface="Poppins"/>
                <a:ea typeface="Poppins"/>
                <a:cs typeface="Poppins"/>
              </a:rPr>
              <a:t>Current detector: 4-second non-overlapping windows • illustrative signal sequence</a:t>
            </a:r>
          </a:p>
        </p:txBody>
      </p:sp>
      <p:pic xmlns:a="http://schemas.openxmlformats.org/drawingml/2006/main" xmlns:r="http://schemas.openxmlformats.org/officeDocument/2006/relationships">
        <p:nvPicPr>
          <p:cNvPr id="38" name="persistence video">
            <a:hlinkClick action="ppaction://media"/>
          </p:cNvPr>
          <p:cNvPicPr>
            <a:picLocks noChangeAspect="1"/>
          </p:cNvPicPr>
          <p:nvPr>
            <a:videoFile r:link="rIdMemoryVideo7"/>
            <p:extLst>
              <p:ext uri="{DAA4B4D4-6D71-4841-9C94-3DE7FCFB9230}">
                <p14:media xmlns:p14="http://schemas.microsoft.com/office/powerpoint/2010/main" r:embed="rIdMemoryMedia7"/>
              </p:ext>
            </p:extLst>
          </p:nvPr>
        </p:nvPicPr>
        <p:blipFill>
          <a:blip r:embed="rIdMemoryPoster7"/>
          <a:stretch>
            <a:fillRect/>
          </a:stretch>
        </p:blipFill>
        <p:spPr>
          <a:xfrm>
            <a:off x="0" y="0"/>
            <a:ext cx="18288000" cy="10287000"/>
          </a:xfrm>
          <a:prstGeom prst="rect">
            <a:avLst/>
          </a:prstGeom>
        </p:spPr>
      </p:pic>
    </p:spTree>
    <p:extLst>
      <p:ext uri="{BB962C8B-B14F-4D97-AF65-F5344CB8AC3E}">
        <p14:creationId xmlns:p14="http://schemas.microsoft.com/office/powerpoint/2010/main" val="1149477743"/>
      </p:ext>
    </p:extLst>
  </p:cSld>
</p:sld>
</file>

<file path=ppt/slides/slide8.xml><?xml version="1.0" encoding="utf-8"?>
<p:sld xmlns:p="http://schemas.openxmlformats.org/presentationml/2006/main">
  <p:cSld>
    <p:bg>
      <p:bgPr>
        <a:solidFill xmlns:a="http://schemas.openxmlformats.org/drawingml/2006/main">
          <a:srgbClr val="F3EFE6"/>
        </a:solidFill>
      </p:bgPr>
    </p:bg>
    <p:spTree>
      <p:nvGrpSpPr>
        <p:cNvPr id="1" name=""/>
        <p:cNvGrpSpPr/>
        <p:nvPr/>
      </p:nvGrpSpPr>
      <p:grpSpPr>
        <a:xfrm xmlns:a="http://schemas.openxmlformats.org/drawingml/2006/main"/>
      </p:grpSpPr>
      <p:sp>
        <p:nvSpPr>
          <p:cNvPr id="5" name="Fresh samples reduced false alarms">
            <a:extLst xmlns:a="http://schemas.openxmlformats.org/drawingml/2006/main">
              <a:ext uri="{FF2B5EF4-FFF2-40B4-BE49-F238E27FC236}">
                <a16:creationId xmlns:a16="http://schemas.microsoft.com/office/drawing/2014/main" id="{A5DD5A15-29BD-4E18-81FB-A0196B4067AF}"/>
              </a:ext>
            </a:extLst>
          </p:cNvPr>
          <p:cNvSpPr>
            <a:spLocks xmlns:a="http://schemas.openxmlformats.org/drawingml/2006/main" noGrp="1"/>
          </p:cNvSpPr>
          <p:nvPr/>
        </p:nvSpPr>
        <p:spPr>
          <a:xfrm xmlns:a="http://schemas.openxmlformats.org/drawingml/2006/main">
            <a:off x="1000125" y="742950"/>
            <a:ext cx="162877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5400" b="1">
                <a:solidFill>
                  <a:srgbClr val="191A18"/>
                </a:solidFill>
                <a:latin typeface="Poppins"/>
                <a:ea typeface="Poppins"/>
                <a:cs typeface="Poppins"/>
              </a:defRPr>
            </a:pPr>
            <a:r>
              <a:rPr sz="5400" b="1">
                <a:solidFill>
                  <a:srgbClr val="191A18"/>
                </a:solidFill>
                <a:latin typeface="Poppins"/>
                <a:ea typeface="Poppins"/>
                <a:cs typeface="Poppins"/>
              </a:rPr>
              <a:t>Fresh samples reduced false alarms</a:t>
            </a:r>
          </a:p>
        </p:txBody>
      </p:sp>
      <p:sp>
        <p:nvSpPr>
          <p:cNvPr id="2" name="Changing the overlap changed the result—even with ">
            <a:extLst xmlns:a="http://schemas.openxmlformats.org/drawingml/2006/main">
              <a:ext uri="{FF2B5EF4-FFF2-40B4-BE49-F238E27FC236}">
                <a16:creationId xmlns:a16="http://schemas.microsoft.com/office/drawing/2014/main" id="{1DF4E30F-835E-4339-8E16-9676A445AB97}"/>
              </a:ext>
            </a:extLst>
          </p:cNvPr>
          <p:cNvSpPr>
            <a:spLocks xmlns:a="http://schemas.openxmlformats.org/drawingml/2006/main" noGrp="1"/>
          </p:cNvSpPr>
          <p:nvPr/>
        </p:nvSpPr>
        <p:spPr>
          <a:xfrm xmlns:a="http://schemas.openxmlformats.org/drawingml/2006/main">
            <a:off x="1047750" y="2028825"/>
            <a:ext cx="16192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625" b="0">
                <a:solidFill>
                  <a:srgbClr val="5A5D59"/>
                </a:solidFill>
                <a:latin typeface="Poppins"/>
                <a:ea typeface="Poppins"/>
                <a:cs typeface="Poppins"/>
              </a:defRPr>
            </a:pPr>
            <a:r>
              <a:rPr sz="2625" b="0">
                <a:solidFill>
                  <a:srgbClr val="5A5D59"/>
                </a:solidFill>
                <a:latin typeface="Poppins"/>
                <a:ea typeface="Poppins"/>
                <a:cs typeface="Poppins"/>
              </a:rPr>
              <a:t>Changing the overlap changed the result—even with the same threshold.</a:t>
            </a:r>
          </a:p>
        </p:txBody>
      </p:sp>
      <p:graphicFrame>
        <p:nvGraphicFramePr>
          <p:cNvPr id="7" name="Chart"/>
          <p:cNvGraphicFramePr/>
          <p:nvPr/>
        </p:nvGraphicFramePr>
        <p:xfrm>
          <a:off xmlns:a="http://schemas.openxmlformats.org/drawingml/2006/main" x="1047750" y="3143250"/>
          <a:ext xmlns:a="http://schemas.openxmlformats.org/drawingml/2006/main" cx="16192500" cy="5143500"/>
        </p:xfrm>
        <a:graphic xmlns:a="http://schemas.openxmlformats.org/drawingml/2006/main">
          <a:graphicData uri="http://schemas.openxmlformats.org/drawingml/2006/chart">
            <c:chart xmlns:r="http://schemas.openxmlformats.org/officeDocument/2006/relationships" xmlns:c="http://schemas.openxmlformats.org/drawingml/2006/chart" r:id="Re4ee643391ec47f3"/>
          </a:graphicData>
        </a:graphic>
      </p:graphicFrame>
      <p:sp>
        <p:nvSpPr>
          <p:cNvPr id="4" name="Controlled synthetic fixture • same data and thres">
            <a:extLst xmlns:a="http://schemas.openxmlformats.org/drawingml/2006/main">
              <a:ext uri="{FF2B5EF4-FFF2-40B4-BE49-F238E27FC236}">
                <a16:creationId xmlns:a16="http://schemas.microsoft.com/office/drawing/2014/main" id="{15E95BC2-E377-47F5-BF71-5B4DD913D9C2}"/>
              </a:ext>
            </a:extLst>
          </p:cNvPr>
          <p:cNvSpPr>
            <a:spLocks xmlns:a="http://schemas.openxmlformats.org/drawingml/2006/main" noGrp="1"/>
          </p:cNvSpPr>
          <p:nvPr/>
        </p:nvSpPr>
        <p:spPr>
          <a:xfrm xmlns:a="http://schemas.openxmlformats.org/drawingml/2006/main">
            <a:off x="1047750" y="9486900"/>
            <a:ext cx="16097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0">
                <a:solidFill>
                  <a:srgbClr val="5A5D59"/>
                </a:solidFill>
                <a:latin typeface="Poppins"/>
                <a:ea typeface="Poppins"/>
                <a:cs typeface="Poppins"/>
              </a:defRPr>
            </a:pPr>
            <a:r>
              <a:rPr sz="1875" b="0">
                <a:solidFill>
                  <a:srgbClr val="5A5D59"/>
                </a:solidFill>
                <a:latin typeface="Poppins"/>
                <a:ea typeface="Poppins"/>
                <a:cs typeface="Poppins"/>
              </a:rPr>
              <a:t>Controlled synthetic fixture • same data and threshold • source: confusion-detector/README.md</a:t>
            </a:r>
          </a:p>
        </p:txBody>
      </p:sp>
    </p:spTree>
    <p:extLst>
      <p:ext uri="{BB962C8B-B14F-4D97-AF65-F5344CB8AC3E}">
        <p14:creationId xmlns:p14="http://schemas.microsoft.com/office/powerpoint/2010/main" val="900581424"/>
      </p:ext>
    </p:extLst>
  </p:cSld>
</p:sld>
</file>

<file path=ppt/slides/slide9.xml><?xml version="1.0" encoding="utf-8"?>
<p:sld xmlns:p="http://schemas.openxmlformats.org/presentationml/2006/main">
  <p:cSld>
    <p:bg>
      <p:bgPr>
        <a:solidFill xmlns:a="http://schemas.openxmlformats.org/drawingml/2006/main">
          <a:srgbClr val="F3EFE6"/>
        </a:solidFill>
      </p:bgPr>
    </p:bg>
    <p:spTree>
      <p:nvGrpSpPr>
        <p:cNvPr id="1" name=""/>
        <p:cNvGrpSpPr/>
        <p:nvPr/>
      </p:nvGrpSpPr>
      <p:grpSpPr>
        <a:xfrm xmlns:a="http://schemas.openxmlformats.org/drawingml/2006/main"/>
      </p:grpSpPr>
      <p:sp>
        <p:nvSpPr>
          <p:cNvPr id="7" name="Find the moment again">
            <a:extLst xmlns:a="http://schemas.openxmlformats.org/drawingml/2006/main">
              <a:ext uri="{FF2B5EF4-FFF2-40B4-BE49-F238E27FC236}">
                <a16:creationId xmlns:a16="http://schemas.microsoft.com/office/drawing/2014/main" id="{25C80501-46E5-414B-A2D5-6D1785C16626}"/>
              </a:ext>
            </a:extLst>
          </p:cNvPr>
          <p:cNvSpPr>
            <a:spLocks xmlns:a="http://schemas.openxmlformats.org/drawingml/2006/main" noGrp="1"/>
          </p:cNvSpPr>
          <p:nvPr/>
        </p:nvSpPr>
        <p:spPr>
          <a:xfrm xmlns:a="http://schemas.openxmlformats.org/drawingml/2006/main">
            <a:off x="1000125" y="742950"/>
            <a:ext cx="162877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5400" b="1">
                <a:solidFill>
                  <a:srgbClr val="191A18"/>
                </a:solidFill>
                <a:latin typeface="Poppins"/>
                <a:ea typeface="Poppins"/>
                <a:cs typeface="Poppins"/>
              </a:defRPr>
            </a:pPr>
            <a:r>
              <a:rPr sz="5400" b="1">
                <a:solidFill>
                  <a:srgbClr val="191A18"/>
                </a:solidFill>
                <a:latin typeface="Poppins"/>
                <a:ea typeface="Poppins"/>
                <a:cs typeface="Poppins"/>
              </a:rPr>
              <a:t>Find the moment again</a:t>
            </a:r>
          </a:p>
        </p:txBody>
      </p:sp>
      <p:sp>
        <p:nvSpPr>
          <p:cNvPr id="2" name="Search what you remember. Open the original clip.">
            <a:extLst xmlns:a="http://schemas.openxmlformats.org/drawingml/2006/main">
              <a:ext uri="{FF2B5EF4-FFF2-40B4-BE49-F238E27FC236}">
                <a16:creationId xmlns:a16="http://schemas.microsoft.com/office/drawing/2014/main" id="{6FD63CAE-7205-4859-947C-FB61ADA7C96B}"/>
              </a:ext>
            </a:extLst>
          </p:cNvPr>
          <p:cNvSpPr>
            <a:spLocks xmlns:a="http://schemas.openxmlformats.org/drawingml/2006/main" noGrp="1"/>
          </p:cNvSpPr>
          <p:nvPr/>
        </p:nvSpPr>
        <p:spPr>
          <a:xfrm xmlns:a="http://schemas.openxmlformats.org/drawingml/2006/main">
            <a:off x="1047750" y="2028825"/>
            <a:ext cx="16192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625" b="0">
                <a:solidFill>
                  <a:srgbClr val="5A5D59"/>
                </a:solidFill>
                <a:latin typeface="Poppins"/>
                <a:ea typeface="Poppins"/>
                <a:cs typeface="Poppins"/>
              </a:defRPr>
            </a:pPr>
            <a:r>
              <a:rPr sz="2625" b="0">
                <a:solidFill>
                  <a:srgbClr val="5A5D59"/>
                </a:solidFill>
                <a:latin typeface="Poppins"/>
                <a:ea typeface="Poppins"/>
                <a:cs typeface="Poppins"/>
              </a:rPr>
              <a:t>Search what you remember. Open the original clip.</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dcca9bcbc6b94e6f"/>
          <a:stretch xmlns:a="http://schemas.openxmlformats.org/drawingml/2006/main"/>
        </p:blipFill>
        <p:spPr>
          <a:xfrm xmlns:a="http://schemas.openxmlformats.org/drawingml/2006/main">
            <a:off x="1434042" y="3190875"/>
            <a:ext cx="11514667" cy="6477000"/>
          </a:xfrm>
          <a:prstGeom xmlns:a="http://schemas.openxmlformats.org/drawingml/2006/main" prst="rect">
            <a:avLst/>
          </a:prstGeom>
        </p:spPr>
      </p:pic>
      <p:sp>
        <p:nvSpPr>
          <p:cNvPr id="4" name="“laptop keyboard”">
            <a:extLst xmlns:a="http://schemas.openxmlformats.org/drawingml/2006/main">
              <a:ext uri="{FF2B5EF4-FFF2-40B4-BE49-F238E27FC236}">
                <a16:creationId xmlns:a16="http://schemas.microsoft.com/office/drawing/2014/main" id="{E15B018C-0AD9-4351-8E55-F24485039E7A}"/>
              </a:ext>
            </a:extLst>
          </p:cNvPr>
          <p:cNvSpPr>
            <a:spLocks xmlns:a="http://schemas.openxmlformats.org/drawingml/2006/main" noGrp="1"/>
          </p:cNvSpPr>
          <p:nvPr/>
        </p:nvSpPr>
        <p:spPr>
          <a:xfrm xmlns:a="http://schemas.openxmlformats.org/drawingml/2006/main">
            <a:off x="13811250" y="3857625"/>
            <a:ext cx="35242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075" b="1">
                <a:solidFill>
                  <a:srgbClr val="326B8C"/>
                </a:solidFill>
                <a:latin typeface="Poppins"/>
                <a:ea typeface="Poppins"/>
                <a:cs typeface="Poppins"/>
              </a:defRPr>
            </a:pPr>
            <a:r>
              <a:rPr sz="3075" b="1">
                <a:solidFill>
                  <a:srgbClr val="326B8C"/>
                </a:solidFill>
                <a:latin typeface="Poppins"/>
                <a:ea typeface="Poppins"/>
                <a:cs typeface="Poppins"/>
              </a:rPr>
              <a:t>“laptop keyboard”</a:t>
            </a:r>
          </a:p>
        </p:txBody>
      </p:sp>
      <p:sp>
        <p:nvSpPr>
          <p:cNvPr id="5" name="Search by a detail&#10;you still remember.">
            <a:extLst xmlns:a="http://schemas.openxmlformats.org/drawingml/2006/main">
              <a:ext uri="{FF2B5EF4-FFF2-40B4-BE49-F238E27FC236}">
                <a16:creationId xmlns:a16="http://schemas.microsoft.com/office/drawing/2014/main" id="{73C5A3FA-99F1-475C-9B25-F86BB1D59897}"/>
              </a:ext>
            </a:extLst>
          </p:cNvPr>
          <p:cNvSpPr>
            <a:spLocks xmlns:a="http://schemas.openxmlformats.org/drawingml/2006/main" noGrp="1"/>
          </p:cNvSpPr>
          <p:nvPr/>
        </p:nvSpPr>
        <p:spPr>
          <a:xfrm xmlns:a="http://schemas.openxmlformats.org/drawingml/2006/main">
            <a:off x="13811250" y="5762625"/>
            <a:ext cx="342900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625" b="0">
                <a:solidFill>
                  <a:srgbClr val="5A5D59"/>
                </a:solidFill>
                <a:latin typeface="Poppins"/>
                <a:ea typeface="Poppins"/>
                <a:cs typeface="Poppins"/>
              </a:defRPr>
            </a:pPr>
            <a:r>
              <a:rPr sz="2625" b="0">
                <a:solidFill>
                  <a:srgbClr val="5A5D59"/>
                </a:solidFill>
                <a:latin typeface="Poppins"/>
                <a:ea typeface="Poppins"/>
                <a:cs typeface="Poppins"/>
              </a:rPr>
              <a:t>Search by a detail</a:t>
            </a:r>
          </a:p>
          <a:p xmlns:a="http://schemas.openxmlformats.org/drawingml/2006/main">
            <a:pPr algn="l">
              <a:defRPr sz="2625" b="0">
                <a:solidFill>
                  <a:srgbClr val="5A5D59"/>
                </a:solidFill>
                <a:latin typeface="Poppins"/>
                <a:ea typeface="Poppins"/>
                <a:cs typeface="Poppins"/>
              </a:defRPr>
            </a:pPr>
            <a:r>
              <a:rPr sz="2625" b="0">
                <a:solidFill>
                  <a:srgbClr val="5A5D59"/>
                </a:solidFill>
                <a:latin typeface="Poppins"/>
                <a:ea typeface="Poppins"/>
                <a:cs typeface="Poppins"/>
              </a:rPr>
              <a:t>you still remember.</a:t>
            </a:r>
          </a:p>
        </p:txBody>
      </p:sp>
      <p:sp>
        <p:nvSpPr>
          <p:cNvPr id="6" name="Open live demo →">
            <a:extLst xmlns:a="http://schemas.openxmlformats.org/drawingml/2006/main">
              <a:ext uri="{FF2B5EF4-FFF2-40B4-BE49-F238E27FC236}">
                <a16:creationId xmlns:a16="http://schemas.microsoft.com/office/drawing/2014/main" id="{B724E79D-AE04-41B7-BED5-5DCA2F741BDE}"/>
              </a:ext>
            </a:extLst>
          </p:cNvPr>
          <p:cNvSpPr>
            <a:spLocks xmlns:a="http://schemas.openxmlformats.org/drawingml/2006/main" noGrp="1"/>
          </p:cNvSpPr>
          <p:nvPr/>
        </p:nvSpPr>
        <p:spPr>
          <a:xfrm xmlns:a="http://schemas.openxmlformats.org/drawingml/2006/main">
            <a:off x="13811250" y="8572500"/>
            <a:ext cx="35718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00" b="1">
                <a:solidFill>
                  <a:srgbClr val="326B8C"/>
                </a:solidFill>
                <a:latin typeface="Poppins"/>
                <a:ea typeface="Poppins"/>
                <a:cs typeface="Poppins"/>
              </a:defRPr>
            </a:pPr>
            <a:r>
              <a:rPr sz="2400" b="1">
                <a:solidFill>
                  <a:srgbClr val="326B8C"/>
                </a:solidFill>
                <a:latin typeface="Poppins"/>
                <a:ea typeface="Poppins"/>
                <a:cs typeface="Poppins"/>
                <a:hlinkClick xmlns:r="http://schemas.openxmlformats.org/officeDocument/2006/relationships" r:id="R08f4af23d292472c"/>
              </a:rPr>
              <a:t>Open live demo →</a:t>
            </a:r>
          </a:p>
        </p:txBody>
      </p:sp>
    </p:spTree>
    <p:extLst>
      <p:ext uri="{BB962C8B-B14F-4D97-AF65-F5344CB8AC3E}">
        <p14:creationId xmlns:p14="http://schemas.microsoft.com/office/powerpoint/2010/main" val="1112519270"/>
      </p:ext>
    </p:extLst>
  </p:cSld>
</p:sld>
</file>

<file path=ppt/slides/slide10.xml><?xml version="1.0" encoding="utf-8"?>
<p:sld xmlns:p="http://schemas.openxmlformats.org/presentationml/2006/main">
  <p:cSld>
    <p:bg>
      <p:bgPr>
        <a:solidFill xmlns:a="http://schemas.openxmlformats.org/drawingml/2006/main">
          <a:srgbClr val="F3EFE6"/>
        </a:solidFill>
      </p:bgPr>
    </p:bg>
    <p:spTree>
      <p:nvGrpSpPr>
        <p:cNvPr id="1" name=""/>
        <p:cNvGrpSpPr/>
        <p:nvPr/>
      </p:nvGrpSpPr>
      <p:grpSpPr>
        <a:xfrm xmlns:a="http://schemas.openxmlformats.org/drawingml/2006/main"/>
      </p:grpSpPr>
      <p:sp>
        <p:nvSpPr>
          <p:cNvPr id="17" name="Elastic for memory search">
            <a:extLst xmlns:a="http://schemas.openxmlformats.org/drawingml/2006/main">
              <a:ext uri="{FF2B5EF4-FFF2-40B4-BE49-F238E27FC236}">
                <a16:creationId xmlns:a16="http://schemas.microsoft.com/office/drawing/2014/main" id="{0FCEE13D-A258-4E5F-8A2F-5DBBD90FAB54}"/>
              </a:ext>
            </a:extLst>
          </p:cNvPr>
          <p:cNvSpPr>
            <a:spLocks xmlns:a="http://schemas.openxmlformats.org/drawingml/2006/main" noGrp="1"/>
          </p:cNvSpPr>
          <p:nvPr/>
        </p:nvSpPr>
        <p:spPr>
          <a:xfrm xmlns:a="http://schemas.openxmlformats.org/drawingml/2006/main">
            <a:off x="1000125" y="742950"/>
            <a:ext cx="162877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5400" b="1">
                <a:solidFill>
                  <a:srgbClr val="191A18"/>
                </a:solidFill>
                <a:latin typeface="Poppins"/>
                <a:ea typeface="Poppins"/>
                <a:cs typeface="Poppins"/>
              </a:defRPr>
            </a:pPr>
            <a:r>
              <a:rPr sz="5400" b="1">
                <a:solidFill>
                  <a:srgbClr val="191A18"/>
                </a:solidFill>
                <a:latin typeface="Poppins"/>
                <a:ea typeface="Poppins"/>
                <a:cs typeface="Poppins"/>
              </a:rPr>
              <a:t>Elastic for memory search</a:t>
            </a:r>
          </a:p>
        </p:txBody>
      </p:sp>
      <p:sp>
        <p:nvSpPr>
          <p:cNvPr id="2" name="Sponsor challenge: turn messy data into insights, ">
            <a:extLst xmlns:a="http://schemas.openxmlformats.org/drawingml/2006/main">
              <a:ext uri="{FF2B5EF4-FFF2-40B4-BE49-F238E27FC236}">
                <a16:creationId xmlns:a16="http://schemas.microsoft.com/office/drawing/2014/main" id="{59217983-001B-4D72-B90A-2E1B37CB087C}"/>
              </a:ext>
            </a:extLst>
          </p:cNvPr>
          <p:cNvSpPr>
            <a:spLocks xmlns:a="http://schemas.openxmlformats.org/drawingml/2006/main" noGrp="1"/>
          </p:cNvSpPr>
          <p:nvPr/>
        </p:nvSpPr>
        <p:spPr>
          <a:xfrm xmlns:a="http://schemas.openxmlformats.org/drawingml/2006/main">
            <a:off x="1047750" y="2028825"/>
            <a:ext cx="16192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625" b="0">
                <a:solidFill>
                  <a:srgbClr val="5A5D59"/>
                </a:solidFill>
                <a:latin typeface="Poppins"/>
                <a:ea typeface="Poppins"/>
                <a:cs typeface="Poppins"/>
              </a:defRPr>
            </a:pPr>
            <a:r>
              <a:rPr sz="2625" b="0">
                <a:solidFill>
                  <a:srgbClr val="5A5D59"/>
                </a:solidFill>
                <a:latin typeface="Poppins"/>
                <a:ea typeface="Poppins"/>
                <a:cs typeface="Poppins"/>
              </a:rPr>
              <a:t>Sponsor challenge: turn messy data into insights, answers or actions.</a:t>
            </a:r>
          </a:p>
        </p:txBody>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0c9b07bc3ab24d6b"/>
          <a:stretch xmlns:a="http://schemas.openxmlformats.org/drawingml/2006/main"/>
        </p:blipFill>
        <p:spPr>
          <a:xfrm xmlns:a="http://schemas.openxmlformats.org/drawingml/2006/main">
            <a:off x="13124685" y="619125"/>
            <a:ext cx="3754380" cy="1285875"/>
          </a:xfrm>
          <a:prstGeom xmlns:a="http://schemas.openxmlformats.org/drawingml/2006/main" prst="rect">
            <a:avLst/>
          </a:prstGeom>
        </p:spPr>
      </p:pic>
      <p:sp>
        <p:nvSpPr>
          <p:cNvPr id="4" name="diagram">
            <a:extLst xmlns:a="http://schemas.openxmlformats.org/drawingml/2006/main">
              <a:ext uri="{FF2B5EF4-FFF2-40B4-BE49-F238E27FC236}">
                <a16:creationId xmlns:a16="http://schemas.microsoft.com/office/drawing/2014/main" id="{365DB9C8-D637-4E07-AA1B-2A24ECC50EA6}"/>
              </a:ext>
            </a:extLst>
          </p:cNvPr>
          <p:cNvSpPr>
            <a:spLocks xmlns:a="http://schemas.openxmlformats.org/drawingml/2006/main" noGrp="1"/>
          </p:cNvSpPr>
          <p:nvPr/>
        </p:nvSpPr>
        <p:spPr>
          <a:xfrm xmlns:a="http://schemas.openxmlformats.org/drawingml/2006/main">
            <a:off x="1047750" y="4095750"/>
            <a:ext cx="4921250" cy="1619250"/>
          </a:xfrm>
          <a:prstGeom xmlns:a="http://schemas.openxmlformats.org/drawingml/2006/main" prst="rect">
            <a:avLst/>
          </a:prstGeom>
          <a:noFill xmlns:a="http://schemas.openxmlformats.org/drawingml/2006/main"/>
          <a:ln xmlns:a="http://schemas.openxmlformats.org/drawingml/2006/main" w="0">
            <a:noFill/>
          </a:ln>
        </p:spPr>
      </p:sp>
      <p:sp>
        <p:nvSpPr>
          <p:cNvPr id="5" name="Recorded moment">
            <a:extLst xmlns:a="http://schemas.openxmlformats.org/drawingml/2006/main">
              <a:ext uri="{FF2B5EF4-FFF2-40B4-BE49-F238E27FC236}">
                <a16:creationId xmlns:a16="http://schemas.microsoft.com/office/drawing/2014/main" id="{41214F5F-C3ED-441C-9056-82EB1F10D48E}"/>
              </a:ext>
            </a:extLst>
          </p:cNvPr>
          <p:cNvSpPr>
            <a:spLocks xmlns:a="http://schemas.openxmlformats.org/drawingml/2006/main" noGrp="1"/>
          </p:cNvSpPr>
          <p:nvPr/>
        </p:nvSpPr>
        <p:spPr>
          <a:xfrm xmlns:a="http://schemas.openxmlformats.org/drawingml/2006/main">
            <a:off x="1047750" y="4095750"/>
            <a:ext cx="4921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225" b="1">
                <a:solidFill>
                  <a:srgbClr val="191A18"/>
                </a:solidFill>
                <a:latin typeface="Poppins"/>
                <a:ea typeface="Poppins"/>
                <a:cs typeface="Poppins"/>
              </a:defRPr>
            </a:pPr>
            <a:r>
              <a:rPr sz="3225" b="1">
                <a:solidFill>
                  <a:srgbClr val="191A18"/>
                </a:solidFill>
                <a:latin typeface="Poppins"/>
                <a:ea typeface="Poppins"/>
                <a:cs typeface="Poppins"/>
              </a:rPr>
              <a:t>Recorded moment</a:t>
            </a:r>
          </a:p>
        </p:txBody>
      </p:sp>
      <p:sp>
        <p:nvSpPr>
          <p:cNvPr id="6" name="Video + time + EEG context">
            <a:extLst xmlns:a="http://schemas.openxmlformats.org/drawingml/2006/main">
              <a:ext uri="{FF2B5EF4-FFF2-40B4-BE49-F238E27FC236}">
                <a16:creationId xmlns:a16="http://schemas.microsoft.com/office/drawing/2014/main" id="{78662601-FDBF-4549-91C3-2F8C1EEB09C0}"/>
              </a:ext>
            </a:extLst>
          </p:cNvPr>
          <p:cNvSpPr>
            <a:spLocks xmlns:a="http://schemas.openxmlformats.org/drawingml/2006/main" noGrp="1"/>
          </p:cNvSpPr>
          <p:nvPr/>
        </p:nvSpPr>
        <p:spPr>
          <a:xfrm xmlns:a="http://schemas.openxmlformats.org/drawingml/2006/main">
            <a:off x="1047750" y="5010150"/>
            <a:ext cx="492125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325" b="0">
                <a:solidFill>
                  <a:srgbClr val="5A5D59"/>
                </a:solidFill>
                <a:latin typeface="Poppins"/>
                <a:ea typeface="Poppins"/>
                <a:cs typeface="Poppins"/>
              </a:defRPr>
            </a:pPr>
            <a:r>
              <a:rPr sz="2325" b="0">
                <a:solidFill>
                  <a:srgbClr val="5A5D59"/>
                </a:solidFill>
                <a:latin typeface="Poppins"/>
                <a:ea typeface="Poppins"/>
                <a:cs typeface="Poppins"/>
              </a:rPr>
              <a:t>Video + time + EEG context</a:t>
            </a:r>
          </a:p>
        </p:txBody>
      </p:sp>
      <p:sp>
        <p:nvSpPr>
          <p:cNvPr id="7" name="diagram">
            <a:extLst xmlns:a="http://schemas.openxmlformats.org/drawingml/2006/main">
              <a:ext uri="{FF2B5EF4-FFF2-40B4-BE49-F238E27FC236}">
                <a16:creationId xmlns:a16="http://schemas.microsoft.com/office/drawing/2014/main" id="{6F7C558B-1ADF-4C65-A570-2572318F3696}"/>
              </a:ext>
            </a:extLst>
          </p:cNvPr>
          <p:cNvSpPr>
            <a:spLocks xmlns:a="http://schemas.openxmlformats.org/drawingml/2006/main" noGrp="1"/>
          </p:cNvSpPr>
          <p:nvPr/>
        </p:nvSpPr>
        <p:spPr>
          <a:xfrm xmlns:a="http://schemas.openxmlformats.org/drawingml/2006/main">
            <a:off x="6683375" y="4095750"/>
            <a:ext cx="4921250" cy="1619250"/>
          </a:xfrm>
          <a:prstGeom xmlns:a="http://schemas.openxmlformats.org/drawingml/2006/main" prst="rect">
            <a:avLst/>
          </a:prstGeom>
          <a:noFill xmlns:a="http://schemas.openxmlformats.org/drawingml/2006/main"/>
          <a:ln xmlns:a="http://schemas.openxmlformats.org/drawingml/2006/main" w="0">
            <a:noFill/>
          </a:ln>
        </p:spPr>
      </p:sp>
      <p:sp>
        <p:nvSpPr>
          <p:cNvPr id="8" name="Jina v5 Omni">
            <a:extLst xmlns:a="http://schemas.openxmlformats.org/drawingml/2006/main">
              <a:ext uri="{FF2B5EF4-FFF2-40B4-BE49-F238E27FC236}">
                <a16:creationId xmlns:a16="http://schemas.microsoft.com/office/drawing/2014/main" id="{7BEF1889-EAD8-400D-B5E2-A339657495B4}"/>
              </a:ext>
            </a:extLst>
          </p:cNvPr>
          <p:cNvSpPr>
            <a:spLocks xmlns:a="http://schemas.openxmlformats.org/drawingml/2006/main" noGrp="1"/>
          </p:cNvSpPr>
          <p:nvPr/>
        </p:nvSpPr>
        <p:spPr>
          <a:xfrm xmlns:a="http://schemas.openxmlformats.org/drawingml/2006/main">
            <a:off x="6683375" y="4095750"/>
            <a:ext cx="4921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225" b="1">
                <a:solidFill>
                  <a:srgbClr val="326B8C"/>
                </a:solidFill>
                <a:latin typeface="Poppins"/>
                <a:ea typeface="Poppins"/>
                <a:cs typeface="Poppins"/>
              </a:defRPr>
            </a:pPr>
            <a:r>
              <a:rPr sz="3225" b="1">
                <a:solidFill>
                  <a:srgbClr val="326B8C"/>
                </a:solidFill>
                <a:latin typeface="Poppins"/>
                <a:ea typeface="Poppins"/>
                <a:cs typeface="Poppins"/>
              </a:rPr>
              <a:t>Jina v5 Omni</a:t>
            </a:r>
          </a:p>
        </p:txBody>
      </p:sp>
      <p:sp>
        <p:nvSpPr>
          <p:cNvPr id="9" name="A shared space for clips&#10;and search questions">
            <a:extLst xmlns:a="http://schemas.openxmlformats.org/drawingml/2006/main">
              <a:ext uri="{FF2B5EF4-FFF2-40B4-BE49-F238E27FC236}">
                <a16:creationId xmlns:a16="http://schemas.microsoft.com/office/drawing/2014/main" id="{BC7AEB02-390E-40B5-96C9-D58121B6BE43}"/>
              </a:ext>
            </a:extLst>
          </p:cNvPr>
          <p:cNvSpPr>
            <a:spLocks xmlns:a="http://schemas.openxmlformats.org/drawingml/2006/main" noGrp="1"/>
          </p:cNvSpPr>
          <p:nvPr/>
        </p:nvSpPr>
        <p:spPr>
          <a:xfrm xmlns:a="http://schemas.openxmlformats.org/drawingml/2006/main">
            <a:off x="6683375" y="5010150"/>
            <a:ext cx="492125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325" b="0">
                <a:solidFill>
                  <a:srgbClr val="5A5D59"/>
                </a:solidFill>
                <a:latin typeface="Poppins"/>
                <a:ea typeface="Poppins"/>
                <a:cs typeface="Poppins"/>
              </a:defRPr>
            </a:pPr>
            <a:r>
              <a:rPr sz="2325" b="0">
                <a:solidFill>
                  <a:srgbClr val="5A5D59"/>
                </a:solidFill>
                <a:latin typeface="Poppins"/>
                <a:ea typeface="Poppins"/>
                <a:cs typeface="Poppins"/>
              </a:rPr>
              <a:t>A shared space for clips</a:t>
            </a:r>
          </a:p>
          <a:p xmlns:a="http://schemas.openxmlformats.org/drawingml/2006/main">
            <a:pPr algn="l">
              <a:defRPr sz="2325" b="0">
                <a:solidFill>
                  <a:srgbClr val="5A5D59"/>
                </a:solidFill>
                <a:latin typeface="Poppins"/>
                <a:ea typeface="Poppins"/>
                <a:cs typeface="Poppins"/>
              </a:defRPr>
            </a:pPr>
            <a:r>
              <a:rPr sz="2325" b="0">
                <a:solidFill>
                  <a:srgbClr val="5A5D59"/>
                </a:solidFill>
                <a:latin typeface="Poppins"/>
                <a:ea typeface="Poppins"/>
                <a:cs typeface="Poppins"/>
              </a:rPr>
              <a:t>and search questions</a:t>
            </a:r>
          </a:p>
        </p:txBody>
      </p:sp>
      <p:cxnSp>
        <p:nvCxnSpPr>
          <p:cNvPr id="26" name=""/>
          <p:cNvCxnSpPr>
            <a:stCxn xmlns:a="http://schemas.openxmlformats.org/drawingml/2006/main" id="4" idx="3"/>
            <a:endCxn xmlns:a="http://schemas.openxmlformats.org/drawingml/2006/main" id="7" idx="1"/>
          </p:cNvCxnSpPr>
          <p:nvPr/>
        </p:nvCxnSpPr>
        <p:spPr>
          <a:xfrm xmlns:a="http://schemas.openxmlformats.org/drawingml/2006/main">
            <a:off x="5969000" y="4905375"/>
            <a:ext cx="714375" cy="0"/>
          </a:xfrm>
          <a:prstGeom xmlns:a="http://schemas.openxmlformats.org/drawingml/2006/main" prst="straightConnector1">
            <a:avLst/>
          </a:prstGeom>
          <a:ln xmlns:a="http://schemas.openxmlformats.org/drawingml/2006/main" w="38100">
            <a:solidFill>
              <a:srgbClr val="9B712B"/>
            </a:solidFill>
            <a:tailEnd type="triangle" w="med" len="med"/>
          </a:ln>
        </p:spPr>
      </p:cxnSp>
      <p:sp>
        <p:nvSpPr>
          <p:cNvPr id="11" name="diagram">
            <a:extLst xmlns:a="http://schemas.openxmlformats.org/drawingml/2006/main">
              <a:ext uri="{FF2B5EF4-FFF2-40B4-BE49-F238E27FC236}">
                <a16:creationId xmlns:a16="http://schemas.microsoft.com/office/drawing/2014/main" id="{0F68D588-03EC-419E-B243-12E57FE1A42D}"/>
              </a:ext>
            </a:extLst>
          </p:cNvPr>
          <p:cNvSpPr>
            <a:spLocks xmlns:a="http://schemas.openxmlformats.org/drawingml/2006/main" noGrp="1"/>
          </p:cNvSpPr>
          <p:nvPr/>
        </p:nvSpPr>
        <p:spPr>
          <a:xfrm xmlns:a="http://schemas.openxmlformats.org/drawingml/2006/main">
            <a:off x="12319000" y="4095750"/>
            <a:ext cx="4921250" cy="1619250"/>
          </a:xfrm>
          <a:prstGeom xmlns:a="http://schemas.openxmlformats.org/drawingml/2006/main" prst="rect">
            <a:avLst/>
          </a:prstGeom>
          <a:noFill xmlns:a="http://schemas.openxmlformats.org/drawingml/2006/main"/>
          <a:ln xmlns:a="http://schemas.openxmlformats.org/drawingml/2006/main" w="0">
            <a:noFill/>
          </a:ln>
        </p:spPr>
      </p:sp>
      <p:sp>
        <p:nvSpPr>
          <p:cNvPr id="12" name="Hybrid search">
            <a:extLst xmlns:a="http://schemas.openxmlformats.org/drawingml/2006/main">
              <a:ext uri="{FF2B5EF4-FFF2-40B4-BE49-F238E27FC236}">
                <a16:creationId xmlns:a16="http://schemas.microsoft.com/office/drawing/2014/main" id="{5B837FAB-DF1C-415E-85A7-81829E15FEB7}"/>
              </a:ext>
            </a:extLst>
          </p:cNvPr>
          <p:cNvSpPr>
            <a:spLocks xmlns:a="http://schemas.openxmlformats.org/drawingml/2006/main" noGrp="1"/>
          </p:cNvSpPr>
          <p:nvPr/>
        </p:nvSpPr>
        <p:spPr>
          <a:xfrm xmlns:a="http://schemas.openxmlformats.org/drawingml/2006/main">
            <a:off x="12319000" y="4095750"/>
            <a:ext cx="4921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225" b="1">
                <a:solidFill>
                  <a:srgbClr val="9B712B"/>
                </a:solidFill>
                <a:latin typeface="Poppins"/>
                <a:ea typeface="Poppins"/>
                <a:cs typeface="Poppins"/>
              </a:defRPr>
            </a:pPr>
            <a:r>
              <a:rPr sz="3225" b="1">
                <a:solidFill>
                  <a:srgbClr val="9B712B"/>
                </a:solidFill>
                <a:latin typeface="Poppins"/>
                <a:ea typeface="Poppins"/>
                <a:cs typeface="Poppins"/>
              </a:rPr>
              <a:t>Hybrid search</a:t>
            </a:r>
          </a:p>
        </p:txBody>
      </p:sp>
      <p:sp>
        <p:nvSpPr>
          <p:cNvPr id="13" name="Keywords + meaning&#10;BM25 + kNN → RRF">
            <a:extLst xmlns:a="http://schemas.openxmlformats.org/drawingml/2006/main">
              <a:ext uri="{FF2B5EF4-FFF2-40B4-BE49-F238E27FC236}">
                <a16:creationId xmlns:a16="http://schemas.microsoft.com/office/drawing/2014/main" id="{F5FD488B-636B-4CD0-83EE-F8AA46EA49FB}"/>
              </a:ext>
            </a:extLst>
          </p:cNvPr>
          <p:cNvSpPr>
            <a:spLocks xmlns:a="http://schemas.openxmlformats.org/drawingml/2006/main" noGrp="1"/>
          </p:cNvSpPr>
          <p:nvPr/>
        </p:nvSpPr>
        <p:spPr>
          <a:xfrm xmlns:a="http://schemas.openxmlformats.org/drawingml/2006/main">
            <a:off x="12319000" y="5010150"/>
            <a:ext cx="492125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325" b="0">
                <a:solidFill>
                  <a:srgbClr val="5A5D59"/>
                </a:solidFill>
                <a:latin typeface="Poppins"/>
                <a:ea typeface="Poppins"/>
                <a:cs typeface="Poppins"/>
              </a:defRPr>
            </a:pPr>
            <a:r>
              <a:rPr sz="2325" b="0">
                <a:solidFill>
                  <a:srgbClr val="5A5D59"/>
                </a:solidFill>
                <a:latin typeface="Poppins"/>
                <a:ea typeface="Poppins"/>
                <a:cs typeface="Poppins"/>
              </a:rPr>
              <a:t>Keywords + meaning</a:t>
            </a:r>
          </a:p>
          <a:p xmlns:a="http://schemas.openxmlformats.org/drawingml/2006/main">
            <a:pPr algn="l">
              <a:defRPr sz="2325" b="0">
                <a:solidFill>
                  <a:srgbClr val="5A5D59"/>
                </a:solidFill>
                <a:latin typeface="Poppins"/>
                <a:ea typeface="Poppins"/>
                <a:cs typeface="Poppins"/>
              </a:defRPr>
            </a:pPr>
            <a:r>
              <a:rPr sz="2325" b="0">
                <a:solidFill>
                  <a:srgbClr val="5A5D59"/>
                </a:solidFill>
                <a:latin typeface="Poppins"/>
                <a:ea typeface="Poppins"/>
                <a:cs typeface="Poppins"/>
              </a:rPr>
              <a:t>BM25 + kNN → RRF</a:t>
            </a:r>
          </a:p>
        </p:txBody>
      </p:sp>
      <p:cxnSp>
        <p:nvCxnSpPr>
          <p:cNvPr id="30" name=""/>
          <p:cNvCxnSpPr>
            <a:stCxn xmlns:a="http://schemas.openxmlformats.org/drawingml/2006/main" id="7" idx="3"/>
            <a:endCxn xmlns:a="http://schemas.openxmlformats.org/drawingml/2006/main" id="11" idx="1"/>
          </p:cNvCxnSpPr>
          <p:nvPr/>
        </p:nvCxnSpPr>
        <p:spPr>
          <a:xfrm xmlns:a="http://schemas.openxmlformats.org/drawingml/2006/main">
            <a:off x="11604625" y="4905375"/>
            <a:ext cx="714375" cy="0"/>
          </a:xfrm>
          <a:prstGeom xmlns:a="http://schemas.openxmlformats.org/drawingml/2006/main" prst="straightConnector1">
            <a:avLst/>
          </a:prstGeom>
          <a:ln xmlns:a="http://schemas.openxmlformats.org/drawingml/2006/main" w="38100">
            <a:solidFill>
              <a:srgbClr val="9B712B"/>
            </a:solidFill>
            <a:tailEnd type="triangle" w="med" len="med"/>
          </a:ln>
        </p:spPr>
      </p:cxnSp>
      <p:sp>
        <p:nvSpPr>
          <p:cNvPr id="15" name="A question becomes a replayable memory.">
            <a:extLst xmlns:a="http://schemas.openxmlformats.org/drawingml/2006/main">
              <a:ext uri="{FF2B5EF4-FFF2-40B4-BE49-F238E27FC236}">
                <a16:creationId xmlns:a16="http://schemas.microsoft.com/office/drawing/2014/main" id="{2B882811-C4CE-4DF6-A6EF-CFB40D957185}"/>
              </a:ext>
            </a:extLst>
          </p:cNvPr>
          <p:cNvSpPr>
            <a:spLocks xmlns:a="http://schemas.openxmlformats.org/drawingml/2006/main" noGrp="1"/>
          </p:cNvSpPr>
          <p:nvPr/>
        </p:nvSpPr>
        <p:spPr>
          <a:xfrm xmlns:a="http://schemas.openxmlformats.org/drawingml/2006/main">
            <a:off x="1047750" y="7848600"/>
            <a:ext cx="15430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4125" b="1">
                <a:solidFill>
                  <a:srgbClr val="191A18"/>
                </a:solidFill>
                <a:latin typeface="Poppins"/>
                <a:ea typeface="Poppins"/>
                <a:cs typeface="Poppins"/>
              </a:defRPr>
            </a:pPr>
            <a:r>
              <a:rPr sz="4125" b="1">
                <a:solidFill>
                  <a:srgbClr val="191A18"/>
                </a:solidFill>
                <a:latin typeface="Poppins"/>
                <a:ea typeface="Poppins"/>
                <a:cs typeface="Poppins"/>
              </a:rPr>
              <a:t>A question becomes a replayable memory.</a:t>
            </a:r>
          </a:p>
        </p:txBody>
      </p:sp>
      <p:sp>
        <p:nvSpPr>
          <p:cNvPr id="16" name="Implemented with Elastic Cloud Serverless and Elas">
            <a:extLst xmlns:a="http://schemas.openxmlformats.org/drawingml/2006/main">
              <a:ext uri="{FF2B5EF4-FFF2-40B4-BE49-F238E27FC236}">
                <a16:creationId xmlns:a16="http://schemas.microsoft.com/office/drawing/2014/main" id="{BD8DB7CB-D9B4-470C-991E-C5399082A8C5}"/>
              </a:ext>
            </a:extLst>
          </p:cNvPr>
          <p:cNvSpPr>
            <a:spLocks xmlns:a="http://schemas.openxmlformats.org/drawingml/2006/main" noGrp="1"/>
          </p:cNvSpPr>
          <p:nvPr/>
        </p:nvSpPr>
        <p:spPr>
          <a:xfrm xmlns:a="http://schemas.openxmlformats.org/drawingml/2006/main">
            <a:off x="1047750" y="9486900"/>
            <a:ext cx="16097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0">
                <a:solidFill>
                  <a:srgbClr val="5A5D59"/>
                </a:solidFill>
                <a:latin typeface="Poppins"/>
                <a:ea typeface="Poppins"/>
                <a:cs typeface="Poppins"/>
              </a:defRPr>
            </a:pPr>
            <a:r>
              <a:rPr sz="1875" b="0">
                <a:solidFill>
                  <a:srgbClr val="5A5D59"/>
                </a:solidFill>
                <a:latin typeface="Poppins"/>
                <a:ea typeface="Poppins"/>
                <a:cs typeface="Poppins"/>
              </a:rPr>
              <a:t>Implemented with Elastic Cloud Serverless and Elastic Inference Service</a:t>
            </a:r>
          </a:p>
        </p:txBody>
      </p:sp>
    </p:spTree>
    <p:extLst>
      <p:ext uri="{BB962C8B-B14F-4D97-AF65-F5344CB8AC3E}">
        <p14:creationId xmlns:p14="http://schemas.microsoft.com/office/powerpoint/2010/main" val="1118178922"/>
      </p:ext>
    </p:extLst>
  </p:cSld>
</p:sld>
</file>

<file path=ppt/slides/slide11.xml><?xml version="1.0" encoding="utf-8"?>
<p:sld xmlns:p="http://schemas.openxmlformats.org/presentationml/2006/main">
  <p:cSld>
    <p:bg>
      <p:bgPr>
        <a:solidFill xmlns:a="http://schemas.openxmlformats.org/drawingml/2006/main">
          <a:srgbClr val="F3EFE6"/>
        </a:solidFill>
      </p:bgPr>
    </p:bg>
    <p:spTree>
      <p:nvGrpSpPr>
        <p:cNvPr id="1" name=""/>
        <p:cNvGrpSpPr/>
        <p:nvPr/>
      </p:nvGrpSpPr>
      <p:grpSpPr>
        <a:xfrm xmlns:a="http://schemas.openxmlformats.org/drawingml/2006/main"/>
      </p:grpSpPr>
      <p:sp>
        <p:nvSpPr>
          <p:cNvPr id="9" name="Meta for meaningful sharing">
            <a:extLst xmlns:a="http://schemas.openxmlformats.org/drawingml/2006/main">
              <a:ext uri="{FF2B5EF4-FFF2-40B4-BE49-F238E27FC236}">
                <a16:creationId xmlns:a16="http://schemas.microsoft.com/office/drawing/2014/main" id="{153D00B9-8AB7-4DE1-8AFC-DDB0FBA20158}"/>
              </a:ext>
            </a:extLst>
          </p:cNvPr>
          <p:cNvSpPr>
            <a:spLocks xmlns:a="http://schemas.openxmlformats.org/drawingml/2006/main" noGrp="1"/>
          </p:cNvSpPr>
          <p:nvPr/>
        </p:nvSpPr>
        <p:spPr>
          <a:xfrm xmlns:a="http://schemas.openxmlformats.org/drawingml/2006/main">
            <a:off x="1000125" y="742950"/>
            <a:ext cx="162877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5400" b="1">
                <a:solidFill>
                  <a:srgbClr val="191A18"/>
                </a:solidFill>
                <a:latin typeface="Poppins"/>
                <a:ea typeface="Poppins"/>
                <a:cs typeface="Poppins"/>
              </a:defRPr>
            </a:pPr>
            <a:r>
              <a:rPr sz="5400" b="1">
                <a:solidFill>
                  <a:srgbClr val="191A18"/>
                </a:solidFill>
                <a:latin typeface="Poppins"/>
                <a:ea typeface="Poppins"/>
                <a:cs typeface="Poppins"/>
              </a:rPr>
              <a:t>Meta for meaningful sharing</a:t>
            </a:r>
          </a:p>
        </p:txBody>
      </p:sp>
      <p:sp>
        <p:nvSpPr>
          <p:cNvPr id="2" name="Sponsor challenge: bring people closer together wi">
            <a:extLst xmlns:a="http://schemas.openxmlformats.org/drawingml/2006/main">
              <a:ext uri="{FF2B5EF4-FFF2-40B4-BE49-F238E27FC236}">
                <a16:creationId xmlns:a16="http://schemas.microsoft.com/office/drawing/2014/main" id="{A3B83A14-195F-408E-9686-82471AB3203F}"/>
              </a:ext>
            </a:extLst>
          </p:cNvPr>
          <p:cNvSpPr>
            <a:spLocks xmlns:a="http://schemas.openxmlformats.org/drawingml/2006/main" noGrp="1"/>
          </p:cNvSpPr>
          <p:nvPr/>
        </p:nvSpPr>
        <p:spPr>
          <a:xfrm xmlns:a="http://schemas.openxmlformats.org/drawingml/2006/main">
            <a:off x="1047750" y="2028825"/>
            <a:ext cx="16192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625" b="0">
                <a:solidFill>
                  <a:srgbClr val="5A5D59"/>
                </a:solidFill>
                <a:latin typeface="Poppins"/>
                <a:ea typeface="Poppins"/>
                <a:cs typeface="Poppins"/>
              </a:defRPr>
            </a:pPr>
            <a:r>
              <a:rPr sz="2625" b="0">
                <a:solidFill>
                  <a:srgbClr val="5A5D59"/>
                </a:solidFill>
                <a:latin typeface="Poppins"/>
                <a:ea typeface="Poppins"/>
                <a:cs typeface="Poppins"/>
              </a:rPr>
              <a:t>Sponsor challenge: bring people closer together with AI.</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c2bb9cb040694ab2"/>
          <a:stretch xmlns:a="http://schemas.openxmlformats.org/drawingml/2006/main"/>
        </p:blipFill>
        <p:spPr>
          <a:xfrm xmlns:a="http://schemas.openxmlformats.org/drawingml/2006/main">
            <a:off x="14001750" y="619125"/>
            <a:ext cx="2286000" cy="1285875"/>
          </a:xfrm>
          <a:prstGeom xmlns:a="http://schemas.openxmlformats.org/drawingml/2006/main" prst="rect">
            <a:avLst/>
          </a:prstGeom>
        </p:spPr>
      </p:pic>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8057dbe2cb514268"/>
          <a:stretch xmlns:a="http://schemas.openxmlformats.org/drawingml/2006/main"/>
        </p:blipFill>
        <p:spPr>
          <a:xfrm xmlns:a="http://schemas.openxmlformats.org/drawingml/2006/main">
            <a:off x="1047750" y="3482578"/>
            <a:ext cx="10477500" cy="5893594"/>
          </a:xfrm>
          <a:prstGeom xmlns:a="http://schemas.openxmlformats.org/drawingml/2006/main" prst="rect">
            <a:avLst/>
          </a:prstGeom>
        </p:spPr>
      </p:pic>
      <p:sp>
        <p:nvSpPr>
          <p:cNvPr id="5" name="Choose the moments">
            <a:extLst xmlns:a="http://schemas.openxmlformats.org/drawingml/2006/main">
              <a:ext uri="{FF2B5EF4-FFF2-40B4-BE49-F238E27FC236}">
                <a16:creationId xmlns:a16="http://schemas.microsoft.com/office/drawing/2014/main" id="{70F36E4A-7F92-4513-9EFD-C51A9CD55980}"/>
              </a:ext>
            </a:extLst>
          </p:cNvPr>
          <p:cNvSpPr>
            <a:spLocks xmlns:a="http://schemas.openxmlformats.org/drawingml/2006/main" noGrp="1"/>
          </p:cNvSpPr>
          <p:nvPr/>
        </p:nvSpPr>
        <p:spPr>
          <a:xfrm xmlns:a="http://schemas.openxmlformats.org/drawingml/2006/main">
            <a:off x="12192000" y="3619500"/>
            <a:ext cx="50006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150" b="1">
                <a:solidFill>
                  <a:srgbClr val="191A18"/>
                </a:solidFill>
                <a:latin typeface="Poppins"/>
                <a:ea typeface="Poppins"/>
                <a:cs typeface="Poppins"/>
              </a:defRPr>
            </a:pPr>
            <a:r>
              <a:rPr sz="3150" b="1">
                <a:solidFill>
                  <a:srgbClr val="191A18"/>
                </a:solidFill>
                <a:latin typeface="Poppins"/>
                <a:ea typeface="Poppins"/>
                <a:cs typeface="Poppins"/>
              </a:rPr>
              <a:t>Choose the moments</a:t>
            </a:r>
          </a:p>
        </p:txBody>
      </p:sp>
      <p:sp>
        <p:nvSpPr>
          <p:cNvPr id="6" name="You decide what to include&#10;and who it is for.">
            <a:extLst xmlns:a="http://schemas.openxmlformats.org/drawingml/2006/main">
              <a:ext uri="{FF2B5EF4-FFF2-40B4-BE49-F238E27FC236}">
                <a16:creationId xmlns:a16="http://schemas.microsoft.com/office/drawing/2014/main" id="{9812288C-BDDF-4C21-8006-40DAC8280A57}"/>
              </a:ext>
            </a:extLst>
          </p:cNvPr>
          <p:cNvSpPr>
            <a:spLocks xmlns:a="http://schemas.openxmlformats.org/drawingml/2006/main" noGrp="1"/>
          </p:cNvSpPr>
          <p:nvPr/>
        </p:nvSpPr>
        <p:spPr>
          <a:xfrm xmlns:a="http://schemas.openxmlformats.org/drawingml/2006/main">
            <a:off x="12192000" y="4572000"/>
            <a:ext cx="50482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550" b="0">
                <a:solidFill>
                  <a:srgbClr val="5A5D59"/>
                </a:solidFill>
                <a:latin typeface="Poppins"/>
                <a:ea typeface="Poppins"/>
                <a:cs typeface="Poppins"/>
              </a:defRPr>
            </a:pPr>
            <a:r>
              <a:rPr sz="2550" b="0">
                <a:solidFill>
                  <a:srgbClr val="5A5D59"/>
                </a:solidFill>
                <a:latin typeface="Poppins"/>
                <a:ea typeface="Poppins"/>
                <a:cs typeface="Poppins"/>
              </a:rPr>
              <a:t>You decide what to include</a:t>
            </a:r>
          </a:p>
          <a:p xmlns:a="http://schemas.openxmlformats.org/drawingml/2006/main">
            <a:pPr algn="l">
              <a:defRPr sz="2550" b="0">
                <a:solidFill>
                  <a:srgbClr val="5A5D59"/>
                </a:solidFill>
                <a:latin typeface="Poppins"/>
                <a:ea typeface="Poppins"/>
                <a:cs typeface="Poppins"/>
              </a:defRPr>
            </a:pPr>
            <a:r>
              <a:rPr sz="2550" b="0">
                <a:solidFill>
                  <a:srgbClr val="5A5D59"/>
                </a:solidFill>
                <a:latin typeface="Poppins"/>
                <a:ea typeface="Poppins"/>
                <a:cs typeface="Poppins"/>
              </a:rPr>
              <a:t>and who it is for.</a:t>
            </a:r>
          </a:p>
        </p:txBody>
      </p:sp>
      <p:sp>
        <p:nvSpPr>
          <p:cNvPr id="7" name="Let Muse Spark draft">
            <a:extLst xmlns:a="http://schemas.openxmlformats.org/drawingml/2006/main">
              <a:ext uri="{FF2B5EF4-FFF2-40B4-BE49-F238E27FC236}">
                <a16:creationId xmlns:a16="http://schemas.microsoft.com/office/drawing/2014/main" id="{E4ECA907-8D8F-455B-BC6D-8F75D949D3B0}"/>
              </a:ext>
            </a:extLst>
          </p:cNvPr>
          <p:cNvSpPr>
            <a:spLocks xmlns:a="http://schemas.openxmlformats.org/drawingml/2006/main" noGrp="1"/>
          </p:cNvSpPr>
          <p:nvPr/>
        </p:nvSpPr>
        <p:spPr>
          <a:xfrm xmlns:a="http://schemas.openxmlformats.org/drawingml/2006/main">
            <a:off x="12192000" y="6381750"/>
            <a:ext cx="50006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150" b="1">
                <a:solidFill>
                  <a:srgbClr val="326B8C"/>
                </a:solidFill>
                <a:latin typeface="Poppins"/>
                <a:ea typeface="Poppins"/>
                <a:cs typeface="Poppins"/>
              </a:defRPr>
            </a:pPr>
            <a:r>
              <a:rPr sz="3150" b="1">
                <a:solidFill>
                  <a:srgbClr val="326B8C"/>
                </a:solidFill>
                <a:latin typeface="Poppins"/>
                <a:ea typeface="Poppins"/>
                <a:cs typeface="Poppins"/>
              </a:rPr>
              <a:t>Let Muse Spark draft</a:t>
            </a:r>
          </a:p>
        </p:txBody>
      </p:sp>
      <p:sp>
        <p:nvSpPr>
          <p:cNvPr id="8" name="Review a personal note,&#10;then share it yourself.">
            <a:extLst xmlns:a="http://schemas.openxmlformats.org/drawingml/2006/main">
              <a:ext uri="{FF2B5EF4-FFF2-40B4-BE49-F238E27FC236}">
                <a16:creationId xmlns:a16="http://schemas.microsoft.com/office/drawing/2014/main" id="{FD4DBB1B-6412-47DD-86D3-6E20CE2B0562}"/>
              </a:ext>
            </a:extLst>
          </p:cNvPr>
          <p:cNvSpPr>
            <a:spLocks xmlns:a="http://schemas.openxmlformats.org/drawingml/2006/main" noGrp="1"/>
          </p:cNvSpPr>
          <p:nvPr/>
        </p:nvSpPr>
        <p:spPr>
          <a:xfrm xmlns:a="http://schemas.openxmlformats.org/drawingml/2006/main">
            <a:off x="12192000" y="7362825"/>
            <a:ext cx="5000625"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550" b="0">
                <a:solidFill>
                  <a:srgbClr val="5A5D59"/>
                </a:solidFill>
                <a:latin typeface="Poppins"/>
                <a:ea typeface="Poppins"/>
                <a:cs typeface="Poppins"/>
              </a:defRPr>
            </a:pPr>
            <a:r>
              <a:rPr sz="2550" b="0">
                <a:solidFill>
                  <a:srgbClr val="5A5D59"/>
                </a:solidFill>
                <a:latin typeface="Poppins"/>
                <a:ea typeface="Poppins"/>
                <a:cs typeface="Poppins"/>
              </a:rPr>
              <a:t>Review a personal note,</a:t>
            </a:r>
          </a:p>
          <a:p xmlns:a="http://schemas.openxmlformats.org/drawingml/2006/main">
            <a:pPr algn="l">
              <a:defRPr sz="2550" b="0">
                <a:solidFill>
                  <a:srgbClr val="5A5D59"/>
                </a:solidFill>
                <a:latin typeface="Poppins"/>
                <a:ea typeface="Poppins"/>
                <a:cs typeface="Poppins"/>
              </a:defRPr>
            </a:pPr>
            <a:r>
              <a:rPr sz="2550" b="0">
                <a:solidFill>
                  <a:srgbClr val="5A5D59"/>
                </a:solidFill>
                <a:latin typeface="Poppins"/>
                <a:ea typeface="Poppins"/>
                <a:cs typeface="Poppins"/>
              </a:rPr>
              <a:t>then share it yourself.</a:t>
            </a:r>
          </a:p>
        </p:txBody>
      </p:sp>
    </p:spTree>
    <p:extLst>
      <p:ext uri="{BB962C8B-B14F-4D97-AF65-F5344CB8AC3E}">
        <p14:creationId xmlns:p14="http://schemas.microsoft.com/office/powerpoint/2010/main" val="1702029770"/>
      </p:ext>
    </p:extLst>
  </p:cSld>
</p:sld>
</file>

<file path=ppt/slides/slide12.xml><?xml version="1.0" encoding="utf-8"?>
<p:sld xmlns:p="http://schemas.openxmlformats.org/presentationml/2006/main">
  <p:cSld>
    <p:bg>
      <p:bgPr>
        <a:solidFill xmlns:a="http://schemas.openxmlformats.org/drawingml/2006/main">
          <a:srgbClr val="F3EFE6"/>
        </a:solidFill>
      </p:bgPr>
    </p:bg>
    <p:spTree>
      <p:nvGrpSpPr>
        <p:cNvPr id="1" name=""/>
        <p:cNvGrpSpPr/>
        <p:nvPr/>
      </p:nvGrpSpPr>
      <p:grpSpPr>
        <a:xfrm xmlns:a="http://schemas.openxmlformats.org/drawingml/2006/main"/>
      </p:grpSpPr>
      <p:sp>
        <p:nvSpPr>
          <p:cNvPr id="11" name="Voloridge: data to design">
            <a:extLst xmlns:a="http://schemas.openxmlformats.org/drawingml/2006/main">
              <a:ext uri="{FF2B5EF4-FFF2-40B4-BE49-F238E27FC236}">
                <a16:creationId xmlns:a16="http://schemas.microsoft.com/office/drawing/2014/main" id="{2D5A71D4-89E2-47CA-9722-04FA026831F9}"/>
              </a:ext>
            </a:extLst>
          </p:cNvPr>
          <p:cNvSpPr>
            <a:spLocks xmlns:a="http://schemas.openxmlformats.org/drawingml/2006/main" noGrp="1"/>
          </p:cNvSpPr>
          <p:nvPr/>
        </p:nvSpPr>
        <p:spPr>
          <a:xfrm xmlns:a="http://schemas.openxmlformats.org/drawingml/2006/main">
            <a:off x="1000125" y="742950"/>
            <a:ext cx="162877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5400" b="1">
                <a:solidFill>
                  <a:srgbClr val="191A18"/>
                </a:solidFill>
                <a:latin typeface="Poppins"/>
                <a:ea typeface="Poppins"/>
                <a:cs typeface="Poppins"/>
              </a:defRPr>
            </a:pPr>
            <a:r>
              <a:rPr sz="5400" b="1">
                <a:solidFill>
                  <a:srgbClr val="191A18"/>
                </a:solidFill>
                <a:latin typeface="Poppins"/>
                <a:ea typeface="Poppins"/>
                <a:cs typeface="Poppins"/>
              </a:rPr>
              <a:t>Voloridge: data to design</a:t>
            </a:r>
          </a:p>
        </p:txBody>
      </p:sp>
      <p:sp>
        <p:nvSpPr>
          <p:cNvPr id="2" name="Voloridge challenge: build something interesting u">
            <a:extLst xmlns:a="http://schemas.openxmlformats.org/drawingml/2006/main">
              <a:ext uri="{FF2B5EF4-FFF2-40B4-BE49-F238E27FC236}">
                <a16:creationId xmlns:a16="http://schemas.microsoft.com/office/drawing/2014/main" id="{CBFF35ED-EA6D-48E7-A681-99438F91B620}"/>
              </a:ext>
            </a:extLst>
          </p:cNvPr>
          <p:cNvSpPr>
            <a:spLocks xmlns:a="http://schemas.openxmlformats.org/drawingml/2006/main" noGrp="1"/>
          </p:cNvSpPr>
          <p:nvPr/>
        </p:nvSpPr>
        <p:spPr>
          <a:xfrm xmlns:a="http://schemas.openxmlformats.org/drawingml/2006/main">
            <a:off x="1047750" y="2028825"/>
            <a:ext cx="16192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625" b="0">
                <a:solidFill>
                  <a:srgbClr val="5A5D59"/>
                </a:solidFill>
                <a:latin typeface="Poppins"/>
                <a:ea typeface="Poppins"/>
                <a:cs typeface="Poppins"/>
              </a:defRPr>
            </a:pPr>
            <a:r>
              <a:rPr sz="2625" b="0">
                <a:solidFill>
                  <a:srgbClr val="5A5D59"/>
                </a:solidFill>
                <a:latin typeface="Poppins"/>
                <a:ea typeface="Poppins"/>
                <a:cs typeface="Poppins"/>
              </a:rPr>
              <a:t>Voloridge challenge: build something interesting using public datasets.</a:t>
            </a:r>
          </a:p>
        </p:txBody>
      </p:sp>
      <p:sp>
        <p:nvSpPr>
          <p:cNvPr id="3" name="diagram">
            <a:extLst xmlns:a="http://schemas.openxmlformats.org/drawingml/2006/main">
              <a:ext uri="{FF2B5EF4-FFF2-40B4-BE49-F238E27FC236}">
                <a16:creationId xmlns:a16="http://schemas.microsoft.com/office/drawing/2014/main" id="{BF976765-1DFA-425B-B016-B09B92D6C132}"/>
              </a:ext>
            </a:extLst>
          </p:cNvPr>
          <p:cNvSpPr>
            <a:spLocks xmlns:a="http://schemas.openxmlformats.org/drawingml/2006/main" noGrp="1"/>
          </p:cNvSpPr>
          <p:nvPr/>
        </p:nvSpPr>
        <p:spPr>
          <a:xfrm xmlns:a="http://schemas.openxmlformats.org/drawingml/2006/main">
            <a:off x="13716000" y="400050"/>
            <a:ext cx="3429000" cy="2238375"/>
          </a:xfrm>
          <a:prstGeom xmlns:a="http://schemas.openxmlformats.org/drawingml/2006/main" prst="rect">
            <a:avLst/>
          </a:prstGeom>
          <a:solidFill xmlns:a="http://schemas.openxmlformats.org/drawingml/2006/main">
            <a:srgbClr val="102F45"/>
          </a:solidFill>
          <a:ln xmlns:a="http://schemas.openxmlformats.org/drawingml/2006/main" w="0">
            <a:noFill/>
          </a:ln>
        </p:spPr>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8f66047f91524d6a"/>
          <a:stretch xmlns:a="http://schemas.openxmlformats.org/drawingml/2006/main"/>
        </p:blipFill>
        <p:spPr>
          <a:xfrm xmlns:a="http://schemas.openxmlformats.org/drawingml/2006/main">
            <a:off x="13843000" y="476250"/>
            <a:ext cx="3175000" cy="2105025"/>
          </a:xfrm>
          <a:prstGeom xmlns:a="http://schemas.openxmlformats.org/drawingml/2006/main" prst="rect">
            <a:avLst/>
          </a:prstGeom>
        </p:spPr>
      </p:pic>
      <p:graphicFrame>
        <p:nvGraphicFramePr>
          <p:cNvPr id="15" name="Chart"/>
          <p:cNvGraphicFramePr/>
          <p:nvPr/>
        </p:nvGraphicFramePr>
        <p:xfrm>
          <a:off xmlns:a="http://schemas.openxmlformats.org/drawingml/2006/main" x="1047750" y="3381375"/>
          <a:ext xmlns:a="http://schemas.openxmlformats.org/drawingml/2006/main" cx="11239500" cy="5048250"/>
        </p:xfrm>
        <a:graphic xmlns:a="http://schemas.openxmlformats.org/drawingml/2006/main">
          <a:graphicData uri="http://schemas.openxmlformats.org/drawingml/2006/chart">
            <c:chart xmlns:r="http://schemas.openxmlformats.org/officeDocument/2006/relationships" xmlns:c="http://schemas.openxmlformats.org/drawingml/2006/chart" r:id="R69f2c491fdf24cad"/>
          </a:graphicData>
        </a:graphic>
      </p:graphicFrame>
      <p:sp>
        <p:nvSpPr>
          <p:cNvPr id="6" name="56">
            <a:extLst xmlns:a="http://schemas.openxmlformats.org/drawingml/2006/main">
              <a:ext uri="{FF2B5EF4-FFF2-40B4-BE49-F238E27FC236}">
                <a16:creationId xmlns:a16="http://schemas.microsoft.com/office/drawing/2014/main" id="{E7A87E33-68B0-4CED-ACDF-333E6AB2E34F}"/>
              </a:ext>
            </a:extLst>
          </p:cNvPr>
          <p:cNvSpPr>
            <a:spLocks xmlns:a="http://schemas.openxmlformats.org/drawingml/2006/main" noGrp="1"/>
          </p:cNvSpPr>
          <p:nvPr/>
        </p:nvSpPr>
        <p:spPr>
          <a:xfrm xmlns:a="http://schemas.openxmlformats.org/drawingml/2006/main">
            <a:off x="13239750" y="4000500"/>
            <a:ext cx="34290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7500" b="1">
                <a:solidFill>
                  <a:srgbClr val="326B8C"/>
                </a:solidFill>
                <a:latin typeface="Poppins"/>
                <a:ea typeface="Poppins"/>
                <a:cs typeface="Poppins"/>
              </a:defRPr>
            </a:pPr>
            <a:r>
              <a:rPr sz="7500" b="1">
                <a:solidFill>
                  <a:srgbClr val="326B8C"/>
                </a:solidFill>
                <a:latin typeface="Poppins"/>
                <a:ea typeface="Poppins"/>
                <a:cs typeface="Poppins"/>
              </a:rPr>
              <a:t>56</a:t>
            </a:r>
          </a:p>
        </p:txBody>
      </p:sp>
      <p:sp>
        <p:nvSpPr>
          <p:cNvPr id="7" name="usable recordings">
            <a:extLst xmlns:a="http://schemas.openxmlformats.org/drawingml/2006/main">
              <a:ext uri="{FF2B5EF4-FFF2-40B4-BE49-F238E27FC236}">
                <a16:creationId xmlns:a16="http://schemas.microsoft.com/office/drawing/2014/main" id="{1CD11570-599C-4CC3-8762-09521FDC6472}"/>
              </a:ext>
            </a:extLst>
          </p:cNvPr>
          <p:cNvSpPr>
            <a:spLocks xmlns:a="http://schemas.openxmlformats.org/drawingml/2006/main" noGrp="1"/>
          </p:cNvSpPr>
          <p:nvPr/>
        </p:nvSpPr>
        <p:spPr>
          <a:xfrm xmlns:a="http://schemas.openxmlformats.org/drawingml/2006/main">
            <a:off x="13239750" y="5429250"/>
            <a:ext cx="3810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625" b="0">
                <a:solidFill>
                  <a:srgbClr val="5A5D59"/>
                </a:solidFill>
                <a:latin typeface="Poppins"/>
                <a:ea typeface="Poppins"/>
                <a:cs typeface="Poppins"/>
              </a:defRPr>
            </a:pPr>
            <a:r>
              <a:rPr sz="2625" b="0">
                <a:solidFill>
                  <a:srgbClr val="5A5D59"/>
                </a:solidFill>
                <a:latin typeface="Poppins"/>
                <a:ea typeface="Poppins"/>
                <a:cs typeface="Poppins"/>
              </a:rPr>
              <a:t>usable recordings</a:t>
            </a:r>
          </a:p>
        </p:txBody>
      </p:sp>
      <p:sp>
        <p:nvSpPr>
          <p:cNvPr id="8" name="Placement matters">
            <a:extLst xmlns:a="http://schemas.openxmlformats.org/drawingml/2006/main">
              <a:ext uri="{FF2B5EF4-FFF2-40B4-BE49-F238E27FC236}">
                <a16:creationId xmlns:a16="http://schemas.microsoft.com/office/drawing/2014/main" id="{7CEC31B9-5F1B-4253-9E43-A6B21F266070}"/>
              </a:ext>
            </a:extLst>
          </p:cNvPr>
          <p:cNvSpPr>
            <a:spLocks xmlns:a="http://schemas.openxmlformats.org/drawingml/2006/main" noGrp="1"/>
          </p:cNvSpPr>
          <p:nvPr/>
        </p:nvSpPr>
        <p:spPr>
          <a:xfrm xmlns:a="http://schemas.openxmlformats.org/drawingml/2006/main">
            <a:off x="12954000" y="6819900"/>
            <a:ext cx="4286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150" b="1">
                <a:solidFill>
                  <a:srgbClr val="191A18"/>
                </a:solidFill>
                <a:latin typeface="Poppins"/>
                <a:ea typeface="Poppins"/>
                <a:cs typeface="Poppins"/>
              </a:defRPr>
            </a:pPr>
            <a:r>
              <a:rPr sz="3150" b="1">
                <a:solidFill>
                  <a:srgbClr val="191A18"/>
                </a:solidFill>
                <a:latin typeface="Poppins"/>
                <a:ea typeface="Poppins"/>
                <a:cs typeface="Poppins"/>
              </a:rPr>
              <a:t>Placement matters</a:t>
            </a:r>
          </a:p>
        </p:txBody>
      </p:sp>
      <p:sp>
        <p:nvSpPr>
          <p:cNvPr id="9" name="A frontocentral montage&#10;retained more event signal">
            <a:extLst xmlns:a="http://schemas.openxmlformats.org/drawingml/2006/main">
              <a:ext uri="{FF2B5EF4-FFF2-40B4-BE49-F238E27FC236}">
                <a16:creationId xmlns:a16="http://schemas.microsoft.com/office/drawing/2014/main" id="{BE9CA737-9DE5-4D7C-AE5D-FEB24B42AB86}"/>
              </a:ext>
            </a:extLst>
          </p:cNvPr>
          <p:cNvSpPr>
            <a:spLocks xmlns:a="http://schemas.openxmlformats.org/drawingml/2006/main" noGrp="1"/>
          </p:cNvSpPr>
          <p:nvPr/>
        </p:nvSpPr>
        <p:spPr>
          <a:xfrm xmlns:a="http://schemas.openxmlformats.org/drawingml/2006/main">
            <a:off x="12954000" y="8029575"/>
            <a:ext cx="42862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0">
                <a:solidFill>
                  <a:srgbClr val="5A5D59"/>
                </a:solidFill>
                <a:latin typeface="Poppins"/>
                <a:ea typeface="Poppins"/>
                <a:cs typeface="Poppins"/>
              </a:defRPr>
            </a:pPr>
            <a:r>
              <a:rPr sz="2250" b="0">
                <a:solidFill>
                  <a:srgbClr val="5A5D59"/>
                </a:solidFill>
                <a:latin typeface="Poppins"/>
                <a:ea typeface="Poppins"/>
                <a:cs typeface="Poppins"/>
              </a:rPr>
              <a:t>A frontocentral montage</a:t>
            </a:r>
          </a:p>
          <a:p xmlns:a="http://schemas.openxmlformats.org/drawingml/2006/main">
            <a:pPr algn="l">
              <a:defRPr sz="2250" b="0">
                <a:solidFill>
                  <a:srgbClr val="5A5D59"/>
                </a:solidFill>
                <a:latin typeface="Poppins"/>
                <a:ea typeface="Poppins"/>
                <a:cs typeface="Poppins"/>
              </a:defRPr>
            </a:pPr>
            <a:r>
              <a:rPr sz="2250" b="0">
                <a:solidFill>
                  <a:srgbClr val="5A5D59"/>
                </a:solidFill>
                <a:latin typeface="Poppins"/>
                <a:ea typeface="Poppins"/>
                <a:cs typeface="Poppins"/>
              </a:rPr>
              <a:t>retained more event signal.</a:t>
            </a:r>
          </a:p>
        </p:txBody>
      </p:sp>
      <p:sp>
        <p:nvSpPr>
          <p:cNvPr id="10" name="OpenNeuro ds006394 • offline LOSO logistic regress">
            <a:extLst xmlns:a="http://schemas.openxmlformats.org/drawingml/2006/main">
              <a:ext uri="{FF2B5EF4-FFF2-40B4-BE49-F238E27FC236}">
                <a16:creationId xmlns:a16="http://schemas.microsoft.com/office/drawing/2014/main" id="{5356AD5B-AC02-41A9-9B09-D526F1D8DB6C}"/>
              </a:ext>
            </a:extLst>
          </p:cNvPr>
          <p:cNvSpPr>
            <a:spLocks xmlns:a="http://schemas.openxmlformats.org/drawingml/2006/main" noGrp="1"/>
          </p:cNvSpPr>
          <p:nvPr/>
        </p:nvSpPr>
        <p:spPr>
          <a:xfrm xmlns:a="http://schemas.openxmlformats.org/drawingml/2006/main">
            <a:off x="1047750" y="9486900"/>
            <a:ext cx="16097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0">
                <a:solidFill>
                  <a:srgbClr val="5A5D59"/>
                </a:solidFill>
                <a:latin typeface="Poppins"/>
                <a:ea typeface="Poppins"/>
                <a:cs typeface="Poppins"/>
              </a:defRPr>
            </a:pPr>
            <a:r>
              <a:rPr sz="1875" b="0">
                <a:solidFill>
                  <a:srgbClr val="5A5D59"/>
                </a:solidFill>
                <a:latin typeface="Poppins"/>
                <a:ea typeface="Poppins"/>
                <a:cs typeface="Poppins"/>
              </a:rPr>
              <a:t>OpenNeuro ds006394 • offline LOSO logistic regression • channel configurations differ in placement</a:t>
            </a:r>
          </a:p>
        </p:txBody>
      </p:sp>
    </p:spTree>
    <p:extLst>
      <p:ext uri="{BB962C8B-B14F-4D97-AF65-F5344CB8AC3E}">
        <p14:creationId xmlns:p14="http://schemas.microsoft.com/office/powerpoint/2010/main" val="2117191602"/>
      </p:ext>
    </p:extLst>
  </p:cSld>
</p:sld>
</file>

<file path=ppt/slides/slide13.xml><?xml version="1.0" encoding="utf-8"?>
<p:sld xmlns:p="http://schemas.openxmlformats.org/presentationml/2006/main">
  <p:cSld>
    <p:bg>
      <p:bgPr>
        <a:solidFill xmlns:a="http://schemas.openxmlformats.org/drawingml/2006/main">
          <a:srgbClr val="F3EFE6"/>
        </a:solidFill>
      </p:bgPr>
    </p:bg>
    <p:spTree>
      <p:nvGrpSpPr>
        <p:cNvPr id="1" name=""/>
        <p:cNvGrpSpPr/>
        <p:nvPr/>
      </p:nvGrpSpPr>
      <p:grpSpPr>
        <a:xfrm xmlns:a="http://schemas.openxmlformats.org/drawingml/2006/main"/>
      </p:grpSpPr>
      <p:sp>
        <p:nvSpPr>
          <p:cNvPr id="26" name="System architecture">
            <a:extLst xmlns:a="http://schemas.openxmlformats.org/drawingml/2006/main">
              <a:ext uri="{FF2B5EF4-FFF2-40B4-BE49-F238E27FC236}">
                <a16:creationId xmlns:a16="http://schemas.microsoft.com/office/drawing/2014/main" id="{9E827CC9-314A-41F6-96AA-1B320676EA60}"/>
              </a:ext>
            </a:extLst>
          </p:cNvPr>
          <p:cNvSpPr>
            <a:spLocks xmlns:a="http://schemas.openxmlformats.org/drawingml/2006/main" noGrp="1"/>
          </p:cNvSpPr>
          <p:nvPr/>
        </p:nvSpPr>
        <p:spPr>
          <a:xfrm xmlns:a="http://schemas.openxmlformats.org/drawingml/2006/main">
            <a:off x="1000125" y="742950"/>
            <a:ext cx="162877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5400" b="1">
                <a:solidFill>
                  <a:srgbClr val="191A18"/>
                </a:solidFill>
                <a:latin typeface="Poppins"/>
                <a:ea typeface="Poppins"/>
                <a:cs typeface="Poppins"/>
              </a:defRPr>
            </a:pPr>
            <a:r>
              <a:rPr sz="5400" b="1">
                <a:solidFill>
                  <a:srgbClr val="191A18"/>
                </a:solidFill>
                <a:latin typeface="Poppins"/>
                <a:ea typeface="Poppins"/>
                <a:cs typeface="Poppins"/>
              </a:rPr>
              <a:t>System architecture</a:t>
            </a:r>
          </a:p>
        </p:txBody>
      </p:sp>
      <p:sp>
        <p:nvSpPr>
          <p:cNvPr id="2" name="A signal and its recorded context become one searc">
            <a:extLst xmlns:a="http://schemas.openxmlformats.org/drawingml/2006/main">
              <a:ext uri="{FF2B5EF4-FFF2-40B4-BE49-F238E27FC236}">
                <a16:creationId xmlns:a16="http://schemas.microsoft.com/office/drawing/2014/main" id="{C0124CBC-5975-4985-82E9-6B2983DC8E0F}"/>
              </a:ext>
            </a:extLst>
          </p:cNvPr>
          <p:cNvSpPr>
            <a:spLocks xmlns:a="http://schemas.openxmlformats.org/drawingml/2006/main" noGrp="1"/>
          </p:cNvSpPr>
          <p:nvPr/>
        </p:nvSpPr>
        <p:spPr>
          <a:xfrm xmlns:a="http://schemas.openxmlformats.org/drawingml/2006/main">
            <a:off x="1047750" y="2028825"/>
            <a:ext cx="16192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625" b="0">
                <a:solidFill>
                  <a:srgbClr val="5A5D59"/>
                </a:solidFill>
                <a:latin typeface="Poppins"/>
                <a:ea typeface="Poppins"/>
                <a:cs typeface="Poppins"/>
              </a:defRPr>
            </a:pPr>
            <a:r>
              <a:rPr sz="2625" b="0">
                <a:solidFill>
                  <a:srgbClr val="5A5D59"/>
                </a:solidFill>
                <a:latin typeface="Poppins"/>
                <a:ea typeface="Poppins"/>
                <a:cs typeface="Poppins"/>
              </a:rPr>
              <a:t>A signal and its recorded context become one searchable moment.</a:t>
            </a:r>
          </a:p>
        </p:txBody>
      </p:sp>
      <p:sp>
        <p:nvSpPr>
          <p:cNvPr id="3" name="diagram">
            <a:extLst xmlns:a="http://schemas.openxmlformats.org/drawingml/2006/main">
              <a:ext uri="{FF2B5EF4-FFF2-40B4-BE49-F238E27FC236}">
                <a16:creationId xmlns:a16="http://schemas.microsoft.com/office/drawing/2014/main" id="{A1F28106-B0DB-4F09-8DF1-441740C319E6}"/>
              </a:ext>
            </a:extLst>
          </p:cNvPr>
          <p:cNvSpPr>
            <a:spLocks xmlns:a="http://schemas.openxmlformats.org/drawingml/2006/main" noGrp="1"/>
          </p:cNvSpPr>
          <p:nvPr/>
        </p:nvSpPr>
        <p:spPr>
          <a:xfrm xmlns:a="http://schemas.openxmlformats.org/drawingml/2006/main">
            <a:off x="1047750" y="3905250"/>
            <a:ext cx="3619500" cy="1619250"/>
          </a:xfrm>
          <a:prstGeom xmlns:a="http://schemas.openxmlformats.org/drawingml/2006/main" prst="rect">
            <a:avLst/>
          </a:prstGeom>
          <a:noFill xmlns:a="http://schemas.openxmlformats.org/drawingml/2006/main"/>
          <a:ln xmlns:a="http://schemas.openxmlformats.org/drawingml/2006/main" w="0">
            <a:noFill/>
          </a:ln>
        </p:spPr>
      </p:sp>
      <p:sp>
        <p:nvSpPr>
          <p:cNvPr id="4" name="Crown EEG">
            <a:extLst xmlns:a="http://schemas.openxmlformats.org/drawingml/2006/main">
              <a:ext uri="{FF2B5EF4-FFF2-40B4-BE49-F238E27FC236}">
                <a16:creationId xmlns:a16="http://schemas.microsoft.com/office/drawing/2014/main" id="{0FE8DED4-4920-46B6-90C2-959AF586C8FF}"/>
              </a:ext>
            </a:extLst>
          </p:cNvPr>
          <p:cNvSpPr>
            <a:spLocks xmlns:a="http://schemas.openxmlformats.org/drawingml/2006/main" noGrp="1"/>
          </p:cNvSpPr>
          <p:nvPr/>
        </p:nvSpPr>
        <p:spPr>
          <a:xfrm xmlns:a="http://schemas.openxmlformats.org/drawingml/2006/main">
            <a:off x="1047750" y="3905250"/>
            <a:ext cx="3619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300" b="1">
                <a:solidFill>
                  <a:srgbClr val="326B8C"/>
                </a:solidFill>
                <a:latin typeface="Poppins"/>
                <a:ea typeface="Poppins"/>
                <a:cs typeface="Poppins"/>
              </a:defRPr>
            </a:pPr>
            <a:r>
              <a:rPr sz="3300" b="1">
                <a:solidFill>
                  <a:srgbClr val="326B8C"/>
                </a:solidFill>
                <a:latin typeface="Poppins"/>
                <a:ea typeface="Poppins"/>
                <a:cs typeface="Poppins"/>
              </a:rPr>
              <a:t>Crown EEG</a:t>
            </a:r>
          </a:p>
        </p:txBody>
      </p:sp>
      <p:sp>
        <p:nvSpPr>
          <p:cNvPr id="5" name="Signal packets">
            <a:extLst xmlns:a="http://schemas.openxmlformats.org/drawingml/2006/main">
              <a:ext uri="{FF2B5EF4-FFF2-40B4-BE49-F238E27FC236}">
                <a16:creationId xmlns:a16="http://schemas.microsoft.com/office/drawing/2014/main" id="{74ABB910-43F1-46B2-93D9-F66C777019D9}"/>
              </a:ext>
            </a:extLst>
          </p:cNvPr>
          <p:cNvSpPr>
            <a:spLocks xmlns:a="http://schemas.openxmlformats.org/drawingml/2006/main" noGrp="1"/>
          </p:cNvSpPr>
          <p:nvPr/>
        </p:nvSpPr>
        <p:spPr>
          <a:xfrm xmlns:a="http://schemas.openxmlformats.org/drawingml/2006/main">
            <a:off x="1047750" y="4686300"/>
            <a:ext cx="3619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0">
                <a:solidFill>
                  <a:srgbClr val="5A5D59"/>
                </a:solidFill>
                <a:latin typeface="Poppins"/>
                <a:ea typeface="Poppins"/>
                <a:cs typeface="Poppins"/>
              </a:defRPr>
            </a:pPr>
            <a:r>
              <a:rPr sz="2175" b="0">
                <a:solidFill>
                  <a:srgbClr val="5A5D59"/>
                </a:solidFill>
                <a:latin typeface="Poppins"/>
                <a:ea typeface="Poppins"/>
                <a:cs typeface="Poppins"/>
              </a:rPr>
              <a:t>Signal packets</a:t>
            </a:r>
          </a:p>
        </p:txBody>
      </p:sp>
      <p:sp>
        <p:nvSpPr>
          <p:cNvPr id="6" name="diagram">
            <a:extLst xmlns:a="http://schemas.openxmlformats.org/drawingml/2006/main">
              <a:ext uri="{FF2B5EF4-FFF2-40B4-BE49-F238E27FC236}">
                <a16:creationId xmlns:a16="http://schemas.microsoft.com/office/drawing/2014/main" id="{58D7E036-92D1-4D53-AD0E-9279791A124D}"/>
              </a:ext>
            </a:extLst>
          </p:cNvPr>
          <p:cNvSpPr>
            <a:spLocks xmlns:a="http://schemas.openxmlformats.org/drawingml/2006/main" noGrp="1"/>
          </p:cNvSpPr>
          <p:nvPr/>
        </p:nvSpPr>
        <p:spPr>
          <a:xfrm xmlns:a="http://schemas.openxmlformats.org/drawingml/2006/main">
            <a:off x="1047750" y="7143750"/>
            <a:ext cx="4000500" cy="1619250"/>
          </a:xfrm>
          <a:prstGeom xmlns:a="http://schemas.openxmlformats.org/drawingml/2006/main" prst="rect">
            <a:avLst/>
          </a:prstGeom>
          <a:noFill xmlns:a="http://schemas.openxmlformats.org/drawingml/2006/main"/>
          <a:ln xmlns:a="http://schemas.openxmlformats.org/drawingml/2006/main" w="0">
            <a:noFill/>
          </a:ln>
        </p:spPr>
      </p:sp>
      <p:sp>
        <p:nvSpPr>
          <p:cNvPr id="7" name="Camera client">
            <a:extLst xmlns:a="http://schemas.openxmlformats.org/drawingml/2006/main">
              <a:ext uri="{FF2B5EF4-FFF2-40B4-BE49-F238E27FC236}">
                <a16:creationId xmlns:a16="http://schemas.microsoft.com/office/drawing/2014/main" id="{2555C78F-F161-41FD-88CD-FD981959B5DC}"/>
              </a:ext>
            </a:extLst>
          </p:cNvPr>
          <p:cNvSpPr>
            <a:spLocks xmlns:a="http://schemas.openxmlformats.org/drawingml/2006/main" noGrp="1"/>
          </p:cNvSpPr>
          <p:nvPr/>
        </p:nvSpPr>
        <p:spPr>
          <a:xfrm xmlns:a="http://schemas.openxmlformats.org/drawingml/2006/main">
            <a:off x="1047750" y="7143750"/>
            <a:ext cx="4000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300" b="1">
                <a:solidFill>
                  <a:srgbClr val="9B712B"/>
                </a:solidFill>
                <a:latin typeface="Poppins"/>
                <a:ea typeface="Poppins"/>
                <a:cs typeface="Poppins"/>
              </a:defRPr>
            </a:pPr>
            <a:r>
              <a:rPr sz="3300" b="1">
                <a:solidFill>
                  <a:srgbClr val="9B712B"/>
                </a:solidFill>
                <a:latin typeface="Poppins"/>
                <a:ea typeface="Poppins"/>
                <a:cs typeface="Poppins"/>
              </a:rPr>
              <a:t>Camera client</a:t>
            </a:r>
          </a:p>
        </p:txBody>
      </p:sp>
      <p:sp>
        <p:nvSpPr>
          <p:cNvPr id="8" name="Video + capture commands">
            <a:extLst xmlns:a="http://schemas.openxmlformats.org/drawingml/2006/main">
              <a:ext uri="{FF2B5EF4-FFF2-40B4-BE49-F238E27FC236}">
                <a16:creationId xmlns:a16="http://schemas.microsoft.com/office/drawing/2014/main" id="{FB483042-E5C8-4DA7-8B36-F4399FD969E3}"/>
              </a:ext>
            </a:extLst>
          </p:cNvPr>
          <p:cNvSpPr>
            <a:spLocks xmlns:a="http://schemas.openxmlformats.org/drawingml/2006/main" noGrp="1"/>
          </p:cNvSpPr>
          <p:nvPr/>
        </p:nvSpPr>
        <p:spPr>
          <a:xfrm xmlns:a="http://schemas.openxmlformats.org/drawingml/2006/main">
            <a:off x="1047750" y="7924800"/>
            <a:ext cx="4000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0">
                <a:solidFill>
                  <a:srgbClr val="5A5D59"/>
                </a:solidFill>
                <a:latin typeface="Poppins"/>
                <a:ea typeface="Poppins"/>
                <a:cs typeface="Poppins"/>
              </a:defRPr>
            </a:pPr>
            <a:r>
              <a:rPr sz="2175" b="0">
                <a:solidFill>
                  <a:srgbClr val="5A5D59"/>
                </a:solidFill>
                <a:latin typeface="Poppins"/>
                <a:ea typeface="Poppins"/>
                <a:cs typeface="Poppins"/>
              </a:rPr>
              <a:t>Video + capture commands</a:t>
            </a:r>
          </a:p>
        </p:txBody>
      </p:sp>
      <p:sp>
        <p:nvSpPr>
          <p:cNvPr id="9" name="diagram">
            <a:extLst xmlns:a="http://schemas.openxmlformats.org/drawingml/2006/main">
              <a:ext uri="{FF2B5EF4-FFF2-40B4-BE49-F238E27FC236}">
                <a16:creationId xmlns:a16="http://schemas.microsoft.com/office/drawing/2014/main" id="{1AC44B4F-AD06-4A48-A213-E978C820975A}"/>
              </a:ext>
            </a:extLst>
          </p:cNvPr>
          <p:cNvSpPr>
            <a:spLocks xmlns:a="http://schemas.openxmlformats.org/drawingml/2006/main" noGrp="1"/>
          </p:cNvSpPr>
          <p:nvPr/>
        </p:nvSpPr>
        <p:spPr>
          <a:xfrm xmlns:a="http://schemas.openxmlformats.org/drawingml/2006/main">
            <a:off x="6477000" y="5381625"/>
            <a:ext cx="4857750" cy="1666875"/>
          </a:xfrm>
          <a:prstGeom xmlns:a="http://schemas.openxmlformats.org/drawingml/2006/main" prst="rect">
            <a:avLst/>
          </a:prstGeom>
          <a:noFill xmlns:a="http://schemas.openxmlformats.org/drawingml/2006/main"/>
          <a:ln xmlns:a="http://schemas.openxmlformats.org/drawingml/2006/main" w="0">
            <a:noFill/>
          </a:ln>
        </p:spPr>
      </p:sp>
      <p:sp>
        <p:nvSpPr>
          <p:cNvPr id="10" name="Python backend">
            <a:extLst xmlns:a="http://schemas.openxmlformats.org/drawingml/2006/main">
              <a:ext uri="{FF2B5EF4-FFF2-40B4-BE49-F238E27FC236}">
                <a16:creationId xmlns:a16="http://schemas.microsoft.com/office/drawing/2014/main" id="{9996B438-B909-44F0-8B9C-449441ADC361}"/>
              </a:ext>
            </a:extLst>
          </p:cNvPr>
          <p:cNvSpPr>
            <a:spLocks xmlns:a="http://schemas.openxmlformats.org/drawingml/2006/main" noGrp="1"/>
          </p:cNvSpPr>
          <p:nvPr/>
        </p:nvSpPr>
        <p:spPr>
          <a:xfrm xmlns:a="http://schemas.openxmlformats.org/drawingml/2006/main">
            <a:off x="6477000" y="5381625"/>
            <a:ext cx="4857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300" b="1">
                <a:solidFill>
                  <a:srgbClr val="191A18"/>
                </a:solidFill>
                <a:latin typeface="Poppins"/>
                <a:ea typeface="Poppins"/>
                <a:cs typeface="Poppins"/>
              </a:defRPr>
            </a:pPr>
            <a:r>
              <a:rPr sz="3300" b="1">
                <a:solidFill>
                  <a:srgbClr val="191A18"/>
                </a:solidFill>
                <a:latin typeface="Poppins"/>
                <a:ea typeface="Poppins"/>
                <a:cs typeface="Poppins"/>
              </a:rPr>
              <a:t>Python backend</a:t>
            </a:r>
          </a:p>
        </p:txBody>
      </p:sp>
      <p:sp>
        <p:nvSpPr>
          <p:cNvPr id="11" name="Detect • finalize • store">
            <a:extLst xmlns:a="http://schemas.openxmlformats.org/drawingml/2006/main">
              <a:ext uri="{FF2B5EF4-FFF2-40B4-BE49-F238E27FC236}">
                <a16:creationId xmlns:a16="http://schemas.microsoft.com/office/drawing/2014/main" id="{1F710683-127F-4FEE-A248-193D2529A3DB}"/>
              </a:ext>
            </a:extLst>
          </p:cNvPr>
          <p:cNvSpPr>
            <a:spLocks xmlns:a="http://schemas.openxmlformats.org/drawingml/2006/main" noGrp="1"/>
          </p:cNvSpPr>
          <p:nvPr/>
        </p:nvSpPr>
        <p:spPr>
          <a:xfrm xmlns:a="http://schemas.openxmlformats.org/drawingml/2006/main">
            <a:off x="6477000" y="6162675"/>
            <a:ext cx="4857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0">
                <a:solidFill>
                  <a:srgbClr val="5A5D59"/>
                </a:solidFill>
                <a:latin typeface="Poppins"/>
                <a:ea typeface="Poppins"/>
                <a:cs typeface="Poppins"/>
              </a:defRPr>
            </a:pPr>
            <a:r>
              <a:rPr sz="2175" b="0">
                <a:solidFill>
                  <a:srgbClr val="5A5D59"/>
                </a:solidFill>
                <a:latin typeface="Poppins"/>
                <a:ea typeface="Poppins"/>
                <a:cs typeface="Poppins"/>
              </a:rPr>
              <a:t>Detect • finalize • store</a:t>
            </a:r>
          </a:p>
        </p:txBody>
      </p:sp>
      <p:sp>
        <p:nvSpPr>
          <p:cNvPr id="12" name="diagram">
            <a:extLst xmlns:a="http://schemas.openxmlformats.org/drawingml/2006/main">
              <a:ext uri="{FF2B5EF4-FFF2-40B4-BE49-F238E27FC236}">
                <a16:creationId xmlns:a16="http://schemas.microsoft.com/office/drawing/2014/main" id="{3FBD06C8-3D9A-42A8-92F9-9D7F3FA0C96B}"/>
              </a:ext>
            </a:extLst>
          </p:cNvPr>
          <p:cNvSpPr>
            <a:spLocks xmlns:a="http://schemas.openxmlformats.org/drawingml/2006/main" noGrp="1"/>
          </p:cNvSpPr>
          <p:nvPr/>
        </p:nvSpPr>
        <p:spPr>
          <a:xfrm xmlns:a="http://schemas.openxmlformats.org/drawingml/2006/main">
            <a:off x="13239750" y="3429000"/>
            <a:ext cx="3810000" cy="1524000"/>
          </a:xfrm>
          <a:prstGeom xmlns:a="http://schemas.openxmlformats.org/drawingml/2006/main" prst="rect">
            <a:avLst/>
          </a:prstGeom>
          <a:noFill xmlns:a="http://schemas.openxmlformats.org/drawingml/2006/main"/>
          <a:ln xmlns:a="http://schemas.openxmlformats.org/drawingml/2006/main" w="0">
            <a:noFill/>
          </a:ln>
        </p:spPr>
      </p:sp>
      <p:sp>
        <p:nvSpPr>
          <p:cNvPr id="13" name="Meta">
            <a:extLst xmlns:a="http://schemas.openxmlformats.org/drawingml/2006/main">
              <a:ext uri="{FF2B5EF4-FFF2-40B4-BE49-F238E27FC236}">
                <a16:creationId xmlns:a16="http://schemas.microsoft.com/office/drawing/2014/main" id="{6038EC36-F487-4B5F-A931-87ADD5D94AE3}"/>
              </a:ext>
            </a:extLst>
          </p:cNvPr>
          <p:cNvSpPr>
            <a:spLocks xmlns:a="http://schemas.openxmlformats.org/drawingml/2006/main" noGrp="1"/>
          </p:cNvSpPr>
          <p:nvPr/>
        </p:nvSpPr>
        <p:spPr>
          <a:xfrm xmlns:a="http://schemas.openxmlformats.org/drawingml/2006/main">
            <a:off x="13239750" y="3429000"/>
            <a:ext cx="3810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300" b="1">
                <a:solidFill>
                  <a:srgbClr val="326B8C"/>
                </a:solidFill>
                <a:latin typeface="Poppins"/>
                <a:ea typeface="Poppins"/>
                <a:cs typeface="Poppins"/>
              </a:defRPr>
            </a:pPr>
            <a:r>
              <a:rPr sz="3300" b="1">
                <a:solidFill>
                  <a:srgbClr val="326B8C"/>
                </a:solidFill>
                <a:latin typeface="Poppins"/>
                <a:ea typeface="Poppins"/>
                <a:cs typeface="Poppins"/>
              </a:rPr>
              <a:t>Meta</a:t>
            </a:r>
          </a:p>
        </p:txBody>
      </p:sp>
      <p:sp>
        <p:nvSpPr>
          <p:cNvPr id="14" name="Describe the moment">
            <a:extLst xmlns:a="http://schemas.openxmlformats.org/drawingml/2006/main">
              <a:ext uri="{FF2B5EF4-FFF2-40B4-BE49-F238E27FC236}">
                <a16:creationId xmlns:a16="http://schemas.microsoft.com/office/drawing/2014/main" id="{785E3BC4-B97D-4B84-AA2D-0011921F23FB}"/>
              </a:ext>
            </a:extLst>
          </p:cNvPr>
          <p:cNvSpPr>
            <a:spLocks xmlns:a="http://schemas.openxmlformats.org/drawingml/2006/main" noGrp="1"/>
          </p:cNvSpPr>
          <p:nvPr/>
        </p:nvSpPr>
        <p:spPr>
          <a:xfrm xmlns:a="http://schemas.openxmlformats.org/drawingml/2006/main">
            <a:off x="13239750" y="4210050"/>
            <a:ext cx="3810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0">
                <a:solidFill>
                  <a:srgbClr val="5A5D59"/>
                </a:solidFill>
                <a:latin typeface="Poppins"/>
                <a:ea typeface="Poppins"/>
                <a:cs typeface="Poppins"/>
              </a:defRPr>
            </a:pPr>
            <a:r>
              <a:rPr sz="2175" b="0">
                <a:solidFill>
                  <a:srgbClr val="5A5D59"/>
                </a:solidFill>
                <a:latin typeface="Poppins"/>
                <a:ea typeface="Poppins"/>
                <a:cs typeface="Poppins"/>
              </a:rPr>
              <a:t>Describe the moment</a:t>
            </a:r>
          </a:p>
        </p:txBody>
      </p:sp>
      <p:sp>
        <p:nvSpPr>
          <p:cNvPr id="15" name="diagram">
            <a:extLst xmlns:a="http://schemas.openxmlformats.org/drawingml/2006/main">
              <a:ext uri="{FF2B5EF4-FFF2-40B4-BE49-F238E27FC236}">
                <a16:creationId xmlns:a16="http://schemas.microsoft.com/office/drawing/2014/main" id="{B947BC87-8331-487A-9CD1-E6B4FC426603}"/>
              </a:ext>
            </a:extLst>
          </p:cNvPr>
          <p:cNvSpPr>
            <a:spLocks xmlns:a="http://schemas.openxmlformats.org/drawingml/2006/main" noGrp="1"/>
          </p:cNvSpPr>
          <p:nvPr/>
        </p:nvSpPr>
        <p:spPr>
          <a:xfrm xmlns:a="http://schemas.openxmlformats.org/drawingml/2006/main">
            <a:off x="13239750" y="5810250"/>
            <a:ext cx="3810000" cy="1524000"/>
          </a:xfrm>
          <a:prstGeom xmlns:a="http://schemas.openxmlformats.org/drawingml/2006/main" prst="rect">
            <a:avLst/>
          </a:prstGeom>
          <a:noFill xmlns:a="http://schemas.openxmlformats.org/drawingml/2006/main"/>
          <a:ln xmlns:a="http://schemas.openxmlformats.org/drawingml/2006/main" w="0">
            <a:noFill/>
          </a:ln>
        </p:spPr>
      </p:sp>
      <p:sp>
        <p:nvSpPr>
          <p:cNvPr id="16" name="Elastic">
            <a:extLst xmlns:a="http://schemas.openxmlformats.org/drawingml/2006/main">
              <a:ext uri="{FF2B5EF4-FFF2-40B4-BE49-F238E27FC236}">
                <a16:creationId xmlns:a16="http://schemas.microsoft.com/office/drawing/2014/main" id="{1FF74A33-4A24-4CFF-89A0-E248FD350661}"/>
              </a:ext>
            </a:extLst>
          </p:cNvPr>
          <p:cNvSpPr>
            <a:spLocks xmlns:a="http://schemas.openxmlformats.org/drawingml/2006/main" noGrp="1"/>
          </p:cNvSpPr>
          <p:nvPr/>
        </p:nvSpPr>
        <p:spPr>
          <a:xfrm xmlns:a="http://schemas.openxmlformats.org/drawingml/2006/main">
            <a:off x="13239750" y="5810250"/>
            <a:ext cx="3810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300" b="1">
                <a:solidFill>
                  <a:srgbClr val="9B712B"/>
                </a:solidFill>
                <a:latin typeface="Poppins"/>
                <a:ea typeface="Poppins"/>
                <a:cs typeface="Poppins"/>
              </a:defRPr>
            </a:pPr>
            <a:r>
              <a:rPr sz="3300" b="1">
                <a:solidFill>
                  <a:srgbClr val="9B712B"/>
                </a:solidFill>
                <a:latin typeface="Poppins"/>
                <a:ea typeface="Poppins"/>
                <a:cs typeface="Poppins"/>
              </a:rPr>
              <a:t>Elastic</a:t>
            </a:r>
          </a:p>
        </p:txBody>
      </p:sp>
      <p:sp>
        <p:nvSpPr>
          <p:cNvPr id="17" name="Index + retrieve">
            <a:extLst xmlns:a="http://schemas.openxmlformats.org/drawingml/2006/main">
              <a:ext uri="{FF2B5EF4-FFF2-40B4-BE49-F238E27FC236}">
                <a16:creationId xmlns:a16="http://schemas.microsoft.com/office/drawing/2014/main" id="{1938E76B-1CC8-4FDD-AF97-820F338776A9}"/>
              </a:ext>
            </a:extLst>
          </p:cNvPr>
          <p:cNvSpPr>
            <a:spLocks xmlns:a="http://schemas.openxmlformats.org/drawingml/2006/main" noGrp="1"/>
          </p:cNvSpPr>
          <p:nvPr/>
        </p:nvSpPr>
        <p:spPr>
          <a:xfrm xmlns:a="http://schemas.openxmlformats.org/drawingml/2006/main">
            <a:off x="13239750" y="6591300"/>
            <a:ext cx="3810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0">
                <a:solidFill>
                  <a:srgbClr val="5A5D59"/>
                </a:solidFill>
                <a:latin typeface="Poppins"/>
                <a:ea typeface="Poppins"/>
                <a:cs typeface="Poppins"/>
              </a:defRPr>
            </a:pPr>
            <a:r>
              <a:rPr sz="2175" b="0">
                <a:solidFill>
                  <a:srgbClr val="5A5D59"/>
                </a:solidFill>
                <a:latin typeface="Poppins"/>
                <a:ea typeface="Poppins"/>
                <a:cs typeface="Poppins"/>
              </a:rPr>
              <a:t>Index + retrieve</a:t>
            </a:r>
          </a:p>
        </p:txBody>
      </p:sp>
      <p:sp>
        <p:nvSpPr>
          <p:cNvPr id="18" name="diagram">
            <a:extLst xmlns:a="http://schemas.openxmlformats.org/drawingml/2006/main">
              <a:ext uri="{FF2B5EF4-FFF2-40B4-BE49-F238E27FC236}">
                <a16:creationId xmlns:a16="http://schemas.microsoft.com/office/drawing/2014/main" id="{C501A720-595D-4888-AB81-C5EF9888A8FC}"/>
              </a:ext>
            </a:extLst>
          </p:cNvPr>
          <p:cNvSpPr>
            <a:spLocks xmlns:a="http://schemas.openxmlformats.org/drawingml/2006/main" noGrp="1"/>
          </p:cNvSpPr>
          <p:nvPr/>
        </p:nvSpPr>
        <p:spPr>
          <a:xfrm xmlns:a="http://schemas.openxmlformats.org/drawingml/2006/main">
            <a:off x="13239750" y="8134350"/>
            <a:ext cx="4095750" cy="1428750"/>
          </a:xfrm>
          <a:prstGeom xmlns:a="http://schemas.openxmlformats.org/drawingml/2006/main" prst="rect">
            <a:avLst/>
          </a:prstGeom>
          <a:noFill xmlns:a="http://schemas.openxmlformats.org/drawingml/2006/main"/>
          <a:ln xmlns:a="http://schemas.openxmlformats.org/drawingml/2006/main" w="0">
            <a:noFill/>
          </a:ln>
        </p:spPr>
      </p:sp>
      <p:sp>
        <p:nvSpPr>
          <p:cNvPr id="19" name="Web app">
            <a:extLst xmlns:a="http://schemas.openxmlformats.org/drawingml/2006/main">
              <a:ext uri="{FF2B5EF4-FFF2-40B4-BE49-F238E27FC236}">
                <a16:creationId xmlns:a16="http://schemas.microsoft.com/office/drawing/2014/main" id="{0598C54B-E3BD-44ED-B19E-FDA1BA6A6CBB}"/>
              </a:ext>
            </a:extLst>
          </p:cNvPr>
          <p:cNvSpPr>
            <a:spLocks xmlns:a="http://schemas.openxmlformats.org/drawingml/2006/main" noGrp="1"/>
          </p:cNvSpPr>
          <p:nvPr/>
        </p:nvSpPr>
        <p:spPr>
          <a:xfrm xmlns:a="http://schemas.openxmlformats.org/drawingml/2006/main">
            <a:off x="13239750" y="8134350"/>
            <a:ext cx="4095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300" b="1">
                <a:solidFill>
                  <a:srgbClr val="191A18"/>
                </a:solidFill>
                <a:latin typeface="Poppins"/>
                <a:ea typeface="Poppins"/>
                <a:cs typeface="Poppins"/>
              </a:defRPr>
            </a:pPr>
            <a:r>
              <a:rPr sz="3300" b="1">
                <a:solidFill>
                  <a:srgbClr val="191A18"/>
                </a:solidFill>
                <a:latin typeface="Poppins"/>
                <a:ea typeface="Poppins"/>
                <a:cs typeface="Poppins"/>
              </a:rPr>
              <a:t>Web app</a:t>
            </a:r>
          </a:p>
        </p:txBody>
      </p:sp>
      <p:sp>
        <p:nvSpPr>
          <p:cNvPr id="20" name="Search • replay • share">
            <a:extLst xmlns:a="http://schemas.openxmlformats.org/drawingml/2006/main">
              <a:ext uri="{FF2B5EF4-FFF2-40B4-BE49-F238E27FC236}">
                <a16:creationId xmlns:a16="http://schemas.microsoft.com/office/drawing/2014/main" id="{D5D3211C-0D4F-415C-9859-255139A89E86}"/>
              </a:ext>
            </a:extLst>
          </p:cNvPr>
          <p:cNvSpPr>
            <a:spLocks xmlns:a="http://schemas.openxmlformats.org/drawingml/2006/main" noGrp="1"/>
          </p:cNvSpPr>
          <p:nvPr/>
        </p:nvSpPr>
        <p:spPr>
          <a:xfrm xmlns:a="http://schemas.openxmlformats.org/drawingml/2006/main">
            <a:off x="13239750" y="8915400"/>
            <a:ext cx="4095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0">
                <a:solidFill>
                  <a:srgbClr val="5A5D59"/>
                </a:solidFill>
                <a:latin typeface="Poppins"/>
                <a:ea typeface="Poppins"/>
                <a:cs typeface="Poppins"/>
              </a:defRPr>
            </a:pPr>
            <a:r>
              <a:rPr sz="2175" b="0">
                <a:solidFill>
                  <a:srgbClr val="5A5D59"/>
                </a:solidFill>
                <a:latin typeface="Poppins"/>
                <a:ea typeface="Poppins"/>
                <a:cs typeface="Poppins"/>
              </a:rPr>
              <a:t>Search • replay • share</a:t>
            </a:r>
          </a:p>
        </p:txBody>
      </p:sp>
      <p:cxnSp>
        <p:nvCxnSpPr>
          <p:cNvPr id="46" name=""/>
          <p:cNvCxnSpPr>
            <a:stCxn xmlns:a="http://schemas.openxmlformats.org/drawingml/2006/main" id="3" idx="3"/>
            <a:endCxn xmlns:a="http://schemas.openxmlformats.org/drawingml/2006/main" id="9" idx="1"/>
          </p:cNvCxnSpPr>
          <p:nvPr/>
        </p:nvCxnSpPr>
        <p:spPr>
          <a:xfrm xmlns:a="http://schemas.openxmlformats.org/drawingml/2006/main">
            <a:off x="4667250" y="4714875"/>
            <a:ext cx="1809750" cy="1500188"/>
          </a:xfrm>
          <a:prstGeom xmlns:a="http://schemas.openxmlformats.org/drawingml/2006/main" prst="bentConnector3">
            <a:avLst>
              <a:gd name="adj1" fmla="val 50000"/>
            </a:avLst>
          </a:prstGeom>
          <a:ln xmlns:a="http://schemas.openxmlformats.org/drawingml/2006/main" w="28575">
            <a:solidFill>
              <a:srgbClr val="326B8C"/>
            </a:solidFill>
            <a:tailEnd type="triangle" w="med" len="med"/>
          </a:ln>
        </p:spPr>
      </p:cxnSp>
      <p:cxnSp>
        <p:nvCxnSpPr>
          <p:cNvPr id="47" name=""/>
          <p:cNvCxnSpPr>
            <a:stCxn xmlns:a="http://schemas.openxmlformats.org/drawingml/2006/main" id="6" idx="3"/>
            <a:endCxn xmlns:a="http://schemas.openxmlformats.org/drawingml/2006/main" id="9" idx="1"/>
          </p:cNvCxnSpPr>
          <p:nvPr/>
        </p:nvCxnSpPr>
        <p:spPr>
          <a:xfrm xmlns:a="http://schemas.openxmlformats.org/drawingml/2006/main" flipV="1">
            <a:off x="5048250" y="6215063"/>
            <a:ext cx="1428750" cy="1738313"/>
          </a:xfrm>
          <a:prstGeom xmlns:a="http://schemas.openxmlformats.org/drawingml/2006/main" prst="bentConnector3">
            <a:avLst>
              <a:gd name="adj1" fmla="val 50000"/>
            </a:avLst>
          </a:prstGeom>
          <a:ln xmlns:a="http://schemas.openxmlformats.org/drawingml/2006/main" w="28575">
            <a:solidFill>
              <a:srgbClr val="9B712B"/>
            </a:solidFill>
            <a:headEnd type="triangle" w="med" len="med"/>
            <a:tailEnd type="triangle" w="med" len="med"/>
          </a:ln>
        </p:spPr>
      </p:cxnSp>
      <p:cxnSp>
        <p:nvCxnSpPr>
          <p:cNvPr id="48" name=""/>
          <p:cNvCxnSpPr>
            <a:stCxn xmlns:a="http://schemas.openxmlformats.org/drawingml/2006/main" id="9" idx="3"/>
            <a:endCxn xmlns:a="http://schemas.openxmlformats.org/drawingml/2006/main" id="12" idx="1"/>
          </p:cNvCxnSpPr>
          <p:nvPr/>
        </p:nvCxnSpPr>
        <p:spPr>
          <a:xfrm xmlns:a="http://schemas.openxmlformats.org/drawingml/2006/main" flipV="1">
            <a:off x="11334750" y="4191000"/>
            <a:ext cx="1905000" cy="2024063"/>
          </a:xfrm>
          <a:prstGeom xmlns:a="http://schemas.openxmlformats.org/drawingml/2006/main" prst="bentConnector3">
            <a:avLst>
              <a:gd name="adj1" fmla="val 50000"/>
            </a:avLst>
          </a:prstGeom>
          <a:ln xmlns:a="http://schemas.openxmlformats.org/drawingml/2006/main" w="28575">
            <a:solidFill>
              <a:srgbClr val="5A5D59"/>
            </a:solidFill>
            <a:headEnd type="triangle" w="med" len="med"/>
            <a:tailEnd type="triangle" w="med" len="med"/>
          </a:ln>
        </p:spPr>
      </p:cxnSp>
      <p:cxnSp>
        <p:nvCxnSpPr>
          <p:cNvPr id="49" name=""/>
          <p:cNvCxnSpPr>
            <a:stCxn xmlns:a="http://schemas.openxmlformats.org/drawingml/2006/main" id="9" idx="3"/>
            <a:endCxn xmlns:a="http://schemas.openxmlformats.org/drawingml/2006/main" id="15" idx="1"/>
          </p:cNvCxnSpPr>
          <p:nvPr/>
        </p:nvCxnSpPr>
        <p:spPr>
          <a:xfrm xmlns:a="http://schemas.openxmlformats.org/drawingml/2006/main">
            <a:off x="11334750" y="6215063"/>
            <a:ext cx="1905000" cy="357188"/>
          </a:xfrm>
          <a:prstGeom xmlns:a="http://schemas.openxmlformats.org/drawingml/2006/main" prst="bentConnector3">
            <a:avLst>
              <a:gd name="adj1" fmla="val 50000"/>
            </a:avLst>
          </a:prstGeom>
          <a:ln xmlns:a="http://schemas.openxmlformats.org/drawingml/2006/main" w="28575">
            <a:solidFill>
              <a:srgbClr val="5A5D59"/>
            </a:solidFill>
            <a:headEnd type="triangle" w="med" len="med"/>
            <a:tailEnd type="triangle" w="med" len="med"/>
          </a:ln>
        </p:spPr>
      </p:cxnSp>
      <p:cxnSp>
        <p:nvCxnSpPr>
          <p:cNvPr id="50" name=""/>
          <p:cNvCxnSpPr>
            <a:stCxn xmlns:a="http://schemas.openxmlformats.org/drawingml/2006/main" id="9" idx="3"/>
            <a:endCxn xmlns:a="http://schemas.openxmlformats.org/drawingml/2006/main" id="18" idx="1"/>
          </p:cNvCxnSpPr>
          <p:nvPr/>
        </p:nvCxnSpPr>
        <p:spPr>
          <a:xfrm xmlns:a="http://schemas.openxmlformats.org/drawingml/2006/main">
            <a:off x="11334750" y="6215063"/>
            <a:ext cx="1905000" cy="2633663"/>
          </a:xfrm>
          <a:prstGeom xmlns:a="http://schemas.openxmlformats.org/drawingml/2006/main" prst="bentConnector3">
            <a:avLst>
              <a:gd name="adj1" fmla="val 50000"/>
            </a:avLst>
          </a:prstGeom>
          <a:ln xmlns:a="http://schemas.openxmlformats.org/drawingml/2006/main" w="28575">
            <a:solidFill>
              <a:srgbClr val="5A5D59"/>
            </a:solidFill>
            <a:headEnd type="triangle" w="med" len="med"/>
            <a:tailEnd type="triangle" w="med" len="med"/>
          </a:ln>
        </p:spPr>
      </p:cxnSp>
    </p:spTree>
    <p:extLst>
      <p:ext uri="{BB962C8B-B14F-4D97-AF65-F5344CB8AC3E}">
        <p14:creationId xmlns:p14="http://schemas.microsoft.com/office/powerpoint/2010/main" val="2114497737"/>
      </p:ext>
    </p:extLst>
  </p:cSld>
</p:sld>
</file>

<file path=ppt/slides/slide14.xml><?xml version="1.0" encoding="utf-8"?>
<p:sld xmlns:p="http://schemas.openxmlformats.org/presentationml/2006/main">
  <p:cSld>
    <p:bg>
      <p:bgPr>
        <a:solidFill xmlns:a="http://schemas.openxmlformats.org/drawingml/2006/main">
          <a:srgbClr val="F3EFE6"/>
        </a:solidFill>
      </p:bgPr>
    </p:bg>
    <p:spTree>
      <p:nvGrpSpPr>
        <p:cNvPr id="1" name=""/>
        <p:cNvGrpSpPr/>
        <p:nvPr/>
      </p:nvGrpSpPr>
      <p:grpSpPr>
        <a:xfrm xmlns:a="http://schemas.openxmlformats.org/drawingml/2006/main"/>
      </p:grpSpPr>
      <p:sp>
        <p:nvSpPr>
          <p:cNvPr id="5" name="Memorypalace">
            <a:extLst xmlns:a="http://schemas.openxmlformats.org/drawingml/2006/main">
              <a:ext uri="{FF2B5EF4-FFF2-40B4-BE49-F238E27FC236}">
                <a16:creationId xmlns:a16="http://schemas.microsoft.com/office/drawing/2014/main" id="{4827F812-6675-4CBD-A349-2803B1ACC964}"/>
              </a:ext>
            </a:extLst>
          </p:cNvPr>
          <p:cNvSpPr>
            <a:spLocks xmlns:a="http://schemas.openxmlformats.org/drawingml/2006/main" noGrp="1"/>
          </p:cNvSpPr>
          <p:nvPr/>
        </p:nvSpPr>
        <p:spPr>
          <a:xfrm xmlns:a="http://schemas.openxmlformats.org/drawingml/2006/main">
            <a:off x="1047750" y="1885950"/>
            <a:ext cx="161925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8700" b="1">
                <a:solidFill>
                  <a:srgbClr val="191A18"/>
                </a:solidFill>
                <a:latin typeface="Poppins"/>
                <a:ea typeface="Poppins"/>
                <a:cs typeface="Poppins"/>
              </a:defRPr>
            </a:pPr>
            <a:r>
              <a:rPr sz="8700" b="1">
                <a:solidFill>
                  <a:srgbClr val="191A18"/>
                </a:solidFill>
                <a:latin typeface="Poppins"/>
                <a:ea typeface="Poppins"/>
                <a:cs typeface="Poppins"/>
              </a:rPr>
              <a:t>Memorypalace</a:t>
            </a:r>
          </a:p>
        </p:txBody>
      </p:sp>
      <p:sp>
        <p:nvSpPr>
          <p:cNvPr id="2" name="Your day has more to tell you.">
            <a:extLst xmlns:a="http://schemas.openxmlformats.org/drawingml/2006/main">
              <a:ext uri="{FF2B5EF4-FFF2-40B4-BE49-F238E27FC236}">
                <a16:creationId xmlns:a16="http://schemas.microsoft.com/office/drawing/2014/main" id="{C6996454-E3F7-4A6B-A9E7-35308B0C265F}"/>
              </a:ext>
            </a:extLst>
          </p:cNvPr>
          <p:cNvSpPr>
            <a:spLocks xmlns:a="http://schemas.openxmlformats.org/drawingml/2006/main" noGrp="1"/>
          </p:cNvSpPr>
          <p:nvPr/>
        </p:nvSpPr>
        <p:spPr>
          <a:xfrm xmlns:a="http://schemas.openxmlformats.org/drawingml/2006/main">
            <a:off x="1047750" y="4152900"/>
            <a:ext cx="1533525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6750" b="1">
                <a:solidFill>
                  <a:srgbClr val="191A18"/>
                </a:solidFill>
                <a:latin typeface="Poppins"/>
                <a:ea typeface="Poppins"/>
                <a:cs typeface="Poppins"/>
              </a:defRPr>
            </a:pPr>
            <a:r>
              <a:rPr sz="6750" b="1">
                <a:solidFill>
                  <a:srgbClr val="191A18"/>
                </a:solidFill>
                <a:latin typeface="Poppins"/>
                <a:ea typeface="Poppins"/>
                <a:cs typeface="Poppins"/>
              </a:rPr>
              <a:t>Your day has more to tell you.</a:t>
            </a:r>
          </a:p>
        </p:txBody>
      </p:sp>
      <p:sp>
        <p:nvSpPr>
          <p:cNvPr id="3" name="Keep the context. Revisit it when you have time.">
            <a:extLst xmlns:a="http://schemas.openxmlformats.org/drawingml/2006/main">
              <a:ext uri="{FF2B5EF4-FFF2-40B4-BE49-F238E27FC236}">
                <a16:creationId xmlns:a16="http://schemas.microsoft.com/office/drawing/2014/main" id="{1202B5CE-8869-440B-9F0A-1331CA3CB503}"/>
              </a:ext>
            </a:extLst>
          </p:cNvPr>
          <p:cNvSpPr>
            <a:spLocks xmlns:a="http://schemas.openxmlformats.org/drawingml/2006/main" noGrp="1"/>
          </p:cNvSpPr>
          <p:nvPr/>
        </p:nvSpPr>
        <p:spPr>
          <a:xfrm xmlns:a="http://schemas.openxmlformats.org/drawingml/2006/main">
            <a:off x="1047750" y="7181850"/>
            <a:ext cx="156210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525" b="0">
                <a:solidFill>
                  <a:srgbClr val="326B8C"/>
                </a:solidFill>
                <a:latin typeface="Poppins"/>
                <a:ea typeface="Poppins"/>
                <a:cs typeface="Poppins"/>
              </a:defRPr>
            </a:pPr>
            <a:r>
              <a:rPr sz="3525" b="0">
                <a:solidFill>
                  <a:srgbClr val="326B8C"/>
                </a:solidFill>
                <a:latin typeface="Poppins"/>
                <a:ea typeface="Poppins"/>
                <a:cs typeface="Poppins"/>
              </a:rPr>
              <a:t>Keep the context. Revisit it when you have time.</a:t>
            </a:r>
          </a:p>
        </p:txBody>
      </p:sp>
      <p:sp>
        <p:nvSpPr>
          <p:cNvPr id="4" name="Try the live demo →">
            <a:extLst xmlns:a="http://schemas.openxmlformats.org/drawingml/2006/main">
              <a:ext uri="{FF2B5EF4-FFF2-40B4-BE49-F238E27FC236}">
                <a16:creationId xmlns:a16="http://schemas.microsoft.com/office/drawing/2014/main" id="{001D6F20-EFA6-46F7-B4BE-D30FBE6465E0}"/>
              </a:ext>
            </a:extLst>
          </p:cNvPr>
          <p:cNvSpPr>
            <a:spLocks xmlns:a="http://schemas.openxmlformats.org/drawingml/2006/main" noGrp="1"/>
          </p:cNvSpPr>
          <p:nvPr/>
        </p:nvSpPr>
        <p:spPr>
          <a:xfrm xmlns:a="http://schemas.openxmlformats.org/drawingml/2006/main">
            <a:off x="1047750" y="8924925"/>
            <a:ext cx="1047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550" b="1">
                <a:solidFill>
                  <a:srgbClr val="9B712B"/>
                </a:solidFill>
                <a:latin typeface="Poppins"/>
                <a:ea typeface="Poppins"/>
                <a:cs typeface="Poppins"/>
              </a:defRPr>
            </a:pPr>
            <a:r>
              <a:rPr sz="2550" b="1">
                <a:solidFill>
                  <a:srgbClr val="9B712B"/>
                </a:solidFill>
                <a:latin typeface="Poppins"/>
                <a:ea typeface="Poppins"/>
                <a:cs typeface="Poppins"/>
                <a:hlinkClick xmlns:r="http://schemas.openxmlformats.org/officeDocument/2006/relationships" r:id="R6d5230514f364d1a"/>
              </a:rPr>
              <a:t>Try the live demo →</a:t>
            </a:r>
          </a:p>
        </p:txBody>
      </p:sp>
    </p:spTree>
    <p:extLst>
      <p:ext uri="{BB962C8B-B14F-4D97-AF65-F5344CB8AC3E}">
        <p14:creationId xmlns:p14="http://schemas.microsoft.com/office/powerpoint/2010/main" val="124851726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2026-09-20T08:29:45.1510000Z</dcterms:created>
  <dcterms:modified xsi:type="dcterms:W3CDTF">2026-09-20T08:29:45.1510000Z</dcterms:modified>
</coreProperties>
</file>