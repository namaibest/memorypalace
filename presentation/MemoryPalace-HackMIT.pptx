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in one breath and stop. "Your brain already flags the moments that mattered. Nobody has ever wired that flag to a camera." Do not introduce the team or the stack yet. Go straight to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number, not the sentiment. 30 to 45 minutes is measured, and it kills every "just record everything" answer a judge will reach for. The SenseCam line is what earns the healthcare track: the wearable camera research that actually helped dementia patients never recorded video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NOTHING OVER THE FILM. Click once, step back, let it run 36 seconds, and watch the judges rather than the screen. The moment it ends, advance immediately and open with: "Every moment you just saw was chosen by a signal, not by a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row with your hand and stop on the highlighted box. "Four consecutive elevated windows." That is the whole trick, and it is what separates this from a noise detector. If anyone asks why four, jump to the trigger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load bearing point is order: the clip is committed to a local atomic catalog BEFORE anything touches the network. The camera closes again immediately. Nothing runs continuously except the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it, then say the one line that matters: "Same amplitude, opposite conclusion." This is the answer to "why calibrate at all" and to "why can you not ship a pre-trained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wins technical judges. We ported a parameter without porting its assumption, measured it, and it cost an order of magnitude in false alarms. Volunteering your own bug is worth more than any accuracy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when someone asks where the numbers come from, or asks about peak to peak. Peak to peak appears exactly once in this pipeline: a plus or minus 150 microvolt artifact rejection threshold. It throws an epoch away. It is not how the detector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right hand column out loud. Most teams skip it, which is exactly why doing it works. Do not round anything up: if it is not built, say it is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right hand column out loud. Most teams skip it, which is exactly why doing it works. Do not round anything up: if it is not built, say it is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right hand column out loud. Most teams skip it, which is exactly why doing it works. Do not round anything up: if it is not built, say it is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and do not apologise through it. Delivered flatly it is the most persuasive thirty seconds in the deck, because every judge has already sat through four teams claiming a live EEG demo. Read three of the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on the last line, then stop talking and let them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when a judge asks what actually runs. The load bearing choice: the phone never talks to the web app. Both are clients of the same LAN backend, so either half can crash without taking the other down, and the backend starts the stop timer only after the phone confirms recording, so leaving the page never leaves a camera running. If they ask to see it: hardware-demo/run.py demo --recorder phone runs the whole thing with no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Rehearse the failure rows out loud. Each has an honest answer that beats fumbling, and two of them are designed behaviour rather than bugs.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video" Target="../media/media-3-1.mp4"/><Relationship Id="rId2" Type="http://schemas.microsoft.com/office/2007/relationships/media" Target="../media/media-3-1.mp4"/><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6-1.mp4"/><Relationship Id="rId2" Type="http://schemas.microsoft.com/office/2007/relationships/media" Target="../media/media-6-1.mp4"/><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EFE5"/>
        </a:solidFill>
      </p:bgPr>
    </p:bg>
    <p:spTree>
      <p:nvGrpSpPr>
        <p:cNvPr id="1" name=""/>
        <p:cNvGrpSpPr/>
        <p:nvPr/>
      </p:nvGrpSpPr>
      <p:grpSpPr>
        <a:xfrm>
          <a:off x="0" y="0"/>
          <a:ext cx="0" cy="0"/>
          <a:chOff x="0" y="0"/>
          <a:chExt cx="0" cy="0"/>
        </a:xfrm>
      </p:grpSpPr>
      <p:pic>
        <p:nvPicPr>
          <p:cNvPr id="3" name="Image 0" descr="/home/claude/pptx/media/logo-b-light.png">    </p:cNvPr>
          <p:cNvPicPr>
            <a:picLocks noChangeAspect="1"/>
          </p:cNvPicPr>
          <p:nvPr/>
        </p:nvPicPr>
        <p:blipFill>
          <a:blip r:embed="rId1"/>
          <a:stretch>
            <a:fillRect/>
          </a:stretch>
        </p:blipFill>
        <p:spPr>
          <a:xfrm>
            <a:off x="1883664" y="1536192"/>
            <a:ext cx="8421624" cy="2011680"/>
          </a:xfrm>
          <a:prstGeom prst="rect">
            <a:avLst/>
          </a:prstGeom>
        </p:spPr>
      </p:pic>
      <p:sp>
        <p:nvSpPr>
          <p:cNvPr id="4" name="Text 0"/>
          <p:cNvSpPr txBox="1"/>
          <p:nvPr/>
        </p:nvSpPr>
        <p:spPr>
          <a:xfrm>
            <a:off x="1883664" y="3931920"/>
            <a:ext cx="8421624" cy="1426464"/>
          </a:xfrm>
          <a:prstGeom prst="rect">
            <a:avLst/>
          </a:prstGeom>
          <a:noFill/>
          <a:ln/>
        </p:spPr>
        <p:txBody>
          <a:bodyPr wrap="square" lIns="0" tIns="0" rIns="0" bIns="0" rtlCol="0" anchor="ctr"/>
          <a:lstStyle/>
          <a:p>
            <a:pPr algn="ctr" indent="0" marL="0">
              <a:lnSpc>
                <a:spcPct val="130000"/>
              </a:lnSpc>
              <a:buNone/>
            </a:pPr>
            <a:r>
              <a:rPr lang="en-US" sz="2400" dirty="0">
                <a:solidFill>
                  <a:srgbClr val="4E4A42"/>
                </a:solidFill>
                <a:latin typeface="Century Gothic" pitchFamily="34" charset="0"/>
                <a:ea typeface="Century Gothic" pitchFamily="34" charset="-122"/>
                <a:cs typeface="Century Gothic" pitchFamily="34" charset="-120"/>
              </a:rPr>
              <a:t>Your brain already flags the moments that mattered.</a:t>
            </a:r>
            <a:endParaRPr lang="en-US" sz="2400" dirty="0"/>
          </a:p>
          <a:p>
            <a:pPr algn="ctr" indent="0" marL="0">
              <a:lnSpc>
                <a:spcPct val="130000"/>
              </a:lnSpc>
              <a:buNone/>
            </a:pPr>
            <a:r>
              <a:rPr lang="en-US" sz="2400" dirty="0">
                <a:solidFill>
                  <a:srgbClr val="4E4A42"/>
                </a:solidFill>
                <a:latin typeface="Century Gothic" pitchFamily="34" charset="0"/>
                <a:ea typeface="Century Gothic" pitchFamily="34" charset="-122"/>
                <a:cs typeface="Century Gothic" pitchFamily="34" charset="-120"/>
              </a:rPr>
              <a:t>We wired that flag to a camera.</a:t>
            </a:r>
            <a:endParaRPr lang="en-US" sz="2400" dirty="0"/>
          </a:p>
        </p:txBody>
      </p:sp>
      <p:sp>
        <p:nvSpPr>
          <p:cNvPr id="5" name="Text 1"/>
          <p:cNvSpPr txBox="1"/>
          <p:nvPr/>
        </p:nvSpPr>
        <p:spPr>
          <a:xfrm>
            <a:off x="1883664" y="5376672"/>
            <a:ext cx="8421624" cy="365760"/>
          </a:xfrm>
          <a:prstGeom prst="rect">
            <a:avLst/>
          </a:prstGeom>
          <a:noFill/>
          <a:ln/>
        </p:spPr>
        <p:txBody>
          <a:bodyPr wrap="square" lIns="0" tIns="0" rIns="0" bIns="0" rtlCol="0" anchor="ctr"/>
          <a:lstStyle/>
          <a:p>
            <a:pPr algn="ctr" indent="0" marL="0">
              <a:buNone/>
            </a:pPr>
            <a:r>
              <a:rPr lang="en-US" sz="1800" b="1" spc="340" kern="0" dirty="0">
                <a:solidFill>
                  <a:srgbClr val="7A6430"/>
                </a:solidFill>
                <a:latin typeface="Century Gothic" pitchFamily="34" charset="0"/>
                <a:ea typeface="Century Gothic" pitchFamily="34" charset="-122"/>
                <a:cs typeface="Century Gothic" pitchFamily="34" charset="-120"/>
              </a:rPr>
              <a:t>HACKMIT 2026     HEALTHCARE TRACK</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FE5"/>
        </a:solidFill>
      </p:bgPr>
    </p:bg>
    <p:spTree>
      <p:nvGrpSpPr>
        <p:cNvPr id="1" name=""/>
        <p:cNvGrpSpPr/>
        <p:nvPr/>
      </p:nvGrpSpPr>
      <p:grpSpPr>
        <a:xfrm>
          <a:off x="0" y="0"/>
          <a:ext cx="0" cy="0"/>
          <a:chOff x="0" y="0"/>
          <a:chExt cx="0" cy="0"/>
        </a:xfrm>
      </p:grpSpPr>
      <p:sp>
        <p:nvSpPr>
          <p:cNvPr id="3" name="Text 0"/>
          <p:cNvSpPr txBox="1"/>
          <p:nvPr/>
        </p:nvSpPr>
        <p:spPr>
          <a:xfrm>
            <a:off x="603504" y="457200"/>
            <a:ext cx="10981944" cy="310896"/>
          </a:xfrm>
          <a:prstGeom prst="rect">
            <a:avLst/>
          </a:prstGeom>
          <a:noFill/>
          <a:ln/>
        </p:spPr>
        <p:txBody>
          <a:bodyPr wrap="square" lIns="0" tIns="0" rIns="0" bIns="0" rtlCol="0" anchor="ctr"/>
          <a:lstStyle/>
          <a:p>
            <a:pPr indent="0" marL="0">
              <a:buNone/>
            </a:pPr>
            <a:r>
              <a:rPr lang="en-US" sz="1800" b="1" spc="260" kern="0" dirty="0">
                <a:solidFill>
                  <a:srgbClr val="6E685C"/>
                </a:solidFill>
                <a:latin typeface="Century Gothic" pitchFamily="34" charset="0"/>
                <a:ea typeface="Century Gothic" pitchFamily="34" charset="-122"/>
                <a:cs typeface="Century Gothic" pitchFamily="34" charset="-120"/>
              </a:rPr>
              <a:t>THE PROBLEM</a:t>
            </a:r>
            <a:endParaRPr lang="en-US" sz="1800" dirty="0"/>
          </a:p>
        </p:txBody>
      </p:sp>
      <p:sp>
        <p:nvSpPr>
          <p:cNvPr id="4" name="Text 1"/>
          <p:cNvSpPr txBox="1"/>
          <p:nvPr/>
        </p:nvSpPr>
        <p:spPr>
          <a:xfrm>
            <a:off x="603504" y="868680"/>
            <a:ext cx="10981944" cy="1250899"/>
          </a:xfrm>
          <a:prstGeom prst="rect">
            <a:avLst/>
          </a:prstGeom>
          <a:noFill/>
          <a:ln/>
        </p:spPr>
        <p:txBody>
          <a:bodyPr wrap="square" lIns="0" tIns="0" rIns="0" bIns="0" rtlCol="0" anchor="t"/>
          <a:lstStyle/>
          <a:p>
            <a:pPr indent="0" marL="0">
              <a:lnSpc>
                <a:spcPct val="108000"/>
              </a:lnSpc>
              <a:buNone/>
            </a:pPr>
            <a:r>
              <a:rPr lang="en-US" sz="3800" b="1" dirty="0">
                <a:solidFill>
                  <a:srgbClr val="1A1917"/>
                </a:solidFill>
                <a:latin typeface="Century Gothic" pitchFamily="34" charset="0"/>
                <a:ea typeface="Century Gothic" pitchFamily="34" charset="-122"/>
                <a:cs typeface="Century Gothic" pitchFamily="34" charset="-120"/>
              </a:rPr>
              <a:t>You cannot know which ten</a:t>
            </a:r>
            <a:endParaRPr lang="en-US" sz="3800" dirty="0"/>
          </a:p>
          <a:p>
            <a:pPr indent="0" marL="0">
              <a:lnSpc>
                <a:spcPct val="108000"/>
              </a:lnSpc>
              <a:buNone/>
            </a:pPr>
            <a:r>
              <a:rPr lang="en-US" sz="3800" b="1" dirty="0">
                <a:solidFill>
                  <a:srgbClr val="1A1917"/>
                </a:solidFill>
                <a:latin typeface="Century Gothic" pitchFamily="34" charset="0"/>
                <a:ea typeface="Century Gothic" pitchFamily="34" charset="-122"/>
                <a:cs typeface="Century Gothic" pitchFamily="34" charset="-120"/>
              </a:rPr>
              <a:t>seconds will matter.</a:t>
            </a:r>
            <a:endParaRPr lang="en-US" sz="3800" dirty="0"/>
          </a:p>
        </p:txBody>
      </p:sp>
      <p:sp>
        <p:nvSpPr>
          <p:cNvPr id="5" name="Shape 2"/>
          <p:cNvSpPr/>
          <p:nvPr/>
        </p:nvSpPr>
        <p:spPr>
          <a:xfrm>
            <a:off x="603504" y="2487168"/>
            <a:ext cx="3380232" cy="2837688"/>
          </a:xfrm>
          <a:prstGeom prst="roundRect">
            <a:avLst>
              <a:gd name="adj" fmla="val 3222"/>
            </a:avLst>
          </a:prstGeom>
          <a:solidFill>
            <a:srgbClr val="FBF9F3"/>
          </a:solidFill>
          <a:ln w="12700">
            <a:solidFill>
              <a:srgbClr val="DFD8C6"/>
            </a:solidFill>
            <a:prstDash val="solid"/>
          </a:ln>
        </p:spPr>
      </p:sp>
      <p:sp>
        <p:nvSpPr>
          <p:cNvPr id="6" name="Text 3"/>
          <p:cNvSpPr txBox="1"/>
          <p:nvPr/>
        </p:nvSpPr>
        <p:spPr>
          <a:xfrm>
            <a:off x="896112" y="2779776"/>
            <a:ext cx="2795016" cy="301752"/>
          </a:xfrm>
          <a:prstGeom prst="rect">
            <a:avLst/>
          </a:prstGeom>
          <a:noFill/>
          <a:ln/>
        </p:spPr>
        <p:txBody>
          <a:bodyPr wrap="square" lIns="0" tIns="0" rIns="0" bIns="0" rtlCol="0" anchor="ctr"/>
          <a:lstStyle/>
          <a:p>
            <a:pPr indent="0" marL="0">
              <a:buNone/>
            </a:pPr>
            <a:r>
              <a:rPr lang="en-US" sz="1800" b="1" spc="160" kern="0" dirty="0">
                <a:solidFill>
                  <a:srgbClr val="6E685C"/>
                </a:solidFill>
                <a:latin typeface="Century Gothic" pitchFamily="34" charset="0"/>
                <a:ea typeface="Century Gothic" pitchFamily="34" charset="-122"/>
                <a:cs typeface="Century Gothic" pitchFamily="34" charset="-120"/>
              </a:rPr>
              <a:t>RECORD IT ALL?</a:t>
            </a:r>
            <a:endParaRPr lang="en-US" sz="1800" dirty="0"/>
          </a:p>
        </p:txBody>
      </p:sp>
      <p:sp>
        <p:nvSpPr>
          <p:cNvPr id="7" name="Text 4"/>
          <p:cNvSpPr txBox="1"/>
          <p:nvPr/>
        </p:nvSpPr>
        <p:spPr>
          <a:xfrm>
            <a:off x="896112" y="3264408"/>
            <a:ext cx="2795016" cy="469392"/>
          </a:xfrm>
          <a:prstGeom prst="rect">
            <a:avLst/>
          </a:prstGeom>
          <a:noFill/>
          <a:ln/>
        </p:spPr>
        <p:txBody>
          <a:bodyPr wrap="square" lIns="0" tIns="0" rIns="0" bIns="0" rtlCol="0" anchor="ctr"/>
          <a:lstStyle/>
          <a:p>
            <a:pPr indent="0" marL="0">
              <a:lnSpc>
                <a:spcPct val="110000"/>
              </a:lnSpc>
              <a:buNone/>
            </a:pPr>
            <a:r>
              <a:rPr lang="en-US" sz="2800" b="1" dirty="0">
                <a:solidFill>
                  <a:srgbClr val="7A6430"/>
                </a:solidFill>
                <a:latin typeface="Century Gothic" pitchFamily="34" charset="0"/>
                <a:ea typeface="Century Gothic" pitchFamily="34" charset="-122"/>
                <a:cs typeface="Century Gothic" pitchFamily="34" charset="-120"/>
              </a:rPr>
              <a:t>30 to 45 min</a:t>
            </a:r>
            <a:endParaRPr lang="en-US" sz="2800" dirty="0"/>
          </a:p>
        </p:txBody>
      </p:sp>
      <p:sp>
        <p:nvSpPr>
          <p:cNvPr id="8" name="Text 5"/>
          <p:cNvSpPr txBox="1"/>
          <p:nvPr/>
        </p:nvSpPr>
        <p:spPr>
          <a:xfrm>
            <a:off x="896112" y="3916680"/>
            <a:ext cx="2795016" cy="1115568"/>
          </a:xfrm>
          <a:prstGeom prst="rect">
            <a:avLst/>
          </a:prstGeom>
          <a:noFill/>
          <a:ln/>
        </p:spPr>
        <p:txBody>
          <a:bodyPr wrap="square" lIns="0" tIns="0" rIns="0" bIns="0" rtlCol="0" anchor="ctr"/>
          <a:lstStyle/>
          <a:p>
            <a:pPr indent="0" marL="0">
              <a:lnSpc>
                <a:spcPct val="122000"/>
              </a:lnSpc>
              <a:buNone/>
            </a:pPr>
            <a:r>
              <a:rPr lang="en-US" sz="2000" dirty="0">
                <a:solidFill>
                  <a:srgbClr val="4E4A42"/>
                </a:solidFill>
                <a:latin typeface="Century Gothic" pitchFamily="34" charset="0"/>
                <a:ea typeface="Century Gothic" pitchFamily="34" charset="-122"/>
                <a:cs typeface="Century Gothic" pitchFamily="34" charset="-120"/>
              </a:rPr>
              <a:t>Measured battery life of continuous wearable video.</a:t>
            </a:r>
            <a:endParaRPr lang="en-US" sz="2000" dirty="0"/>
          </a:p>
        </p:txBody>
      </p:sp>
      <p:sp>
        <p:nvSpPr>
          <p:cNvPr id="9" name="Shape 6"/>
          <p:cNvSpPr/>
          <p:nvPr/>
        </p:nvSpPr>
        <p:spPr>
          <a:xfrm>
            <a:off x="4404360" y="2487168"/>
            <a:ext cx="3380232" cy="2837688"/>
          </a:xfrm>
          <a:prstGeom prst="roundRect">
            <a:avLst>
              <a:gd name="adj" fmla="val 3222"/>
            </a:avLst>
          </a:prstGeom>
          <a:solidFill>
            <a:srgbClr val="FBF9F3"/>
          </a:solidFill>
          <a:ln w="12700">
            <a:solidFill>
              <a:srgbClr val="DFD8C6"/>
            </a:solidFill>
            <a:prstDash val="solid"/>
          </a:ln>
        </p:spPr>
      </p:sp>
      <p:sp>
        <p:nvSpPr>
          <p:cNvPr id="10" name="Text 7"/>
          <p:cNvSpPr txBox="1"/>
          <p:nvPr/>
        </p:nvSpPr>
        <p:spPr>
          <a:xfrm>
            <a:off x="4696968" y="2779776"/>
            <a:ext cx="2795016" cy="301752"/>
          </a:xfrm>
          <a:prstGeom prst="rect">
            <a:avLst/>
          </a:prstGeom>
          <a:noFill/>
          <a:ln/>
        </p:spPr>
        <p:txBody>
          <a:bodyPr wrap="square" lIns="0" tIns="0" rIns="0" bIns="0" rtlCol="0" anchor="ctr"/>
          <a:lstStyle/>
          <a:p>
            <a:pPr indent="0" marL="0">
              <a:buNone/>
            </a:pPr>
            <a:r>
              <a:rPr lang="en-US" sz="1800" b="1" spc="160" kern="0" dirty="0">
                <a:solidFill>
                  <a:srgbClr val="6E685C"/>
                </a:solidFill>
                <a:latin typeface="Century Gothic" pitchFamily="34" charset="0"/>
                <a:ea typeface="Century Gothic" pitchFamily="34" charset="-122"/>
                <a:cs typeface="Century Gothic" pitchFamily="34" charset="-120"/>
              </a:rPr>
              <a:t>KEEP IT ALL?</a:t>
            </a:r>
            <a:endParaRPr lang="en-US" sz="1800" dirty="0"/>
          </a:p>
        </p:txBody>
      </p:sp>
      <p:sp>
        <p:nvSpPr>
          <p:cNvPr id="11" name="Text 8"/>
          <p:cNvSpPr txBox="1"/>
          <p:nvPr/>
        </p:nvSpPr>
        <p:spPr>
          <a:xfrm>
            <a:off x="4696968" y="3264408"/>
            <a:ext cx="2795016" cy="469392"/>
          </a:xfrm>
          <a:prstGeom prst="rect">
            <a:avLst/>
          </a:prstGeom>
          <a:noFill/>
          <a:ln/>
        </p:spPr>
        <p:txBody>
          <a:bodyPr wrap="square" lIns="0" tIns="0" rIns="0" bIns="0" rtlCol="0" anchor="ctr"/>
          <a:lstStyle/>
          <a:p>
            <a:pPr indent="0" marL="0">
              <a:lnSpc>
                <a:spcPct val="110000"/>
              </a:lnSpc>
              <a:buNone/>
            </a:pPr>
            <a:r>
              <a:rPr lang="en-US" sz="2800" b="1" dirty="0">
                <a:solidFill>
                  <a:srgbClr val="7A6430"/>
                </a:solidFill>
                <a:latin typeface="Century Gothic" pitchFamily="34" charset="0"/>
                <a:ea typeface="Century Gothic" pitchFamily="34" charset="-122"/>
                <a:cs typeface="Century Gothic" pitchFamily="34" charset="-120"/>
              </a:rPr>
              <a:t>0 hours</a:t>
            </a:r>
            <a:endParaRPr lang="en-US" sz="2800" dirty="0"/>
          </a:p>
        </p:txBody>
      </p:sp>
      <p:sp>
        <p:nvSpPr>
          <p:cNvPr id="12" name="Text 9"/>
          <p:cNvSpPr txBox="1"/>
          <p:nvPr/>
        </p:nvSpPr>
        <p:spPr>
          <a:xfrm>
            <a:off x="4696968" y="3916680"/>
            <a:ext cx="2795016" cy="1115568"/>
          </a:xfrm>
          <a:prstGeom prst="rect">
            <a:avLst/>
          </a:prstGeom>
          <a:noFill/>
          <a:ln/>
        </p:spPr>
        <p:txBody>
          <a:bodyPr wrap="square" lIns="0" tIns="0" rIns="0" bIns="0" rtlCol="0" anchor="ctr"/>
          <a:lstStyle/>
          <a:p>
            <a:pPr indent="0" marL="0">
              <a:lnSpc>
                <a:spcPct val="122000"/>
              </a:lnSpc>
              <a:buNone/>
            </a:pPr>
            <a:r>
              <a:rPr lang="en-US" sz="2000" dirty="0">
                <a:solidFill>
                  <a:srgbClr val="4E4A42"/>
                </a:solidFill>
                <a:latin typeface="Century Gothic" pitchFamily="34" charset="0"/>
                <a:ea typeface="Century Gothic" pitchFamily="34" charset="-122"/>
                <a:cs typeface="Century Gothic" pitchFamily="34" charset="-120"/>
              </a:rPr>
              <a:t>Nobody ever scrubs ten hours of their own footage.</a:t>
            </a:r>
            <a:endParaRPr lang="en-US" sz="2000" dirty="0"/>
          </a:p>
        </p:txBody>
      </p:sp>
      <p:sp>
        <p:nvSpPr>
          <p:cNvPr id="13" name="Shape 10"/>
          <p:cNvSpPr/>
          <p:nvPr/>
        </p:nvSpPr>
        <p:spPr>
          <a:xfrm>
            <a:off x="8205216" y="2487168"/>
            <a:ext cx="3380232" cy="2837688"/>
          </a:xfrm>
          <a:prstGeom prst="roundRect">
            <a:avLst>
              <a:gd name="adj" fmla="val 3222"/>
            </a:avLst>
          </a:prstGeom>
          <a:solidFill>
            <a:srgbClr val="FBF9F3"/>
          </a:solidFill>
          <a:ln w="12700">
            <a:solidFill>
              <a:srgbClr val="DFD8C6"/>
            </a:solidFill>
            <a:prstDash val="solid"/>
          </a:ln>
        </p:spPr>
      </p:sp>
      <p:sp>
        <p:nvSpPr>
          <p:cNvPr id="14" name="Text 11"/>
          <p:cNvSpPr txBox="1"/>
          <p:nvPr/>
        </p:nvSpPr>
        <p:spPr>
          <a:xfrm>
            <a:off x="8497824" y="2779776"/>
            <a:ext cx="2795016" cy="301752"/>
          </a:xfrm>
          <a:prstGeom prst="rect">
            <a:avLst/>
          </a:prstGeom>
          <a:noFill/>
          <a:ln/>
        </p:spPr>
        <p:txBody>
          <a:bodyPr wrap="square" lIns="0" tIns="0" rIns="0" bIns="0" rtlCol="0" anchor="ctr"/>
          <a:lstStyle/>
          <a:p>
            <a:pPr indent="0" marL="0">
              <a:buNone/>
            </a:pPr>
            <a:r>
              <a:rPr lang="en-US" sz="1800" b="1" spc="160" kern="0" dirty="0">
                <a:solidFill>
                  <a:srgbClr val="6E685C"/>
                </a:solidFill>
                <a:latin typeface="Century Gothic" pitchFamily="34" charset="0"/>
                <a:ea typeface="Century Gothic" pitchFamily="34" charset="-122"/>
                <a:cs typeface="Century Gothic" pitchFamily="34" charset="-120"/>
              </a:rPr>
              <a:t>WHAT WORKED</a:t>
            </a:r>
            <a:endParaRPr lang="en-US" sz="1800" dirty="0"/>
          </a:p>
        </p:txBody>
      </p:sp>
      <p:sp>
        <p:nvSpPr>
          <p:cNvPr id="15" name="Text 12"/>
          <p:cNvSpPr txBox="1"/>
          <p:nvPr/>
        </p:nvSpPr>
        <p:spPr>
          <a:xfrm>
            <a:off x="8497824" y="3264408"/>
            <a:ext cx="2795016" cy="469392"/>
          </a:xfrm>
          <a:prstGeom prst="rect">
            <a:avLst/>
          </a:prstGeom>
          <a:noFill/>
          <a:ln/>
        </p:spPr>
        <p:txBody>
          <a:bodyPr wrap="square" lIns="0" tIns="0" rIns="0" bIns="0" rtlCol="0" anchor="ctr"/>
          <a:lstStyle/>
          <a:p>
            <a:pPr indent="0" marL="0">
              <a:lnSpc>
                <a:spcPct val="110000"/>
              </a:lnSpc>
              <a:buNone/>
            </a:pPr>
            <a:r>
              <a:rPr lang="en-US" sz="2800" b="1" dirty="0">
                <a:solidFill>
                  <a:srgbClr val="7A6430"/>
                </a:solidFill>
                <a:latin typeface="Century Gothic" pitchFamily="34" charset="0"/>
                <a:ea typeface="Century Gothic" pitchFamily="34" charset="-122"/>
                <a:cs typeface="Century Gothic" pitchFamily="34" charset="-120"/>
              </a:rPr>
              <a:t>1 still/30 s</a:t>
            </a:r>
            <a:endParaRPr lang="en-US" sz="2800" dirty="0"/>
          </a:p>
        </p:txBody>
      </p:sp>
      <p:sp>
        <p:nvSpPr>
          <p:cNvPr id="16" name="Text 13"/>
          <p:cNvSpPr txBox="1"/>
          <p:nvPr/>
        </p:nvSpPr>
        <p:spPr>
          <a:xfrm>
            <a:off x="8497824" y="3916680"/>
            <a:ext cx="2795016" cy="1115568"/>
          </a:xfrm>
          <a:prstGeom prst="rect">
            <a:avLst/>
          </a:prstGeom>
          <a:noFill/>
          <a:ln/>
        </p:spPr>
        <p:txBody>
          <a:bodyPr wrap="square" lIns="0" tIns="0" rIns="0" bIns="0" rtlCol="0" anchor="ctr"/>
          <a:lstStyle/>
          <a:p>
            <a:pPr indent="0" marL="0">
              <a:lnSpc>
                <a:spcPct val="122000"/>
              </a:lnSpc>
              <a:buNone/>
            </a:pPr>
            <a:r>
              <a:rPr lang="en-US" sz="2000" dirty="0">
                <a:solidFill>
                  <a:srgbClr val="4E4A42"/>
                </a:solidFill>
                <a:latin typeface="Century Gothic" pitchFamily="34" charset="0"/>
                <a:ea typeface="Century Gothic" pitchFamily="34" charset="-122"/>
                <a:cs typeface="Century Gothic" pitchFamily="34" charset="-120"/>
              </a:rPr>
              <a:t>SenseCam helped dementia patients. No video at all.</a:t>
            </a:r>
            <a:endParaRPr lang="en-US" sz="2000" dirty="0"/>
          </a:p>
        </p:txBody>
      </p:sp>
      <p:sp>
        <p:nvSpPr>
          <p:cNvPr id="17" name="Text 14"/>
          <p:cNvSpPr txBox="1"/>
          <p:nvPr/>
        </p:nvSpPr>
        <p:spPr>
          <a:xfrm>
            <a:off x="603504" y="6016752"/>
            <a:ext cx="10981944" cy="365760"/>
          </a:xfrm>
          <a:prstGeom prst="rect">
            <a:avLst/>
          </a:prstGeom>
          <a:noFill/>
          <a:ln/>
        </p:spPr>
        <p:txBody>
          <a:bodyPr wrap="square" lIns="0" tIns="0" rIns="0" bIns="0" rtlCol="0" anchor="ctr"/>
          <a:lstStyle/>
          <a:p>
            <a:pPr indent="0" marL="0">
              <a:buNone/>
            </a:pPr>
            <a:r>
              <a:rPr lang="en-US" sz="2000" dirty="0">
                <a:solidFill>
                  <a:srgbClr val="7A6430"/>
                </a:solidFill>
                <a:latin typeface="Century Gothic" pitchFamily="34" charset="0"/>
                <a:ea typeface="Century Gothic" pitchFamily="34" charset="-122"/>
                <a:cs typeface="Century Gothic" pitchFamily="34" charset="-120"/>
              </a:rPr>
              <a:t>Capture is solved. Deciding what is worth capturing is the product.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FE5"/>
        </a:solidFill>
      </p:bgPr>
    </p:bg>
    <p:spTree>
      <p:nvGrpSpPr>
        <p:cNvPr id="1" name=""/>
        <p:cNvGrpSpPr/>
        <p:nvPr/>
      </p:nvGrpSpPr>
      <p:grpSpPr>
        <a:xfrm>
          <a:off x="0" y="0"/>
          <a:ext cx="0" cy="0"/>
          <a:chOff x="0" y="0"/>
          <a:chExt cx="0" cy="0"/>
        </a:xfrm>
      </p:grpSpPr>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431036" y="457200"/>
            <a:ext cx="9326880" cy="5246370"/>
          </a:xfrm>
          <a:prstGeom prst="rect">
            <a:avLst/>
          </a:prstGeom>
        </p:spPr>
      </p:pic>
      <p:sp>
        <p:nvSpPr>
          <p:cNvPr id="4" name="Text 0"/>
          <p:cNvSpPr txBox="1"/>
          <p:nvPr/>
        </p:nvSpPr>
        <p:spPr>
          <a:xfrm>
            <a:off x="603504" y="6014466"/>
            <a:ext cx="10981944" cy="365760"/>
          </a:xfrm>
          <a:prstGeom prst="rect">
            <a:avLst/>
          </a:prstGeom>
          <a:noFill/>
          <a:ln/>
        </p:spPr>
        <p:txBody>
          <a:bodyPr wrap="square" lIns="0" tIns="0" rIns="0" bIns="0" rtlCol="0" anchor="ctr"/>
          <a:lstStyle/>
          <a:p>
            <a:pPr algn="ctr" indent="0" marL="0">
              <a:buNone/>
            </a:pPr>
            <a:r>
              <a:rPr lang="en-US" sz="1800" b="1" spc="300" kern="0" dirty="0">
                <a:solidFill>
                  <a:srgbClr val="6E685C"/>
                </a:solidFill>
                <a:latin typeface="Century Gothic" pitchFamily="34" charset="0"/>
                <a:ea typeface="Century Gothic" pitchFamily="34" charset="-122"/>
                <a:cs typeface="Century Gothic" pitchFamily="34" charset="-120"/>
              </a:rPr>
              <a:t>MEMORYPALACE     36 SECONDS     PLAY WITH SOUND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FE5"/>
        </a:solidFill>
      </p:bgPr>
    </p:bg>
    <p:spTree>
      <p:nvGrpSpPr>
        <p:cNvPr id="1" name=""/>
        <p:cNvGrpSpPr/>
        <p:nvPr/>
      </p:nvGrpSpPr>
      <p:grpSpPr>
        <a:xfrm>
          <a:off x="0" y="0"/>
          <a:ext cx="0" cy="0"/>
          <a:chOff x="0" y="0"/>
          <a:chExt cx="0" cy="0"/>
        </a:xfrm>
      </p:grpSpPr>
      <p:sp>
        <p:nvSpPr>
          <p:cNvPr id="3" name="Text 0"/>
          <p:cNvSpPr txBox="1"/>
          <p:nvPr/>
        </p:nvSpPr>
        <p:spPr>
          <a:xfrm>
            <a:off x="603504" y="457200"/>
            <a:ext cx="10981944" cy="310896"/>
          </a:xfrm>
          <a:prstGeom prst="rect">
            <a:avLst/>
          </a:prstGeom>
          <a:noFill/>
          <a:ln/>
        </p:spPr>
        <p:txBody>
          <a:bodyPr wrap="square" lIns="0" tIns="0" rIns="0" bIns="0" rtlCol="0" anchor="ctr"/>
          <a:lstStyle/>
          <a:p>
            <a:pPr indent="0" marL="0">
              <a:buNone/>
            </a:pPr>
            <a:r>
              <a:rPr lang="en-US" sz="1800" b="1" spc="260" kern="0" dirty="0">
                <a:solidFill>
                  <a:srgbClr val="6E685C"/>
                </a:solidFill>
                <a:latin typeface="Century Gothic" pitchFamily="34" charset="0"/>
                <a:ea typeface="Century Gothic" pitchFamily="34" charset="-122"/>
                <a:cs typeface="Century Gothic" pitchFamily="34" charset="-120"/>
              </a:rPr>
              <a:t>HOW A MOMENT IS CHOSEN</a:t>
            </a:r>
            <a:endParaRPr lang="en-US" sz="1800" dirty="0"/>
          </a:p>
        </p:txBody>
      </p:sp>
      <p:sp>
        <p:nvSpPr>
          <p:cNvPr id="4" name="Text 1"/>
          <p:cNvSpPr txBox="1"/>
          <p:nvPr/>
        </p:nvSpPr>
        <p:spPr>
          <a:xfrm>
            <a:off x="603504" y="868680"/>
            <a:ext cx="10981944" cy="1185062"/>
          </a:xfrm>
          <a:prstGeom prst="rect">
            <a:avLst/>
          </a:prstGeom>
          <a:noFill/>
          <a:ln/>
        </p:spPr>
        <p:txBody>
          <a:bodyPr wrap="square" lIns="0" tIns="0" rIns="0" bIns="0" rtlCol="0" anchor="t"/>
          <a:lstStyle/>
          <a:p>
            <a:pPr indent="0" marL="0">
              <a:lnSpc>
                <a:spcPct val="108000"/>
              </a:lnSpc>
              <a:buNone/>
            </a:pPr>
            <a:r>
              <a:rPr lang="en-US" sz="3600" b="1" dirty="0">
                <a:solidFill>
                  <a:srgbClr val="1A1917"/>
                </a:solidFill>
                <a:latin typeface="Century Gothic" pitchFamily="34" charset="0"/>
                <a:ea typeface="Century Gothic" pitchFamily="34" charset="-122"/>
                <a:cs typeface="Century Gothic" pitchFamily="34" charset="-120"/>
              </a:rPr>
              <a:t>The camera stays off until</a:t>
            </a:r>
            <a:endParaRPr lang="en-US" sz="3600" dirty="0"/>
          </a:p>
          <a:p>
            <a:pPr indent="0" marL="0">
              <a:lnSpc>
                <a:spcPct val="108000"/>
              </a:lnSpc>
              <a:buNone/>
            </a:pPr>
            <a:r>
              <a:rPr lang="en-US" sz="3600" b="1" dirty="0">
                <a:solidFill>
                  <a:srgbClr val="1A1917"/>
                </a:solidFill>
                <a:latin typeface="Century Gothic" pitchFamily="34" charset="0"/>
                <a:ea typeface="Century Gothic" pitchFamily="34" charset="-122"/>
                <a:cs typeface="Century Gothic" pitchFamily="34" charset="-120"/>
              </a:rPr>
              <a:t>your own baseline breaks.</a:t>
            </a:r>
            <a:endParaRPr lang="en-US" sz="3600" dirty="0"/>
          </a:p>
        </p:txBody>
      </p:sp>
      <p:sp>
        <p:nvSpPr>
          <p:cNvPr id="5" name="Shape 2"/>
          <p:cNvSpPr/>
          <p:nvPr/>
        </p:nvSpPr>
        <p:spPr>
          <a:xfrm>
            <a:off x="603504" y="2788920"/>
            <a:ext cx="2505456" cy="2305507"/>
          </a:xfrm>
          <a:prstGeom prst="roundRect">
            <a:avLst>
              <a:gd name="adj" fmla="val 3966"/>
            </a:avLst>
          </a:prstGeom>
          <a:solidFill>
            <a:srgbClr val="FBF9F3"/>
          </a:solidFill>
          <a:ln w="12700">
            <a:solidFill>
              <a:srgbClr val="DFD8C6"/>
            </a:solidFill>
            <a:prstDash val="solid"/>
          </a:ln>
        </p:spPr>
      </p:sp>
      <p:sp>
        <p:nvSpPr>
          <p:cNvPr id="6" name="Text 3"/>
          <p:cNvSpPr txBox="1"/>
          <p:nvPr/>
        </p:nvSpPr>
        <p:spPr>
          <a:xfrm>
            <a:off x="841248" y="3337560"/>
            <a:ext cx="2029968" cy="341376"/>
          </a:xfrm>
          <a:prstGeom prst="rect">
            <a:avLst/>
          </a:prstGeom>
          <a:noFill/>
          <a:ln/>
        </p:spPr>
        <p:txBody>
          <a:bodyPr wrap="square" lIns="0" tIns="0" rIns="0" bIns="0" rtlCol="0" anchor="ctr"/>
          <a:lstStyle/>
          <a:p>
            <a:pPr indent="0" marL="0">
              <a:lnSpc>
                <a:spcPct val="112000"/>
              </a:lnSpc>
              <a:buNone/>
            </a:pPr>
            <a:r>
              <a:rPr lang="en-US" sz="2000" b="1" dirty="0">
                <a:solidFill>
                  <a:srgbClr val="1A1917"/>
                </a:solidFill>
                <a:latin typeface="Century Gothic" pitchFamily="34" charset="0"/>
                <a:ea typeface="Century Gothic" pitchFamily="34" charset="-122"/>
                <a:cs typeface="Century Gothic" pitchFamily="34" charset="-120"/>
              </a:rPr>
              <a:t>EEG headset</a:t>
            </a:r>
            <a:endParaRPr lang="en-US" sz="2000" dirty="0"/>
          </a:p>
        </p:txBody>
      </p:sp>
      <p:sp>
        <p:nvSpPr>
          <p:cNvPr id="7" name="Text 4"/>
          <p:cNvSpPr txBox="1"/>
          <p:nvPr/>
        </p:nvSpPr>
        <p:spPr>
          <a:xfrm>
            <a:off x="841248" y="3898392"/>
            <a:ext cx="2029968" cy="647395"/>
          </a:xfrm>
          <a:prstGeom prst="rect">
            <a:avLst/>
          </a:prstGeom>
          <a:noFill/>
          <a:ln/>
        </p:spPr>
        <p:txBody>
          <a:bodyPr wrap="square" lIns="0" tIns="0" rIns="0" bIns="0" rtlCol="0" anchor="ctr"/>
          <a:lstStyle/>
          <a:p>
            <a:pPr indent="0" marL="0">
              <a:lnSpc>
                <a:spcPct val="118000"/>
              </a:lnSpc>
              <a:buNone/>
            </a:pPr>
            <a:r>
              <a:rPr lang="en-US" sz="1800" dirty="0">
                <a:solidFill>
                  <a:srgbClr val="6E685C"/>
                </a:solidFill>
                <a:latin typeface="Century Gothic" pitchFamily="34" charset="0"/>
                <a:ea typeface="Century Gothic" pitchFamily="34" charset="-122"/>
                <a:cs typeface="Century Gothic" pitchFamily="34" charset="-120"/>
              </a:rPr>
              <a:t>2 to 4 electrodes</a:t>
            </a:r>
            <a:endParaRPr lang="en-US" sz="1800" dirty="0"/>
          </a:p>
        </p:txBody>
      </p:sp>
      <p:sp>
        <p:nvSpPr>
          <p:cNvPr id="8" name="Shape 5"/>
          <p:cNvSpPr/>
          <p:nvPr/>
        </p:nvSpPr>
        <p:spPr>
          <a:xfrm rot="5400000">
            <a:off x="3186684" y="3836518"/>
            <a:ext cx="164592" cy="210312"/>
          </a:xfrm>
          <a:prstGeom prst="triangle">
            <a:avLst/>
          </a:prstGeom>
          <a:solidFill>
            <a:srgbClr val="8B8378"/>
          </a:solidFill>
          <a:ln w="12700">
            <a:solidFill>
              <a:srgbClr val="8B8378"/>
            </a:solidFill>
            <a:prstDash val="solid"/>
          </a:ln>
        </p:spPr>
      </p:sp>
      <p:sp>
        <p:nvSpPr>
          <p:cNvPr id="9" name="Shape 6"/>
          <p:cNvSpPr/>
          <p:nvPr/>
        </p:nvSpPr>
        <p:spPr>
          <a:xfrm>
            <a:off x="3429000" y="2788920"/>
            <a:ext cx="2505456" cy="2305507"/>
          </a:xfrm>
          <a:prstGeom prst="roundRect">
            <a:avLst>
              <a:gd name="adj" fmla="val 3966"/>
            </a:avLst>
          </a:prstGeom>
          <a:solidFill>
            <a:srgbClr val="FBF9F3"/>
          </a:solidFill>
          <a:ln w="12700">
            <a:solidFill>
              <a:srgbClr val="DFD8C6"/>
            </a:solidFill>
            <a:prstDash val="solid"/>
          </a:ln>
        </p:spPr>
      </p:sp>
      <p:sp>
        <p:nvSpPr>
          <p:cNvPr id="10" name="Text 7"/>
          <p:cNvSpPr txBox="1"/>
          <p:nvPr/>
        </p:nvSpPr>
        <p:spPr>
          <a:xfrm>
            <a:off x="3666744" y="3337560"/>
            <a:ext cx="2029968" cy="341376"/>
          </a:xfrm>
          <a:prstGeom prst="rect">
            <a:avLst/>
          </a:prstGeom>
          <a:noFill/>
          <a:ln/>
        </p:spPr>
        <p:txBody>
          <a:bodyPr wrap="square" lIns="0" tIns="0" rIns="0" bIns="0" rtlCol="0" anchor="ctr"/>
          <a:lstStyle/>
          <a:p>
            <a:pPr indent="0" marL="0">
              <a:lnSpc>
                <a:spcPct val="112000"/>
              </a:lnSpc>
              <a:buNone/>
            </a:pPr>
            <a:r>
              <a:rPr lang="en-US" sz="2000" b="1" dirty="0">
                <a:solidFill>
                  <a:srgbClr val="1A1917"/>
                </a:solidFill>
                <a:latin typeface="Century Gothic" pitchFamily="34" charset="0"/>
                <a:ea typeface="Century Gothic" pitchFamily="34" charset="-122"/>
                <a:cs typeface="Century Gothic" pitchFamily="34" charset="-120"/>
              </a:rPr>
              <a:t>4 s windows</a:t>
            </a:r>
            <a:endParaRPr lang="en-US" sz="2000" dirty="0"/>
          </a:p>
        </p:txBody>
      </p:sp>
      <p:sp>
        <p:nvSpPr>
          <p:cNvPr id="11" name="Text 8"/>
          <p:cNvSpPr txBox="1"/>
          <p:nvPr/>
        </p:nvSpPr>
        <p:spPr>
          <a:xfrm>
            <a:off x="3666744" y="3898392"/>
            <a:ext cx="2029968" cy="647395"/>
          </a:xfrm>
          <a:prstGeom prst="rect">
            <a:avLst/>
          </a:prstGeom>
          <a:noFill/>
          <a:ln/>
        </p:spPr>
        <p:txBody>
          <a:bodyPr wrap="square" lIns="0" tIns="0" rIns="0" bIns="0" rtlCol="0" anchor="ctr"/>
          <a:lstStyle/>
          <a:p>
            <a:pPr indent="0" marL="0">
              <a:lnSpc>
                <a:spcPct val="118000"/>
              </a:lnSpc>
              <a:buNone/>
            </a:pPr>
            <a:r>
              <a:rPr lang="en-US" sz="1800" dirty="0">
                <a:solidFill>
                  <a:srgbClr val="6E685C"/>
                </a:solidFill>
                <a:latin typeface="Century Gothic" pitchFamily="34" charset="0"/>
                <a:ea typeface="Century Gothic" pitchFamily="34" charset="-122"/>
                <a:cs typeface="Century Gothic" pitchFamily="34" charset="-120"/>
              </a:rPr>
              <a:t>no overlap, theta / alpha</a:t>
            </a:r>
            <a:endParaRPr lang="en-US" sz="1800" dirty="0"/>
          </a:p>
        </p:txBody>
      </p:sp>
      <p:sp>
        <p:nvSpPr>
          <p:cNvPr id="12" name="Shape 9"/>
          <p:cNvSpPr/>
          <p:nvPr/>
        </p:nvSpPr>
        <p:spPr>
          <a:xfrm rot="5400000">
            <a:off x="6012180" y="3836518"/>
            <a:ext cx="164592" cy="210312"/>
          </a:xfrm>
          <a:prstGeom prst="triangle">
            <a:avLst/>
          </a:prstGeom>
          <a:solidFill>
            <a:srgbClr val="8B8378"/>
          </a:solidFill>
          <a:ln w="12700">
            <a:solidFill>
              <a:srgbClr val="8B8378"/>
            </a:solidFill>
            <a:prstDash val="solid"/>
          </a:ln>
        </p:spPr>
      </p:sp>
      <p:sp>
        <p:nvSpPr>
          <p:cNvPr id="13" name="Shape 10"/>
          <p:cNvSpPr/>
          <p:nvPr/>
        </p:nvSpPr>
        <p:spPr>
          <a:xfrm>
            <a:off x="6254496" y="2788920"/>
            <a:ext cx="2505456" cy="2305507"/>
          </a:xfrm>
          <a:prstGeom prst="roundRect">
            <a:avLst>
              <a:gd name="adj" fmla="val 3966"/>
            </a:avLst>
          </a:prstGeom>
          <a:solidFill>
            <a:srgbClr val="FBF9F3"/>
          </a:solidFill>
          <a:ln w="12700">
            <a:solidFill>
              <a:srgbClr val="DFD8C6"/>
            </a:solidFill>
            <a:prstDash val="solid"/>
          </a:ln>
        </p:spPr>
      </p:sp>
      <p:sp>
        <p:nvSpPr>
          <p:cNvPr id="14" name="Text 11"/>
          <p:cNvSpPr txBox="1"/>
          <p:nvPr/>
        </p:nvSpPr>
        <p:spPr>
          <a:xfrm>
            <a:off x="6492240" y="3337560"/>
            <a:ext cx="2029968" cy="341376"/>
          </a:xfrm>
          <a:prstGeom prst="rect">
            <a:avLst/>
          </a:prstGeom>
          <a:noFill/>
          <a:ln/>
        </p:spPr>
        <p:txBody>
          <a:bodyPr wrap="square" lIns="0" tIns="0" rIns="0" bIns="0" rtlCol="0" anchor="ctr"/>
          <a:lstStyle/>
          <a:p>
            <a:pPr indent="0" marL="0">
              <a:lnSpc>
                <a:spcPct val="112000"/>
              </a:lnSpc>
              <a:buNone/>
            </a:pPr>
            <a:r>
              <a:rPr lang="en-US" sz="2000" b="1" dirty="0">
                <a:solidFill>
                  <a:srgbClr val="1A1917"/>
                </a:solidFill>
                <a:latin typeface="Century Gothic" pitchFamily="34" charset="0"/>
                <a:ea typeface="Century Gothic" pitchFamily="34" charset="-122"/>
                <a:cs typeface="Century Gothic" pitchFamily="34" charset="-120"/>
              </a:rPr>
              <a:t>z vs baseline</a:t>
            </a:r>
            <a:endParaRPr lang="en-US" sz="2000" dirty="0"/>
          </a:p>
        </p:txBody>
      </p:sp>
      <p:sp>
        <p:nvSpPr>
          <p:cNvPr id="15" name="Text 12"/>
          <p:cNvSpPr txBox="1"/>
          <p:nvPr/>
        </p:nvSpPr>
        <p:spPr>
          <a:xfrm>
            <a:off x="6492240" y="3898392"/>
            <a:ext cx="2029968" cy="647395"/>
          </a:xfrm>
          <a:prstGeom prst="rect">
            <a:avLst/>
          </a:prstGeom>
          <a:noFill/>
          <a:ln/>
        </p:spPr>
        <p:txBody>
          <a:bodyPr wrap="square" lIns="0" tIns="0" rIns="0" bIns="0" rtlCol="0" anchor="ctr"/>
          <a:lstStyle/>
          <a:p>
            <a:pPr indent="0" marL="0">
              <a:lnSpc>
                <a:spcPct val="118000"/>
              </a:lnSpc>
              <a:buNone/>
            </a:pPr>
            <a:r>
              <a:rPr lang="en-US" sz="1800" dirty="0">
                <a:solidFill>
                  <a:srgbClr val="6E685C"/>
                </a:solidFill>
                <a:latin typeface="Century Gothic" pitchFamily="34" charset="0"/>
                <a:ea typeface="Century Gothic" pitchFamily="34" charset="-122"/>
                <a:cs typeface="Century Gothic" pitchFamily="34" charset="-120"/>
              </a:rPr>
              <a:t>mu and sigma are yours</a:t>
            </a:r>
            <a:endParaRPr lang="en-US" sz="1800" dirty="0"/>
          </a:p>
        </p:txBody>
      </p:sp>
      <p:sp>
        <p:nvSpPr>
          <p:cNvPr id="16" name="Shape 13"/>
          <p:cNvSpPr/>
          <p:nvPr/>
        </p:nvSpPr>
        <p:spPr>
          <a:xfrm rot="5400000">
            <a:off x="8837676" y="3836518"/>
            <a:ext cx="164592" cy="210312"/>
          </a:xfrm>
          <a:prstGeom prst="triangle">
            <a:avLst/>
          </a:prstGeom>
          <a:solidFill>
            <a:srgbClr val="8B8378"/>
          </a:solidFill>
          <a:ln w="12700">
            <a:solidFill>
              <a:srgbClr val="8B8378"/>
            </a:solidFill>
            <a:prstDash val="solid"/>
          </a:ln>
        </p:spPr>
      </p:sp>
      <p:sp>
        <p:nvSpPr>
          <p:cNvPr id="17" name="Shape 14"/>
          <p:cNvSpPr/>
          <p:nvPr/>
        </p:nvSpPr>
        <p:spPr>
          <a:xfrm>
            <a:off x="9079992" y="2788920"/>
            <a:ext cx="2505456" cy="2305507"/>
          </a:xfrm>
          <a:prstGeom prst="roundRect">
            <a:avLst>
              <a:gd name="adj" fmla="val 3966"/>
            </a:avLst>
          </a:prstGeom>
          <a:solidFill>
            <a:srgbClr val="F7EFDA"/>
          </a:solidFill>
          <a:ln w="12700">
            <a:solidFill>
              <a:srgbClr val="B49A5C"/>
            </a:solidFill>
            <a:prstDash val="solid"/>
          </a:ln>
        </p:spPr>
      </p:sp>
      <p:sp>
        <p:nvSpPr>
          <p:cNvPr id="18" name="Text 15"/>
          <p:cNvSpPr txBox="1"/>
          <p:nvPr/>
        </p:nvSpPr>
        <p:spPr>
          <a:xfrm>
            <a:off x="9317736" y="3337560"/>
            <a:ext cx="2029968" cy="341376"/>
          </a:xfrm>
          <a:prstGeom prst="rect">
            <a:avLst/>
          </a:prstGeom>
          <a:noFill/>
          <a:ln/>
        </p:spPr>
        <p:txBody>
          <a:bodyPr wrap="square" lIns="0" tIns="0" rIns="0" bIns="0" rtlCol="0" anchor="ctr"/>
          <a:lstStyle/>
          <a:p>
            <a:pPr indent="0" marL="0">
              <a:lnSpc>
                <a:spcPct val="112000"/>
              </a:lnSpc>
              <a:buNone/>
            </a:pPr>
            <a:r>
              <a:rPr lang="en-US" sz="2000" b="1" dirty="0">
                <a:solidFill>
                  <a:srgbClr val="7A6430"/>
                </a:solidFill>
                <a:latin typeface="Century Gothic" pitchFamily="34" charset="0"/>
                <a:ea typeface="Century Gothic" pitchFamily="34" charset="-122"/>
                <a:cs typeface="Century Gothic" pitchFamily="34" charset="-120"/>
              </a:rPr>
              <a:t>Four in a row</a:t>
            </a:r>
            <a:endParaRPr lang="en-US" sz="2000" dirty="0"/>
          </a:p>
        </p:txBody>
      </p:sp>
      <p:sp>
        <p:nvSpPr>
          <p:cNvPr id="19" name="Text 16"/>
          <p:cNvSpPr txBox="1"/>
          <p:nvPr/>
        </p:nvSpPr>
        <p:spPr>
          <a:xfrm>
            <a:off x="9317736" y="3898392"/>
            <a:ext cx="2029968" cy="647395"/>
          </a:xfrm>
          <a:prstGeom prst="rect">
            <a:avLst/>
          </a:prstGeom>
          <a:noFill/>
          <a:ln/>
        </p:spPr>
        <p:txBody>
          <a:bodyPr wrap="square" lIns="0" tIns="0" rIns="0" bIns="0" rtlCol="0" anchor="ctr"/>
          <a:lstStyle/>
          <a:p>
            <a:pPr indent="0" marL="0">
              <a:lnSpc>
                <a:spcPct val="118000"/>
              </a:lnSpc>
              <a:buNone/>
            </a:pPr>
            <a:r>
              <a:rPr lang="en-US" sz="1800" dirty="0">
                <a:solidFill>
                  <a:srgbClr val="6E685C"/>
                </a:solidFill>
                <a:latin typeface="Century Gothic" pitchFamily="34" charset="0"/>
                <a:ea typeface="Century Gothic" pitchFamily="34" charset="-122"/>
                <a:cs typeface="Century Gothic" pitchFamily="34" charset="-120"/>
              </a:rPr>
              <a:t>persistence filter</a:t>
            </a:r>
            <a:endParaRPr lang="en-US" sz="1800" dirty="0"/>
          </a:p>
        </p:txBody>
      </p:sp>
      <p:sp>
        <p:nvSpPr>
          <p:cNvPr id="20" name="Text 17"/>
          <p:cNvSpPr txBox="1"/>
          <p:nvPr/>
        </p:nvSpPr>
        <p:spPr>
          <a:xfrm>
            <a:off x="603504" y="6016752"/>
            <a:ext cx="10981944" cy="365760"/>
          </a:xfrm>
          <a:prstGeom prst="rect">
            <a:avLst/>
          </a:prstGeom>
          <a:noFill/>
          <a:ln/>
        </p:spPr>
        <p:txBody>
          <a:bodyPr wrap="square" lIns="0" tIns="0" rIns="0" bIns="0" rtlCol="0" anchor="ctr"/>
          <a:lstStyle/>
          <a:p>
            <a:pPr indent="0" marL="0">
              <a:buNone/>
            </a:pPr>
            <a:r>
              <a:rPr lang="en-US" sz="2000" dirty="0">
                <a:solidFill>
                  <a:srgbClr val="7A6430"/>
                </a:solidFill>
                <a:latin typeface="Century Gothic" pitchFamily="34" charset="0"/>
                <a:ea typeface="Century Gothic" pitchFamily="34" charset="-122"/>
                <a:cs typeface="Century Gothic" pitchFamily="34" charset="-120"/>
              </a:rPr>
              <a:t>Only when the fourth window comes back elevated does the phone wake up.</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FE5"/>
        </a:solidFill>
      </p:bgPr>
    </p:bg>
    <p:spTree>
      <p:nvGrpSpPr>
        <p:cNvPr id="1" name=""/>
        <p:cNvGrpSpPr/>
        <p:nvPr/>
      </p:nvGrpSpPr>
      <p:grpSpPr>
        <a:xfrm>
          <a:off x="0" y="0"/>
          <a:ext cx="0" cy="0"/>
          <a:chOff x="0" y="0"/>
          <a:chExt cx="0" cy="0"/>
        </a:xfrm>
      </p:grpSpPr>
      <p:sp>
        <p:nvSpPr>
          <p:cNvPr id="3" name="Text 0"/>
          <p:cNvSpPr txBox="1"/>
          <p:nvPr/>
        </p:nvSpPr>
        <p:spPr>
          <a:xfrm>
            <a:off x="603504" y="457200"/>
            <a:ext cx="10981944" cy="310896"/>
          </a:xfrm>
          <a:prstGeom prst="rect">
            <a:avLst/>
          </a:prstGeom>
          <a:noFill/>
          <a:ln/>
        </p:spPr>
        <p:txBody>
          <a:bodyPr wrap="square" lIns="0" tIns="0" rIns="0" bIns="0" rtlCol="0" anchor="ctr"/>
          <a:lstStyle/>
          <a:p>
            <a:pPr indent="0" marL="0">
              <a:buNone/>
            </a:pPr>
            <a:r>
              <a:rPr lang="en-US" sz="1800" b="1" spc="260" kern="0" dirty="0">
                <a:solidFill>
                  <a:srgbClr val="6E685C"/>
                </a:solidFill>
                <a:latin typeface="Century Gothic" pitchFamily="34" charset="0"/>
                <a:ea typeface="Century Gothic" pitchFamily="34" charset="-122"/>
                <a:cs typeface="Century Gothic" pitchFamily="34" charset="-120"/>
              </a:rPr>
              <a:t>WHAT HAPPENS TO THE CLIP</a:t>
            </a:r>
            <a:endParaRPr lang="en-US" sz="1800" dirty="0"/>
          </a:p>
        </p:txBody>
      </p:sp>
      <p:sp>
        <p:nvSpPr>
          <p:cNvPr id="4" name="Text 1"/>
          <p:cNvSpPr txBox="1"/>
          <p:nvPr/>
        </p:nvSpPr>
        <p:spPr>
          <a:xfrm>
            <a:off x="603504" y="868680"/>
            <a:ext cx="10981944" cy="1185062"/>
          </a:xfrm>
          <a:prstGeom prst="rect">
            <a:avLst/>
          </a:prstGeom>
          <a:noFill/>
          <a:ln/>
        </p:spPr>
        <p:txBody>
          <a:bodyPr wrap="square" lIns="0" tIns="0" rIns="0" bIns="0" rtlCol="0" anchor="t"/>
          <a:lstStyle/>
          <a:p>
            <a:pPr indent="0" marL="0">
              <a:lnSpc>
                <a:spcPct val="108000"/>
              </a:lnSpc>
              <a:buNone/>
            </a:pPr>
            <a:r>
              <a:rPr lang="en-US" sz="3600" b="1" dirty="0">
                <a:solidFill>
                  <a:srgbClr val="1A1917"/>
                </a:solidFill>
                <a:latin typeface="Century Gothic" pitchFamily="34" charset="0"/>
                <a:ea typeface="Century Gothic" pitchFamily="34" charset="-122"/>
                <a:cs typeface="Century Gothic" pitchFamily="34" charset="-120"/>
              </a:rPr>
              <a:t>Committed locally first.</a:t>
            </a:r>
            <a:endParaRPr lang="en-US" sz="3600" dirty="0"/>
          </a:p>
          <a:p>
            <a:pPr indent="0" marL="0">
              <a:lnSpc>
                <a:spcPct val="108000"/>
              </a:lnSpc>
              <a:buNone/>
            </a:pPr>
            <a:r>
              <a:rPr lang="en-US" sz="3600" b="1" dirty="0">
                <a:solidFill>
                  <a:srgbClr val="1A1917"/>
                </a:solidFill>
                <a:latin typeface="Century Gothic" pitchFamily="34" charset="0"/>
                <a:ea typeface="Century Gothic" pitchFamily="34" charset="-122"/>
                <a:cs typeface="Century Gothic" pitchFamily="34" charset="-120"/>
              </a:rPr>
              <a:t>Everything after is enrichment.</a:t>
            </a:r>
            <a:endParaRPr lang="en-US" sz="3600" dirty="0"/>
          </a:p>
        </p:txBody>
      </p:sp>
      <p:sp>
        <p:nvSpPr>
          <p:cNvPr id="5" name="Shape 2"/>
          <p:cNvSpPr/>
          <p:nvPr/>
        </p:nvSpPr>
        <p:spPr>
          <a:xfrm>
            <a:off x="603504" y="2788920"/>
            <a:ext cx="2505456" cy="2305507"/>
          </a:xfrm>
          <a:prstGeom prst="roundRect">
            <a:avLst>
              <a:gd name="adj" fmla="val 3966"/>
            </a:avLst>
          </a:prstGeom>
          <a:solidFill>
            <a:srgbClr val="F7EFDA"/>
          </a:solidFill>
          <a:ln w="12700">
            <a:solidFill>
              <a:srgbClr val="B49A5C"/>
            </a:solidFill>
            <a:prstDash val="solid"/>
          </a:ln>
        </p:spPr>
      </p:sp>
      <p:sp>
        <p:nvSpPr>
          <p:cNvPr id="6" name="Text 3"/>
          <p:cNvSpPr txBox="1"/>
          <p:nvPr/>
        </p:nvSpPr>
        <p:spPr>
          <a:xfrm>
            <a:off x="841248" y="3337560"/>
            <a:ext cx="2029968" cy="341376"/>
          </a:xfrm>
          <a:prstGeom prst="rect">
            <a:avLst/>
          </a:prstGeom>
          <a:noFill/>
          <a:ln/>
        </p:spPr>
        <p:txBody>
          <a:bodyPr wrap="square" lIns="0" tIns="0" rIns="0" bIns="0" rtlCol="0" anchor="ctr"/>
          <a:lstStyle/>
          <a:p>
            <a:pPr indent="0" marL="0">
              <a:lnSpc>
                <a:spcPct val="112000"/>
              </a:lnSpc>
              <a:buNone/>
            </a:pPr>
            <a:r>
              <a:rPr lang="en-US" sz="2000" b="1" dirty="0">
                <a:solidFill>
                  <a:srgbClr val="7A6430"/>
                </a:solidFill>
                <a:latin typeface="Century Gothic" pitchFamily="34" charset="0"/>
                <a:ea typeface="Century Gothic" pitchFamily="34" charset="-122"/>
                <a:cs typeface="Century Gothic" pitchFamily="34" charset="-120"/>
              </a:rPr>
              <a:t>Records 10 s</a:t>
            </a:r>
            <a:endParaRPr lang="en-US" sz="2000" dirty="0"/>
          </a:p>
        </p:txBody>
      </p:sp>
      <p:sp>
        <p:nvSpPr>
          <p:cNvPr id="7" name="Text 4"/>
          <p:cNvSpPr txBox="1"/>
          <p:nvPr/>
        </p:nvSpPr>
        <p:spPr>
          <a:xfrm>
            <a:off x="841248" y="3898392"/>
            <a:ext cx="2029968" cy="647395"/>
          </a:xfrm>
          <a:prstGeom prst="rect">
            <a:avLst/>
          </a:prstGeom>
          <a:noFill/>
          <a:ln/>
        </p:spPr>
        <p:txBody>
          <a:bodyPr wrap="square" lIns="0" tIns="0" rIns="0" bIns="0" rtlCol="0" anchor="ctr"/>
          <a:lstStyle/>
          <a:p>
            <a:pPr indent="0" marL="0">
              <a:lnSpc>
                <a:spcPct val="118000"/>
              </a:lnSpc>
              <a:buNone/>
            </a:pPr>
            <a:r>
              <a:rPr lang="en-US" sz="1800" dirty="0">
                <a:solidFill>
                  <a:srgbClr val="6E685C"/>
                </a:solidFill>
                <a:latin typeface="Century Gothic" pitchFamily="34" charset="0"/>
                <a:ea typeface="Century Gothic" pitchFamily="34" charset="-122"/>
                <a:cs typeface="Century Gothic" pitchFamily="34" charset="-120"/>
              </a:rPr>
              <a:t>phone opens, saves, closes</a:t>
            </a:r>
            <a:endParaRPr lang="en-US" sz="1800" dirty="0"/>
          </a:p>
        </p:txBody>
      </p:sp>
      <p:sp>
        <p:nvSpPr>
          <p:cNvPr id="8" name="Shape 5"/>
          <p:cNvSpPr/>
          <p:nvPr/>
        </p:nvSpPr>
        <p:spPr>
          <a:xfrm rot="5400000">
            <a:off x="3186684" y="3836518"/>
            <a:ext cx="164592" cy="210312"/>
          </a:xfrm>
          <a:prstGeom prst="triangle">
            <a:avLst/>
          </a:prstGeom>
          <a:solidFill>
            <a:srgbClr val="8B8378"/>
          </a:solidFill>
          <a:ln w="12700">
            <a:solidFill>
              <a:srgbClr val="8B8378"/>
            </a:solidFill>
            <a:prstDash val="solid"/>
          </a:ln>
        </p:spPr>
      </p:sp>
      <p:sp>
        <p:nvSpPr>
          <p:cNvPr id="9" name="Shape 6"/>
          <p:cNvSpPr/>
          <p:nvPr/>
        </p:nvSpPr>
        <p:spPr>
          <a:xfrm>
            <a:off x="3429000" y="2788920"/>
            <a:ext cx="2505456" cy="2305507"/>
          </a:xfrm>
          <a:prstGeom prst="roundRect">
            <a:avLst>
              <a:gd name="adj" fmla="val 3966"/>
            </a:avLst>
          </a:prstGeom>
          <a:solidFill>
            <a:srgbClr val="FBF9F3"/>
          </a:solidFill>
          <a:ln w="12700">
            <a:solidFill>
              <a:srgbClr val="DFD8C6"/>
            </a:solidFill>
            <a:prstDash val="solid"/>
          </a:ln>
        </p:spPr>
      </p:sp>
      <p:sp>
        <p:nvSpPr>
          <p:cNvPr id="10" name="Text 7"/>
          <p:cNvSpPr txBox="1"/>
          <p:nvPr/>
        </p:nvSpPr>
        <p:spPr>
          <a:xfrm>
            <a:off x="3666744" y="3337560"/>
            <a:ext cx="2029968" cy="341376"/>
          </a:xfrm>
          <a:prstGeom prst="rect">
            <a:avLst/>
          </a:prstGeom>
          <a:noFill/>
          <a:ln/>
        </p:spPr>
        <p:txBody>
          <a:bodyPr wrap="square" lIns="0" tIns="0" rIns="0" bIns="0" rtlCol="0" anchor="ctr"/>
          <a:lstStyle/>
          <a:p>
            <a:pPr indent="0" marL="0">
              <a:lnSpc>
                <a:spcPct val="112000"/>
              </a:lnSpc>
              <a:buNone/>
            </a:pPr>
            <a:r>
              <a:rPr lang="en-US" sz="2000" b="1" dirty="0">
                <a:solidFill>
                  <a:srgbClr val="1A1917"/>
                </a:solidFill>
                <a:latin typeface="Century Gothic" pitchFamily="34" charset="0"/>
                <a:ea typeface="Century Gothic" pitchFamily="34" charset="-122"/>
                <a:cs typeface="Century Gothic" pitchFamily="34" charset="-120"/>
              </a:rPr>
              <a:t>Local catalog</a:t>
            </a:r>
            <a:endParaRPr lang="en-US" sz="2000" dirty="0"/>
          </a:p>
        </p:txBody>
      </p:sp>
      <p:sp>
        <p:nvSpPr>
          <p:cNvPr id="11" name="Text 8"/>
          <p:cNvSpPr txBox="1"/>
          <p:nvPr/>
        </p:nvSpPr>
        <p:spPr>
          <a:xfrm>
            <a:off x="3666744" y="3898392"/>
            <a:ext cx="2029968" cy="647395"/>
          </a:xfrm>
          <a:prstGeom prst="rect">
            <a:avLst/>
          </a:prstGeom>
          <a:noFill/>
          <a:ln/>
        </p:spPr>
        <p:txBody>
          <a:bodyPr wrap="square" lIns="0" tIns="0" rIns="0" bIns="0" rtlCol="0" anchor="ctr"/>
          <a:lstStyle/>
          <a:p>
            <a:pPr indent="0" marL="0">
              <a:lnSpc>
                <a:spcPct val="118000"/>
              </a:lnSpc>
              <a:buNone/>
            </a:pPr>
            <a:r>
              <a:rPr lang="en-US" sz="1800" dirty="0">
                <a:solidFill>
                  <a:srgbClr val="6E685C"/>
                </a:solidFill>
                <a:latin typeface="Century Gothic" pitchFamily="34" charset="0"/>
                <a:ea typeface="Century Gothic" pitchFamily="34" charset="-122"/>
                <a:cs typeface="Century Gothic" pitchFamily="34" charset="-120"/>
              </a:rPr>
              <a:t>atomic write plus backup</a:t>
            </a:r>
            <a:endParaRPr lang="en-US" sz="1800" dirty="0"/>
          </a:p>
        </p:txBody>
      </p:sp>
      <p:sp>
        <p:nvSpPr>
          <p:cNvPr id="12" name="Shape 9"/>
          <p:cNvSpPr/>
          <p:nvPr/>
        </p:nvSpPr>
        <p:spPr>
          <a:xfrm rot="5400000">
            <a:off x="6012180" y="3836518"/>
            <a:ext cx="164592" cy="210312"/>
          </a:xfrm>
          <a:prstGeom prst="triangle">
            <a:avLst/>
          </a:prstGeom>
          <a:solidFill>
            <a:srgbClr val="8B8378"/>
          </a:solidFill>
          <a:ln w="12700">
            <a:solidFill>
              <a:srgbClr val="8B8378"/>
            </a:solidFill>
            <a:prstDash val="solid"/>
          </a:ln>
        </p:spPr>
      </p:sp>
      <p:sp>
        <p:nvSpPr>
          <p:cNvPr id="13" name="Shape 10"/>
          <p:cNvSpPr/>
          <p:nvPr/>
        </p:nvSpPr>
        <p:spPr>
          <a:xfrm>
            <a:off x="6254496" y="2788920"/>
            <a:ext cx="2505456" cy="2305507"/>
          </a:xfrm>
          <a:prstGeom prst="roundRect">
            <a:avLst>
              <a:gd name="adj" fmla="val 3966"/>
            </a:avLst>
          </a:prstGeom>
          <a:solidFill>
            <a:srgbClr val="FBF9F3"/>
          </a:solidFill>
          <a:ln w="12700">
            <a:solidFill>
              <a:srgbClr val="DFD8C6"/>
            </a:solidFill>
            <a:prstDash val="solid"/>
          </a:ln>
        </p:spPr>
      </p:sp>
      <p:sp>
        <p:nvSpPr>
          <p:cNvPr id="14" name="Text 11"/>
          <p:cNvSpPr txBox="1"/>
          <p:nvPr/>
        </p:nvSpPr>
        <p:spPr>
          <a:xfrm>
            <a:off x="6492240" y="3337560"/>
            <a:ext cx="2029968" cy="341376"/>
          </a:xfrm>
          <a:prstGeom prst="rect">
            <a:avLst/>
          </a:prstGeom>
          <a:noFill/>
          <a:ln/>
        </p:spPr>
        <p:txBody>
          <a:bodyPr wrap="square" lIns="0" tIns="0" rIns="0" bIns="0" rtlCol="0" anchor="ctr"/>
          <a:lstStyle/>
          <a:p>
            <a:pPr indent="0" marL="0">
              <a:lnSpc>
                <a:spcPct val="112000"/>
              </a:lnSpc>
              <a:buNone/>
            </a:pPr>
            <a:r>
              <a:rPr lang="en-US" sz="2000" b="1" dirty="0">
                <a:solidFill>
                  <a:srgbClr val="1A1917"/>
                </a:solidFill>
                <a:latin typeface="Century Gothic" pitchFamily="34" charset="0"/>
                <a:ea typeface="Century Gothic" pitchFamily="34" charset="-122"/>
                <a:cs typeface="Century Gothic" pitchFamily="34" charset="-120"/>
              </a:rPr>
              <a:t>Muse Spark</a:t>
            </a:r>
            <a:endParaRPr lang="en-US" sz="2000" dirty="0"/>
          </a:p>
        </p:txBody>
      </p:sp>
      <p:sp>
        <p:nvSpPr>
          <p:cNvPr id="15" name="Text 12"/>
          <p:cNvSpPr txBox="1"/>
          <p:nvPr/>
        </p:nvSpPr>
        <p:spPr>
          <a:xfrm>
            <a:off x="6492240" y="3898392"/>
            <a:ext cx="2029968" cy="647395"/>
          </a:xfrm>
          <a:prstGeom prst="rect">
            <a:avLst/>
          </a:prstGeom>
          <a:noFill/>
          <a:ln/>
        </p:spPr>
        <p:txBody>
          <a:bodyPr wrap="square" lIns="0" tIns="0" rIns="0" bIns="0" rtlCol="0" anchor="ctr"/>
          <a:lstStyle/>
          <a:p>
            <a:pPr indent="0" marL="0">
              <a:lnSpc>
                <a:spcPct val="118000"/>
              </a:lnSpc>
              <a:buNone/>
            </a:pPr>
            <a:r>
              <a:rPr lang="en-US" sz="1800" dirty="0">
                <a:solidFill>
                  <a:srgbClr val="6E685C"/>
                </a:solidFill>
                <a:latin typeface="Century Gothic" pitchFamily="34" charset="0"/>
                <a:ea typeface="Century Gothic" pitchFamily="34" charset="-122"/>
                <a:cs typeface="Century Gothic" pitchFamily="34" charset="-120"/>
              </a:rPr>
              <a:t>grounded title and text</a:t>
            </a:r>
            <a:endParaRPr lang="en-US" sz="1800" dirty="0"/>
          </a:p>
        </p:txBody>
      </p:sp>
      <p:sp>
        <p:nvSpPr>
          <p:cNvPr id="16" name="Shape 13"/>
          <p:cNvSpPr/>
          <p:nvPr/>
        </p:nvSpPr>
        <p:spPr>
          <a:xfrm rot="5400000">
            <a:off x="8837676" y="3836518"/>
            <a:ext cx="164592" cy="210312"/>
          </a:xfrm>
          <a:prstGeom prst="triangle">
            <a:avLst/>
          </a:prstGeom>
          <a:solidFill>
            <a:srgbClr val="8B8378"/>
          </a:solidFill>
          <a:ln w="12700">
            <a:solidFill>
              <a:srgbClr val="8B8378"/>
            </a:solidFill>
            <a:prstDash val="solid"/>
          </a:ln>
        </p:spPr>
      </p:sp>
      <p:sp>
        <p:nvSpPr>
          <p:cNvPr id="17" name="Shape 14"/>
          <p:cNvSpPr/>
          <p:nvPr/>
        </p:nvSpPr>
        <p:spPr>
          <a:xfrm>
            <a:off x="9079992" y="2788920"/>
            <a:ext cx="2505456" cy="2305507"/>
          </a:xfrm>
          <a:prstGeom prst="roundRect">
            <a:avLst>
              <a:gd name="adj" fmla="val 3966"/>
            </a:avLst>
          </a:prstGeom>
          <a:solidFill>
            <a:srgbClr val="FBF9F3"/>
          </a:solidFill>
          <a:ln w="12700">
            <a:solidFill>
              <a:srgbClr val="DFD8C6"/>
            </a:solidFill>
            <a:prstDash val="solid"/>
          </a:ln>
        </p:spPr>
      </p:sp>
      <p:sp>
        <p:nvSpPr>
          <p:cNvPr id="18" name="Text 15"/>
          <p:cNvSpPr txBox="1"/>
          <p:nvPr/>
        </p:nvSpPr>
        <p:spPr>
          <a:xfrm>
            <a:off x="9317736" y="3337560"/>
            <a:ext cx="2029968" cy="341376"/>
          </a:xfrm>
          <a:prstGeom prst="rect">
            <a:avLst/>
          </a:prstGeom>
          <a:noFill/>
          <a:ln/>
        </p:spPr>
        <p:txBody>
          <a:bodyPr wrap="square" lIns="0" tIns="0" rIns="0" bIns="0" rtlCol="0" anchor="ctr"/>
          <a:lstStyle/>
          <a:p>
            <a:pPr indent="0" marL="0">
              <a:lnSpc>
                <a:spcPct val="112000"/>
              </a:lnSpc>
              <a:buNone/>
            </a:pPr>
            <a:r>
              <a:rPr lang="en-US" sz="2000" b="1" dirty="0">
                <a:solidFill>
                  <a:srgbClr val="1A1917"/>
                </a:solidFill>
                <a:latin typeface="Century Gothic" pitchFamily="34" charset="0"/>
                <a:ea typeface="Century Gothic" pitchFamily="34" charset="-122"/>
                <a:cs typeface="Century Gothic" pitchFamily="34" charset="-120"/>
              </a:rPr>
              <a:t>Elastic</a:t>
            </a:r>
            <a:endParaRPr lang="en-US" sz="2000" dirty="0"/>
          </a:p>
        </p:txBody>
      </p:sp>
      <p:sp>
        <p:nvSpPr>
          <p:cNvPr id="19" name="Text 16"/>
          <p:cNvSpPr txBox="1"/>
          <p:nvPr/>
        </p:nvSpPr>
        <p:spPr>
          <a:xfrm>
            <a:off x="9317736" y="3898392"/>
            <a:ext cx="2029968" cy="647395"/>
          </a:xfrm>
          <a:prstGeom prst="rect">
            <a:avLst/>
          </a:prstGeom>
          <a:noFill/>
          <a:ln/>
        </p:spPr>
        <p:txBody>
          <a:bodyPr wrap="square" lIns="0" tIns="0" rIns="0" bIns="0" rtlCol="0" anchor="ctr"/>
          <a:lstStyle/>
          <a:p>
            <a:pPr indent="0" marL="0">
              <a:lnSpc>
                <a:spcPct val="118000"/>
              </a:lnSpc>
              <a:buNone/>
            </a:pPr>
            <a:r>
              <a:rPr lang="en-US" sz="1800" dirty="0">
                <a:solidFill>
                  <a:srgbClr val="6E685C"/>
                </a:solidFill>
                <a:latin typeface="Century Gothic" pitchFamily="34" charset="0"/>
                <a:ea typeface="Century Gothic" pitchFamily="34" charset="-122"/>
                <a:cs typeface="Century Gothic" pitchFamily="34" charset="-120"/>
              </a:rPr>
              <a:t>BM25 plus kNN, by RRF</a:t>
            </a:r>
            <a:endParaRPr lang="en-US" sz="1800" dirty="0"/>
          </a:p>
        </p:txBody>
      </p:sp>
      <p:sp>
        <p:nvSpPr>
          <p:cNvPr id="20" name="Text 17"/>
          <p:cNvSpPr txBox="1"/>
          <p:nvPr/>
        </p:nvSpPr>
        <p:spPr>
          <a:xfrm>
            <a:off x="603504" y="6016752"/>
            <a:ext cx="10981944" cy="365760"/>
          </a:xfrm>
          <a:prstGeom prst="rect">
            <a:avLst/>
          </a:prstGeom>
          <a:noFill/>
          <a:ln/>
        </p:spPr>
        <p:txBody>
          <a:bodyPr wrap="square" lIns="0" tIns="0" rIns="0" bIns="0" rtlCol="0" anchor="ctr"/>
          <a:lstStyle/>
          <a:p>
            <a:pPr indent="0" marL="0">
              <a:buNone/>
            </a:pPr>
            <a:r>
              <a:rPr lang="en-US" sz="2000" dirty="0">
                <a:solidFill>
                  <a:srgbClr val="7A6430"/>
                </a:solidFill>
                <a:latin typeface="Century Gothic" pitchFamily="34" charset="0"/>
                <a:ea typeface="Century Gothic" pitchFamily="34" charset="-122"/>
                <a:cs typeface="Century Gothic" pitchFamily="34" charset="-120"/>
              </a:rPr>
              <a:t>A sponsor service outage degrades search. It can never lose a memory.</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FE5"/>
        </a:solidFill>
      </p:bgPr>
    </p:bg>
    <p:spTree>
      <p:nvGrpSpPr>
        <p:cNvPr id="1" name=""/>
        <p:cNvGrpSpPr/>
        <p:nvPr/>
      </p:nvGrpSpPr>
      <p:grpSpPr>
        <a:xfrm>
          <a:off x="0" y="0"/>
          <a:ext cx="0" cy="0"/>
          <a:chOff x="0" y="0"/>
          <a:chExt cx="0" cy="0"/>
        </a:xfrm>
      </p:grpSpPr>
      <p:sp>
        <p:nvSpPr>
          <p:cNvPr id="3" name="Text 0"/>
          <p:cNvSpPr txBox="1"/>
          <p:nvPr/>
        </p:nvSpPr>
        <p:spPr>
          <a:xfrm>
            <a:off x="603504" y="420624"/>
            <a:ext cx="10981944" cy="493776"/>
          </a:xfrm>
          <a:prstGeom prst="rect">
            <a:avLst/>
          </a:prstGeom>
          <a:noFill/>
          <a:ln/>
        </p:spPr>
        <p:txBody>
          <a:bodyPr wrap="square" lIns="0" tIns="0" rIns="0" bIns="0" rtlCol="0" anchor="t"/>
          <a:lstStyle/>
          <a:p>
            <a:pPr indent="0" marL="0">
              <a:lnSpc>
                <a:spcPct val="108000"/>
              </a:lnSpc>
              <a:buNone/>
            </a:pPr>
            <a:r>
              <a:rPr lang="en-US" sz="3000" b="1" dirty="0">
                <a:solidFill>
                  <a:srgbClr val="1A1917"/>
                </a:solidFill>
                <a:latin typeface="Century Gothic" pitchFamily="34" charset="0"/>
                <a:ea typeface="Century Gothic" pitchFamily="34" charset="-122"/>
                <a:cs typeface="Century Gothic" pitchFamily="34" charset="-120"/>
              </a:rPr>
              <a:t>Why the baseline has to be yours</a:t>
            </a:r>
            <a:endParaRPr lang="en-US" sz="3000" dirty="0"/>
          </a:p>
        </p:txBody>
      </p:sp>
      <p:sp>
        <p:nvSpPr>
          <p:cNvPr id="4" name="Shape 1"/>
          <p:cNvSpPr/>
          <p:nvPr/>
        </p:nvSpPr>
        <p:spPr>
          <a:xfrm>
            <a:off x="1440180" y="1152144"/>
            <a:ext cx="9308592" cy="5268087"/>
          </a:xfrm>
          <a:prstGeom prst="roundRect">
            <a:avLst>
              <a:gd name="adj" fmla="val 868"/>
            </a:avLst>
          </a:prstGeom>
          <a:solidFill>
            <a:srgbClr val="F3EFE5"/>
          </a:solidFill>
          <a:ln w="12700">
            <a:solidFill>
              <a:srgbClr val="DFD8C6"/>
            </a:solidFill>
            <a:prstDash val="solid"/>
          </a:ln>
        </p:spPr>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476756" y="1188720"/>
            <a:ext cx="9235440" cy="51949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EFE5"/>
        </a:solidFill>
      </p:bgPr>
    </p:bg>
    <p:spTree>
      <p:nvGrpSpPr>
        <p:cNvPr id="1" name=""/>
        <p:cNvGrpSpPr/>
        <p:nvPr/>
      </p:nvGrpSpPr>
      <p:grpSpPr>
        <a:xfrm>
          <a:off x="0" y="0"/>
          <a:ext cx="0" cy="0"/>
          <a:chOff x="0" y="0"/>
          <a:chExt cx="0" cy="0"/>
        </a:xfrm>
      </p:grpSpPr>
      <p:sp>
        <p:nvSpPr>
          <p:cNvPr id="3" name="Text 0"/>
          <p:cNvSpPr txBox="1"/>
          <p:nvPr/>
        </p:nvSpPr>
        <p:spPr>
          <a:xfrm>
            <a:off x="603504" y="420624"/>
            <a:ext cx="10981944" cy="493776"/>
          </a:xfrm>
          <a:prstGeom prst="rect">
            <a:avLst/>
          </a:prstGeom>
          <a:noFill/>
          <a:ln/>
        </p:spPr>
        <p:txBody>
          <a:bodyPr wrap="square" lIns="0" tIns="0" rIns="0" bIns="0" rtlCol="0" anchor="t"/>
          <a:lstStyle/>
          <a:p>
            <a:pPr indent="0" marL="0">
              <a:lnSpc>
                <a:spcPct val="108000"/>
              </a:lnSpc>
              <a:buNone/>
            </a:pPr>
            <a:r>
              <a:rPr lang="en-US" sz="3000" b="1" dirty="0">
                <a:solidFill>
                  <a:srgbClr val="1A1917"/>
                </a:solidFill>
                <a:latin typeface="Century Gothic" pitchFamily="34" charset="0"/>
                <a:ea typeface="Century Gothic" pitchFamily="34" charset="-122"/>
                <a:cs typeface="Century Gothic" pitchFamily="34" charset="-120"/>
              </a:rPr>
              <a:t>Four in a row, and why they must not overlap</a:t>
            </a:r>
            <a:endParaRPr lang="en-US" sz="3000" dirty="0"/>
          </a:p>
        </p:txBody>
      </p:sp>
      <p:sp>
        <p:nvSpPr>
          <p:cNvPr id="4" name="Shape 1"/>
          <p:cNvSpPr/>
          <p:nvPr/>
        </p:nvSpPr>
        <p:spPr>
          <a:xfrm>
            <a:off x="1440180" y="1152144"/>
            <a:ext cx="9308592" cy="5268087"/>
          </a:xfrm>
          <a:prstGeom prst="roundRect">
            <a:avLst>
              <a:gd name="adj" fmla="val 868"/>
            </a:avLst>
          </a:prstGeom>
          <a:solidFill>
            <a:srgbClr val="F3EFE5"/>
          </a:solidFill>
          <a:ln w="12700">
            <a:solidFill>
              <a:srgbClr val="DFD8C6"/>
            </a:solidFill>
            <a:prstDash val="solid"/>
          </a:ln>
        </p:spPr>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476756" y="1188720"/>
            <a:ext cx="9235440" cy="51949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FE5"/>
        </a:solidFill>
      </p:bgPr>
    </p:bg>
    <p:spTree>
      <p:nvGrpSpPr>
        <p:cNvPr id="1" name=""/>
        <p:cNvGrpSpPr/>
        <p:nvPr/>
      </p:nvGrpSpPr>
      <p:grpSpPr>
        <a:xfrm>
          <a:off x="0" y="0"/>
          <a:ext cx="0" cy="0"/>
          <a:chOff x="0" y="0"/>
          <a:chExt cx="0" cy="0"/>
        </a:xfrm>
      </p:grpSpPr>
      <p:sp>
        <p:nvSpPr>
          <p:cNvPr id="3" name="Text 0"/>
          <p:cNvSpPr txBox="1"/>
          <p:nvPr/>
        </p:nvSpPr>
        <p:spPr>
          <a:xfrm>
            <a:off x="603504" y="420624"/>
            <a:ext cx="10981944" cy="493776"/>
          </a:xfrm>
          <a:prstGeom prst="rect">
            <a:avLst/>
          </a:prstGeom>
          <a:noFill/>
          <a:ln/>
        </p:spPr>
        <p:txBody>
          <a:bodyPr wrap="square" lIns="0" tIns="0" rIns="0" bIns="0" rtlCol="0" anchor="t"/>
          <a:lstStyle/>
          <a:p>
            <a:pPr indent="0" marL="0">
              <a:lnSpc>
                <a:spcPct val="108000"/>
              </a:lnSpc>
              <a:buNone/>
            </a:pPr>
            <a:r>
              <a:rPr lang="en-US" sz="3000" b="1" dirty="0">
                <a:solidFill>
                  <a:srgbClr val="1A1917"/>
                </a:solidFill>
                <a:latin typeface="Century Gothic" pitchFamily="34" charset="0"/>
                <a:ea typeface="Century Gothic" pitchFamily="34" charset="-122"/>
                <a:cs typeface="Century Gothic" pitchFamily="34" charset="-120"/>
              </a:rPr>
              <a:t>What is frozen before any model is fit</a:t>
            </a:r>
            <a:endParaRPr lang="en-US" sz="3000" dirty="0"/>
          </a:p>
        </p:txBody>
      </p:sp>
      <p:sp>
        <p:nvSpPr>
          <p:cNvPr id="4" name="Shape 1"/>
          <p:cNvSpPr/>
          <p:nvPr/>
        </p:nvSpPr>
        <p:spPr>
          <a:xfrm>
            <a:off x="1440180" y="1152144"/>
            <a:ext cx="9308592" cy="5268087"/>
          </a:xfrm>
          <a:prstGeom prst="roundRect">
            <a:avLst>
              <a:gd name="adj" fmla="val 868"/>
            </a:avLst>
          </a:prstGeom>
          <a:solidFill>
            <a:srgbClr val="F3EFE5"/>
          </a:solidFill>
          <a:ln w="12700">
            <a:solidFill>
              <a:srgbClr val="DFD8C6"/>
            </a:solidFill>
            <a:prstDash val="solid"/>
          </a:ln>
        </p:spPr>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476756" y="1188720"/>
            <a:ext cx="9235440" cy="51949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EFE5"/>
        </a:solidFill>
      </p:bgPr>
    </p:bg>
    <p:spTree>
      <p:nvGrpSpPr>
        <p:cNvPr id="1" name=""/>
        <p:cNvGrpSpPr/>
        <p:nvPr/>
      </p:nvGrpSpPr>
      <p:grpSpPr>
        <a:xfrm>
          <a:off x="0" y="0"/>
          <a:ext cx="0" cy="0"/>
          <a:chOff x="0" y="0"/>
          <a:chExt cx="0" cy="0"/>
        </a:xfrm>
      </p:grpSpPr>
      <p:sp>
        <p:nvSpPr>
          <p:cNvPr id="3" name="Text 0"/>
          <p:cNvSpPr txBox="1"/>
          <p:nvPr/>
        </p:nvSpPr>
        <p:spPr>
          <a:xfrm>
            <a:off x="603504" y="402336"/>
            <a:ext cx="10981944" cy="310896"/>
          </a:xfrm>
          <a:prstGeom prst="rect">
            <a:avLst/>
          </a:prstGeom>
          <a:noFill/>
          <a:ln/>
        </p:spPr>
        <p:txBody>
          <a:bodyPr wrap="square" lIns="0" tIns="0" rIns="0" bIns="0" rtlCol="0" anchor="ctr"/>
          <a:lstStyle/>
          <a:p>
            <a:pPr indent="0" marL="0">
              <a:buNone/>
            </a:pPr>
            <a:r>
              <a:rPr lang="en-US" sz="1800" b="1" spc="260" kern="0" dirty="0">
                <a:solidFill>
                  <a:srgbClr val="6E685C"/>
                </a:solidFill>
                <a:latin typeface="Century Gothic" pitchFamily="34" charset="0"/>
                <a:ea typeface="Century Gothic" pitchFamily="34" charset="-122"/>
                <a:cs typeface="Century Gothic" pitchFamily="34" charset="-120"/>
              </a:rPr>
              <a:t>SPONSOR TRACK</a:t>
            </a:r>
            <a:endParaRPr lang="en-US" sz="1800" dirty="0"/>
          </a:p>
        </p:txBody>
      </p:sp>
      <p:sp>
        <p:nvSpPr>
          <p:cNvPr id="4" name="Text 1"/>
          <p:cNvSpPr txBox="1"/>
          <p:nvPr/>
        </p:nvSpPr>
        <p:spPr>
          <a:xfrm>
            <a:off x="603504" y="694944"/>
            <a:ext cx="10981944" cy="786384"/>
          </a:xfrm>
          <a:prstGeom prst="rect">
            <a:avLst/>
          </a:prstGeom>
          <a:noFill/>
          <a:ln/>
        </p:spPr>
        <p:txBody>
          <a:bodyPr wrap="square" lIns="0" tIns="0" rIns="0" bIns="0" rtlCol="0" anchor="ctr"/>
          <a:lstStyle/>
          <a:p>
            <a:pPr indent="0" marL="0">
              <a:buNone/>
            </a:pPr>
            <a:r>
              <a:rPr lang="en-US" sz="4600" b="1" dirty="0">
                <a:solidFill>
                  <a:srgbClr val="0E7C74"/>
                </a:solidFill>
                <a:latin typeface="Century Gothic" pitchFamily="34" charset="0"/>
                <a:ea typeface="Century Gothic" pitchFamily="34" charset="-122"/>
                <a:cs typeface="Century Gothic" pitchFamily="34" charset="-120"/>
              </a:rPr>
              <a:t>Elastic</a:t>
            </a:r>
            <a:endParaRPr lang="en-US" sz="4600" dirty="0"/>
          </a:p>
        </p:txBody>
      </p:sp>
      <p:sp>
        <p:nvSpPr>
          <p:cNvPr id="5" name="Text 2"/>
          <p:cNvSpPr txBox="1"/>
          <p:nvPr/>
        </p:nvSpPr>
        <p:spPr>
          <a:xfrm>
            <a:off x="603504" y="1536192"/>
            <a:ext cx="10981944" cy="402336"/>
          </a:xfrm>
          <a:prstGeom prst="rect">
            <a:avLst/>
          </a:prstGeom>
          <a:noFill/>
          <a:ln/>
        </p:spPr>
        <p:txBody>
          <a:bodyPr wrap="square" lIns="0" tIns="0" rIns="0" bIns="0" rtlCol="0" anchor="ctr"/>
          <a:lstStyle/>
          <a:p>
            <a:pPr indent="0" marL="0">
              <a:lnSpc>
                <a:spcPct val="120000"/>
              </a:lnSpc>
              <a:buNone/>
            </a:pPr>
            <a:r>
              <a:rPr lang="en-US" sz="2200" dirty="0">
                <a:solidFill>
                  <a:srgbClr val="4E4A42"/>
                </a:solidFill>
                <a:latin typeface="Century Gothic" pitchFamily="34" charset="0"/>
                <a:ea typeface="Century Gothic" pitchFamily="34" charset="-122"/>
                <a:cs typeface="Century Gothic" pitchFamily="34" charset="-120"/>
              </a:rPr>
              <a:t>The retrieval layer: two kinds of remembering, fused.</a:t>
            </a:r>
            <a:endParaRPr lang="en-US" sz="2200" dirty="0"/>
          </a:p>
        </p:txBody>
      </p:sp>
      <p:sp>
        <p:nvSpPr>
          <p:cNvPr id="6" name="Shape 3"/>
          <p:cNvSpPr/>
          <p:nvPr/>
        </p:nvSpPr>
        <p:spPr>
          <a:xfrm>
            <a:off x="603504" y="2304288"/>
            <a:ext cx="5262372" cy="3985870"/>
          </a:xfrm>
          <a:prstGeom prst="roundRect">
            <a:avLst>
              <a:gd name="adj" fmla="val 2294"/>
            </a:avLst>
          </a:prstGeom>
          <a:solidFill>
            <a:srgbClr val="FBF9F3"/>
          </a:solidFill>
          <a:ln w="12700">
            <a:solidFill>
              <a:srgbClr val="DFD8C6"/>
            </a:solidFill>
            <a:prstDash val="solid"/>
          </a:ln>
        </p:spPr>
      </p:sp>
      <p:sp>
        <p:nvSpPr>
          <p:cNvPr id="7" name="Text 4"/>
          <p:cNvSpPr txBox="1"/>
          <p:nvPr/>
        </p:nvSpPr>
        <p:spPr>
          <a:xfrm>
            <a:off x="896112" y="2596896"/>
            <a:ext cx="4677156" cy="310896"/>
          </a:xfrm>
          <a:prstGeom prst="rect">
            <a:avLst/>
          </a:prstGeom>
          <a:noFill/>
          <a:ln/>
        </p:spPr>
        <p:txBody>
          <a:bodyPr wrap="square" lIns="0" tIns="0" rIns="0" bIns="0" rtlCol="0" anchor="ctr"/>
          <a:lstStyle/>
          <a:p>
            <a:pPr indent="0" marL="0">
              <a:buNone/>
            </a:pPr>
            <a:r>
              <a:rPr lang="en-US" sz="1800" b="1" spc="180" kern="0" dirty="0">
                <a:solidFill>
                  <a:srgbClr val="46683F"/>
                </a:solidFill>
                <a:latin typeface="Century Gothic" pitchFamily="34" charset="0"/>
                <a:ea typeface="Century Gothic" pitchFamily="34" charset="-122"/>
                <a:cs typeface="Century Gothic" pitchFamily="34" charset="-120"/>
              </a:rPr>
              <a:t>WHAT WE BUILT</a:t>
            </a:r>
            <a:endParaRPr lang="en-US" sz="1800" dirty="0"/>
          </a:p>
        </p:txBody>
      </p:sp>
      <p:sp>
        <p:nvSpPr>
          <p:cNvPr id="8" name="Text 5"/>
          <p:cNvSpPr txBox="1"/>
          <p:nvPr/>
        </p:nvSpPr>
        <p:spPr>
          <a:xfrm>
            <a:off x="896112" y="3108960"/>
            <a:ext cx="4677156" cy="2888590"/>
          </a:xfrm>
          <a:prstGeom prst="rect">
            <a:avLst/>
          </a:prstGeom>
          <a:noFill/>
          <a:ln/>
        </p:spPr>
        <p:txBody>
          <a:bodyPr wrap="square" lIns="0" tIns="0" rIns="0" bIns="0" rtlCol="0" anchor="t"/>
          <a:lstStyle/>
          <a:p>
            <a:pPr marL="190500" indent="-190500">
              <a:lnSpc>
                <a:spcPct val="116000"/>
              </a:lnSpc>
              <a:spcAft>
                <a:spcPts val="9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Every moment indexed as one document on Elastic Cloud.</a:t>
            </a:r>
            <a:endParaRPr lang="en-US" sz="1800" dirty="0"/>
          </a:p>
          <a:p>
            <a:pPr marL="190500" indent="-190500">
              <a:lnSpc>
                <a:spcPct val="116000"/>
              </a:lnSpc>
              <a:spcAft>
                <a:spcPts val="9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Jina v5 Omni puts clips and queries in one vector space.</a:t>
            </a:r>
            <a:endParaRPr lang="en-US" sz="1800" dirty="0"/>
          </a:p>
          <a:p>
            <a:pPr marL="190500" indent="-190500">
              <a:lnSpc>
                <a:spcPct val="116000"/>
              </a:lnSpc>
              <a:spcAft>
                <a:spcPts val="9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BM25 and dense kNN merged by reciprocal rank fusion.</a:t>
            </a:r>
            <a:endParaRPr lang="en-US" sz="1800" dirty="0"/>
          </a:p>
          <a:p>
            <a:pPr marL="190500" indent="-190500">
              <a:lnSpc>
                <a:spcPct val="116000"/>
              </a:lnSpc>
              <a:spcAft>
                <a:spcPts val="9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EEG intensity and date bounds applied in both branches.</a:t>
            </a:r>
            <a:endParaRPr lang="en-US" sz="1800" dirty="0"/>
          </a:p>
        </p:txBody>
      </p:sp>
      <p:sp>
        <p:nvSpPr>
          <p:cNvPr id="9" name="Shape 6"/>
          <p:cNvSpPr/>
          <p:nvPr/>
        </p:nvSpPr>
        <p:spPr>
          <a:xfrm>
            <a:off x="6323076" y="2304288"/>
            <a:ext cx="5262372" cy="3985870"/>
          </a:xfrm>
          <a:prstGeom prst="roundRect">
            <a:avLst>
              <a:gd name="adj" fmla="val 2294"/>
            </a:avLst>
          </a:prstGeom>
          <a:solidFill>
            <a:srgbClr val="FBF9F3"/>
          </a:solidFill>
          <a:ln w="12700">
            <a:solidFill>
              <a:srgbClr val="DFD8C6"/>
            </a:solidFill>
            <a:prstDash val="solid"/>
          </a:ln>
        </p:spPr>
      </p:sp>
      <p:sp>
        <p:nvSpPr>
          <p:cNvPr id="10" name="Text 7"/>
          <p:cNvSpPr txBox="1"/>
          <p:nvPr/>
        </p:nvSpPr>
        <p:spPr>
          <a:xfrm>
            <a:off x="6615684" y="2596896"/>
            <a:ext cx="4677156" cy="310896"/>
          </a:xfrm>
          <a:prstGeom prst="rect">
            <a:avLst/>
          </a:prstGeom>
          <a:noFill/>
          <a:ln/>
        </p:spPr>
        <p:txBody>
          <a:bodyPr wrap="square" lIns="0" tIns="0" rIns="0" bIns="0" rtlCol="0" anchor="ctr"/>
          <a:lstStyle/>
          <a:p>
            <a:pPr indent="0" marL="0">
              <a:buNone/>
            </a:pPr>
            <a:r>
              <a:rPr lang="en-US" sz="1800" b="1" spc="180" kern="0" dirty="0">
                <a:solidFill>
                  <a:srgbClr val="A44B3C"/>
                </a:solidFill>
                <a:latin typeface="Century Gothic" pitchFamily="34" charset="0"/>
                <a:ea typeface="Century Gothic" pitchFamily="34" charset="-122"/>
                <a:cs typeface="Century Gothic" pitchFamily="34" charset="-120"/>
              </a:rPr>
              <a:t>WHAT WE HAVE NOT BUILT</a:t>
            </a:r>
            <a:endParaRPr lang="en-US" sz="1800" dirty="0"/>
          </a:p>
        </p:txBody>
      </p:sp>
      <p:sp>
        <p:nvSpPr>
          <p:cNvPr id="11" name="Text 8"/>
          <p:cNvSpPr txBox="1"/>
          <p:nvPr/>
        </p:nvSpPr>
        <p:spPr>
          <a:xfrm>
            <a:off x="6615684" y="3108960"/>
            <a:ext cx="4677156" cy="2888590"/>
          </a:xfrm>
          <a:prstGeom prst="rect">
            <a:avLst/>
          </a:prstGeom>
          <a:noFill/>
          <a:ln/>
        </p:spPr>
        <p:txBody>
          <a:bodyPr wrap="square" lIns="0" tIns="0" rIns="0" bIns="0" rtlCol="0" anchor="t"/>
          <a:lstStyle/>
          <a:p>
            <a:pPr marL="190500" indent="-190500">
              <a:lnSpc>
                <a:spcPct val="116000"/>
              </a:lnSpc>
              <a:spcAft>
                <a:spcPts val="9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Workflows and Agent Builder are future work, not done.</a:t>
            </a:r>
            <a:endParaRPr lang="en-US" sz="1800" dirty="0"/>
          </a:p>
          <a:p>
            <a:pPr marL="190500" indent="-190500">
              <a:lnSpc>
                <a:spcPct val="116000"/>
              </a:lnSpc>
              <a:spcAft>
                <a:spcPts val="9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No relevance tuning. RRF ranking is out of the box.</a:t>
            </a:r>
            <a:endParaRPr lang="en-US" sz="1800" dirty="0"/>
          </a:p>
          <a:p>
            <a:pPr marL="190500" indent="-190500">
              <a:lnSpc>
                <a:spcPct val="116000"/>
              </a:lnSpc>
              <a:spcAft>
                <a:spcPts val="9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Without credentials it falls back to local text search.</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EFE5"/>
        </a:solidFill>
      </p:bgPr>
    </p:bg>
    <p:spTree>
      <p:nvGrpSpPr>
        <p:cNvPr id="1" name=""/>
        <p:cNvGrpSpPr/>
        <p:nvPr/>
      </p:nvGrpSpPr>
      <p:grpSpPr>
        <a:xfrm>
          <a:off x="0" y="0"/>
          <a:ext cx="0" cy="0"/>
          <a:chOff x="0" y="0"/>
          <a:chExt cx="0" cy="0"/>
        </a:xfrm>
      </p:grpSpPr>
      <p:sp>
        <p:nvSpPr>
          <p:cNvPr id="3" name="Text 0"/>
          <p:cNvSpPr txBox="1"/>
          <p:nvPr/>
        </p:nvSpPr>
        <p:spPr>
          <a:xfrm>
            <a:off x="603504" y="402336"/>
            <a:ext cx="10981944" cy="310896"/>
          </a:xfrm>
          <a:prstGeom prst="rect">
            <a:avLst/>
          </a:prstGeom>
          <a:noFill/>
          <a:ln/>
        </p:spPr>
        <p:txBody>
          <a:bodyPr wrap="square" lIns="0" tIns="0" rIns="0" bIns="0" rtlCol="0" anchor="ctr"/>
          <a:lstStyle/>
          <a:p>
            <a:pPr indent="0" marL="0">
              <a:buNone/>
            </a:pPr>
            <a:r>
              <a:rPr lang="en-US" sz="1800" b="1" spc="260" kern="0" dirty="0">
                <a:solidFill>
                  <a:srgbClr val="6E685C"/>
                </a:solidFill>
                <a:latin typeface="Century Gothic" pitchFamily="34" charset="0"/>
                <a:ea typeface="Century Gothic" pitchFamily="34" charset="-122"/>
                <a:cs typeface="Century Gothic" pitchFamily="34" charset="-120"/>
              </a:rPr>
              <a:t>SPONSOR TRACK</a:t>
            </a:r>
            <a:endParaRPr lang="en-US" sz="1800" dirty="0"/>
          </a:p>
        </p:txBody>
      </p:sp>
      <p:sp>
        <p:nvSpPr>
          <p:cNvPr id="4" name="Text 1"/>
          <p:cNvSpPr txBox="1"/>
          <p:nvPr/>
        </p:nvSpPr>
        <p:spPr>
          <a:xfrm>
            <a:off x="603504" y="694944"/>
            <a:ext cx="10981944" cy="786384"/>
          </a:xfrm>
          <a:prstGeom prst="rect">
            <a:avLst/>
          </a:prstGeom>
          <a:noFill/>
          <a:ln/>
        </p:spPr>
        <p:txBody>
          <a:bodyPr wrap="square" lIns="0" tIns="0" rIns="0" bIns="0" rtlCol="0" anchor="ctr"/>
          <a:lstStyle/>
          <a:p>
            <a:pPr indent="0" marL="0">
              <a:buNone/>
            </a:pPr>
            <a:r>
              <a:rPr lang="en-US" sz="4600" b="1" dirty="0">
                <a:solidFill>
                  <a:srgbClr val="1858C6"/>
                </a:solidFill>
                <a:latin typeface="Century Gothic" pitchFamily="34" charset="0"/>
                <a:ea typeface="Century Gothic" pitchFamily="34" charset="-122"/>
                <a:cs typeface="Century Gothic" pitchFamily="34" charset="-120"/>
              </a:rPr>
              <a:t>Meta</a:t>
            </a:r>
            <a:endParaRPr lang="en-US" sz="4600" dirty="0"/>
          </a:p>
        </p:txBody>
      </p:sp>
      <p:sp>
        <p:nvSpPr>
          <p:cNvPr id="5" name="Text 2"/>
          <p:cNvSpPr txBox="1"/>
          <p:nvPr/>
        </p:nvSpPr>
        <p:spPr>
          <a:xfrm>
            <a:off x="603504" y="1536192"/>
            <a:ext cx="10981944" cy="402336"/>
          </a:xfrm>
          <a:prstGeom prst="rect">
            <a:avLst/>
          </a:prstGeom>
          <a:noFill/>
          <a:ln/>
        </p:spPr>
        <p:txBody>
          <a:bodyPr wrap="square" lIns="0" tIns="0" rIns="0" bIns="0" rtlCol="0" anchor="ctr"/>
          <a:lstStyle/>
          <a:p>
            <a:pPr indent="0" marL="0">
              <a:lnSpc>
                <a:spcPct val="120000"/>
              </a:lnSpc>
              <a:buNone/>
            </a:pPr>
            <a:r>
              <a:rPr lang="en-US" sz="2200" dirty="0">
                <a:solidFill>
                  <a:srgbClr val="4E4A42"/>
                </a:solidFill>
                <a:latin typeface="Century Gothic" pitchFamily="34" charset="0"/>
                <a:ea typeface="Century Gothic" pitchFamily="34" charset="-122"/>
                <a:cs typeface="Century Gothic" pitchFamily="34" charset="-120"/>
              </a:rPr>
              <a:t>Understanding and the agent: a clip becomes language.</a:t>
            </a:r>
            <a:endParaRPr lang="en-US" sz="2200" dirty="0"/>
          </a:p>
        </p:txBody>
      </p:sp>
      <p:sp>
        <p:nvSpPr>
          <p:cNvPr id="6" name="Shape 3"/>
          <p:cNvSpPr/>
          <p:nvPr/>
        </p:nvSpPr>
        <p:spPr>
          <a:xfrm>
            <a:off x="603504" y="2304288"/>
            <a:ext cx="5262372" cy="3985870"/>
          </a:xfrm>
          <a:prstGeom prst="roundRect">
            <a:avLst>
              <a:gd name="adj" fmla="val 2294"/>
            </a:avLst>
          </a:prstGeom>
          <a:solidFill>
            <a:srgbClr val="FBF9F3"/>
          </a:solidFill>
          <a:ln w="12700">
            <a:solidFill>
              <a:srgbClr val="DFD8C6"/>
            </a:solidFill>
            <a:prstDash val="solid"/>
          </a:ln>
        </p:spPr>
      </p:sp>
      <p:sp>
        <p:nvSpPr>
          <p:cNvPr id="7" name="Text 4"/>
          <p:cNvSpPr txBox="1"/>
          <p:nvPr/>
        </p:nvSpPr>
        <p:spPr>
          <a:xfrm>
            <a:off x="896112" y="2596896"/>
            <a:ext cx="4677156" cy="310896"/>
          </a:xfrm>
          <a:prstGeom prst="rect">
            <a:avLst/>
          </a:prstGeom>
          <a:noFill/>
          <a:ln/>
        </p:spPr>
        <p:txBody>
          <a:bodyPr wrap="square" lIns="0" tIns="0" rIns="0" bIns="0" rtlCol="0" anchor="ctr"/>
          <a:lstStyle/>
          <a:p>
            <a:pPr indent="0" marL="0">
              <a:buNone/>
            </a:pPr>
            <a:r>
              <a:rPr lang="en-US" sz="1800" b="1" spc="180" kern="0" dirty="0">
                <a:solidFill>
                  <a:srgbClr val="46683F"/>
                </a:solidFill>
                <a:latin typeface="Century Gothic" pitchFamily="34" charset="0"/>
                <a:ea typeface="Century Gothic" pitchFamily="34" charset="-122"/>
                <a:cs typeface="Century Gothic" pitchFamily="34" charset="-120"/>
              </a:rPr>
              <a:t>WHAT WE BUILT</a:t>
            </a:r>
            <a:endParaRPr lang="en-US" sz="1800" dirty="0"/>
          </a:p>
        </p:txBody>
      </p:sp>
      <p:sp>
        <p:nvSpPr>
          <p:cNvPr id="8" name="Text 5"/>
          <p:cNvSpPr txBox="1"/>
          <p:nvPr/>
        </p:nvSpPr>
        <p:spPr>
          <a:xfrm>
            <a:off x="896112" y="3108960"/>
            <a:ext cx="4677156" cy="2888590"/>
          </a:xfrm>
          <a:prstGeom prst="rect">
            <a:avLst/>
          </a:prstGeom>
          <a:noFill/>
          <a:ln/>
        </p:spPr>
        <p:txBody>
          <a:bodyPr wrap="square" lIns="0" tIns="0" rIns="0" bIns="0" rtlCol="0" anchor="t"/>
          <a:lstStyle/>
          <a:p>
            <a:pPr marL="190500" indent="-190500">
              <a:lnSpc>
                <a:spcPct val="116000"/>
              </a:lnSpc>
              <a:spcAft>
                <a:spcPts val="9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Muse Spark 1.3 writes a grounded title per clip.</a:t>
            </a:r>
            <a:endParaRPr lang="en-US" sz="1800" dirty="0"/>
          </a:p>
          <a:p>
            <a:pPr marL="190500" indent="-190500">
              <a:lnSpc>
                <a:spcPct val="116000"/>
              </a:lnSpc>
              <a:spcAft>
                <a:spcPts val="9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Clips over 6 MB use the poster frame, and we log which.</a:t>
            </a:r>
            <a:endParaRPr lang="en-US" sz="1800" dirty="0"/>
          </a:p>
          <a:p>
            <a:pPr marL="190500" indent="-190500">
              <a:lnSpc>
                <a:spcPct val="116000"/>
              </a:lnSpc>
              <a:spcAft>
                <a:spcPts val="9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A web grounding pass resolves names, never the clip.</a:t>
            </a:r>
            <a:endParaRPr lang="en-US" sz="1800" dirty="0"/>
          </a:p>
          <a:p>
            <a:pPr marL="190500" indent="-190500">
              <a:lnSpc>
                <a:spcPct val="116000"/>
              </a:lnSpc>
              <a:spcAft>
                <a:spcPts val="9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Muse Voice Transcribe turns speech into the query.</a:t>
            </a:r>
            <a:endParaRPr lang="en-US" sz="1800" dirty="0"/>
          </a:p>
        </p:txBody>
      </p:sp>
      <p:sp>
        <p:nvSpPr>
          <p:cNvPr id="9" name="Shape 6"/>
          <p:cNvSpPr/>
          <p:nvPr/>
        </p:nvSpPr>
        <p:spPr>
          <a:xfrm>
            <a:off x="6323076" y="2304288"/>
            <a:ext cx="5262372" cy="3985870"/>
          </a:xfrm>
          <a:prstGeom prst="roundRect">
            <a:avLst>
              <a:gd name="adj" fmla="val 2294"/>
            </a:avLst>
          </a:prstGeom>
          <a:solidFill>
            <a:srgbClr val="FBF9F3"/>
          </a:solidFill>
          <a:ln w="12700">
            <a:solidFill>
              <a:srgbClr val="DFD8C6"/>
            </a:solidFill>
            <a:prstDash val="solid"/>
          </a:ln>
        </p:spPr>
      </p:sp>
      <p:sp>
        <p:nvSpPr>
          <p:cNvPr id="10" name="Text 7"/>
          <p:cNvSpPr txBox="1"/>
          <p:nvPr/>
        </p:nvSpPr>
        <p:spPr>
          <a:xfrm>
            <a:off x="6615684" y="2596896"/>
            <a:ext cx="4677156" cy="310896"/>
          </a:xfrm>
          <a:prstGeom prst="rect">
            <a:avLst/>
          </a:prstGeom>
          <a:noFill/>
          <a:ln/>
        </p:spPr>
        <p:txBody>
          <a:bodyPr wrap="square" lIns="0" tIns="0" rIns="0" bIns="0" rtlCol="0" anchor="ctr"/>
          <a:lstStyle/>
          <a:p>
            <a:pPr indent="0" marL="0">
              <a:buNone/>
            </a:pPr>
            <a:r>
              <a:rPr lang="en-US" sz="1800" b="1" spc="180" kern="0" dirty="0">
                <a:solidFill>
                  <a:srgbClr val="A44B3C"/>
                </a:solidFill>
                <a:latin typeface="Century Gothic" pitchFamily="34" charset="0"/>
                <a:ea typeface="Century Gothic" pitchFamily="34" charset="-122"/>
                <a:cs typeface="Century Gothic" pitchFamily="34" charset="-120"/>
              </a:rPr>
              <a:t>WHAT WE HAVE NOT BUILT</a:t>
            </a:r>
            <a:endParaRPr lang="en-US" sz="1800" dirty="0"/>
          </a:p>
        </p:txBody>
      </p:sp>
      <p:sp>
        <p:nvSpPr>
          <p:cNvPr id="11" name="Text 8"/>
          <p:cNvSpPr txBox="1"/>
          <p:nvPr/>
        </p:nvSpPr>
        <p:spPr>
          <a:xfrm>
            <a:off x="6615684" y="3108960"/>
            <a:ext cx="4677156" cy="2888590"/>
          </a:xfrm>
          <a:prstGeom prst="rect">
            <a:avLst/>
          </a:prstGeom>
          <a:noFill/>
          <a:ln/>
        </p:spPr>
        <p:txBody>
          <a:bodyPr wrap="square" lIns="0" tIns="0" rIns="0" bIns="0" rtlCol="0" anchor="t"/>
          <a:lstStyle/>
          <a:p>
            <a:pPr marL="190500" indent="-190500">
              <a:lnSpc>
                <a:spcPct val="116000"/>
              </a:lnSpc>
              <a:spcAft>
                <a:spcPts val="9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No Meta text to speech. Output is the browser voice.</a:t>
            </a:r>
            <a:endParaRPr lang="en-US" sz="1800" dirty="0"/>
          </a:p>
          <a:p>
            <a:pPr marL="190500" indent="-190500">
              <a:lnSpc>
                <a:spcPct val="116000"/>
              </a:lnSpc>
              <a:spcAft>
                <a:spcPts val="9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No physical glasses. The phone camera stands in.</a:t>
            </a:r>
            <a:endParaRPr lang="en-US" sz="1800" dirty="0"/>
          </a:p>
          <a:p>
            <a:pPr marL="190500" indent="-190500">
              <a:lnSpc>
                <a:spcPct val="116000"/>
              </a:lnSpc>
              <a:spcAft>
                <a:spcPts val="9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No emotion inference. Scene metadata only.</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FE5"/>
        </a:solidFill>
      </p:bgPr>
    </p:bg>
    <p:spTree>
      <p:nvGrpSpPr>
        <p:cNvPr id="1" name=""/>
        <p:cNvGrpSpPr/>
        <p:nvPr/>
      </p:nvGrpSpPr>
      <p:grpSpPr>
        <a:xfrm>
          <a:off x="0" y="0"/>
          <a:ext cx="0" cy="0"/>
          <a:chOff x="0" y="0"/>
          <a:chExt cx="0" cy="0"/>
        </a:xfrm>
      </p:grpSpPr>
      <p:sp>
        <p:nvSpPr>
          <p:cNvPr id="3" name="Text 0"/>
          <p:cNvSpPr txBox="1"/>
          <p:nvPr/>
        </p:nvSpPr>
        <p:spPr>
          <a:xfrm>
            <a:off x="603504" y="402336"/>
            <a:ext cx="10981944" cy="310896"/>
          </a:xfrm>
          <a:prstGeom prst="rect">
            <a:avLst/>
          </a:prstGeom>
          <a:noFill/>
          <a:ln/>
        </p:spPr>
        <p:txBody>
          <a:bodyPr wrap="square" lIns="0" tIns="0" rIns="0" bIns="0" rtlCol="0" anchor="ctr"/>
          <a:lstStyle/>
          <a:p>
            <a:pPr indent="0" marL="0">
              <a:buNone/>
            </a:pPr>
            <a:r>
              <a:rPr lang="en-US" sz="1800" b="1" spc="260" kern="0" dirty="0">
                <a:solidFill>
                  <a:srgbClr val="6E685C"/>
                </a:solidFill>
                <a:latin typeface="Century Gothic" pitchFamily="34" charset="0"/>
                <a:ea typeface="Century Gothic" pitchFamily="34" charset="-122"/>
                <a:cs typeface="Century Gothic" pitchFamily="34" charset="-120"/>
              </a:rPr>
              <a:t>SPONSOR TRACK</a:t>
            </a:r>
            <a:endParaRPr lang="en-US" sz="1800" dirty="0"/>
          </a:p>
        </p:txBody>
      </p:sp>
      <p:sp>
        <p:nvSpPr>
          <p:cNvPr id="4" name="Text 1"/>
          <p:cNvSpPr txBox="1"/>
          <p:nvPr/>
        </p:nvSpPr>
        <p:spPr>
          <a:xfrm>
            <a:off x="603504" y="694944"/>
            <a:ext cx="10981944" cy="786384"/>
          </a:xfrm>
          <a:prstGeom prst="rect">
            <a:avLst/>
          </a:prstGeom>
          <a:noFill/>
          <a:ln/>
        </p:spPr>
        <p:txBody>
          <a:bodyPr wrap="square" lIns="0" tIns="0" rIns="0" bIns="0" rtlCol="0" anchor="ctr"/>
          <a:lstStyle/>
          <a:p>
            <a:pPr indent="0" marL="0">
              <a:buNone/>
            </a:pPr>
            <a:r>
              <a:rPr lang="en-US" sz="4600" b="1" dirty="0">
                <a:solidFill>
                  <a:srgbClr val="7A6430"/>
                </a:solidFill>
                <a:latin typeface="Century Gothic" pitchFamily="34" charset="0"/>
                <a:ea typeface="Century Gothic" pitchFamily="34" charset="-122"/>
                <a:cs typeface="Century Gothic" pitchFamily="34" charset="-120"/>
              </a:rPr>
              <a:t>VoloRidge</a:t>
            </a:r>
            <a:endParaRPr lang="en-US" sz="4600" dirty="0"/>
          </a:p>
        </p:txBody>
      </p:sp>
      <p:sp>
        <p:nvSpPr>
          <p:cNvPr id="5" name="Text 2"/>
          <p:cNvSpPr txBox="1"/>
          <p:nvPr/>
        </p:nvSpPr>
        <p:spPr>
          <a:xfrm>
            <a:off x="603504" y="1536192"/>
            <a:ext cx="10981944" cy="402336"/>
          </a:xfrm>
          <a:prstGeom prst="rect">
            <a:avLst/>
          </a:prstGeom>
          <a:noFill/>
          <a:ln/>
        </p:spPr>
        <p:txBody>
          <a:bodyPr wrap="square" lIns="0" tIns="0" rIns="0" bIns="0" rtlCol="0" anchor="ctr"/>
          <a:lstStyle/>
          <a:p>
            <a:pPr indent="0" marL="0">
              <a:lnSpc>
                <a:spcPct val="120000"/>
              </a:lnSpc>
              <a:buNone/>
            </a:pPr>
            <a:r>
              <a:rPr lang="en-US" sz="2200" dirty="0">
                <a:solidFill>
                  <a:srgbClr val="4E4A42"/>
                </a:solidFill>
                <a:latin typeface="Century Gothic" pitchFamily="34" charset="0"/>
                <a:ea typeface="Century Gothic" pitchFamily="34" charset="-122"/>
                <a:cs typeface="Century Gothic" pitchFamily="34" charset="-120"/>
              </a:rPr>
              <a:t>Public data, frozen before the test. Failures included.</a:t>
            </a:r>
            <a:endParaRPr lang="en-US" sz="2200" dirty="0"/>
          </a:p>
        </p:txBody>
      </p:sp>
      <p:sp>
        <p:nvSpPr>
          <p:cNvPr id="6" name="Shape 3"/>
          <p:cNvSpPr/>
          <p:nvPr/>
        </p:nvSpPr>
        <p:spPr>
          <a:xfrm>
            <a:off x="603504" y="2304288"/>
            <a:ext cx="5262372" cy="3985870"/>
          </a:xfrm>
          <a:prstGeom prst="roundRect">
            <a:avLst>
              <a:gd name="adj" fmla="val 2294"/>
            </a:avLst>
          </a:prstGeom>
          <a:solidFill>
            <a:srgbClr val="FBF9F3"/>
          </a:solidFill>
          <a:ln w="12700">
            <a:solidFill>
              <a:srgbClr val="DFD8C6"/>
            </a:solidFill>
            <a:prstDash val="solid"/>
          </a:ln>
        </p:spPr>
      </p:sp>
      <p:sp>
        <p:nvSpPr>
          <p:cNvPr id="7" name="Text 4"/>
          <p:cNvSpPr txBox="1"/>
          <p:nvPr/>
        </p:nvSpPr>
        <p:spPr>
          <a:xfrm>
            <a:off x="896112" y="2596896"/>
            <a:ext cx="4677156" cy="310896"/>
          </a:xfrm>
          <a:prstGeom prst="rect">
            <a:avLst/>
          </a:prstGeom>
          <a:noFill/>
          <a:ln/>
        </p:spPr>
        <p:txBody>
          <a:bodyPr wrap="square" lIns="0" tIns="0" rIns="0" bIns="0" rtlCol="0" anchor="ctr"/>
          <a:lstStyle/>
          <a:p>
            <a:pPr indent="0" marL="0">
              <a:buNone/>
            </a:pPr>
            <a:r>
              <a:rPr lang="en-US" sz="1800" b="1" spc="180" kern="0" dirty="0">
                <a:solidFill>
                  <a:srgbClr val="46683F"/>
                </a:solidFill>
                <a:latin typeface="Century Gothic" pitchFamily="34" charset="0"/>
                <a:ea typeface="Century Gothic" pitchFamily="34" charset="-122"/>
                <a:cs typeface="Century Gothic" pitchFamily="34" charset="-120"/>
              </a:rPr>
              <a:t>WHAT WE BUILT</a:t>
            </a:r>
            <a:endParaRPr lang="en-US" sz="1800" dirty="0"/>
          </a:p>
        </p:txBody>
      </p:sp>
      <p:sp>
        <p:nvSpPr>
          <p:cNvPr id="8" name="Text 5"/>
          <p:cNvSpPr txBox="1"/>
          <p:nvPr/>
        </p:nvSpPr>
        <p:spPr>
          <a:xfrm>
            <a:off x="896112" y="3108960"/>
            <a:ext cx="4677156" cy="2888590"/>
          </a:xfrm>
          <a:prstGeom prst="rect">
            <a:avLst/>
          </a:prstGeom>
          <a:noFill/>
          <a:ln/>
        </p:spPr>
        <p:txBody>
          <a:bodyPr wrap="square" lIns="0" tIns="0" rIns="0" bIns="0" rtlCol="0" anchor="t"/>
          <a:lstStyle/>
          <a:p>
            <a:pPr marL="190500" indent="-190500">
              <a:lnSpc>
                <a:spcPct val="116000"/>
              </a:lnSpc>
              <a:spcAft>
                <a:spcPts val="9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Public CC0 EEG only. Every skipped recording is logged.</a:t>
            </a:r>
            <a:endParaRPr lang="en-US" sz="1800" dirty="0"/>
          </a:p>
          <a:p>
            <a:pPr marL="190500" indent="-190500">
              <a:lnSpc>
                <a:spcPct val="116000"/>
              </a:lnSpc>
              <a:spcAft>
                <a:spcPts val="9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Preprocessing and features locked before any model fit.</a:t>
            </a:r>
            <a:endParaRPr lang="en-US" sz="1800" dirty="0"/>
          </a:p>
          <a:p>
            <a:pPr marL="190500" indent="-190500">
              <a:lnSpc>
                <a:spcPct val="116000"/>
              </a:lnSpc>
              <a:spcAft>
                <a:spcPts val="9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Leave one out. The held out person picks no threshold.</a:t>
            </a:r>
            <a:endParaRPr lang="en-US" sz="1800" dirty="0"/>
          </a:p>
          <a:p>
            <a:pPr marL="190500" indent="-190500">
              <a:lnSpc>
                <a:spcPct val="116000"/>
              </a:lnSpc>
              <a:spcAft>
                <a:spcPts val="9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Three negative controls and an electrode ablation.</a:t>
            </a:r>
            <a:endParaRPr lang="en-US" sz="1800" dirty="0"/>
          </a:p>
        </p:txBody>
      </p:sp>
      <p:sp>
        <p:nvSpPr>
          <p:cNvPr id="9" name="Shape 6"/>
          <p:cNvSpPr/>
          <p:nvPr/>
        </p:nvSpPr>
        <p:spPr>
          <a:xfrm>
            <a:off x="6323076" y="2304288"/>
            <a:ext cx="5262372" cy="3985870"/>
          </a:xfrm>
          <a:prstGeom prst="roundRect">
            <a:avLst>
              <a:gd name="adj" fmla="val 2294"/>
            </a:avLst>
          </a:prstGeom>
          <a:solidFill>
            <a:srgbClr val="FBF9F3"/>
          </a:solidFill>
          <a:ln w="12700">
            <a:solidFill>
              <a:srgbClr val="DFD8C6"/>
            </a:solidFill>
            <a:prstDash val="solid"/>
          </a:ln>
        </p:spPr>
      </p:sp>
      <p:sp>
        <p:nvSpPr>
          <p:cNvPr id="10" name="Text 7"/>
          <p:cNvSpPr txBox="1"/>
          <p:nvPr/>
        </p:nvSpPr>
        <p:spPr>
          <a:xfrm>
            <a:off x="6615684" y="2596896"/>
            <a:ext cx="4677156" cy="310896"/>
          </a:xfrm>
          <a:prstGeom prst="rect">
            <a:avLst/>
          </a:prstGeom>
          <a:noFill/>
          <a:ln/>
        </p:spPr>
        <p:txBody>
          <a:bodyPr wrap="square" lIns="0" tIns="0" rIns="0" bIns="0" rtlCol="0" anchor="ctr"/>
          <a:lstStyle/>
          <a:p>
            <a:pPr indent="0" marL="0">
              <a:buNone/>
            </a:pPr>
            <a:r>
              <a:rPr lang="en-US" sz="1800" b="1" spc="180" kern="0" dirty="0">
                <a:solidFill>
                  <a:srgbClr val="A44B3C"/>
                </a:solidFill>
                <a:latin typeface="Century Gothic" pitchFamily="34" charset="0"/>
                <a:ea typeface="Century Gothic" pitchFamily="34" charset="-122"/>
                <a:cs typeface="Century Gothic" pitchFamily="34" charset="-120"/>
              </a:rPr>
              <a:t>WHAT WE HAVE NOT BUILT</a:t>
            </a:r>
            <a:endParaRPr lang="en-US" sz="1800" dirty="0"/>
          </a:p>
        </p:txBody>
      </p:sp>
      <p:sp>
        <p:nvSpPr>
          <p:cNvPr id="11" name="Text 8"/>
          <p:cNvSpPr txBox="1"/>
          <p:nvPr/>
        </p:nvSpPr>
        <p:spPr>
          <a:xfrm>
            <a:off x="6615684" y="3108960"/>
            <a:ext cx="4677156" cy="2888590"/>
          </a:xfrm>
          <a:prstGeom prst="rect">
            <a:avLst/>
          </a:prstGeom>
          <a:noFill/>
          <a:ln/>
        </p:spPr>
        <p:txBody>
          <a:bodyPr wrap="square" lIns="0" tIns="0" rIns="0" bIns="0" rtlCol="0" anchor="t"/>
          <a:lstStyle/>
          <a:p>
            <a:pPr marL="190500" indent="-190500">
              <a:lnSpc>
                <a:spcPct val="116000"/>
              </a:lnSpc>
              <a:spcAft>
                <a:spcPts val="9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No submission framing yet. The evidence exists.</a:t>
            </a:r>
            <a:endParaRPr lang="en-US" sz="1800" dirty="0"/>
          </a:p>
          <a:p>
            <a:pPr marL="190500" indent="-190500">
              <a:lnSpc>
                <a:spcPct val="116000"/>
              </a:lnSpc>
              <a:spcAft>
                <a:spcPts val="9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No live human validation. Synthetic EEG throughout.</a:t>
            </a:r>
            <a:endParaRPr lang="en-US" sz="1800" dirty="0"/>
          </a:p>
          <a:p>
            <a:pPr marL="190500" indent="-190500">
              <a:lnSpc>
                <a:spcPct val="116000"/>
              </a:lnSpc>
              <a:spcAft>
                <a:spcPts val="9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Our first continuous detector failed. We published it.</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FE5"/>
        </a:solidFill>
      </p:bgPr>
    </p:bg>
    <p:spTree>
      <p:nvGrpSpPr>
        <p:cNvPr id="1" name=""/>
        <p:cNvGrpSpPr/>
        <p:nvPr/>
      </p:nvGrpSpPr>
      <p:grpSpPr>
        <a:xfrm>
          <a:off x="0" y="0"/>
          <a:ext cx="0" cy="0"/>
          <a:chOff x="0" y="0"/>
          <a:chExt cx="0" cy="0"/>
        </a:xfrm>
      </p:grpSpPr>
      <p:sp>
        <p:nvSpPr>
          <p:cNvPr id="3" name="Text 0"/>
          <p:cNvSpPr txBox="1"/>
          <p:nvPr/>
        </p:nvSpPr>
        <p:spPr>
          <a:xfrm>
            <a:off x="603504" y="457200"/>
            <a:ext cx="10981944" cy="310896"/>
          </a:xfrm>
          <a:prstGeom prst="rect">
            <a:avLst/>
          </a:prstGeom>
          <a:noFill/>
          <a:ln/>
        </p:spPr>
        <p:txBody>
          <a:bodyPr wrap="square" lIns="0" tIns="0" rIns="0" bIns="0" rtlCol="0" anchor="ctr"/>
          <a:lstStyle/>
          <a:p>
            <a:pPr indent="0" marL="0">
              <a:buNone/>
            </a:pPr>
            <a:r>
              <a:rPr lang="en-US" sz="1800" b="1" spc="260" kern="0" dirty="0">
                <a:solidFill>
                  <a:srgbClr val="6E685C"/>
                </a:solidFill>
                <a:latin typeface="Century Gothic" pitchFamily="34" charset="0"/>
                <a:ea typeface="Century Gothic" pitchFamily="34" charset="-122"/>
                <a:cs typeface="Century Gothic" pitchFamily="34" charset="-120"/>
              </a:rPr>
              <a:t>WHAT WE DO NOT CLAIM</a:t>
            </a:r>
            <a:endParaRPr lang="en-US" sz="1800" dirty="0"/>
          </a:p>
        </p:txBody>
      </p:sp>
      <p:sp>
        <p:nvSpPr>
          <p:cNvPr id="4" name="Text 1"/>
          <p:cNvSpPr txBox="1"/>
          <p:nvPr/>
        </p:nvSpPr>
        <p:spPr>
          <a:xfrm>
            <a:off x="603504" y="868680"/>
            <a:ext cx="10981944" cy="559613"/>
          </a:xfrm>
          <a:prstGeom prst="rect">
            <a:avLst/>
          </a:prstGeom>
          <a:noFill/>
          <a:ln/>
        </p:spPr>
        <p:txBody>
          <a:bodyPr wrap="square" lIns="0" tIns="0" rIns="0" bIns="0" rtlCol="0" anchor="t"/>
          <a:lstStyle/>
          <a:p>
            <a:pPr indent="0" marL="0">
              <a:lnSpc>
                <a:spcPct val="108000"/>
              </a:lnSpc>
              <a:buNone/>
            </a:pPr>
            <a:r>
              <a:rPr lang="en-US" sz="3400" b="1" dirty="0">
                <a:solidFill>
                  <a:srgbClr val="1A1917"/>
                </a:solidFill>
                <a:latin typeface="Century Gothic" pitchFamily="34" charset="0"/>
                <a:ea typeface="Century Gothic" pitchFamily="34" charset="-122"/>
                <a:cs typeface="Century Gothic" pitchFamily="34" charset="-120"/>
              </a:rPr>
              <a:t>Said first, before anyone asks.</a:t>
            </a:r>
            <a:endParaRPr lang="en-US" sz="3400" dirty="0"/>
          </a:p>
        </p:txBody>
      </p:sp>
      <p:sp>
        <p:nvSpPr>
          <p:cNvPr id="5" name="Shape 2"/>
          <p:cNvSpPr/>
          <p:nvPr/>
        </p:nvSpPr>
        <p:spPr>
          <a:xfrm>
            <a:off x="603504" y="1794053"/>
            <a:ext cx="10981944" cy="768096"/>
          </a:xfrm>
          <a:prstGeom prst="roundRect">
            <a:avLst>
              <a:gd name="adj" fmla="val 11905"/>
            </a:avLst>
          </a:prstGeom>
          <a:solidFill>
            <a:srgbClr val="FBF9F3"/>
          </a:solidFill>
          <a:ln w="12700">
            <a:solidFill>
              <a:srgbClr val="DFD8C6"/>
            </a:solidFill>
            <a:prstDash val="solid"/>
          </a:ln>
        </p:spPr>
      </p:sp>
      <p:sp>
        <p:nvSpPr>
          <p:cNvPr id="6" name="Text 3"/>
          <p:cNvSpPr txBox="1"/>
          <p:nvPr/>
        </p:nvSpPr>
        <p:spPr>
          <a:xfrm>
            <a:off x="804672" y="1995221"/>
            <a:ext cx="3200400" cy="365760"/>
          </a:xfrm>
          <a:prstGeom prst="rect">
            <a:avLst/>
          </a:prstGeom>
          <a:noFill/>
          <a:ln/>
        </p:spPr>
        <p:txBody>
          <a:bodyPr wrap="square" lIns="0" tIns="0" rIns="0" bIns="0" rtlCol="0" anchor="ctr"/>
          <a:lstStyle/>
          <a:p>
            <a:pPr indent="0" marL="0">
              <a:buNone/>
            </a:pPr>
            <a:r>
              <a:rPr lang="en-US" sz="1800" b="1" spc="150" kern="0" dirty="0">
                <a:solidFill>
                  <a:srgbClr val="A44B3C"/>
                </a:solidFill>
                <a:latin typeface="Century Gothic" pitchFamily="34" charset="0"/>
                <a:ea typeface="Century Gothic" pitchFamily="34" charset="-122"/>
                <a:cs typeface="Century Gothic" pitchFamily="34" charset="-120"/>
              </a:rPr>
              <a:t>NO HUMAN DETECTION</a:t>
            </a:r>
            <a:endParaRPr lang="en-US" sz="1800" dirty="0"/>
          </a:p>
        </p:txBody>
      </p:sp>
      <p:sp>
        <p:nvSpPr>
          <p:cNvPr id="7" name="Text 4"/>
          <p:cNvSpPr txBox="1"/>
          <p:nvPr/>
        </p:nvSpPr>
        <p:spPr>
          <a:xfrm>
            <a:off x="4462272" y="1995221"/>
            <a:ext cx="6922008" cy="365760"/>
          </a:xfrm>
          <a:prstGeom prst="rect">
            <a:avLst/>
          </a:prstGeom>
          <a:noFill/>
          <a:ln/>
        </p:spPr>
        <p:txBody>
          <a:bodyPr wrap="square" lIns="0" tIns="0" rIns="0" bIns="0" rtlCol="0" anchor="ctr"/>
          <a:lstStyle/>
          <a:p>
            <a:pPr indent="0" marL="0">
              <a:buNone/>
            </a:pPr>
            <a:r>
              <a:rPr lang="en-US" sz="2000" dirty="0">
                <a:solidFill>
                  <a:srgbClr val="4E4A42"/>
                </a:solidFill>
                <a:latin typeface="Century Gothic" pitchFamily="34" charset="0"/>
                <a:ea typeface="Century Gothic" pitchFamily="34" charset="-122"/>
                <a:cs typeface="Century Gothic" pitchFamily="34" charset="-120"/>
              </a:rPr>
              <a:t>Every end to end run used synthetic EEG.</a:t>
            </a:r>
            <a:endParaRPr lang="en-US" sz="2000" dirty="0"/>
          </a:p>
        </p:txBody>
      </p:sp>
      <p:sp>
        <p:nvSpPr>
          <p:cNvPr id="8" name="Shape 5"/>
          <p:cNvSpPr/>
          <p:nvPr/>
        </p:nvSpPr>
        <p:spPr>
          <a:xfrm>
            <a:off x="603504" y="2699309"/>
            <a:ext cx="10981944" cy="768096"/>
          </a:xfrm>
          <a:prstGeom prst="roundRect">
            <a:avLst>
              <a:gd name="adj" fmla="val 11905"/>
            </a:avLst>
          </a:prstGeom>
          <a:solidFill>
            <a:srgbClr val="FBF9F3"/>
          </a:solidFill>
          <a:ln w="12700">
            <a:solidFill>
              <a:srgbClr val="DFD8C6"/>
            </a:solidFill>
            <a:prstDash val="solid"/>
          </a:ln>
        </p:spPr>
      </p:sp>
      <p:sp>
        <p:nvSpPr>
          <p:cNvPr id="9" name="Text 6"/>
          <p:cNvSpPr txBox="1"/>
          <p:nvPr/>
        </p:nvSpPr>
        <p:spPr>
          <a:xfrm>
            <a:off x="804672" y="2900477"/>
            <a:ext cx="3200400" cy="365760"/>
          </a:xfrm>
          <a:prstGeom prst="rect">
            <a:avLst/>
          </a:prstGeom>
          <a:noFill/>
          <a:ln/>
        </p:spPr>
        <p:txBody>
          <a:bodyPr wrap="square" lIns="0" tIns="0" rIns="0" bIns="0" rtlCol="0" anchor="ctr"/>
          <a:lstStyle/>
          <a:p>
            <a:pPr indent="0" marL="0">
              <a:buNone/>
            </a:pPr>
            <a:r>
              <a:rPr lang="en-US" sz="1800" b="1" spc="150" kern="0" dirty="0">
                <a:solidFill>
                  <a:srgbClr val="A44B3C"/>
                </a:solidFill>
                <a:latin typeface="Century Gothic" pitchFamily="34" charset="0"/>
                <a:ea typeface="Century Gothic" pitchFamily="34" charset="-122"/>
                <a:cs typeface="Century Gothic" pitchFamily="34" charset="-120"/>
              </a:rPr>
              <a:t>NOT A PROBABILITY</a:t>
            </a:r>
            <a:endParaRPr lang="en-US" sz="1800" dirty="0"/>
          </a:p>
        </p:txBody>
      </p:sp>
      <p:sp>
        <p:nvSpPr>
          <p:cNvPr id="10" name="Text 7"/>
          <p:cNvSpPr txBox="1"/>
          <p:nvPr/>
        </p:nvSpPr>
        <p:spPr>
          <a:xfrm>
            <a:off x="4462272" y="2900477"/>
            <a:ext cx="6922008" cy="365760"/>
          </a:xfrm>
          <a:prstGeom prst="rect">
            <a:avLst/>
          </a:prstGeom>
          <a:noFill/>
          <a:ln/>
        </p:spPr>
        <p:txBody>
          <a:bodyPr wrap="square" lIns="0" tIns="0" rIns="0" bIns="0" rtlCol="0" anchor="ctr"/>
          <a:lstStyle/>
          <a:p>
            <a:pPr indent="0" marL="0">
              <a:buNone/>
            </a:pPr>
            <a:r>
              <a:rPr lang="en-US" sz="2000" dirty="0">
                <a:solidFill>
                  <a:srgbClr val="4E4A42"/>
                </a:solidFill>
                <a:latin typeface="Century Gothic" pitchFamily="34" charset="0"/>
                <a:ea typeface="Century Gothic" pitchFamily="34" charset="-122"/>
                <a:cs typeface="Century Gothic" pitchFamily="34" charset="-120"/>
              </a:rPr>
              <a:t>A workload proxy, not a likelihood.</a:t>
            </a:r>
            <a:endParaRPr lang="en-US" sz="2000" dirty="0"/>
          </a:p>
        </p:txBody>
      </p:sp>
      <p:sp>
        <p:nvSpPr>
          <p:cNvPr id="11" name="Shape 8"/>
          <p:cNvSpPr/>
          <p:nvPr/>
        </p:nvSpPr>
        <p:spPr>
          <a:xfrm>
            <a:off x="603504" y="3604565"/>
            <a:ext cx="10981944" cy="768096"/>
          </a:xfrm>
          <a:prstGeom prst="roundRect">
            <a:avLst>
              <a:gd name="adj" fmla="val 11905"/>
            </a:avLst>
          </a:prstGeom>
          <a:solidFill>
            <a:srgbClr val="FBF9F3"/>
          </a:solidFill>
          <a:ln w="12700">
            <a:solidFill>
              <a:srgbClr val="DFD8C6"/>
            </a:solidFill>
            <a:prstDash val="solid"/>
          </a:ln>
        </p:spPr>
      </p:sp>
      <p:sp>
        <p:nvSpPr>
          <p:cNvPr id="12" name="Text 9"/>
          <p:cNvSpPr txBox="1"/>
          <p:nvPr/>
        </p:nvSpPr>
        <p:spPr>
          <a:xfrm>
            <a:off x="804672" y="3805733"/>
            <a:ext cx="3200400" cy="365760"/>
          </a:xfrm>
          <a:prstGeom prst="rect">
            <a:avLst/>
          </a:prstGeom>
          <a:noFill/>
          <a:ln/>
        </p:spPr>
        <p:txBody>
          <a:bodyPr wrap="square" lIns="0" tIns="0" rIns="0" bIns="0" rtlCol="0" anchor="ctr"/>
          <a:lstStyle/>
          <a:p>
            <a:pPr indent="0" marL="0">
              <a:buNone/>
            </a:pPr>
            <a:r>
              <a:rPr lang="en-US" sz="1800" b="1" spc="150" kern="0" dirty="0">
                <a:solidFill>
                  <a:srgbClr val="A44B3C"/>
                </a:solidFill>
                <a:latin typeface="Century Gothic" pitchFamily="34" charset="0"/>
                <a:ea typeface="Century Gothic" pitchFamily="34" charset="-122"/>
                <a:cs typeface="Century Gothic" pitchFamily="34" charset="-120"/>
              </a:rPr>
              <a:t>NOT A DETECTION</a:t>
            </a:r>
            <a:endParaRPr lang="en-US" sz="1800" dirty="0"/>
          </a:p>
        </p:txBody>
      </p:sp>
      <p:sp>
        <p:nvSpPr>
          <p:cNvPr id="13" name="Text 10"/>
          <p:cNvSpPr txBox="1"/>
          <p:nvPr/>
        </p:nvSpPr>
        <p:spPr>
          <a:xfrm>
            <a:off x="4462272" y="3805733"/>
            <a:ext cx="6922008" cy="365760"/>
          </a:xfrm>
          <a:prstGeom prst="rect">
            <a:avLst/>
          </a:prstGeom>
          <a:noFill/>
          <a:ln/>
        </p:spPr>
        <p:txBody>
          <a:bodyPr wrap="square" lIns="0" tIns="0" rIns="0" bIns="0" rtlCol="0" anchor="ctr"/>
          <a:lstStyle/>
          <a:p>
            <a:pPr indent="0" marL="0">
              <a:buNone/>
            </a:pPr>
            <a:r>
              <a:rPr lang="en-US" sz="2000" dirty="0">
                <a:solidFill>
                  <a:srgbClr val="4E4A42"/>
                </a:solidFill>
                <a:latin typeface="Century Gothic" pitchFamily="34" charset="0"/>
                <a:ea typeface="Century Gothic" pitchFamily="34" charset="-122"/>
                <a:cs typeface="Century Gothic" pitchFamily="34" charset="-120"/>
              </a:rPr>
              <a:t>We rank moments. We do not threshold.</a:t>
            </a:r>
            <a:endParaRPr lang="en-US" sz="2000" dirty="0"/>
          </a:p>
        </p:txBody>
      </p:sp>
      <p:sp>
        <p:nvSpPr>
          <p:cNvPr id="14" name="Shape 11"/>
          <p:cNvSpPr/>
          <p:nvPr/>
        </p:nvSpPr>
        <p:spPr>
          <a:xfrm>
            <a:off x="603504" y="4509821"/>
            <a:ext cx="10981944" cy="768096"/>
          </a:xfrm>
          <a:prstGeom prst="roundRect">
            <a:avLst>
              <a:gd name="adj" fmla="val 11905"/>
            </a:avLst>
          </a:prstGeom>
          <a:solidFill>
            <a:srgbClr val="FBF9F3"/>
          </a:solidFill>
          <a:ln w="12700">
            <a:solidFill>
              <a:srgbClr val="DFD8C6"/>
            </a:solidFill>
            <a:prstDash val="solid"/>
          </a:ln>
        </p:spPr>
      </p:sp>
      <p:sp>
        <p:nvSpPr>
          <p:cNvPr id="15" name="Text 12"/>
          <p:cNvSpPr txBox="1"/>
          <p:nvPr/>
        </p:nvSpPr>
        <p:spPr>
          <a:xfrm>
            <a:off x="804672" y="4710989"/>
            <a:ext cx="3200400" cy="365760"/>
          </a:xfrm>
          <a:prstGeom prst="rect">
            <a:avLst/>
          </a:prstGeom>
          <a:noFill/>
          <a:ln/>
        </p:spPr>
        <p:txBody>
          <a:bodyPr wrap="square" lIns="0" tIns="0" rIns="0" bIns="0" rtlCol="0" anchor="ctr"/>
          <a:lstStyle/>
          <a:p>
            <a:pPr indent="0" marL="0">
              <a:buNone/>
            </a:pPr>
            <a:r>
              <a:rPr lang="en-US" sz="1800" b="1" spc="150" kern="0" dirty="0">
                <a:solidFill>
                  <a:srgbClr val="A44B3C"/>
                </a:solidFill>
                <a:latin typeface="Century Gothic" pitchFamily="34" charset="0"/>
                <a:ea typeface="Century Gothic" pitchFamily="34" charset="-122"/>
                <a:cs typeface="Century Gothic" pitchFamily="34" charset="-120"/>
              </a:rPr>
              <a:t>NO EMOTION</a:t>
            </a:r>
            <a:endParaRPr lang="en-US" sz="1800" dirty="0"/>
          </a:p>
        </p:txBody>
      </p:sp>
      <p:sp>
        <p:nvSpPr>
          <p:cNvPr id="16" name="Text 13"/>
          <p:cNvSpPr txBox="1"/>
          <p:nvPr/>
        </p:nvSpPr>
        <p:spPr>
          <a:xfrm>
            <a:off x="4462272" y="4710989"/>
            <a:ext cx="6922008" cy="365760"/>
          </a:xfrm>
          <a:prstGeom prst="rect">
            <a:avLst/>
          </a:prstGeom>
          <a:noFill/>
          <a:ln/>
        </p:spPr>
        <p:txBody>
          <a:bodyPr wrap="square" lIns="0" tIns="0" rIns="0" bIns="0" rtlCol="0" anchor="ctr"/>
          <a:lstStyle/>
          <a:p>
            <a:pPr indent="0" marL="0">
              <a:buNone/>
            </a:pPr>
            <a:r>
              <a:rPr lang="en-US" sz="2000" dirty="0">
                <a:solidFill>
                  <a:srgbClr val="4E4A42"/>
                </a:solidFill>
                <a:latin typeface="Century Gothic" pitchFamily="34" charset="0"/>
                <a:ea typeface="Century Gothic" pitchFamily="34" charset="-122"/>
                <a:cs typeface="Century Gothic" pitchFamily="34" charset="-120"/>
              </a:rPr>
              <a:t>An EEG spike does not name a feeling.</a:t>
            </a:r>
            <a:endParaRPr lang="en-US" sz="2000" dirty="0"/>
          </a:p>
        </p:txBody>
      </p:sp>
      <p:sp>
        <p:nvSpPr>
          <p:cNvPr id="17" name="Shape 14"/>
          <p:cNvSpPr/>
          <p:nvPr/>
        </p:nvSpPr>
        <p:spPr>
          <a:xfrm>
            <a:off x="603504" y="5415077"/>
            <a:ext cx="10981944" cy="768096"/>
          </a:xfrm>
          <a:prstGeom prst="roundRect">
            <a:avLst>
              <a:gd name="adj" fmla="val 11905"/>
            </a:avLst>
          </a:prstGeom>
          <a:solidFill>
            <a:srgbClr val="FBF9F3"/>
          </a:solidFill>
          <a:ln w="12700">
            <a:solidFill>
              <a:srgbClr val="DFD8C6"/>
            </a:solidFill>
            <a:prstDash val="solid"/>
          </a:ln>
        </p:spPr>
      </p:sp>
      <p:sp>
        <p:nvSpPr>
          <p:cNvPr id="18" name="Text 15"/>
          <p:cNvSpPr txBox="1"/>
          <p:nvPr/>
        </p:nvSpPr>
        <p:spPr>
          <a:xfrm>
            <a:off x="804672" y="5616245"/>
            <a:ext cx="3200400" cy="365760"/>
          </a:xfrm>
          <a:prstGeom prst="rect">
            <a:avLst/>
          </a:prstGeom>
          <a:noFill/>
          <a:ln/>
        </p:spPr>
        <p:txBody>
          <a:bodyPr wrap="square" lIns="0" tIns="0" rIns="0" bIns="0" rtlCol="0" anchor="ctr"/>
          <a:lstStyle/>
          <a:p>
            <a:pPr indent="0" marL="0">
              <a:buNone/>
            </a:pPr>
            <a:r>
              <a:rPr lang="en-US" sz="1800" b="1" spc="150" kern="0" dirty="0">
                <a:solidFill>
                  <a:srgbClr val="A44B3C"/>
                </a:solidFill>
                <a:latin typeface="Century Gothic" pitchFamily="34" charset="0"/>
                <a:ea typeface="Century Gothic" pitchFamily="34" charset="-122"/>
                <a:cs typeface="Century Gothic" pitchFamily="34" charset="-120"/>
              </a:rPr>
              <a:t>NO GLASSES</a:t>
            </a:r>
            <a:endParaRPr lang="en-US" sz="1800" dirty="0"/>
          </a:p>
        </p:txBody>
      </p:sp>
      <p:sp>
        <p:nvSpPr>
          <p:cNvPr id="19" name="Text 16"/>
          <p:cNvSpPr txBox="1"/>
          <p:nvPr/>
        </p:nvSpPr>
        <p:spPr>
          <a:xfrm>
            <a:off x="4462272" y="5616245"/>
            <a:ext cx="6922008" cy="365760"/>
          </a:xfrm>
          <a:prstGeom prst="rect">
            <a:avLst/>
          </a:prstGeom>
          <a:noFill/>
          <a:ln/>
        </p:spPr>
        <p:txBody>
          <a:bodyPr wrap="square" lIns="0" tIns="0" rIns="0" bIns="0" rtlCol="0" anchor="ctr"/>
          <a:lstStyle/>
          <a:p>
            <a:pPr indent="0" marL="0">
              <a:buNone/>
            </a:pPr>
            <a:r>
              <a:rPr lang="en-US" sz="2000" dirty="0">
                <a:solidFill>
                  <a:srgbClr val="4E4A42"/>
                </a:solidFill>
                <a:latin typeface="Century Gothic" pitchFamily="34" charset="0"/>
                <a:ea typeface="Century Gothic" pitchFamily="34" charset="-122"/>
                <a:cs typeface="Century Gothic" pitchFamily="34" charset="-120"/>
              </a:rPr>
              <a:t>A phone camera stands in, marked as a demo.</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EFE5"/>
        </a:solidFill>
      </p:bgPr>
    </p:bg>
    <p:spTree>
      <p:nvGrpSpPr>
        <p:cNvPr id="1" name=""/>
        <p:cNvGrpSpPr/>
        <p:nvPr/>
      </p:nvGrpSpPr>
      <p:grpSpPr>
        <a:xfrm>
          <a:off x="0" y="0"/>
          <a:ext cx="0" cy="0"/>
          <a:chOff x="0" y="0"/>
          <a:chExt cx="0" cy="0"/>
        </a:xfrm>
      </p:grpSpPr>
      <p:sp>
        <p:nvSpPr>
          <p:cNvPr id="3" name="Text 0"/>
          <p:cNvSpPr txBox="1"/>
          <p:nvPr/>
        </p:nvSpPr>
        <p:spPr>
          <a:xfrm>
            <a:off x="603504" y="457200"/>
            <a:ext cx="10981944" cy="310896"/>
          </a:xfrm>
          <a:prstGeom prst="rect">
            <a:avLst/>
          </a:prstGeom>
          <a:noFill/>
          <a:ln/>
        </p:spPr>
        <p:txBody>
          <a:bodyPr wrap="square" lIns="0" tIns="0" rIns="0" bIns="0" rtlCol="0" anchor="ctr"/>
          <a:lstStyle/>
          <a:p>
            <a:pPr indent="0" marL="0">
              <a:buNone/>
            </a:pPr>
            <a:r>
              <a:rPr lang="en-US" sz="1800" b="1" spc="260" kern="0" dirty="0">
                <a:solidFill>
                  <a:srgbClr val="6E685C"/>
                </a:solidFill>
                <a:latin typeface="Century Gothic" pitchFamily="34" charset="0"/>
                <a:ea typeface="Century Gothic" pitchFamily="34" charset="-122"/>
                <a:cs typeface="Century Gothic" pitchFamily="34" charset="-120"/>
              </a:rPr>
              <a:t>WHAT IS NEXT</a:t>
            </a:r>
            <a:endParaRPr lang="en-US" sz="1800" dirty="0"/>
          </a:p>
        </p:txBody>
      </p:sp>
      <p:sp>
        <p:nvSpPr>
          <p:cNvPr id="4" name="Text 1"/>
          <p:cNvSpPr txBox="1"/>
          <p:nvPr/>
        </p:nvSpPr>
        <p:spPr>
          <a:xfrm>
            <a:off x="603504" y="841248"/>
            <a:ext cx="10981944" cy="1316736"/>
          </a:xfrm>
          <a:prstGeom prst="rect">
            <a:avLst/>
          </a:prstGeom>
          <a:noFill/>
          <a:ln/>
        </p:spPr>
        <p:txBody>
          <a:bodyPr wrap="square" lIns="0" tIns="0" rIns="0" bIns="0" rtlCol="0" anchor="t"/>
          <a:lstStyle/>
          <a:p>
            <a:pPr indent="0" marL="0">
              <a:lnSpc>
                <a:spcPct val="108000"/>
              </a:lnSpc>
              <a:buNone/>
            </a:pPr>
            <a:r>
              <a:rPr lang="en-US" sz="4000" b="1" dirty="0">
                <a:solidFill>
                  <a:srgbClr val="1A1917"/>
                </a:solidFill>
                <a:latin typeface="Century Gothic" pitchFamily="34" charset="0"/>
                <a:ea typeface="Century Gothic" pitchFamily="34" charset="-122"/>
                <a:cs typeface="Century Gothic" pitchFamily="34" charset="-120"/>
              </a:rPr>
              <a:t>EEG is non stationary.</a:t>
            </a:r>
            <a:endParaRPr lang="en-US" sz="4000" dirty="0"/>
          </a:p>
          <a:p>
            <a:pPr indent="0" marL="0">
              <a:lnSpc>
                <a:spcPct val="108000"/>
              </a:lnSpc>
              <a:buNone/>
            </a:pPr>
            <a:r>
              <a:rPr lang="en-US" sz="4000" b="1" dirty="0">
                <a:solidFill>
                  <a:srgbClr val="1A1917"/>
                </a:solidFill>
                <a:latin typeface="Century Gothic" pitchFamily="34" charset="0"/>
                <a:ea typeface="Century Gothic" pitchFamily="34" charset="-122"/>
                <a:cs typeface="Century Gothic" pitchFamily="34" charset="-120"/>
              </a:rPr>
              <a:t>So the model has to keep learning.</a:t>
            </a:r>
            <a:endParaRPr lang="en-US" sz="4000" dirty="0"/>
          </a:p>
        </p:txBody>
      </p:sp>
      <p:sp>
        <p:nvSpPr>
          <p:cNvPr id="5" name="Text 2"/>
          <p:cNvSpPr txBox="1"/>
          <p:nvPr/>
        </p:nvSpPr>
        <p:spPr>
          <a:xfrm>
            <a:off x="603504" y="2414016"/>
            <a:ext cx="9509760" cy="2078736"/>
          </a:xfrm>
          <a:prstGeom prst="rect">
            <a:avLst/>
          </a:prstGeom>
          <a:noFill/>
          <a:ln/>
        </p:spPr>
        <p:txBody>
          <a:bodyPr wrap="square" lIns="0" tIns="0" rIns="0" bIns="0" rtlCol="0" anchor="ctr"/>
          <a:lstStyle/>
          <a:p>
            <a:pPr indent="0" marL="0">
              <a:lnSpc>
                <a:spcPct val="124000"/>
              </a:lnSpc>
              <a:buNone/>
            </a:pPr>
            <a:r>
              <a:rPr lang="en-US" sz="2200" dirty="0">
                <a:solidFill>
                  <a:srgbClr val="4E4A42"/>
                </a:solidFill>
                <a:latin typeface="Century Gothic" pitchFamily="34" charset="0"/>
                <a:ea typeface="Century Gothic" pitchFamily="34" charset="-122"/>
                <a:cs typeface="Century Gothic" pitchFamily="34" charset="-120"/>
              </a:rPr>
              <a:t>Spatial filters are tied to electrode positions, so weights never transfer between people. Retraining on the wearer is mandatory, which is why per user adaptation is the product and not a setup step. Every moment you confirm or dismiss is a label.</a:t>
            </a:r>
            <a:endParaRPr lang="en-US" sz="2200" dirty="0"/>
          </a:p>
        </p:txBody>
      </p:sp>
      <p:sp>
        <p:nvSpPr>
          <p:cNvPr id="6" name="Shape 3"/>
          <p:cNvSpPr/>
          <p:nvPr/>
        </p:nvSpPr>
        <p:spPr>
          <a:xfrm>
            <a:off x="603504" y="4858512"/>
            <a:ext cx="2471166" cy="1214323"/>
          </a:xfrm>
          <a:prstGeom prst="roundRect">
            <a:avLst>
              <a:gd name="adj" fmla="val 7530"/>
            </a:avLst>
          </a:prstGeom>
          <a:solidFill>
            <a:srgbClr val="FBF9F3"/>
          </a:solidFill>
          <a:ln w="12700">
            <a:solidFill>
              <a:srgbClr val="DFD8C6"/>
            </a:solidFill>
            <a:prstDash val="solid"/>
          </a:ln>
        </p:spPr>
      </p:sp>
      <p:sp>
        <p:nvSpPr>
          <p:cNvPr id="7" name="Text 4"/>
          <p:cNvSpPr txBox="1"/>
          <p:nvPr/>
        </p:nvSpPr>
        <p:spPr>
          <a:xfrm>
            <a:off x="841248" y="5141976"/>
            <a:ext cx="1995678" cy="647395"/>
          </a:xfrm>
          <a:prstGeom prst="rect">
            <a:avLst/>
          </a:prstGeom>
          <a:noFill/>
          <a:ln/>
        </p:spPr>
        <p:txBody>
          <a:bodyPr wrap="square" lIns="0" tIns="0" rIns="0" bIns="0" rtlCol="0" anchor="ctr"/>
          <a:lstStyle/>
          <a:p>
            <a:pPr indent="0" marL="0">
              <a:lnSpc>
                <a:spcPct val="118000"/>
              </a:lnSpc>
              <a:buNone/>
            </a:pPr>
            <a:r>
              <a:rPr lang="en-US" sz="1800" dirty="0">
                <a:solidFill>
                  <a:srgbClr val="7A6430"/>
                </a:solidFill>
                <a:latin typeface="Century Gothic" pitchFamily="34" charset="0"/>
                <a:ea typeface="Century Gothic" pitchFamily="34" charset="-122"/>
                <a:cs typeface="Century Gothic" pitchFamily="34" charset="-120"/>
              </a:rPr>
              <a:t>Connect the Crown</a:t>
            </a:r>
            <a:endParaRPr lang="en-US" sz="1800" dirty="0"/>
          </a:p>
        </p:txBody>
      </p:sp>
      <p:sp>
        <p:nvSpPr>
          <p:cNvPr id="8" name="Shape 5"/>
          <p:cNvSpPr/>
          <p:nvPr/>
        </p:nvSpPr>
        <p:spPr>
          <a:xfrm>
            <a:off x="3440430" y="4858512"/>
            <a:ext cx="2471166" cy="1214323"/>
          </a:xfrm>
          <a:prstGeom prst="roundRect">
            <a:avLst>
              <a:gd name="adj" fmla="val 7530"/>
            </a:avLst>
          </a:prstGeom>
          <a:solidFill>
            <a:srgbClr val="FBF9F3"/>
          </a:solidFill>
          <a:ln w="12700">
            <a:solidFill>
              <a:srgbClr val="DFD8C6"/>
            </a:solidFill>
            <a:prstDash val="solid"/>
          </a:ln>
        </p:spPr>
      </p:sp>
      <p:sp>
        <p:nvSpPr>
          <p:cNvPr id="9" name="Text 6"/>
          <p:cNvSpPr txBox="1"/>
          <p:nvPr/>
        </p:nvSpPr>
        <p:spPr>
          <a:xfrm>
            <a:off x="3678174" y="5141976"/>
            <a:ext cx="1995678" cy="647395"/>
          </a:xfrm>
          <a:prstGeom prst="rect">
            <a:avLst/>
          </a:prstGeom>
          <a:noFill/>
          <a:ln/>
        </p:spPr>
        <p:txBody>
          <a:bodyPr wrap="square" lIns="0" tIns="0" rIns="0" bIns="0" rtlCol="0" anchor="ctr"/>
          <a:lstStyle/>
          <a:p>
            <a:pPr indent="0" marL="0">
              <a:lnSpc>
                <a:spcPct val="118000"/>
              </a:lnSpc>
              <a:buNone/>
            </a:pPr>
            <a:r>
              <a:rPr lang="en-US" sz="1800" dirty="0">
                <a:solidFill>
                  <a:srgbClr val="7A6430"/>
                </a:solidFill>
                <a:latin typeface="Century Gothic" pitchFamily="34" charset="0"/>
                <a:ea typeface="Century Gothic" pitchFamily="34" charset="-122"/>
                <a:cs typeface="Century Gothic" pitchFamily="34" charset="-120"/>
              </a:rPr>
              <a:t>Rolling pre spike buffer</a:t>
            </a:r>
            <a:endParaRPr lang="en-US" sz="1800" dirty="0"/>
          </a:p>
        </p:txBody>
      </p:sp>
      <p:sp>
        <p:nvSpPr>
          <p:cNvPr id="10" name="Shape 7"/>
          <p:cNvSpPr/>
          <p:nvPr/>
        </p:nvSpPr>
        <p:spPr>
          <a:xfrm>
            <a:off x="6277356" y="4858512"/>
            <a:ext cx="2471166" cy="1214323"/>
          </a:xfrm>
          <a:prstGeom prst="roundRect">
            <a:avLst>
              <a:gd name="adj" fmla="val 7530"/>
            </a:avLst>
          </a:prstGeom>
          <a:solidFill>
            <a:srgbClr val="FBF9F3"/>
          </a:solidFill>
          <a:ln w="12700">
            <a:solidFill>
              <a:srgbClr val="DFD8C6"/>
            </a:solidFill>
            <a:prstDash val="solid"/>
          </a:ln>
        </p:spPr>
      </p:sp>
      <p:sp>
        <p:nvSpPr>
          <p:cNvPr id="11" name="Text 8"/>
          <p:cNvSpPr txBox="1"/>
          <p:nvPr/>
        </p:nvSpPr>
        <p:spPr>
          <a:xfrm>
            <a:off x="6515100" y="5141976"/>
            <a:ext cx="1995678" cy="647395"/>
          </a:xfrm>
          <a:prstGeom prst="rect">
            <a:avLst/>
          </a:prstGeom>
          <a:noFill/>
          <a:ln/>
        </p:spPr>
        <p:txBody>
          <a:bodyPr wrap="square" lIns="0" tIns="0" rIns="0" bIns="0" rtlCol="0" anchor="ctr"/>
          <a:lstStyle/>
          <a:p>
            <a:pPr indent="0" marL="0">
              <a:lnSpc>
                <a:spcPct val="118000"/>
              </a:lnSpc>
              <a:buNone/>
            </a:pPr>
            <a:r>
              <a:rPr lang="en-US" sz="1800" dirty="0">
                <a:solidFill>
                  <a:srgbClr val="7A6430"/>
                </a:solidFill>
                <a:latin typeface="Century Gothic" pitchFamily="34" charset="0"/>
                <a:ea typeface="Century Gothic" pitchFamily="34" charset="-122"/>
                <a:cs typeface="Century Gothic" pitchFamily="34" charset="-120"/>
              </a:rPr>
              <a:t>MongoDB metadata layer</a:t>
            </a:r>
            <a:endParaRPr lang="en-US" sz="1800" dirty="0"/>
          </a:p>
        </p:txBody>
      </p:sp>
      <p:sp>
        <p:nvSpPr>
          <p:cNvPr id="12" name="Shape 9"/>
          <p:cNvSpPr/>
          <p:nvPr/>
        </p:nvSpPr>
        <p:spPr>
          <a:xfrm>
            <a:off x="9114282" y="4858512"/>
            <a:ext cx="2471166" cy="1214323"/>
          </a:xfrm>
          <a:prstGeom prst="roundRect">
            <a:avLst>
              <a:gd name="adj" fmla="val 7530"/>
            </a:avLst>
          </a:prstGeom>
          <a:solidFill>
            <a:srgbClr val="FBF9F3"/>
          </a:solidFill>
          <a:ln w="12700">
            <a:solidFill>
              <a:srgbClr val="DFD8C6"/>
            </a:solidFill>
            <a:prstDash val="solid"/>
          </a:ln>
        </p:spPr>
      </p:sp>
      <p:sp>
        <p:nvSpPr>
          <p:cNvPr id="13" name="Text 10"/>
          <p:cNvSpPr txBox="1"/>
          <p:nvPr/>
        </p:nvSpPr>
        <p:spPr>
          <a:xfrm>
            <a:off x="9352026" y="5141976"/>
            <a:ext cx="1995678" cy="647395"/>
          </a:xfrm>
          <a:prstGeom prst="rect">
            <a:avLst/>
          </a:prstGeom>
          <a:noFill/>
          <a:ln/>
        </p:spPr>
        <p:txBody>
          <a:bodyPr wrap="square" lIns="0" tIns="0" rIns="0" bIns="0" rtlCol="0" anchor="ctr"/>
          <a:lstStyle/>
          <a:p>
            <a:pPr indent="0" marL="0">
              <a:lnSpc>
                <a:spcPct val="118000"/>
              </a:lnSpc>
              <a:buNone/>
            </a:pPr>
            <a:r>
              <a:rPr lang="en-US" sz="1800" dirty="0">
                <a:solidFill>
                  <a:srgbClr val="7A6430"/>
                </a:solidFill>
                <a:latin typeface="Century Gothic" pitchFamily="34" charset="0"/>
                <a:ea typeface="Century Gothic" pitchFamily="34" charset="-122"/>
                <a:cs typeface="Century Gothic" pitchFamily="34" charset="-120"/>
              </a:rPr>
              <a:t>Learning curve vs data</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EFE5"/>
        </a:solidFill>
      </p:bgPr>
    </p:bg>
    <p:spTree>
      <p:nvGrpSpPr>
        <p:cNvPr id="1" name=""/>
        <p:cNvGrpSpPr/>
        <p:nvPr/>
      </p:nvGrpSpPr>
      <p:grpSpPr>
        <a:xfrm>
          <a:off x="0" y="0"/>
          <a:ext cx="0" cy="0"/>
          <a:chOff x="0" y="0"/>
          <a:chExt cx="0" cy="0"/>
        </a:xfrm>
      </p:grpSpPr>
      <p:sp>
        <p:nvSpPr>
          <p:cNvPr id="3" name="Text 0"/>
          <p:cNvSpPr txBox="1"/>
          <p:nvPr/>
        </p:nvSpPr>
        <p:spPr>
          <a:xfrm>
            <a:off x="603504" y="457200"/>
            <a:ext cx="10981944" cy="310896"/>
          </a:xfrm>
          <a:prstGeom prst="rect">
            <a:avLst/>
          </a:prstGeom>
          <a:noFill/>
          <a:ln/>
        </p:spPr>
        <p:txBody>
          <a:bodyPr wrap="square" lIns="0" tIns="0" rIns="0" bIns="0" rtlCol="0" anchor="ctr"/>
          <a:lstStyle/>
          <a:p>
            <a:pPr indent="0" marL="0">
              <a:buNone/>
            </a:pPr>
            <a:r>
              <a:rPr lang="en-US" sz="1800" b="1" spc="260" kern="0" dirty="0">
                <a:solidFill>
                  <a:srgbClr val="6E685C"/>
                </a:solidFill>
                <a:latin typeface="Century Gothic" pitchFamily="34" charset="0"/>
                <a:ea typeface="Century Gothic" pitchFamily="34" charset="-122"/>
                <a:cs typeface="Century Gothic" pitchFamily="34" charset="-120"/>
              </a:rPr>
              <a:t>APPENDIX     WHAT ACTUALLY RUNS</a:t>
            </a:r>
            <a:endParaRPr lang="en-US" sz="1800" dirty="0"/>
          </a:p>
        </p:txBody>
      </p:sp>
      <p:sp>
        <p:nvSpPr>
          <p:cNvPr id="4" name="Text 1"/>
          <p:cNvSpPr txBox="1"/>
          <p:nvPr/>
        </p:nvSpPr>
        <p:spPr>
          <a:xfrm>
            <a:off x="603504" y="868680"/>
            <a:ext cx="10981944" cy="1119226"/>
          </a:xfrm>
          <a:prstGeom prst="rect">
            <a:avLst/>
          </a:prstGeom>
          <a:noFill/>
          <a:ln/>
        </p:spPr>
        <p:txBody>
          <a:bodyPr wrap="square" lIns="0" tIns="0" rIns="0" bIns="0" rtlCol="0" anchor="t"/>
          <a:lstStyle/>
          <a:p>
            <a:pPr indent="0" marL="0">
              <a:lnSpc>
                <a:spcPct val="108000"/>
              </a:lnSpc>
              <a:buNone/>
            </a:pPr>
            <a:r>
              <a:rPr lang="en-US" sz="3400" b="1" dirty="0">
                <a:solidFill>
                  <a:srgbClr val="1A1917"/>
                </a:solidFill>
                <a:latin typeface="Century Gothic" pitchFamily="34" charset="0"/>
                <a:ea typeface="Century Gothic" pitchFamily="34" charset="-122"/>
                <a:cs typeface="Century Gothic" pitchFamily="34" charset="-120"/>
              </a:rPr>
              <a:t>Three processes, and no direct</a:t>
            </a:r>
            <a:endParaRPr lang="en-US" sz="3400" dirty="0"/>
          </a:p>
          <a:p>
            <a:pPr indent="0" marL="0">
              <a:lnSpc>
                <a:spcPct val="108000"/>
              </a:lnSpc>
              <a:buNone/>
            </a:pPr>
            <a:r>
              <a:rPr lang="en-US" sz="3400" b="1" dirty="0">
                <a:solidFill>
                  <a:srgbClr val="1A1917"/>
                </a:solidFill>
                <a:latin typeface="Century Gothic" pitchFamily="34" charset="0"/>
                <a:ea typeface="Century Gothic" pitchFamily="34" charset="-122"/>
                <a:cs typeface="Century Gothic" pitchFamily="34" charset="-120"/>
              </a:rPr>
              <a:t>phone to browser link.</a:t>
            </a:r>
            <a:endParaRPr lang="en-US" sz="3400" dirty="0"/>
          </a:p>
        </p:txBody>
      </p:sp>
      <p:sp>
        <p:nvSpPr>
          <p:cNvPr id="5" name="Shape 2"/>
          <p:cNvSpPr/>
          <p:nvPr/>
        </p:nvSpPr>
        <p:spPr>
          <a:xfrm>
            <a:off x="603504" y="2445106"/>
            <a:ext cx="3282696" cy="1488034"/>
          </a:xfrm>
          <a:prstGeom prst="roundRect">
            <a:avLst>
              <a:gd name="adj" fmla="val 6145"/>
            </a:avLst>
          </a:prstGeom>
          <a:solidFill>
            <a:srgbClr val="FBF9F3"/>
          </a:solidFill>
          <a:ln w="12700">
            <a:solidFill>
              <a:srgbClr val="DFD8C6"/>
            </a:solidFill>
            <a:prstDash val="solid"/>
          </a:ln>
        </p:spPr>
      </p:sp>
      <p:sp>
        <p:nvSpPr>
          <p:cNvPr id="6" name="Text 3"/>
          <p:cNvSpPr txBox="1"/>
          <p:nvPr/>
        </p:nvSpPr>
        <p:spPr>
          <a:xfrm>
            <a:off x="841248" y="2774290"/>
            <a:ext cx="2807208" cy="341376"/>
          </a:xfrm>
          <a:prstGeom prst="rect">
            <a:avLst/>
          </a:prstGeom>
          <a:noFill/>
          <a:ln/>
        </p:spPr>
        <p:txBody>
          <a:bodyPr wrap="square" lIns="0" tIns="0" rIns="0" bIns="0" rtlCol="0" anchor="ctr"/>
          <a:lstStyle/>
          <a:p>
            <a:pPr indent="0" marL="0">
              <a:lnSpc>
                <a:spcPct val="112000"/>
              </a:lnSpc>
              <a:buNone/>
            </a:pPr>
            <a:r>
              <a:rPr lang="en-US" sz="2000" b="1" dirty="0">
                <a:solidFill>
                  <a:srgbClr val="1A1917"/>
                </a:solidFill>
                <a:latin typeface="Century Gothic" pitchFamily="34" charset="0"/>
                <a:ea typeface="Century Gothic" pitchFamily="34" charset="-122"/>
                <a:cs typeface="Century Gothic" pitchFamily="34" charset="-120"/>
              </a:rPr>
              <a:t>MemoryPalace web</a:t>
            </a:r>
            <a:endParaRPr lang="en-US" sz="2000" dirty="0"/>
          </a:p>
        </p:txBody>
      </p:sp>
      <p:sp>
        <p:nvSpPr>
          <p:cNvPr id="7" name="Text 4"/>
          <p:cNvSpPr txBox="1"/>
          <p:nvPr/>
        </p:nvSpPr>
        <p:spPr>
          <a:xfrm>
            <a:off x="841248" y="3280258"/>
            <a:ext cx="2807208" cy="323698"/>
          </a:xfrm>
          <a:prstGeom prst="rect">
            <a:avLst/>
          </a:prstGeom>
          <a:noFill/>
          <a:ln/>
        </p:spPr>
        <p:txBody>
          <a:bodyPr wrap="square" lIns="0" tIns="0" rIns="0" bIns="0" rtlCol="0" anchor="ctr"/>
          <a:lstStyle/>
          <a:p>
            <a:pPr indent="0" marL="0">
              <a:lnSpc>
                <a:spcPct val="118000"/>
              </a:lnSpc>
              <a:buNone/>
            </a:pPr>
            <a:r>
              <a:rPr lang="en-US" sz="1800" dirty="0">
                <a:solidFill>
                  <a:srgbClr val="6E685C"/>
                </a:solidFill>
                <a:latin typeface="Century Gothic" pitchFamily="34" charset="0"/>
                <a:ea typeface="Century Gothic" pitchFamily="34" charset="-122"/>
                <a:cs typeface="Century Gothic" pitchFamily="34" charset="-120"/>
              </a:rPr>
              <a:t>Next.js 16, React 19</a:t>
            </a:r>
            <a:endParaRPr lang="en-US" sz="1800" dirty="0"/>
          </a:p>
        </p:txBody>
      </p:sp>
      <p:sp>
        <p:nvSpPr>
          <p:cNvPr id="8" name="Shape 5"/>
          <p:cNvSpPr/>
          <p:nvPr/>
        </p:nvSpPr>
        <p:spPr>
          <a:xfrm rot="5400000">
            <a:off x="4087368" y="3083966"/>
            <a:ext cx="164592" cy="210312"/>
          </a:xfrm>
          <a:prstGeom prst="triangle">
            <a:avLst/>
          </a:prstGeom>
          <a:solidFill>
            <a:srgbClr val="8B8378"/>
          </a:solidFill>
          <a:ln w="12700">
            <a:solidFill>
              <a:srgbClr val="8B8378"/>
            </a:solidFill>
            <a:prstDash val="solid"/>
          </a:ln>
        </p:spPr>
      </p:sp>
      <p:sp>
        <p:nvSpPr>
          <p:cNvPr id="9" name="Shape 6"/>
          <p:cNvSpPr/>
          <p:nvPr/>
        </p:nvSpPr>
        <p:spPr>
          <a:xfrm>
            <a:off x="4453128" y="2445106"/>
            <a:ext cx="3282696" cy="1488034"/>
          </a:xfrm>
          <a:prstGeom prst="roundRect">
            <a:avLst>
              <a:gd name="adj" fmla="val 6145"/>
            </a:avLst>
          </a:prstGeom>
          <a:solidFill>
            <a:srgbClr val="F7EFDA"/>
          </a:solidFill>
          <a:ln w="12700">
            <a:solidFill>
              <a:srgbClr val="B49A5C"/>
            </a:solidFill>
            <a:prstDash val="solid"/>
          </a:ln>
        </p:spPr>
      </p:sp>
      <p:sp>
        <p:nvSpPr>
          <p:cNvPr id="10" name="Text 7"/>
          <p:cNvSpPr txBox="1"/>
          <p:nvPr/>
        </p:nvSpPr>
        <p:spPr>
          <a:xfrm>
            <a:off x="4690872" y="2774290"/>
            <a:ext cx="2807208" cy="341376"/>
          </a:xfrm>
          <a:prstGeom prst="rect">
            <a:avLst/>
          </a:prstGeom>
          <a:noFill/>
          <a:ln/>
        </p:spPr>
        <p:txBody>
          <a:bodyPr wrap="square" lIns="0" tIns="0" rIns="0" bIns="0" rtlCol="0" anchor="ctr"/>
          <a:lstStyle/>
          <a:p>
            <a:pPr indent="0" marL="0">
              <a:lnSpc>
                <a:spcPct val="112000"/>
              </a:lnSpc>
              <a:buNone/>
            </a:pPr>
            <a:r>
              <a:rPr lang="en-US" sz="2000" b="1" dirty="0">
                <a:solidFill>
                  <a:srgbClr val="7A6430"/>
                </a:solidFill>
                <a:latin typeface="Century Gothic" pitchFamily="34" charset="0"/>
                <a:ea typeface="Century Gothic" pitchFamily="34" charset="-122"/>
                <a:cs typeface="Century Gothic" pitchFamily="34" charset="-120"/>
              </a:rPr>
              <a:t>Python backend</a:t>
            </a:r>
            <a:endParaRPr lang="en-US" sz="2000" dirty="0"/>
          </a:p>
        </p:txBody>
      </p:sp>
      <p:sp>
        <p:nvSpPr>
          <p:cNvPr id="11" name="Text 8"/>
          <p:cNvSpPr txBox="1"/>
          <p:nvPr/>
        </p:nvSpPr>
        <p:spPr>
          <a:xfrm>
            <a:off x="4690872" y="3280258"/>
            <a:ext cx="2807208" cy="323698"/>
          </a:xfrm>
          <a:prstGeom prst="rect">
            <a:avLst/>
          </a:prstGeom>
          <a:noFill/>
          <a:ln/>
        </p:spPr>
        <p:txBody>
          <a:bodyPr wrap="square" lIns="0" tIns="0" rIns="0" bIns="0" rtlCol="0" anchor="ctr"/>
          <a:lstStyle/>
          <a:p>
            <a:pPr indent="0" marL="0">
              <a:lnSpc>
                <a:spcPct val="118000"/>
              </a:lnSpc>
              <a:buNone/>
            </a:pPr>
            <a:r>
              <a:rPr lang="en-US" sz="1800" dirty="0">
                <a:solidFill>
                  <a:srgbClr val="6E685C"/>
                </a:solidFill>
                <a:latin typeface="Century Gothic" pitchFamily="34" charset="0"/>
                <a:ea typeface="Century Gothic" pitchFamily="34" charset="-122"/>
                <a:cs typeface="Century Gothic" pitchFamily="34" charset="-120"/>
              </a:rPr>
              <a:t>laptop, on the LAN</a:t>
            </a:r>
            <a:endParaRPr lang="en-US" sz="1800" dirty="0"/>
          </a:p>
        </p:txBody>
      </p:sp>
      <p:sp>
        <p:nvSpPr>
          <p:cNvPr id="12" name="Shape 9"/>
          <p:cNvSpPr/>
          <p:nvPr/>
        </p:nvSpPr>
        <p:spPr>
          <a:xfrm rot="5400000">
            <a:off x="7936992" y="3083966"/>
            <a:ext cx="164592" cy="210312"/>
          </a:xfrm>
          <a:prstGeom prst="triangle">
            <a:avLst/>
          </a:prstGeom>
          <a:solidFill>
            <a:srgbClr val="8B8378"/>
          </a:solidFill>
          <a:ln w="12700">
            <a:solidFill>
              <a:srgbClr val="8B8378"/>
            </a:solidFill>
            <a:prstDash val="solid"/>
          </a:ln>
        </p:spPr>
      </p:sp>
      <p:sp>
        <p:nvSpPr>
          <p:cNvPr id="13" name="Shape 10"/>
          <p:cNvSpPr/>
          <p:nvPr/>
        </p:nvSpPr>
        <p:spPr>
          <a:xfrm>
            <a:off x="8302752" y="2445106"/>
            <a:ext cx="3282696" cy="1488034"/>
          </a:xfrm>
          <a:prstGeom prst="roundRect">
            <a:avLst>
              <a:gd name="adj" fmla="val 6145"/>
            </a:avLst>
          </a:prstGeom>
          <a:solidFill>
            <a:srgbClr val="FBF9F3"/>
          </a:solidFill>
          <a:ln w="12700">
            <a:solidFill>
              <a:srgbClr val="DFD8C6"/>
            </a:solidFill>
            <a:prstDash val="solid"/>
          </a:ln>
        </p:spPr>
      </p:sp>
      <p:sp>
        <p:nvSpPr>
          <p:cNvPr id="14" name="Text 11"/>
          <p:cNvSpPr txBox="1"/>
          <p:nvPr/>
        </p:nvSpPr>
        <p:spPr>
          <a:xfrm>
            <a:off x="8540496" y="2774290"/>
            <a:ext cx="2807208" cy="341376"/>
          </a:xfrm>
          <a:prstGeom prst="rect">
            <a:avLst/>
          </a:prstGeom>
          <a:noFill/>
          <a:ln/>
        </p:spPr>
        <p:txBody>
          <a:bodyPr wrap="square" lIns="0" tIns="0" rIns="0" bIns="0" rtlCol="0" anchor="ctr"/>
          <a:lstStyle/>
          <a:p>
            <a:pPr indent="0" marL="0">
              <a:lnSpc>
                <a:spcPct val="112000"/>
              </a:lnSpc>
              <a:buNone/>
            </a:pPr>
            <a:r>
              <a:rPr lang="en-US" sz="2000" b="1" dirty="0">
                <a:solidFill>
                  <a:srgbClr val="1A1917"/>
                </a:solidFill>
                <a:latin typeface="Century Gothic" pitchFamily="34" charset="0"/>
                <a:ea typeface="Century Gothic" pitchFamily="34" charset="-122"/>
                <a:cs typeface="Century Gothic" pitchFamily="34" charset="-120"/>
              </a:rPr>
              <a:t>Android client</a:t>
            </a:r>
            <a:endParaRPr lang="en-US" sz="2000" dirty="0"/>
          </a:p>
        </p:txBody>
      </p:sp>
      <p:sp>
        <p:nvSpPr>
          <p:cNvPr id="15" name="Text 12"/>
          <p:cNvSpPr txBox="1"/>
          <p:nvPr/>
        </p:nvSpPr>
        <p:spPr>
          <a:xfrm>
            <a:off x="8540496" y="3280258"/>
            <a:ext cx="2807208" cy="323698"/>
          </a:xfrm>
          <a:prstGeom prst="rect">
            <a:avLst/>
          </a:prstGeom>
          <a:noFill/>
          <a:ln/>
        </p:spPr>
        <p:txBody>
          <a:bodyPr wrap="square" lIns="0" tIns="0" rIns="0" bIns="0" rtlCol="0" anchor="ctr"/>
          <a:lstStyle/>
          <a:p>
            <a:pPr indent="0" marL="0">
              <a:lnSpc>
                <a:spcPct val="118000"/>
              </a:lnSpc>
              <a:buNone/>
            </a:pPr>
            <a:r>
              <a:rPr lang="en-US" sz="1800" dirty="0">
                <a:solidFill>
                  <a:srgbClr val="6E685C"/>
                </a:solidFill>
                <a:latin typeface="Century Gothic" pitchFamily="34" charset="0"/>
                <a:ea typeface="Century Gothic" pitchFamily="34" charset="-122"/>
                <a:cs typeface="Century Gothic" pitchFamily="34" charset="-120"/>
              </a:rPr>
              <a:t>camera off when idle</a:t>
            </a:r>
            <a:endParaRPr lang="en-US" sz="1800" dirty="0"/>
          </a:p>
        </p:txBody>
      </p:sp>
      <p:sp>
        <p:nvSpPr>
          <p:cNvPr id="16" name="Shape 13"/>
          <p:cNvSpPr/>
          <p:nvPr/>
        </p:nvSpPr>
        <p:spPr>
          <a:xfrm>
            <a:off x="6094476" y="4042867"/>
            <a:ext cx="0" cy="384048"/>
          </a:xfrm>
          <a:prstGeom prst="line">
            <a:avLst/>
          </a:prstGeom>
          <a:noFill/>
          <a:ln w="19050">
            <a:solidFill>
              <a:srgbClr val="8B8378"/>
            </a:solidFill>
            <a:prstDash val="solid"/>
            <a:headEnd type="triangle"/>
          </a:ln>
        </p:spPr>
      </p:sp>
      <p:sp>
        <p:nvSpPr>
          <p:cNvPr id="17" name="Shape 14"/>
          <p:cNvSpPr/>
          <p:nvPr/>
        </p:nvSpPr>
        <p:spPr>
          <a:xfrm>
            <a:off x="4453128" y="4500067"/>
            <a:ext cx="3282696" cy="1720291"/>
          </a:xfrm>
          <a:prstGeom prst="roundRect">
            <a:avLst>
              <a:gd name="adj" fmla="val 5315"/>
            </a:avLst>
          </a:prstGeom>
          <a:solidFill>
            <a:srgbClr val="FBF9F3"/>
          </a:solidFill>
          <a:ln w="12700">
            <a:solidFill>
              <a:srgbClr val="DFD8C6"/>
            </a:solidFill>
            <a:prstDash val="solid"/>
          </a:ln>
        </p:spPr>
      </p:sp>
      <p:sp>
        <p:nvSpPr>
          <p:cNvPr id="18" name="Text 15"/>
          <p:cNvSpPr txBox="1"/>
          <p:nvPr/>
        </p:nvSpPr>
        <p:spPr>
          <a:xfrm>
            <a:off x="4690872" y="4792675"/>
            <a:ext cx="2807208" cy="341376"/>
          </a:xfrm>
          <a:prstGeom prst="rect">
            <a:avLst/>
          </a:prstGeom>
          <a:noFill/>
          <a:ln/>
        </p:spPr>
        <p:txBody>
          <a:bodyPr wrap="square" lIns="0" tIns="0" rIns="0" bIns="0" rtlCol="0" anchor="ctr"/>
          <a:lstStyle/>
          <a:p>
            <a:pPr indent="0" marL="0">
              <a:lnSpc>
                <a:spcPct val="112000"/>
              </a:lnSpc>
              <a:buNone/>
            </a:pPr>
            <a:r>
              <a:rPr lang="en-US" sz="2000" b="1" dirty="0">
                <a:solidFill>
                  <a:srgbClr val="1A1917"/>
                </a:solidFill>
                <a:latin typeface="Century Gothic" pitchFamily="34" charset="0"/>
                <a:ea typeface="Century Gothic" pitchFamily="34" charset="-122"/>
                <a:cs typeface="Century Gothic" pitchFamily="34" charset="-120"/>
              </a:rPr>
              <a:t>EEG stream</a:t>
            </a:r>
            <a:endParaRPr lang="en-US" sz="2000" dirty="0"/>
          </a:p>
        </p:txBody>
      </p:sp>
      <p:sp>
        <p:nvSpPr>
          <p:cNvPr id="19" name="Text 16"/>
          <p:cNvSpPr txBox="1"/>
          <p:nvPr/>
        </p:nvSpPr>
        <p:spPr>
          <a:xfrm>
            <a:off x="4690872" y="5280355"/>
            <a:ext cx="2807208" cy="647395"/>
          </a:xfrm>
          <a:prstGeom prst="rect">
            <a:avLst/>
          </a:prstGeom>
          <a:noFill/>
          <a:ln/>
        </p:spPr>
        <p:txBody>
          <a:bodyPr wrap="square" lIns="0" tIns="0" rIns="0" bIns="0" rtlCol="0" anchor="ctr"/>
          <a:lstStyle/>
          <a:p>
            <a:pPr indent="0" marL="0">
              <a:lnSpc>
                <a:spcPct val="118000"/>
              </a:lnSpc>
              <a:buNone/>
            </a:pPr>
            <a:r>
              <a:rPr lang="en-US" sz="1800" dirty="0">
                <a:solidFill>
                  <a:srgbClr val="6E685C"/>
                </a:solidFill>
                <a:latin typeface="Century Gothic" pitchFamily="34" charset="0"/>
                <a:ea typeface="Century Gothic" pitchFamily="34" charset="-122"/>
                <a:cs typeface="Century Gothic" pitchFamily="34" charset="-120"/>
              </a:rPr>
              <a:t>synthetic today, Crown not connected</a:t>
            </a:r>
            <a:endParaRPr lang="en-US" sz="1800" dirty="0"/>
          </a:p>
        </p:txBody>
      </p:sp>
      <p:sp>
        <p:nvSpPr>
          <p:cNvPr id="20" name="Text 17"/>
          <p:cNvSpPr txBox="1"/>
          <p:nvPr/>
        </p:nvSpPr>
        <p:spPr>
          <a:xfrm>
            <a:off x="8302752" y="4500067"/>
            <a:ext cx="3282696" cy="1673352"/>
          </a:xfrm>
          <a:prstGeom prst="rect">
            <a:avLst/>
          </a:prstGeom>
          <a:noFill/>
          <a:ln/>
        </p:spPr>
        <p:txBody>
          <a:bodyPr wrap="square" lIns="0" tIns="0" rIns="0" bIns="0" rtlCol="0" anchor="ctr"/>
          <a:lstStyle/>
          <a:p>
            <a:pPr indent="0" marL="0">
              <a:lnSpc>
                <a:spcPct val="122000"/>
              </a:lnSpc>
              <a:buNone/>
            </a:pPr>
            <a:r>
              <a:rPr lang="en-US" sz="1800" dirty="0">
                <a:solidFill>
                  <a:srgbClr val="6E685C"/>
                </a:solidFill>
                <a:latin typeface="Century Gothic" pitchFamily="34" charset="0"/>
                <a:ea typeface="Century Gothic" pitchFamily="34" charset="-122"/>
                <a:cs typeface="Century Gothic" pitchFamily="34" charset="-120"/>
              </a:rPr>
              <a:t>The phone and the web app never talk to each other. Either half can crash without taking the other down.</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EFE5"/>
        </a:solidFill>
      </p:bgPr>
    </p:bg>
    <p:spTree>
      <p:nvGrpSpPr>
        <p:cNvPr id="1" name=""/>
        <p:cNvGrpSpPr/>
        <p:nvPr/>
      </p:nvGrpSpPr>
      <p:grpSpPr>
        <a:xfrm>
          <a:off x="0" y="0"/>
          <a:ext cx="0" cy="0"/>
          <a:chOff x="0" y="0"/>
          <a:chExt cx="0" cy="0"/>
        </a:xfrm>
      </p:grpSpPr>
      <p:sp>
        <p:nvSpPr>
          <p:cNvPr id="3" name="Text 0"/>
          <p:cNvSpPr txBox="1"/>
          <p:nvPr/>
        </p:nvSpPr>
        <p:spPr>
          <a:xfrm>
            <a:off x="603504" y="457200"/>
            <a:ext cx="10981944" cy="310896"/>
          </a:xfrm>
          <a:prstGeom prst="rect">
            <a:avLst/>
          </a:prstGeom>
          <a:noFill/>
          <a:ln/>
        </p:spPr>
        <p:txBody>
          <a:bodyPr wrap="square" lIns="0" tIns="0" rIns="0" bIns="0" rtlCol="0" anchor="ctr"/>
          <a:lstStyle/>
          <a:p>
            <a:pPr indent="0" marL="0">
              <a:buNone/>
            </a:pPr>
            <a:r>
              <a:rPr lang="en-US" sz="1800" b="1" spc="260" kern="0" dirty="0">
                <a:solidFill>
                  <a:srgbClr val="6E685C"/>
                </a:solidFill>
                <a:latin typeface="Century Gothic" pitchFamily="34" charset="0"/>
                <a:ea typeface="Century Gothic" pitchFamily="34" charset="-122"/>
                <a:cs typeface="Century Gothic" pitchFamily="34" charset="-120"/>
              </a:rPr>
              <a:t>APPENDIX     DEMO RUN OF SHOW</a:t>
            </a:r>
            <a:endParaRPr lang="en-US" sz="1800" dirty="0"/>
          </a:p>
        </p:txBody>
      </p:sp>
      <p:sp>
        <p:nvSpPr>
          <p:cNvPr id="4" name="Text 1"/>
          <p:cNvSpPr txBox="1"/>
          <p:nvPr/>
        </p:nvSpPr>
        <p:spPr>
          <a:xfrm>
            <a:off x="603504" y="868680"/>
            <a:ext cx="10981944" cy="559613"/>
          </a:xfrm>
          <a:prstGeom prst="rect">
            <a:avLst/>
          </a:prstGeom>
          <a:noFill/>
          <a:ln/>
        </p:spPr>
        <p:txBody>
          <a:bodyPr wrap="square" lIns="0" tIns="0" rIns="0" bIns="0" rtlCol="0" anchor="t"/>
          <a:lstStyle/>
          <a:p>
            <a:pPr indent="0" marL="0">
              <a:lnSpc>
                <a:spcPct val="108000"/>
              </a:lnSpc>
              <a:buNone/>
            </a:pPr>
            <a:r>
              <a:rPr lang="en-US" sz="3400" b="1" dirty="0">
                <a:solidFill>
                  <a:srgbClr val="1A1917"/>
                </a:solidFill>
                <a:latin typeface="Century Gothic" pitchFamily="34" charset="0"/>
                <a:ea typeface="Century Gothic" pitchFamily="34" charset="-122"/>
                <a:cs typeface="Century Gothic" pitchFamily="34" charset="-120"/>
              </a:rPr>
              <a:t>The order, and what to say when it breaks.</a:t>
            </a:r>
            <a:endParaRPr lang="en-US" sz="3400" dirty="0"/>
          </a:p>
        </p:txBody>
      </p:sp>
      <p:sp>
        <p:nvSpPr>
          <p:cNvPr id="5" name="Shape 2"/>
          <p:cNvSpPr/>
          <p:nvPr/>
        </p:nvSpPr>
        <p:spPr>
          <a:xfrm>
            <a:off x="603504" y="1739189"/>
            <a:ext cx="5262372" cy="4067861"/>
          </a:xfrm>
          <a:prstGeom prst="roundRect">
            <a:avLst>
              <a:gd name="adj" fmla="val 2248"/>
            </a:avLst>
          </a:prstGeom>
          <a:solidFill>
            <a:srgbClr val="FBF9F3"/>
          </a:solidFill>
          <a:ln w="12700">
            <a:solidFill>
              <a:srgbClr val="DFD8C6"/>
            </a:solidFill>
            <a:prstDash val="solid"/>
          </a:ln>
        </p:spPr>
      </p:sp>
      <p:sp>
        <p:nvSpPr>
          <p:cNvPr id="6" name="Text 3"/>
          <p:cNvSpPr txBox="1"/>
          <p:nvPr/>
        </p:nvSpPr>
        <p:spPr>
          <a:xfrm>
            <a:off x="896112" y="2031797"/>
            <a:ext cx="4677156" cy="310896"/>
          </a:xfrm>
          <a:prstGeom prst="rect">
            <a:avLst/>
          </a:prstGeom>
          <a:noFill/>
          <a:ln/>
        </p:spPr>
        <p:txBody>
          <a:bodyPr wrap="square" lIns="0" tIns="0" rIns="0" bIns="0" rtlCol="0" anchor="ctr"/>
          <a:lstStyle/>
          <a:p>
            <a:pPr indent="0" marL="0">
              <a:buNone/>
            </a:pPr>
            <a:r>
              <a:rPr lang="en-US" sz="1800" b="1" spc="180" kern="0" dirty="0">
                <a:solidFill>
                  <a:srgbClr val="7A6430"/>
                </a:solidFill>
                <a:latin typeface="Century Gothic" pitchFamily="34" charset="0"/>
                <a:ea typeface="Century Gothic" pitchFamily="34" charset="-122"/>
                <a:cs typeface="Century Gothic" pitchFamily="34" charset="-120"/>
              </a:rPr>
              <a:t>THE ORDER</a:t>
            </a:r>
            <a:endParaRPr lang="en-US" sz="1800" dirty="0"/>
          </a:p>
        </p:txBody>
      </p:sp>
      <p:sp>
        <p:nvSpPr>
          <p:cNvPr id="7" name="Text 4"/>
          <p:cNvSpPr txBox="1"/>
          <p:nvPr/>
        </p:nvSpPr>
        <p:spPr>
          <a:xfrm>
            <a:off x="896112" y="2543861"/>
            <a:ext cx="4677156" cy="2970581"/>
          </a:xfrm>
          <a:prstGeom prst="rect">
            <a:avLst/>
          </a:prstGeom>
          <a:noFill/>
          <a:ln/>
        </p:spPr>
        <p:txBody>
          <a:bodyPr wrap="square" lIns="0" tIns="0" rIns="0" bIns="0" rtlCol="0" anchor="t"/>
          <a:lstStyle/>
          <a:p>
            <a:pPr marL="342900" indent="-342900">
              <a:lnSpc>
                <a:spcPct val="118000"/>
              </a:lnSpc>
              <a:spcAft>
                <a:spcPts val="1000"/>
              </a:spcAft>
              <a:buSzPct val="100000"/>
              <a:buFont typeface="+mj-lt"/>
              <a:buAutoNum type="arabicPeriod" startAt="1"/>
            </a:pPr>
            <a:r>
              <a:rPr lang="en-US" sz="1800" dirty="0">
                <a:solidFill>
                  <a:srgbClr val="4E4A42"/>
                </a:solidFill>
                <a:latin typeface="Century Gothic" pitchFamily="34" charset="0"/>
                <a:ea typeface="Century Gothic" pitchFamily="34" charset="-122"/>
                <a:cs typeface="Century Gothic" pitchFamily="34" charset="-120"/>
              </a:rPr>
              <a:t>Pair the phone.</a:t>
            </a:r>
            <a:endParaRPr lang="en-US" sz="1800" dirty="0"/>
          </a:p>
          <a:p>
            <a:pPr marL="342900" indent="-342900">
              <a:lnSpc>
                <a:spcPct val="118000"/>
              </a:lnSpc>
              <a:spcAft>
                <a:spcPts val="1000"/>
              </a:spcAft>
              <a:buSzPct val="100000"/>
              <a:buFont typeface="+mj-lt"/>
              <a:buAutoNum type="arabicPeriod" startAt="1"/>
            </a:pPr>
            <a:r>
              <a:rPr lang="en-US" sz="1800" dirty="0">
                <a:solidFill>
                  <a:srgbClr val="4E4A42"/>
                </a:solidFill>
                <a:latin typeface="Century Gothic" pitchFamily="34" charset="0"/>
                <a:ea typeface="Century Gothic" pitchFamily="34" charset="-122"/>
                <a:cs typeface="Century Gothic" pitchFamily="34" charset="-120"/>
              </a:rPr>
              <a:t>Open /live, simulate a spike.</a:t>
            </a:r>
            <a:endParaRPr lang="en-US" sz="1800" dirty="0"/>
          </a:p>
          <a:p>
            <a:pPr marL="342900" indent="-342900">
              <a:lnSpc>
                <a:spcPct val="118000"/>
              </a:lnSpc>
              <a:spcAft>
                <a:spcPts val="1000"/>
              </a:spcAft>
              <a:buSzPct val="100000"/>
              <a:buFont typeface="+mj-lt"/>
              <a:buAutoNum type="arabicPeriod" startAt="1"/>
            </a:pPr>
            <a:r>
              <a:rPr lang="en-US" sz="1800" dirty="0">
                <a:solidFill>
                  <a:srgbClr val="4E4A42"/>
                </a:solidFill>
                <a:latin typeface="Century Gothic" pitchFamily="34" charset="0"/>
                <a:ea typeface="Century Gothic" pitchFamily="34" charset="-122"/>
                <a:cs typeface="Century Gothic" pitchFamily="34" charset="-120"/>
              </a:rPr>
              <a:t>Camera records ten seconds.</a:t>
            </a:r>
            <a:endParaRPr lang="en-US" sz="1800" dirty="0"/>
          </a:p>
          <a:p>
            <a:pPr marL="342900" indent="-342900">
              <a:lnSpc>
                <a:spcPct val="118000"/>
              </a:lnSpc>
              <a:spcAft>
                <a:spcPts val="1000"/>
              </a:spcAft>
              <a:buSzPct val="100000"/>
              <a:buFont typeface="+mj-lt"/>
              <a:buAutoNum type="arabicPeriod" startAt="1"/>
            </a:pPr>
            <a:r>
              <a:rPr lang="en-US" sz="1800" dirty="0">
                <a:solidFill>
                  <a:srgbClr val="4E4A42"/>
                </a:solidFill>
                <a:latin typeface="Century Gothic" pitchFamily="34" charset="0"/>
                <a:ea typeface="Century Gothic" pitchFamily="34" charset="-122"/>
                <a:cs typeface="Century Gothic" pitchFamily="34" charset="-120"/>
              </a:rPr>
              <a:t>The moment appears in the gallery.</a:t>
            </a:r>
            <a:endParaRPr lang="en-US" sz="1800" dirty="0"/>
          </a:p>
          <a:p>
            <a:pPr marL="342900" indent="-342900">
              <a:lnSpc>
                <a:spcPct val="118000"/>
              </a:lnSpc>
              <a:spcAft>
                <a:spcPts val="1000"/>
              </a:spcAft>
              <a:buSzPct val="100000"/>
              <a:buFont typeface="+mj-lt"/>
              <a:buAutoNum type="arabicPeriod" startAt="1"/>
            </a:pPr>
            <a:r>
              <a:rPr lang="en-US" sz="1800" dirty="0">
                <a:solidFill>
                  <a:srgbClr val="4E4A42"/>
                </a:solidFill>
                <a:latin typeface="Century Gothic" pitchFamily="34" charset="0"/>
                <a:ea typeface="Century Gothic" pitchFamily="34" charset="-122"/>
                <a:cs typeface="Century Gothic" pitchFamily="34" charset="-120"/>
              </a:rPr>
              <a:t>Search /explore for a phrase.</a:t>
            </a:r>
            <a:endParaRPr lang="en-US" sz="1800" dirty="0"/>
          </a:p>
          <a:p>
            <a:pPr marL="342900" indent="-342900">
              <a:lnSpc>
                <a:spcPct val="118000"/>
              </a:lnSpc>
              <a:spcAft>
                <a:spcPts val="1000"/>
              </a:spcAft>
              <a:buSzPct val="100000"/>
              <a:buFont typeface="+mj-lt"/>
              <a:buAutoNum type="arabicPeriod" startAt="1"/>
            </a:pPr>
            <a:r>
              <a:rPr lang="en-US" sz="1800" dirty="0">
                <a:solidFill>
                  <a:srgbClr val="4E4A42"/>
                </a:solidFill>
                <a:latin typeface="Century Gothic" pitchFamily="34" charset="0"/>
                <a:ea typeface="Century Gothic" pitchFamily="34" charset="-122"/>
                <a:cs typeface="Century Gothic" pitchFamily="34" charset="-120"/>
              </a:rPr>
              <a:t>Click the dot to replay the clip.</a:t>
            </a:r>
            <a:endParaRPr lang="en-US" sz="1800" dirty="0"/>
          </a:p>
        </p:txBody>
      </p:sp>
      <p:sp>
        <p:nvSpPr>
          <p:cNvPr id="8" name="Shape 5"/>
          <p:cNvSpPr/>
          <p:nvPr/>
        </p:nvSpPr>
        <p:spPr>
          <a:xfrm>
            <a:off x="6323076" y="1739189"/>
            <a:ext cx="5262372" cy="4067861"/>
          </a:xfrm>
          <a:prstGeom prst="roundRect">
            <a:avLst>
              <a:gd name="adj" fmla="val 2248"/>
            </a:avLst>
          </a:prstGeom>
          <a:solidFill>
            <a:srgbClr val="FBF9F3"/>
          </a:solidFill>
          <a:ln w="12700">
            <a:solidFill>
              <a:srgbClr val="DFD8C6"/>
            </a:solidFill>
            <a:prstDash val="solid"/>
          </a:ln>
        </p:spPr>
      </p:sp>
      <p:sp>
        <p:nvSpPr>
          <p:cNvPr id="9" name="Text 6"/>
          <p:cNvSpPr txBox="1"/>
          <p:nvPr/>
        </p:nvSpPr>
        <p:spPr>
          <a:xfrm>
            <a:off x="6615684" y="2031797"/>
            <a:ext cx="4677156" cy="310896"/>
          </a:xfrm>
          <a:prstGeom prst="rect">
            <a:avLst/>
          </a:prstGeom>
          <a:noFill/>
          <a:ln/>
        </p:spPr>
        <p:txBody>
          <a:bodyPr wrap="square" lIns="0" tIns="0" rIns="0" bIns="0" rtlCol="0" anchor="ctr"/>
          <a:lstStyle/>
          <a:p>
            <a:pPr indent="0" marL="0">
              <a:buNone/>
            </a:pPr>
            <a:r>
              <a:rPr lang="en-US" sz="1800" b="1" spc="180" kern="0" dirty="0">
                <a:solidFill>
                  <a:srgbClr val="A44B3C"/>
                </a:solidFill>
                <a:latin typeface="Century Gothic" pitchFamily="34" charset="0"/>
                <a:ea typeface="Century Gothic" pitchFamily="34" charset="-122"/>
                <a:cs typeface="Century Gothic" pitchFamily="34" charset="-120"/>
              </a:rPr>
              <a:t>IF IT BREAKS</a:t>
            </a:r>
            <a:endParaRPr lang="en-US" sz="1800" dirty="0"/>
          </a:p>
        </p:txBody>
      </p:sp>
      <p:sp>
        <p:nvSpPr>
          <p:cNvPr id="10" name="Text 7"/>
          <p:cNvSpPr txBox="1"/>
          <p:nvPr/>
        </p:nvSpPr>
        <p:spPr>
          <a:xfrm>
            <a:off x="6615684" y="2543861"/>
            <a:ext cx="4677156" cy="2970581"/>
          </a:xfrm>
          <a:prstGeom prst="rect">
            <a:avLst/>
          </a:prstGeom>
          <a:noFill/>
          <a:ln/>
        </p:spPr>
        <p:txBody>
          <a:bodyPr wrap="square" lIns="0" tIns="0" rIns="0" bIns="0" rtlCol="0" anchor="t"/>
          <a:lstStyle/>
          <a:p>
            <a:pPr marL="190500" indent="-190500">
              <a:lnSpc>
                <a:spcPct val="118000"/>
              </a:lnSpc>
              <a:spcAft>
                <a:spcPts val="10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Nothing responds: you are on next dev. Use the build.</a:t>
            </a:r>
            <a:endParaRPr lang="en-US" sz="1800" dirty="0"/>
          </a:p>
          <a:p>
            <a:pPr marL="190500" indent="-190500">
              <a:lnSpc>
                <a:spcPct val="118000"/>
              </a:lnSpc>
              <a:spcAft>
                <a:spcPts val="10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Gallery empty: honest, nothing is seeded. Capture one.</a:t>
            </a:r>
            <a:endParaRPr lang="en-US" sz="1800" dirty="0"/>
          </a:p>
          <a:p>
            <a:pPr marL="190500" indent="-190500">
              <a:lnSpc>
                <a:spcPct val="118000"/>
              </a:lnSpc>
              <a:spcAft>
                <a:spcPts val="10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Elastic down: search falls back to local text, and says so.</a:t>
            </a:r>
            <a:endParaRPr lang="en-US" sz="1800" dirty="0"/>
          </a:p>
          <a:p>
            <a:pPr marL="190500" indent="-190500">
              <a:lnSpc>
                <a:spcPct val="118000"/>
              </a:lnSpc>
              <a:spcAft>
                <a:spcPts val="1000"/>
              </a:spcAft>
              <a:buSzPct val="100000"/>
              <a:buChar char="•"/>
            </a:pPr>
            <a:r>
              <a:rPr lang="en-US" sz="1800" dirty="0">
                <a:solidFill>
                  <a:srgbClr val="4E4A42"/>
                </a:solidFill>
                <a:latin typeface="Century Gothic" pitchFamily="34" charset="0"/>
                <a:ea typeface="Century Gothic" pitchFamily="34" charset="-122"/>
                <a:cs typeface="Century Gothic" pitchFamily="34" charset="-120"/>
              </a:rPr>
              <a:t>No wifi: run the backend in demo mode, no hardware.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MemoryPalace, HackMIT 2026</dc:title>
  <dc:subject>PptxGenJS Presentation</dc:subject>
  <dc:creator>MemoryPalace</dc:creator>
  <cp:lastModifiedBy>MemoryPalace</cp:lastModifiedBy>
  <cp:revision>1</cp:revision>
  <dcterms:created xsi:type="dcterms:W3CDTF">2026-09-20T07:20:51Z</dcterms:created>
  <dcterms:modified xsi:type="dcterms:W3CDTF">2026-09-20T07:20:51Z</dcterms:modified>
</cp:coreProperties>
</file>