
<file path=[Content_Types].xml><?xml version="1.0" encoding="utf-8"?>
<Types xmlns="http://schemas.openxmlformats.org/package/2006/content-types">
  <Default Extension="jpg" ContentType="image/jpeg"/>
  <Default Extension="mp4" ContentType="video/mp4"/>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1.xml" ContentType="application/vnd.openxmlformats-officedocument.drawingml.chart+xml"/>
  <Override PartName="/ppt/notesSlides/notesSlide10.xml" ContentType="application/vnd.openxmlformats-officedocument.presentationml.notesSlide+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5.xml" ContentType="application/vnd.openxmlformats-officedocument.drawingml.chart+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3"/>
  </p:notesMasterIdLst>
  <p:sldIdLst>
    <p:sldId id="256" r:id="rId2"/>
    <p:sldId id="257" r:id="rId3"/>
    <p:sldId id="258" r:id="rId4"/>
    <p:sldId id="259" r:id="rId5"/>
    <p:sldId id="276" r:id="rId6"/>
    <p:sldId id="261" r:id="rId7"/>
    <p:sldId id="262" r:id="rId8"/>
    <p:sldId id="263" r:id="rId9"/>
    <p:sldId id="264" r:id="rId10"/>
    <p:sldId id="277" r:id="rId11"/>
    <p:sldId id="266" r:id="rId12"/>
    <p:sldId id="267" r:id="rId13"/>
    <p:sldId id="268" r:id="rId14"/>
    <p:sldId id="269" r:id="rId15"/>
    <p:sldId id="279" r:id="rId16"/>
    <p:sldId id="270" r:id="rId17"/>
    <p:sldId id="280" r:id="rId18"/>
    <p:sldId id="271" r:id="rId19"/>
    <p:sldId id="272" r:id="rId20"/>
    <p:sldId id="274" r:id="rId21"/>
    <p:sldId id="275" r:id="rId22"/>
  </p:sldIdLst>
  <p:sldSz cx="18288000" cy="10287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CF9F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2132"/>
    <p:restoredTop sz="94674"/>
  </p:normalViewPr>
  <p:slideViewPr>
    <p:cSldViewPr snapToGrid="0">
      <p:cViewPr>
        <p:scale>
          <a:sx n="53" d="100"/>
          <a:sy n="53" d="100"/>
        </p:scale>
        <p:origin x="648" y="48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title>
      <c:tx>
        <c:rich>
          <a:bodyPr/>
          <a:lstStyle/>
          <a:p>
            <a:r>
              <a:rPr lang="en-US" sz="2100">
                <a:solidFill>
                  <a:srgbClr val="5A5D59"/>
                </a:solidFill>
                <a:latin typeface="Poppins"/>
                <a:ea typeface="Poppins"/>
                <a:cs typeface="Poppins"/>
              </a:rPr>
              <a:t>Change from personal baseline (standard deviations)</a:t>
            </a:r>
          </a:p>
        </c:rich>
      </c:tx>
      <c:overlay val="0"/>
    </c:title>
    <c:autoTitleDeleted val="0"/>
    <c:plotArea>
      <c:layout/>
      <c:barChart>
        <c:barDir val="col"/>
        <c:grouping val="clustered"/>
        <c:varyColors val="0"/>
        <c:ser>
          <c:idx val="0"/>
          <c:order val="0"/>
          <c:tx>
            <c:v>Change from personal baseline (standard deviations)</c:v>
          </c:tx>
          <c:spPr>
            <a:solidFill>
              <a:srgbClr val="326B8C"/>
            </a:solidFill>
          </c:spPr>
          <c:invertIfNegative val="1"/>
          <c:dPt>
            <c:idx val="0"/>
            <c:invertIfNegative val="0"/>
            <c:bubble3D val="0"/>
            <c:spPr>
              <a:solidFill>
                <a:srgbClr val="9B712B"/>
              </a:solidFill>
            </c:spPr>
            <c:extLst>
              <c:ext xmlns:c16="http://schemas.microsoft.com/office/drawing/2014/chart" uri="{C3380CC4-5D6E-409C-BE32-E72D297353CC}">
                <c16:uniqueId val="{00000001-97BA-744E-A124-B5909137236C}"/>
              </c:ext>
            </c:extLst>
          </c:dPt>
          <c:dPt>
            <c:idx val="1"/>
            <c:invertIfNegative val="0"/>
            <c:bubble3D val="0"/>
            <c:extLst>
              <c:ext xmlns:c16="http://schemas.microsoft.com/office/drawing/2014/chart" uri="{C3380CC4-5D6E-409C-BE32-E72D297353CC}">
                <c16:uniqueId val="{00000003-97BA-744E-A124-B5909137236C}"/>
              </c:ext>
            </c:extLst>
          </c:dPt>
          <c:dLbls>
            <c:dLbl>
              <c:idx val="0"/>
              <c:tx>
                <c:rich>
                  <a:bodyPr/>
                  <a:lstStyle/>
                  <a:p>
                    <a:r>
                      <a:rPr lang="en-US" sz="2700" b="1">
                        <a:solidFill>
                          <a:srgbClr val="191A18"/>
                        </a:solidFill>
                        <a:latin typeface="Poppins"/>
                        <a:ea typeface="Poppins"/>
                        <a:cs typeface="Poppins"/>
                      </a:rPr>
                      <a:t>4.0</a:t>
                    </a:r>
                  </a:p>
                </c:rich>
              </c:tx>
              <c:spPr/>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97BA-744E-A124-B5909137236C}"/>
                </c:ext>
              </c:extLst>
            </c:dLbl>
            <c:dLbl>
              <c:idx val="1"/>
              <c:tx>
                <c:rich>
                  <a:bodyPr/>
                  <a:lstStyle/>
                  <a:p>
                    <a:r>
                      <a:rPr lang="en-US" sz="2700" b="1">
                        <a:solidFill>
                          <a:srgbClr val="191A18"/>
                        </a:solidFill>
                        <a:latin typeface="Poppins"/>
                        <a:ea typeface="Poppins"/>
                        <a:cs typeface="Poppins"/>
                      </a:rPr>
                      <a:t>0.8</a:t>
                    </a:r>
                  </a:p>
                </c:rich>
              </c:tx>
              <c:spPr/>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97BA-744E-A124-B5909137236C}"/>
                </c:ext>
              </c:extLst>
            </c:dLbl>
            <c:spPr>
              <a:noFill/>
              <a:ln>
                <a:noFill/>
              </a:ln>
              <a:effectLst/>
            </c:spPr>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cat>
            <c:strRef>
              <c:f>'Chart Data'!$A$2:$A$3</c:f>
              <c:strCache>
                <c:ptCount val="2"/>
                <c:pt idx="0">
                  <c:v>Wearer A</c:v>
                </c:pt>
                <c:pt idx="1">
                  <c:v>Wearer B</c:v>
                </c:pt>
              </c:strCache>
            </c:strRef>
          </c:cat>
          <c:val>
            <c:numRef>
              <c:f>'Chart Data'!$B$2:$B$3</c:f>
              <c:numCache>
                <c:formatCode>0.0</c:formatCode>
                <c:ptCount val="2"/>
                <c:pt idx="0">
                  <c:v>4</c:v>
                </c:pt>
                <c:pt idx="1">
                  <c:v>0.8</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4-97BA-744E-A124-B5909137236C}"/>
            </c:ext>
          </c:extLst>
        </c:ser>
        <c:dLbls>
          <c:dLblPos val="outEnd"/>
          <c:showLegendKey val="0"/>
          <c:showVal val="1"/>
          <c:showCatName val="0"/>
          <c:showSerName val="0"/>
          <c:showPercent val="0"/>
          <c:showBubbleSize val="0"/>
        </c:dLbls>
        <c:gapWidth val="14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6D2C7"/>
            </a:solidFill>
          </a:ln>
        </c:spPr>
        <c:txPr>
          <a:bodyPr anchorCtr="1"/>
          <a:lstStyle/>
          <a:p>
            <a:pPr>
              <a:defRPr sz="2400">
                <a:solidFill>
                  <a:srgbClr val="191A18"/>
                </a:solidFill>
                <a:latin typeface="Poppins"/>
                <a:ea typeface="Poppins"/>
                <a:cs typeface="Poppins"/>
              </a:defRPr>
            </a:pPr>
            <a:endParaRPr lang="en-US"/>
          </a:p>
        </c:txPr>
        <c:crossAx val="48672768"/>
        <c:crosses val="autoZero"/>
        <c:auto val="1"/>
        <c:lblAlgn val="ctr"/>
        <c:lblOffset val="100"/>
        <c:noMultiLvlLbl val="1"/>
      </c:catAx>
      <c:valAx>
        <c:axId val="48672768"/>
        <c:scaling>
          <c:orientation val="minMax"/>
          <c:max val="5"/>
          <c:min val="0"/>
        </c:scaling>
        <c:delete val="0"/>
        <c:axPos val="l"/>
        <c:majorGridlines>
          <c:spPr>
            <a:ln w="9525">
              <a:solidFill>
                <a:srgbClr val="D6D2C7"/>
              </a:solidFill>
            </a:ln>
          </c:spPr>
        </c:majorGridlines>
        <c:numFmt formatCode="0.0" sourceLinked="1"/>
        <c:majorTickMark val="none"/>
        <c:minorTickMark val="none"/>
        <c:tickLblPos val="nextTo"/>
        <c:spPr>
          <a:ln w="9525">
            <a:solidFill>
              <a:srgbClr val="D4D4D4"/>
            </a:solidFill>
            <a:prstDash val="solid"/>
          </a:ln>
        </c:spPr>
        <c:txPr>
          <a:bodyPr anchorCtr="1"/>
          <a:lstStyle/>
          <a:p>
            <a:pPr>
              <a:defRPr sz="1875">
                <a:solidFill>
                  <a:srgbClr val="5A5D59"/>
                </a:solidFill>
                <a:latin typeface="Poppins"/>
                <a:ea typeface="Poppins"/>
                <a:cs typeface="Poppins"/>
              </a:defRPr>
            </a:pPr>
            <a:endParaRPr lang="en-US"/>
          </a:p>
        </c:txPr>
        <c:crossAx val="48650112"/>
        <c:crosses val="autoZero"/>
        <c:crossBetween val="between"/>
      </c:valAx>
      <c:spPr>
        <a:solidFill>
          <a:srgbClr val="F3EFE6"/>
        </a:solidFill>
        <a:ln>
          <a:noFill/>
        </a:ln>
      </c:spPr>
    </c:plotArea>
    <c:plotVisOnly val="1"/>
    <c:dispBlanksAs val="zero"/>
    <c:showDLblsOverMax val="1"/>
  </c:chart>
  <c:spPr>
    <a:solidFill>
      <a:srgbClr val="F3EFE6"/>
    </a:solidFill>
    <a:ln>
      <a:noFill/>
    </a:ln>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title>
      <c:tx>
        <c:rich>
          <a:bodyPr/>
          <a:lstStyle/>
          <a:p>
            <a:r>
              <a:rPr lang="en-US" sz="2475" b="1">
                <a:solidFill>
                  <a:srgbClr val="326B8C"/>
                </a:solidFill>
                <a:latin typeface="Poppins"/>
                <a:ea typeface="Poppins"/>
                <a:cs typeface="Poppins"/>
              </a:rPr>
              <a:t>Wearer A</a:t>
            </a:r>
          </a:p>
        </c:rich>
      </c:tx>
      <c:overlay val="0"/>
    </c:title>
    <c:autoTitleDeleted val="0"/>
    <c:plotArea>
      <c:layout/>
      <c:lineChart>
        <c:grouping val="standard"/>
        <c:varyColors val="0"/>
        <c:ser>
          <c:idx val="0"/>
          <c:order val="0"/>
          <c:tx>
            <c:v>Illustrative raw EEG (µV)</c:v>
          </c:tx>
          <c:spPr>
            <a:ln w="28575">
              <a:solidFill>
                <a:srgbClr val="326B8C"/>
              </a:solidFill>
            </a:ln>
          </c:spPr>
          <c:marker>
            <c:symbol val="none"/>
          </c:marker>
          <c:cat>
            <c:numRef>
              <c:f>'Chart Data'!$A$2:$A$66</c:f>
              <c:numCache>
                <c:formatCode>General</c:formatCode>
                <c:ptCount val="65"/>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pt idx="64">
                  <c:v>64</c:v>
                </c:pt>
              </c:numCache>
            </c:numRef>
          </c:cat>
          <c:val>
            <c:numRef>
              <c:f>'Chart Data'!$B$2:$B$66</c:f>
              <c:numCache>
                <c:formatCode>0.0</c:formatCode>
                <c:ptCount val="65"/>
                <c:pt idx="0">
                  <c:v>-0.1</c:v>
                </c:pt>
                <c:pt idx="1">
                  <c:v>7.3</c:v>
                </c:pt>
                <c:pt idx="2">
                  <c:v>5.6</c:v>
                </c:pt>
                <c:pt idx="3">
                  <c:v>5.9</c:v>
                </c:pt>
                <c:pt idx="4">
                  <c:v>2.2999999999999998</c:v>
                </c:pt>
                <c:pt idx="5">
                  <c:v>-7.3</c:v>
                </c:pt>
                <c:pt idx="6">
                  <c:v>-7.3</c:v>
                </c:pt>
                <c:pt idx="7">
                  <c:v>-4.5</c:v>
                </c:pt>
                <c:pt idx="8">
                  <c:v>-3.3</c:v>
                </c:pt>
                <c:pt idx="9">
                  <c:v>5.4</c:v>
                </c:pt>
                <c:pt idx="10">
                  <c:v>9.1</c:v>
                </c:pt>
                <c:pt idx="11">
                  <c:v>4</c:v>
                </c:pt>
                <c:pt idx="12">
                  <c:v>2.2999999999999998</c:v>
                </c:pt>
                <c:pt idx="13">
                  <c:v>-3.1</c:v>
                </c:pt>
                <c:pt idx="14">
                  <c:v>-10</c:v>
                </c:pt>
                <c:pt idx="15">
                  <c:v>-5.5</c:v>
                </c:pt>
                <c:pt idx="16">
                  <c:v>-0.9</c:v>
                </c:pt>
                <c:pt idx="17">
                  <c:v>1.5</c:v>
                </c:pt>
                <c:pt idx="18">
                  <c:v>8.8000000000000007</c:v>
                </c:pt>
                <c:pt idx="19">
                  <c:v>7.7</c:v>
                </c:pt>
                <c:pt idx="20">
                  <c:v>0</c:v>
                </c:pt>
                <c:pt idx="21">
                  <c:v>-1.9</c:v>
                </c:pt>
                <c:pt idx="22">
                  <c:v>-6.8</c:v>
                </c:pt>
                <c:pt idx="23">
                  <c:v>-9.4</c:v>
                </c:pt>
                <c:pt idx="24">
                  <c:v>-1.1000000000000001</c:v>
                </c:pt>
                <c:pt idx="25">
                  <c:v>3.3</c:v>
                </c:pt>
                <c:pt idx="26">
                  <c:v>5</c:v>
                </c:pt>
                <c:pt idx="27">
                  <c:v>9.1</c:v>
                </c:pt>
                <c:pt idx="28">
                  <c:v>3.3</c:v>
                </c:pt>
                <c:pt idx="29">
                  <c:v>-4.7</c:v>
                </c:pt>
                <c:pt idx="30">
                  <c:v>-5</c:v>
                </c:pt>
                <c:pt idx="31">
                  <c:v>-7.6</c:v>
                </c:pt>
                <c:pt idx="32">
                  <c:v>-5.6</c:v>
                </c:pt>
                <c:pt idx="33">
                  <c:v>4.2</c:v>
                </c:pt>
                <c:pt idx="34">
                  <c:v>6.3</c:v>
                </c:pt>
                <c:pt idx="35">
                  <c:v>5.7</c:v>
                </c:pt>
                <c:pt idx="36">
                  <c:v>6.3</c:v>
                </c:pt>
                <c:pt idx="37">
                  <c:v>-2.2999999999999998</c:v>
                </c:pt>
                <c:pt idx="38">
                  <c:v>-8.1</c:v>
                </c:pt>
                <c:pt idx="39">
                  <c:v>-5.4</c:v>
                </c:pt>
                <c:pt idx="40">
                  <c:v>-5.4</c:v>
                </c:pt>
                <c:pt idx="41">
                  <c:v>-0.2</c:v>
                </c:pt>
                <c:pt idx="42">
                  <c:v>8.5</c:v>
                </c:pt>
                <c:pt idx="43">
                  <c:v>6.6</c:v>
                </c:pt>
                <c:pt idx="44">
                  <c:v>3.7</c:v>
                </c:pt>
                <c:pt idx="45">
                  <c:v>1.6</c:v>
                </c:pt>
                <c:pt idx="46">
                  <c:v>-7.3</c:v>
                </c:pt>
                <c:pt idx="47">
                  <c:v>-8.8000000000000007</c:v>
                </c:pt>
                <c:pt idx="48">
                  <c:v>-3</c:v>
                </c:pt>
                <c:pt idx="49">
                  <c:v>-1.3</c:v>
                </c:pt>
                <c:pt idx="50">
                  <c:v>4.8</c:v>
                </c:pt>
                <c:pt idx="51">
                  <c:v>10</c:v>
                </c:pt>
                <c:pt idx="52">
                  <c:v>3.9</c:v>
                </c:pt>
                <c:pt idx="53">
                  <c:v>-0.3</c:v>
                </c:pt>
                <c:pt idx="54">
                  <c:v>-3.1</c:v>
                </c:pt>
                <c:pt idx="55">
                  <c:v>-9.6999999999999993</c:v>
                </c:pt>
                <c:pt idx="56">
                  <c:v>-6.2</c:v>
                </c:pt>
                <c:pt idx="57">
                  <c:v>1.3</c:v>
                </c:pt>
                <c:pt idx="58">
                  <c:v>2.8</c:v>
                </c:pt>
                <c:pt idx="59">
                  <c:v>7.7</c:v>
                </c:pt>
                <c:pt idx="60">
                  <c:v>8.1</c:v>
                </c:pt>
                <c:pt idx="61">
                  <c:v>-1</c:v>
                </c:pt>
                <c:pt idx="62">
                  <c:v>-4.3</c:v>
                </c:pt>
                <c:pt idx="63">
                  <c:v>-5.9</c:v>
                </c:pt>
                <c:pt idx="64">
                  <c:v>-8.8000000000000007</c:v>
                </c:pt>
              </c:numCache>
            </c:numRef>
          </c:val>
          <c:smooth val="0"/>
          <c:extLst>
            <c:ext xmlns:c16="http://schemas.microsoft.com/office/drawing/2014/chart" uri="{C3380CC4-5D6E-409C-BE32-E72D297353CC}">
              <c16:uniqueId val="{00000000-5B74-224D-AC02-4BA334ACC3D4}"/>
            </c:ext>
          </c:extLst>
        </c:ser>
        <c:dLbls>
          <c:showLegendKey val="0"/>
          <c:showVal val="0"/>
          <c:showCatName val="0"/>
          <c:showSerName val="0"/>
          <c:showPercent val="0"/>
          <c:showBubbleSize val="0"/>
        </c:dLbls>
        <c:smooth val="0"/>
        <c:axId val="48650112"/>
        <c:axId val="48672768"/>
      </c:lineChart>
      <c:catAx>
        <c:axId val="48650112"/>
        <c:scaling>
          <c:orientation val="minMax"/>
        </c:scaling>
        <c:delete val="0"/>
        <c:axPos val="b"/>
        <c:numFmt formatCode="General" sourceLinked="1"/>
        <c:majorTickMark val="none"/>
        <c:minorTickMark val="none"/>
        <c:tickLblPos val="none"/>
        <c:spPr>
          <a:ln>
            <a:noFill/>
          </a:ln>
        </c:spPr>
        <c:txPr>
          <a:bodyPr anchorCtr="1"/>
          <a:lstStyle/>
          <a:p>
            <a:pPr>
              <a:defRPr sz="1500">
                <a:solidFill>
                  <a:srgbClr val="5A5D59"/>
                </a:solidFill>
                <a:latin typeface="Poppins"/>
                <a:ea typeface="Poppins"/>
                <a:cs typeface="Poppins"/>
              </a:defRPr>
            </a:pPr>
            <a:endParaRPr lang="en-US"/>
          </a:p>
        </c:txPr>
        <c:crossAx val="48672768"/>
        <c:crosses val="autoZero"/>
        <c:auto val="1"/>
        <c:lblAlgn val="ctr"/>
        <c:lblOffset val="100"/>
        <c:noMultiLvlLbl val="1"/>
      </c:catAx>
      <c:valAx>
        <c:axId val="48672768"/>
        <c:scaling>
          <c:orientation val="minMax"/>
          <c:max val="40"/>
          <c:min val="-40"/>
        </c:scaling>
        <c:delete val="0"/>
        <c:axPos val="l"/>
        <c:majorGridlines>
          <c:spPr>
            <a:ln w="9525">
              <a:solidFill>
                <a:srgbClr val="D6D2C7"/>
              </a:solidFill>
            </a:ln>
          </c:spPr>
        </c:majorGridlines>
        <c:numFmt formatCode="0.0" sourceLinked="1"/>
        <c:majorTickMark val="none"/>
        <c:minorTickMark val="none"/>
        <c:tickLblPos val="nextTo"/>
        <c:spPr>
          <a:ln w="9525">
            <a:solidFill>
              <a:srgbClr val="D4D4D4"/>
            </a:solidFill>
            <a:prstDash val="solid"/>
          </a:ln>
        </c:spPr>
        <c:txPr>
          <a:bodyPr anchorCtr="1"/>
          <a:lstStyle/>
          <a:p>
            <a:pPr>
              <a:defRPr sz="1500">
                <a:solidFill>
                  <a:srgbClr val="5A5D59"/>
                </a:solidFill>
                <a:latin typeface="Poppins"/>
                <a:ea typeface="Poppins"/>
                <a:cs typeface="Poppins"/>
              </a:defRPr>
            </a:pPr>
            <a:endParaRPr lang="en-US"/>
          </a:p>
        </c:txPr>
        <c:crossAx val="48650112"/>
        <c:crosses val="autoZero"/>
        <c:crossBetween val="between"/>
      </c:valAx>
      <c:spPr>
        <a:solidFill>
          <a:srgbClr val="F3EFE6"/>
        </a:solidFill>
        <a:ln>
          <a:noFill/>
        </a:ln>
      </c:spPr>
    </c:plotArea>
    <c:plotVisOnly val="1"/>
    <c:dispBlanksAs val="zero"/>
    <c:showDLblsOverMax val="1"/>
  </c:chart>
  <c:spPr>
    <a:solidFill>
      <a:srgbClr val="F3EFE6"/>
    </a:solidFill>
    <a:ln>
      <a:noFill/>
    </a:ln>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title>
      <c:tx>
        <c:rich>
          <a:bodyPr/>
          <a:lstStyle/>
          <a:p>
            <a:r>
              <a:rPr lang="en-US" sz="2475" b="1">
                <a:solidFill>
                  <a:srgbClr val="9B712B"/>
                </a:solidFill>
                <a:latin typeface="Poppins"/>
                <a:ea typeface="Poppins"/>
                <a:cs typeface="Poppins"/>
              </a:rPr>
              <a:t>Wearer B</a:t>
            </a:r>
          </a:p>
        </c:rich>
      </c:tx>
      <c:overlay val="0"/>
    </c:title>
    <c:autoTitleDeleted val="0"/>
    <c:plotArea>
      <c:layout/>
      <c:lineChart>
        <c:grouping val="standard"/>
        <c:varyColors val="0"/>
        <c:ser>
          <c:idx val="0"/>
          <c:order val="0"/>
          <c:tx>
            <c:v>Illustrative raw EEG (µV)</c:v>
          </c:tx>
          <c:spPr>
            <a:ln w="28575">
              <a:solidFill>
                <a:srgbClr val="9B712B"/>
              </a:solidFill>
            </a:ln>
          </c:spPr>
          <c:marker>
            <c:symbol val="none"/>
          </c:marker>
          <c:cat>
            <c:numRef>
              <c:f>'Chart Data'!$A$2:$A$66</c:f>
              <c:numCache>
                <c:formatCode>General</c:formatCode>
                <c:ptCount val="65"/>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pt idx="64">
                  <c:v>64</c:v>
                </c:pt>
              </c:numCache>
            </c:numRef>
          </c:cat>
          <c:val>
            <c:numRef>
              <c:f>'Chart Data'!$B$2:$B$66</c:f>
              <c:numCache>
                <c:formatCode>0.0</c:formatCode>
                <c:ptCount val="65"/>
                <c:pt idx="0">
                  <c:v>-0.1</c:v>
                </c:pt>
                <c:pt idx="1">
                  <c:v>14.7</c:v>
                </c:pt>
                <c:pt idx="2">
                  <c:v>11.3</c:v>
                </c:pt>
                <c:pt idx="3">
                  <c:v>11.9</c:v>
                </c:pt>
                <c:pt idx="4">
                  <c:v>4.5</c:v>
                </c:pt>
                <c:pt idx="5">
                  <c:v>-14.6</c:v>
                </c:pt>
                <c:pt idx="6">
                  <c:v>-14.6</c:v>
                </c:pt>
                <c:pt idx="7">
                  <c:v>-8.9</c:v>
                </c:pt>
                <c:pt idx="8">
                  <c:v>-6.6</c:v>
                </c:pt>
                <c:pt idx="9">
                  <c:v>10.7</c:v>
                </c:pt>
                <c:pt idx="10">
                  <c:v>18.3</c:v>
                </c:pt>
                <c:pt idx="11">
                  <c:v>8</c:v>
                </c:pt>
                <c:pt idx="12">
                  <c:v>4.7</c:v>
                </c:pt>
                <c:pt idx="13">
                  <c:v>-6.1</c:v>
                </c:pt>
                <c:pt idx="14">
                  <c:v>-20</c:v>
                </c:pt>
                <c:pt idx="15">
                  <c:v>-11</c:v>
                </c:pt>
                <c:pt idx="16">
                  <c:v>-1.8</c:v>
                </c:pt>
                <c:pt idx="17">
                  <c:v>3</c:v>
                </c:pt>
                <c:pt idx="18">
                  <c:v>17.7</c:v>
                </c:pt>
                <c:pt idx="19">
                  <c:v>15.3</c:v>
                </c:pt>
                <c:pt idx="20">
                  <c:v>0</c:v>
                </c:pt>
                <c:pt idx="21">
                  <c:v>-3.9</c:v>
                </c:pt>
                <c:pt idx="22">
                  <c:v>-13.6</c:v>
                </c:pt>
                <c:pt idx="23">
                  <c:v>-18.7</c:v>
                </c:pt>
                <c:pt idx="24">
                  <c:v>-2.2000000000000002</c:v>
                </c:pt>
                <c:pt idx="25">
                  <c:v>6.7</c:v>
                </c:pt>
                <c:pt idx="26">
                  <c:v>9.9</c:v>
                </c:pt>
                <c:pt idx="27">
                  <c:v>18.2</c:v>
                </c:pt>
                <c:pt idx="28">
                  <c:v>6.6</c:v>
                </c:pt>
                <c:pt idx="29">
                  <c:v>-9.4</c:v>
                </c:pt>
                <c:pt idx="30">
                  <c:v>-10</c:v>
                </c:pt>
                <c:pt idx="31">
                  <c:v>-15.2</c:v>
                </c:pt>
                <c:pt idx="32">
                  <c:v>-11.3</c:v>
                </c:pt>
                <c:pt idx="33">
                  <c:v>8.5</c:v>
                </c:pt>
                <c:pt idx="34">
                  <c:v>12.6</c:v>
                </c:pt>
                <c:pt idx="35">
                  <c:v>11.5</c:v>
                </c:pt>
                <c:pt idx="36">
                  <c:v>12.6</c:v>
                </c:pt>
                <c:pt idx="37">
                  <c:v>-4.7</c:v>
                </c:pt>
                <c:pt idx="38">
                  <c:v>-16.3</c:v>
                </c:pt>
                <c:pt idx="39">
                  <c:v>-10.8</c:v>
                </c:pt>
                <c:pt idx="40">
                  <c:v>-10.8</c:v>
                </c:pt>
                <c:pt idx="41">
                  <c:v>-0.5</c:v>
                </c:pt>
                <c:pt idx="42">
                  <c:v>17</c:v>
                </c:pt>
                <c:pt idx="43">
                  <c:v>13.2</c:v>
                </c:pt>
                <c:pt idx="44">
                  <c:v>7.3</c:v>
                </c:pt>
                <c:pt idx="45">
                  <c:v>3.1</c:v>
                </c:pt>
                <c:pt idx="46">
                  <c:v>-14.5</c:v>
                </c:pt>
                <c:pt idx="47">
                  <c:v>-17.600000000000001</c:v>
                </c:pt>
                <c:pt idx="48">
                  <c:v>-6</c:v>
                </c:pt>
                <c:pt idx="49">
                  <c:v>-2.6</c:v>
                </c:pt>
                <c:pt idx="50">
                  <c:v>9.6</c:v>
                </c:pt>
                <c:pt idx="51">
                  <c:v>20</c:v>
                </c:pt>
                <c:pt idx="52">
                  <c:v>7.7</c:v>
                </c:pt>
                <c:pt idx="53">
                  <c:v>-0.6</c:v>
                </c:pt>
                <c:pt idx="54">
                  <c:v>-6.2</c:v>
                </c:pt>
                <c:pt idx="55">
                  <c:v>-19.399999999999999</c:v>
                </c:pt>
                <c:pt idx="56">
                  <c:v>-12.4</c:v>
                </c:pt>
                <c:pt idx="57">
                  <c:v>2.6</c:v>
                </c:pt>
                <c:pt idx="58">
                  <c:v>5.7</c:v>
                </c:pt>
                <c:pt idx="59">
                  <c:v>15.4</c:v>
                </c:pt>
                <c:pt idx="60">
                  <c:v>16.3</c:v>
                </c:pt>
                <c:pt idx="61">
                  <c:v>-1.9</c:v>
                </c:pt>
                <c:pt idx="62">
                  <c:v>-8.6</c:v>
                </c:pt>
                <c:pt idx="63">
                  <c:v>-11.8</c:v>
                </c:pt>
                <c:pt idx="64">
                  <c:v>-17.5</c:v>
                </c:pt>
              </c:numCache>
            </c:numRef>
          </c:val>
          <c:smooth val="0"/>
          <c:extLst>
            <c:ext xmlns:c16="http://schemas.microsoft.com/office/drawing/2014/chart" uri="{C3380CC4-5D6E-409C-BE32-E72D297353CC}">
              <c16:uniqueId val="{00000000-DE68-214C-8F75-4B79690E3E92}"/>
            </c:ext>
          </c:extLst>
        </c:ser>
        <c:dLbls>
          <c:showLegendKey val="0"/>
          <c:showVal val="0"/>
          <c:showCatName val="0"/>
          <c:showSerName val="0"/>
          <c:showPercent val="0"/>
          <c:showBubbleSize val="0"/>
        </c:dLbls>
        <c:smooth val="0"/>
        <c:axId val="48650112"/>
        <c:axId val="48672768"/>
      </c:lineChart>
      <c:catAx>
        <c:axId val="48650112"/>
        <c:scaling>
          <c:orientation val="minMax"/>
        </c:scaling>
        <c:delete val="0"/>
        <c:axPos val="b"/>
        <c:numFmt formatCode="General" sourceLinked="1"/>
        <c:majorTickMark val="none"/>
        <c:minorTickMark val="none"/>
        <c:tickLblPos val="none"/>
        <c:spPr>
          <a:ln>
            <a:noFill/>
          </a:ln>
        </c:spPr>
        <c:txPr>
          <a:bodyPr anchorCtr="1"/>
          <a:lstStyle/>
          <a:p>
            <a:pPr>
              <a:defRPr sz="1500">
                <a:solidFill>
                  <a:srgbClr val="5A5D59"/>
                </a:solidFill>
                <a:latin typeface="Poppins"/>
                <a:ea typeface="Poppins"/>
                <a:cs typeface="Poppins"/>
              </a:defRPr>
            </a:pPr>
            <a:endParaRPr lang="en-US"/>
          </a:p>
        </c:txPr>
        <c:crossAx val="48672768"/>
        <c:crosses val="autoZero"/>
        <c:auto val="1"/>
        <c:lblAlgn val="ctr"/>
        <c:lblOffset val="100"/>
        <c:noMultiLvlLbl val="1"/>
      </c:catAx>
      <c:valAx>
        <c:axId val="48672768"/>
        <c:scaling>
          <c:orientation val="minMax"/>
          <c:max val="40"/>
          <c:min val="-40"/>
        </c:scaling>
        <c:delete val="0"/>
        <c:axPos val="l"/>
        <c:majorGridlines>
          <c:spPr>
            <a:ln w="9525">
              <a:solidFill>
                <a:srgbClr val="D6D2C7"/>
              </a:solidFill>
            </a:ln>
          </c:spPr>
        </c:majorGridlines>
        <c:numFmt formatCode="0.0" sourceLinked="1"/>
        <c:majorTickMark val="none"/>
        <c:minorTickMark val="none"/>
        <c:tickLblPos val="nextTo"/>
        <c:spPr>
          <a:ln w="9525">
            <a:solidFill>
              <a:srgbClr val="D4D4D4"/>
            </a:solidFill>
            <a:prstDash val="solid"/>
          </a:ln>
        </c:spPr>
        <c:txPr>
          <a:bodyPr anchorCtr="1"/>
          <a:lstStyle/>
          <a:p>
            <a:pPr>
              <a:defRPr sz="1500">
                <a:solidFill>
                  <a:srgbClr val="5A5D59"/>
                </a:solidFill>
                <a:latin typeface="Poppins"/>
                <a:ea typeface="Poppins"/>
                <a:cs typeface="Poppins"/>
              </a:defRPr>
            </a:pPr>
            <a:endParaRPr lang="en-US"/>
          </a:p>
        </c:txPr>
        <c:crossAx val="48650112"/>
        <c:crosses val="autoZero"/>
        <c:crossBetween val="between"/>
      </c:valAx>
      <c:spPr>
        <a:solidFill>
          <a:srgbClr val="F3EFE6"/>
        </a:solidFill>
        <a:ln>
          <a:noFill/>
        </a:ln>
      </c:spPr>
    </c:plotArea>
    <c:plotVisOnly val="1"/>
    <c:dispBlanksAs val="zero"/>
    <c:showDLblsOverMax val="1"/>
  </c:chart>
  <c:spPr>
    <a:solidFill>
      <a:srgbClr val="F3EFE6"/>
    </a:solidFill>
    <a:ln>
      <a:noFill/>
    </a:ln>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title>
      <c:tx>
        <c:rich>
          <a:bodyPr/>
          <a:lstStyle/>
          <a:p>
            <a:r>
              <a:rPr lang="en-US" sz="2475" b="1">
                <a:solidFill>
                  <a:srgbClr val="36705C"/>
                </a:solidFill>
                <a:latin typeface="Poppins"/>
                <a:ea typeface="Poppins"/>
                <a:cs typeface="Poppins"/>
              </a:rPr>
              <a:t>Wearer C</a:t>
            </a:r>
          </a:p>
        </c:rich>
      </c:tx>
      <c:overlay val="0"/>
    </c:title>
    <c:autoTitleDeleted val="0"/>
    <c:plotArea>
      <c:layout/>
      <c:lineChart>
        <c:grouping val="standard"/>
        <c:varyColors val="0"/>
        <c:ser>
          <c:idx val="0"/>
          <c:order val="0"/>
          <c:tx>
            <c:v>Illustrative raw EEG (µV)</c:v>
          </c:tx>
          <c:spPr>
            <a:ln w="28575">
              <a:solidFill>
                <a:srgbClr val="36705C"/>
              </a:solidFill>
            </a:ln>
          </c:spPr>
          <c:marker>
            <c:symbol val="none"/>
          </c:marker>
          <c:cat>
            <c:numRef>
              <c:f>'Chart Data'!$A$2:$A$66</c:f>
              <c:numCache>
                <c:formatCode>General</c:formatCode>
                <c:ptCount val="65"/>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pt idx="64">
                  <c:v>64</c:v>
                </c:pt>
              </c:numCache>
            </c:numRef>
          </c:cat>
          <c:val>
            <c:numRef>
              <c:f>'Chart Data'!$B$2:$B$66</c:f>
              <c:numCache>
                <c:formatCode>0.0</c:formatCode>
                <c:ptCount val="65"/>
                <c:pt idx="0">
                  <c:v>-0.2</c:v>
                </c:pt>
                <c:pt idx="1">
                  <c:v>25.7</c:v>
                </c:pt>
                <c:pt idx="2">
                  <c:v>19.7</c:v>
                </c:pt>
                <c:pt idx="3">
                  <c:v>20.8</c:v>
                </c:pt>
                <c:pt idx="4">
                  <c:v>7.9</c:v>
                </c:pt>
                <c:pt idx="5">
                  <c:v>-25.6</c:v>
                </c:pt>
                <c:pt idx="6">
                  <c:v>-25.6</c:v>
                </c:pt>
                <c:pt idx="7">
                  <c:v>-15.6</c:v>
                </c:pt>
                <c:pt idx="8">
                  <c:v>-11.5</c:v>
                </c:pt>
                <c:pt idx="9">
                  <c:v>18.8</c:v>
                </c:pt>
                <c:pt idx="10">
                  <c:v>32</c:v>
                </c:pt>
                <c:pt idx="11">
                  <c:v>13.9</c:v>
                </c:pt>
                <c:pt idx="12">
                  <c:v>8.1999999999999993</c:v>
                </c:pt>
                <c:pt idx="13">
                  <c:v>-10.7</c:v>
                </c:pt>
                <c:pt idx="14">
                  <c:v>-35</c:v>
                </c:pt>
                <c:pt idx="15">
                  <c:v>-19.2</c:v>
                </c:pt>
                <c:pt idx="16">
                  <c:v>-3.1</c:v>
                </c:pt>
                <c:pt idx="17">
                  <c:v>5.3</c:v>
                </c:pt>
                <c:pt idx="18">
                  <c:v>30.9</c:v>
                </c:pt>
                <c:pt idx="19">
                  <c:v>26.8</c:v>
                </c:pt>
                <c:pt idx="20">
                  <c:v>0</c:v>
                </c:pt>
                <c:pt idx="21">
                  <c:v>-6.8</c:v>
                </c:pt>
                <c:pt idx="22">
                  <c:v>-23.8</c:v>
                </c:pt>
                <c:pt idx="23">
                  <c:v>-32.799999999999997</c:v>
                </c:pt>
                <c:pt idx="24">
                  <c:v>-3.9</c:v>
                </c:pt>
                <c:pt idx="25">
                  <c:v>11.7</c:v>
                </c:pt>
                <c:pt idx="26">
                  <c:v>17.399999999999999</c:v>
                </c:pt>
                <c:pt idx="27">
                  <c:v>31.9</c:v>
                </c:pt>
                <c:pt idx="28">
                  <c:v>11.6</c:v>
                </c:pt>
                <c:pt idx="29">
                  <c:v>-16.399999999999999</c:v>
                </c:pt>
                <c:pt idx="30">
                  <c:v>-17.399999999999999</c:v>
                </c:pt>
                <c:pt idx="31">
                  <c:v>-26.6</c:v>
                </c:pt>
                <c:pt idx="32">
                  <c:v>-19.8</c:v>
                </c:pt>
                <c:pt idx="33">
                  <c:v>14.8</c:v>
                </c:pt>
                <c:pt idx="34">
                  <c:v>22.1</c:v>
                </c:pt>
                <c:pt idx="35">
                  <c:v>20.100000000000001</c:v>
                </c:pt>
                <c:pt idx="36">
                  <c:v>22</c:v>
                </c:pt>
                <c:pt idx="37">
                  <c:v>-8.1999999999999993</c:v>
                </c:pt>
                <c:pt idx="38">
                  <c:v>-28.4</c:v>
                </c:pt>
                <c:pt idx="39">
                  <c:v>-18.899999999999999</c:v>
                </c:pt>
                <c:pt idx="40">
                  <c:v>-19</c:v>
                </c:pt>
                <c:pt idx="41">
                  <c:v>-0.9</c:v>
                </c:pt>
                <c:pt idx="42">
                  <c:v>29.7</c:v>
                </c:pt>
                <c:pt idx="43">
                  <c:v>23.1</c:v>
                </c:pt>
                <c:pt idx="44">
                  <c:v>12.8</c:v>
                </c:pt>
                <c:pt idx="45">
                  <c:v>5.5</c:v>
                </c:pt>
                <c:pt idx="46">
                  <c:v>-25.5</c:v>
                </c:pt>
                <c:pt idx="47">
                  <c:v>-30.7</c:v>
                </c:pt>
                <c:pt idx="48">
                  <c:v>-10.5</c:v>
                </c:pt>
                <c:pt idx="49">
                  <c:v>-4.5999999999999996</c:v>
                </c:pt>
                <c:pt idx="50">
                  <c:v>16.899999999999999</c:v>
                </c:pt>
                <c:pt idx="51">
                  <c:v>35</c:v>
                </c:pt>
                <c:pt idx="52">
                  <c:v>13.5</c:v>
                </c:pt>
                <c:pt idx="53">
                  <c:v>-1</c:v>
                </c:pt>
                <c:pt idx="54">
                  <c:v>-10.9</c:v>
                </c:pt>
                <c:pt idx="55">
                  <c:v>-33.9</c:v>
                </c:pt>
                <c:pt idx="56">
                  <c:v>-21.7</c:v>
                </c:pt>
                <c:pt idx="57">
                  <c:v>4.5999999999999996</c:v>
                </c:pt>
                <c:pt idx="58">
                  <c:v>9.9</c:v>
                </c:pt>
                <c:pt idx="59">
                  <c:v>26.9</c:v>
                </c:pt>
                <c:pt idx="60">
                  <c:v>28.5</c:v>
                </c:pt>
                <c:pt idx="61">
                  <c:v>-3.4</c:v>
                </c:pt>
                <c:pt idx="62">
                  <c:v>-15</c:v>
                </c:pt>
                <c:pt idx="63">
                  <c:v>-20.6</c:v>
                </c:pt>
                <c:pt idx="64">
                  <c:v>-30.6</c:v>
                </c:pt>
              </c:numCache>
            </c:numRef>
          </c:val>
          <c:smooth val="0"/>
          <c:extLst>
            <c:ext xmlns:c16="http://schemas.microsoft.com/office/drawing/2014/chart" uri="{C3380CC4-5D6E-409C-BE32-E72D297353CC}">
              <c16:uniqueId val="{00000000-5BC1-A744-A380-006EA76A6456}"/>
            </c:ext>
          </c:extLst>
        </c:ser>
        <c:dLbls>
          <c:showLegendKey val="0"/>
          <c:showVal val="0"/>
          <c:showCatName val="0"/>
          <c:showSerName val="0"/>
          <c:showPercent val="0"/>
          <c:showBubbleSize val="0"/>
        </c:dLbls>
        <c:smooth val="0"/>
        <c:axId val="48650112"/>
        <c:axId val="48672768"/>
      </c:lineChart>
      <c:catAx>
        <c:axId val="48650112"/>
        <c:scaling>
          <c:orientation val="minMax"/>
        </c:scaling>
        <c:delete val="0"/>
        <c:axPos val="b"/>
        <c:numFmt formatCode="General" sourceLinked="1"/>
        <c:majorTickMark val="none"/>
        <c:minorTickMark val="none"/>
        <c:tickLblPos val="none"/>
        <c:spPr>
          <a:ln>
            <a:noFill/>
          </a:ln>
        </c:spPr>
        <c:txPr>
          <a:bodyPr anchorCtr="1"/>
          <a:lstStyle/>
          <a:p>
            <a:pPr>
              <a:defRPr sz="1500">
                <a:solidFill>
                  <a:srgbClr val="5A5D59"/>
                </a:solidFill>
                <a:latin typeface="Poppins"/>
                <a:ea typeface="Poppins"/>
                <a:cs typeface="Poppins"/>
              </a:defRPr>
            </a:pPr>
            <a:endParaRPr lang="en-US"/>
          </a:p>
        </c:txPr>
        <c:crossAx val="48672768"/>
        <c:crosses val="autoZero"/>
        <c:auto val="1"/>
        <c:lblAlgn val="ctr"/>
        <c:lblOffset val="100"/>
        <c:noMultiLvlLbl val="1"/>
      </c:catAx>
      <c:valAx>
        <c:axId val="48672768"/>
        <c:scaling>
          <c:orientation val="minMax"/>
          <c:max val="40"/>
          <c:min val="-40"/>
        </c:scaling>
        <c:delete val="0"/>
        <c:axPos val="l"/>
        <c:majorGridlines>
          <c:spPr>
            <a:ln w="9525">
              <a:solidFill>
                <a:srgbClr val="D6D2C7"/>
              </a:solidFill>
            </a:ln>
          </c:spPr>
        </c:majorGridlines>
        <c:numFmt formatCode="0.0" sourceLinked="1"/>
        <c:majorTickMark val="none"/>
        <c:minorTickMark val="none"/>
        <c:tickLblPos val="nextTo"/>
        <c:spPr>
          <a:ln w="9525">
            <a:solidFill>
              <a:srgbClr val="D4D4D4"/>
            </a:solidFill>
            <a:prstDash val="solid"/>
          </a:ln>
        </c:spPr>
        <c:txPr>
          <a:bodyPr anchorCtr="1"/>
          <a:lstStyle/>
          <a:p>
            <a:pPr>
              <a:defRPr sz="1500">
                <a:solidFill>
                  <a:srgbClr val="5A5D59"/>
                </a:solidFill>
                <a:latin typeface="Poppins"/>
                <a:ea typeface="Poppins"/>
                <a:cs typeface="Poppins"/>
              </a:defRPr>
            </a:pPr>
            <a:endParaRPr lang="en-US"/>
          </a:p>
        </c:txPr>
        <c:crossAx val="48650112"/>
        <c:crosses val="autoZero"/>
        <c:crossBetween val="between"/>
      </c:valAx>
      <c:spPr>
        <a:solidFill>
          <a:srgbClr val="F3EFE6"/>
        </a:solidFill>
        <a:ln>
          <a:noFill/>
        </a:ln>
      </c:spPr>
    </c:plotArea>
    <c:plotVisOnly val="1"/>
    <c:dispBlanksAs val="zero"/>
    <c:showDLblsOverMax val="1"/>
  </c:chart>
  <c:spPr>
    <a:solidFill>
      <a:srgbClr val="F3EFE6"/>
    </a:solidFill>
    <a:ln>
      <a:noFill/>
    </a:ln>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title>
      <c:tx>
        <c:rich>
          <a:bodyPr/>
          <a:lstStyle/>
          <a:p>
            <a:r>
              <a:rPr lang="en-US" sz="2100">
                <a:solidFill>
                  <a:srgbClr val="5A5D59"/>
                </a:solidFill>
                <a:latin typeface="Poppins"/>
                <a:ea typeface="Poppins"/>
                <a:cs typeface="Poppins"/>
              </a:rPr>
              <a:t>False alarms per hour</a:t>
            </a:r>
          </a:p>
        </c:rich>
      </c:tx>
      <c:overlay val="0"/>
    </c:title>
    <c:autoTitleDeleted val="0"/>
    <c:plotArea>
      <c:layout/>
      <c:barChart>
        <c:barDir val="col"/>
        <c:grouping val="clustered"/>
        <c:varyColors val="0"/>
        <c:ser>
          <c:idx val="0"/>
          <c:order val="0"/>
          <c:tx>
            <c:v>False alarms per hour</c:v>
          </c:tx>
          <c:spPr>
            <a:solidFill>
              <a:srgbClr val="326B8C"/>
            </a:solidFill>
          </c:spPr>
          <c:invertIfNegative val="1"/>
          <c:dPt>
            <c:idx val="0"/>
            <c:invertIfNegative val="0"/>
            <c:bubble3D val="0"/>
            <c:spPr>
              <a:solidFill>
                <a:srgbClr val="AC493B"/>
              </a:solidFill>
            </c:spPr>
            <c:extLst>
              <c:ext xmlns:c16="http://schemas.microsoft.com/office/drawing/2014/chart" uri="{C3380CC4-5D6E-409C-BE32-E72D297353CC}">
                <c16:uniqueId val="{00000001-0351-9546-A034-876951FC3663}"/>
              </c:ext>
            </c:extLst>
          </c:dPt>
          <c:dPt>
            <c:idx val="1"/>
            <c:invertIfNegative val="0"/>
            <c:bubble3D val="0"/>
            <c:spPr>
              <a:solidFill>
                <a:srgbClr val="9B712B"/>
              </a:solidFill>
            </c:spPr>
            <c:extLst>
              <c:ext xmlns:c16="http://schemas.microsoft.com/office/drawing/2014/chart" uri="{C3380CC4-5D6E-409C-BE32-E72D297353CC}">
                <c16:uniqueId val="{00000003-0351-9546-A034-876951FC3663}"/>
              </c:ext>
            </c:extLst>
          </c:dPt>
          <c:dPt>
            <c:idx val="2"/>
            <c:invertIfNegative val="0"/>
            <c:bubble3D val="0"/>
            <c:extLst>
              <c:ext xmlns:c16="http://schemas.microsoft.com/office/drawing/2014/chart" uri="{C3380CC4-5D6E-409C-BE32-E72D297353CC}">
                <c16:uniqueId val="{00000005-0351-9546-A034-876951FC3663}"/>
              </c:ext>
            </c:extLst>
          </c:dPt>
          <c:dLbls>
            <c:dLbl>
              <c:idx val="0"/>
              <c:tx>
                <c:rich>
                  <a:bodyPr/>
                  <a:lstStyle/>
                  <a:p>
                    <a:r>
                      <a:rPr lang="en-US" sz="2700" b="1">
                        <a:solidFill>
                          <a:srgbClr val="191A18"/>
                        </a:solidFill>
                        <a:latin typeface="Poppins"/>
                        <a:ea typeface="Poppins"/>
                        <a:cs typeface="Poppins"/>
                      </a:rPr>
                      <a:t>30.3</a:t>
                    </a:r>
                  </a:p>
                </c:rich>
              </c:tx>
              <c:spPr/>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0351-9546-A034-876951FC3663}"/>
                </c:ext>
              </c:extLst>
            </c:dLbl>
            <c:dLbl>
              <c:idx val="1"/>
              <c:tx>
                <c:rich>
                  <a:bodyPr/>
                  <a:lstStyle/>
                  <a:p>
                    <a:r>
                      <a:rPr lang="en-US" sz="2700" b="1">
                        <a:solidFill>
                          <a:srgbClr val="191A18"/>
                        </a:solidFill>
                        <a:latin typeface="Poppins"/>
                        <a:ea typeface="Poppins"/>
                        <a:cs typeface="Poppins"/>
                      </a:rPr>
                      <a:t>18.9</a:t>
                    </a:r>
                  </a:p>
                </c:rich>
              </c:tx>
              <c:spPr/>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0351-9546-A034-876951FC3663}"/>
                </c:ext>
              </c:extLst>
            </c:dLbl>
            <c:dLbl>
              <c:idx val="2"/>
              <c:tx>
                <c:rich>
                  <a:bodyPr/>
                  <a:lstStyle/>
                  <a:p>
                    <a:r>
                      <a:rPr lang="en-US" sz="2700" b="1">
                        <a:solidFill>
                          <a:srgbClr val="191A18"/>
                        </a:solidFill>
                        <a:latin typeface="Poppins"/>
                        <a:ea typeface="Poppins"/>
                        <a:cs typeface="Poppins"/>
                      </a:rPr>
                      <a:t>1.3</a:t>
                    </a:r>
                  </a:p>
                </c:rich>
              </c:tx>
              <c:spPr/>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5-0351-9546-A034-876951FC3663}"/>
                </c:ext>
              </c:extLst>
            </c:dLbl>
            <c:spPr>
              <a:noFill/>
              <a:ln>
                <a:noFill/>
              </a:ln>
              <a:effectLst/>
            </c:spPr>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cat>
            <c:strRef>
              <c:f>'Chart Data'!$A$2:$A$4</c:f>
              <c:strCache>
                <c:ptCount val="3"/>
                <c:pt idx="0">
                  <c:v>75% overlap</c:v>
                </c:pt>
                <c:pt idx="1">
                  <c:v>50% overlap</c:v>
                </c:pt>
                <c:pt idx="2">
                  <c:v>No overlap</c:v>
                </c:pt>
              </c:strCache>
            </c:strRef>
          </c:cat>
          <c:val>
            <c:numRef>
              <c:f>'Chart Data'!$B$2:$B$4</c:f>
              <c:numCache>
                <c:formatCode>0.0</c:formatCode>
                <c:ptCount val="3"/>
                <c:pt idx="0">
                  <c:v>30.3</c:v>
                </c:pt>
                <c:pt idx="1">
                  <c:v>18.899999999999999</c:v>
                </c:pt>
                <c:pt idx="2">
                  <c:v>1.3</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6-0351-9546-A034-876951FC3663}"/>
            </c:ext>
          </c:extLst>
        </c:ser>
        <c:dLbls>
          <c:dLblPos val="outEnd"/>
          <c:showLegendKey val="0"/>
          <c:showVal val="1"/>
          <c:showCatName val="0"/>
          <c:showSerName val="0"/>
          <c:showPercent val="0"/>
          <c:showBubbleSize val="0"/>
        </c:dLbls>
        <c:gapWidth val="14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6D2C7"/>
            </a:solidFill>
          </a:ln>
        </c:spPr>
        <c:txPr>
          <a:bodyPr anchorCtr="1"/>
          <a:lstStyle/>
          <a:p>
            <a:pPr>
              <a:defRPr sz="2400">
                <a:solidFill>
                  <a:srgbClr val="191A18"/>
                </a:solidFill>
                <a:latin typeface="Poppins"/>
                <a:ea typeface="Poppins"/>
                <a:cs typeface="Poppins"/>
              </a:defRPr>
            </a:pPr>
            <a:endParaRPr lang="en-US"/>
          </a:p>
        </c:txPr>
        <c:crossAx val="48672768"/>
        <c:crosses val="autoZero"/>
        <c:auto val="1"/>
        <c:lblAlgn val="ctr"/>
        <c:lblOffset val="100"/>
        <c:noMultiLvlLbl val="1"/>
      </c:catAx>
      <c:valAx>
        <c:axId val="48672768"/>
        <c:scaling>
          <c:orientation val="minMax"/>
          <c:max val="35"/>
          <c:min val="0"/>
        </c:scaling>
        <c:delete val="0"/>
        <c:axPos val="l"/>
        <c:majorGridlines>
          <c:spPr>
            <a:ln w="9525">
              <a:solidFill>
                <a:srgbClr val="D6D2C7"/>
              </a:solidFill>
            </a:ln>
          </c:spPr>
        </c:majorGridlines>
        <c:numFmt formatCode="0.0" sourceLinked="1"/>
        <c:majorTickMark val="none"/>
        <c:minorTickMark val="none"/>
        <c:tickLblPos val="nextTo"/>
        <c:spPr>
          <a:ln w="9525">
            <a:solidFill>
              <a:srgbClr val="D4D4D4"/>
            </a:solidFill>
            <a:prstDash val="solid"/>
          </a:ln>
        </c:spPr>
        <c:txPr>
          <a:bodyPr anchorCtr="1"/>
          <a:lstStyle/>
          <a:p>
            <a:pPr>
              <a:defRPr sz="1875">
                <a:solidFill>
                  <a:srgbClr val="5A5D59"/>
                </a:solidFill>
                <a:latin typeface="Poppins"/>
                <a:ea typeface="Poppins"/>
                <a:cs typeface="Poppins"/>
              </a:defRPr>
            </a:pPr>
            <a:endParaRPr lang="en-US"/>
          </a:p>
        </c:txPr>
        <c:crossAx val="48650112"/>
        <c:crosses val="autoZero"/>
        <c:crossBetween val="between"/>
      </c:valAx>
      <c:spPr>
        <a:solidFill>
          <a:srgbClr val="F3EFE6"/>
        </a:solidFill>
        <a:ln>
          <a:noFill/>
        </a:ln>
      </c:spPr>
    </c:plotArea>
    <c:plotVisOnly val="1"/>
    <c:dispBlanksAs val="zero"/>
    <c:showDLblsOverMax val="1"/>
  </c:chart>
  <c:spPr>
    <a:solidFill>
      <a:srgbClr val="F3EFE6"/>
    </a:solidFill>
    <a:ln>
      <a:noFill/>
    </a:ln>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Memorypalace. Revisit the moments you almost forgot. A personal memory companion that links changes in EEG activity with recorded context. Begin the 36-second film on the next slide.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Open with an everyday lapse in recall, not a medical claim. This is a relatable motivation, not evidence that an EEG detector identifies forgetting. Transition to the concept film.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Play the embedded 36-second concept film with sound. It illustrates the intended wearable experience, using the approved mannequin and revised desk reaction. The neural strengths shown in the film are illustrative story values. The running prototype uses the phone camera and supports synthetic EEG replay plus a Crown adapter.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it left to right and say the three verbs. Crown senses, the trigger fires, the glasses capture, the app lets you revisit. Crown is an EEG sensor, not a neurostimulation device, and Ray-Ban Meta glasses are not Quest. The working prototype records with an Android phone camera and has a Crown stream adapter. Sources: hardware-demo/eegdemo/pipeline.py; neurosity.co/crown; wearables.developer.meta.com.</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novelty argument, and every number on it is citable. SEED is the standard emotion EEG benchmark: Zheng and Lu, IEEE Transactions on Autonomous Mental Development 7(3), 2015. Fifteen subjects, two sessions a week or more apart, fifteen film clips of about four minutes, 62 channels. Wang et al., Frontiers in Neuroscience 15, 2021, doi 10.3389/fnins.2021.733546, tabulates 200 to 288 calibration trials per subject for motor imagery and uses the phrase long and tedious calibration time. Our contrast: we never name the feeling, so we need a threshold rather than a decoder.</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230296958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Live demo at http://localhost:3000/explore. Query: laptop keyboard. The screenshot is captured from the running project, not a fabricated interface. Elastic combines keyword and vector retrieval, with timeline and intensity filters. Sources: app/components/explore; hardware-demo/eegdemo/elastic_store.py. Keep the standalone app running when using the demo link.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Healthcare track, part one. Two of the three pillars. Everyday reflection is the base case: you do not have to remember to record the meeting that went badly, because the trigger is your own EEG leaving your own baseline, and the clip is already kept. Children is the case for someone who will not raise it themselves: a hard hour at school that never gets mentioned. Be precise on stage: we flag that the baseline moved. We do not name a feeling, and we do not diagnose. The parent gets a moment to ask about. Note the hardware honesty: sensing stays on the headband, because our own electrode ablation puts glasses positions at ranks 118, 119 and 120 out of 120 pairs. If someone asks about electrodes in the frames, the answer is that we measured it and ruled it out. Sources: confusion-detector/CHANNELS.md, root README.md limitations.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Healthcare track, part two, and the pillar that needs the most care. Dementia. The wearer names one trusted person, a carer or their clinician, and that person receives the moment after the fact. It is not a live feed and it is not a dashboard. The precedent is real and published: wearable camera review improved autobiographical memory in patients with Alzheimer's disease, Memory 23(3), 2015, and the wider SenseCam literature is Berry et al., Memory 19(7), 2011. Say the right-hand card out loud rather than skipping it. No patient has worn this, every end-to-end run in this repo used synthetic EEG, and the next step is a study with ethics approval and an outcome measure, not a launch. Saying that first is what stops a healthcare judge from assuming we do not know where the medical-device line sits. The system records context; a clinician reads it. It does not monitor, alert or diagnose.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Illustrative arithmetic: raw theta/alpha index 3.0; A mean 1.0 and standard deviation 0.5 gives z=4.0; B mean 2.6 and standard deviation 0.5 gives z=0.8. These are explanatory values, not measured people or clinical thresholds. The implemented trigger threshold is z=2.0. Source: confusion-detector/src/detector.py and config.py. The chart remains editable beneath its animated video overlay.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three raw EEG traces and 20 / 40 / 70 microvolt ranges are synthetic illustrations, not measured people or diagnostic norms. Peak-to-peak means maximum minus minimum; raw amplitude also depends on recording conditions. The live prototype calibrates theta/alpha mean and spread over 120 seconds, then uses a z-score. It does not trigger from raw peak-to-peak amplitude. Person icon: Lucide user-round, https://github.com/lucide-icons/lucide/blob/main/icons/user-round.svg (ISC).</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Four consecutive windows above z=2.0 are required. No overlap means samples are not reused; it does not prove statistical independence of brain activity. The active backend finalizes an ongoing recording on this trigger, attaches the signal context, and saves it. The concept film illustrates the broader event-capture vision. Sources: confusion-detector/src/config.py; hardware-demo/eegdemo/server.py Runtime.trigger.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Controlled comparison reported in confusion-detector/README.md, The one result that matters: 4-second windows, 75% overlap (hop 1s) 30.3 false alarms/hour; 50% overlap (hop 2s) 18.9; no overlap (hop 4s) 1.3. Same stationary synthetic fixture and threshold. Do not generalize the absolute rate to people or drifting baselines; the drifting fixture reported 7.2/hour at the default setting. This chart is engineering evidence for avoiding repeated samples, not a clinical performance claim.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Voloridge asked for something interesting built on public data. We opened five public EEG corpora and one of our own. Shin et al. 2018 dataset A gave the state detector we ship. OpenNeuro ds006394, 33 people at 16 channels, decided the hardware. PhysioNet EEGMMIDB let us test the Crown's exact eight channel names with zero substitution. PhysioNet Auditory EEG, four real electrodes, is where we learned that random epoch splits lie and every split must be at recording level. BED is the only corpus with sessions a week apart and it is access-restricted, so we did not download it and we claim nothing from it. Our own Emotiv EPOC X recording is committed to the repo: 192 trials, 65.79% three-class against 33.3% chance, shuffled-label control at 34.79%. Labels are always the experimenters', never invented. Public data validates the machinery; it never supplies deployed weights, because spatial filters are tied to electrode positions and impedances. Sources: dataset/README.md, eeg-state-detection/README.md, confusion-detector/CHANNELS.md, eeg-neural-signal-processing/RESULTS.md.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Left side is the model. 28 channels at 200 Hz, eye channels regressed out with the filter fit before the task and frozen before scoring, log power in theta, alpha and beta, 84 features from 2-second windows every 0.25 s, logistic regression, one moving average. Seven richer alternatives were tested as paired comparisons on the same recordings and folds: Riemannian tangent space at 1,218 features, two Fourier variants, zigzag persistent homology, a Bayesian state-space model, an adaptive IMM variant and EWMA volatility. Every one lost or tied. Right side is the sensor-agnostic question, measured within subject on ds006394 where chance is 0.50. 16 electrodes 0.778, Crown-like 8 electrodes 0.763, Ganglion 4 electrodes 0.719, midline Fz plus Cz 0.719, glasses brow 0.606. Eight dry electrodes hold 98% of the full montage. Every one of the top 12 pairs out of 120 contains Cz or Fz, and Cz plus O1 at 0.745 beats the whole four-channel Ganglion set. So it is not how many electrodes, it is where. Caveat worth saying aloud: a detector calibrated on visual surprise falls to 0.634 on the same person's auditory task, so calibrate on the task you will actually run. Source: confusion-detector/CHANNELS.md.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 did not start simple and stop there. Every one of these was tested on the same recordings, the same windows and the same calibration folds as the baseline it is being compared against. Riemannian geometry recovered more whole tasks but flagged twenty-two seconds of rest against two. Topological data analysis looked three times better than its baseline until we tested it against random placement. Bayesian state-space models lost to a plain moving average. Every one lost or tied. The only thing we kept is a single smoothing half-life. One number. Because rows are different participants, this is deliberately not a leaderboard: each row is only valid against its own baseline.</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Two questions, two public datasets, both tables straight out of Final Presentation/README.md. Left: does it work across people? Shin 2018, 28 channels, five participants, three sessions each, calibrate on the first six blocks and score the last three with models frozen before scoring. VP002 at 93% down to VP004 at 65%, 79% mean across all 15 sessions, 14 of 15 above chance, 8 beating their own circular time-shift null at p &lt;= 0.05. The spread is the argument for per-person training. Right: how many electrodes and where, on OpenNeuro ds006394, within subject, n = 38 of 51 recordings, the ones where the full montage cleared 0.70 AUC; the 13 excluded are named in figures/inclusion.json. The headline is that halving the electrodes costs 2 points and moving them to the temples costs 21. Chance is 50%. These are AUC, not accuracy: 84% AUC means the model ranks a true event above a non-event 84% of the time.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one session of one participant, and it is the clearest picture of what the detector does. Grey on the left is the six calibration blocks. Blue on the right is the three blocks it never saw while fitting. Shaded bands are the real task periods and the hatched bands are labelled rest, both from the experimenters' markers. The margin climbs through every task block and falls below zero during rest, and the out-of-sample half behaves like the calibration half. The bars along the top are the intervals the detector actually returned. This session scores 0.97 out of sample, and against the shift null that is below a thousandth. It is our strongest session; the next slide shows all fifteen, including the weak ones.</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Challenge source: DOCS_sponsor/elastic. Implementation: Elastic Cloud Serverless, Jina v5 Omni via Elastic Inference, semantic metadata, BM25 + dense kNN with RRF, date and EEG-intensity filters. The persisted video is linked from the retrieved moment. Sources: hardware-demo/eegdemo/elastic_store.py; FULFILLMENT_SPONSORS.md. Logo source: https://www.apmdigest.com/sites/default/files/2024-09/logo_elastic.png ; brand owner https://www.elastic.co/ . Official method references: https://www.elastic.co/docs/solutions/search/multimodal-search ; https://www.elastic.co/docs/reference/elasticsearch/rest-apis/reciprocal-rank-fusion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Sponsor prompt: Bringing People Closer Together with AI. Muse Spark (muse-spark-1.3) is used in vision.py for recorded-video descriptions and in agent.py for Memory Guard reasoning/tool use and share_note generation. Muse Voice Transcribe (muse-voice-transcribe-1.0) transcribes push-to-talk input in voice.py; playback speech uses device speech synthesis. Muse Image and a Muse personal-agent connector are not implemented and are not claimed. Sources: hardware-demo/eegdemo/vision.py; agent.py; voice.py; app/components/share/SharePage.tsx. Sponsor links: https://developer.meta.com/ai/models/muse-spark/ and https://developer.meta.com/ai/models/muse-voice-transcribe/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Demo. Keep it to three beats and do not narrate the UI. One: type a fragment you remember into search. Two: the moment opens and the clip plays from where the signal fired. Three: share that one moment with one person you chose. The share step is the Meta track's highest-weighted criterion, human connection at 30%, so do not cut it for time. The app runs locally at localhost:3000.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Close: Memorypalace turns a fleeting reaction into a moment you can revisit, understand, and choose to share. Invite the judges to try the running retrieval demo. The film describes the wearable concept; the charts and sponsor slides show the implemented work.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9997369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2.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2.mp4"/><Relationship Id="rId1" Type="http://schemas.microsoft.com/office/2007/relationships/media" Target="../media/media2.mp4"/><Relationship Id="rId6" Type="http://schemas.openxmlformats.org/officeDocument/2006/relationships/image" Target="../media/image8.png"/><Relationship Id="rId5" Type="http://schemas.openxmlformats.org/officeDocument/2006/relationships/chart" Target="../charts/char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3" Type="http://schemas.openxmlformats.org/officeDocument/2006/relationships/image" Target="NULL"/><Relationship Id="rId7" Type="http://schemas.openxmlformats.org/officeDocument/2006/relationships/chart" Target="../charts/chart4.xml"/><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chart" Target="../charts/chart3.xml"/><Relationship Id="rId5" Type="http://schemas.openxmlformats.org/officeDocument/2006/relationships/image" Target="../media/image9.png"/><Relationship Id="rId4" Type="http://schemas.openxmlformats.org/officeDocument/2006/relationships/chart" Target="../charts/chart2.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3.mp4"/><Relationship Id="rId1" Type="http://schemas.microsoft.com/office/2007/relationships/media" Target="../media/media3.mp4"/><Relationship Id="rId5" Type="http://schemas.openxmlformats.org/officeDocument/2006/relationships/image" Target="../media/image10.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7F4EC"/>
        </a:solidFill>
        <a:effectLst/>
      </p:bgPr>
    </p:bg>
    <p:spTree>
      <p:nvGrpSpPr>
        <p:cNvPr id="1" name=""/>
        <p:cNvGrpSpPr/>
        <p:nvPr/>
      </p:nvGrpSpPr>
      <p:grpSpPr>
        <a:xfrm>
          <a:off x="0" y="0"/>
          <a:ext cx="0" cy="0"/>
          <a:chOff x="0" y="0"/>
          <a:chExt cx="0" cy="0"/>
        </a:xfrm>
      </p:grpSpPr>
      <p:pic>
        <p:nvPicPr>
          <p:cNvPr id="4" name="Picture 3"/>
          <p:cNvPicPr>
            <a:picLocks noChangeAspect="1"/>
          </p:cNvPicPr>
          <p:nvPr/>
        </p:nvPicPr>
        <p:blipFill>
          <a:blip r:embed="rId3"/>
          <a:stretch/>
        </p:blipFill>
        <p:spPr>
          <a:xfrm>
            <a:off x="0" y="0"/>
            <a:ext cx="18278283" cy="10287000"/>
          </a:xfrm>
          <a:prstGeom prst="rect">
            <a:avLst/>
          </a:prstGeom>
        </p:spPr>
      </p:pic>
      <p:sp>
        <p:nvSpPr>
          <p:cNvPr id="2" name="Revisit the moments you almost forgot.">
            <a:extLst>
              <a:ext uri="{FF2B5EF4-FFF2-40B4-BE49-F238E27FC236}">
                <a16:creationId xmlns:a16="http://schemas.microsoft.com/office/drawing/2014/main" id="{80B394FE-A142-4280-8473-C07754CC765A}"/>
              </a:ext>
            </a:extLst>
          </p:cNvPr>
          <p:cNvSpPr>
            <a:spLocks noGrp="1"/>
          </p:cNvSpPr>
          <p:nvPr/>
        </p:nvSpPr>
        <p:spPr>
          <a:xfrm>
            <a:off x="1524000" y="6905625"/>
            <a:ext cx="15240000" cy="1047750"/>
          </a:xfrm>
          <a:prstGeom prst="rect">
            <a:avLst/>
          </a:prstGeom>
          <a:noFill/>
          <a:ln w="0">
            <a:noFill/>
          </a:ln>
        </p:spPr>
        <p:txBody>
          <a:bodyPr lIns="0" tIns="0" rIns="0" bIns="0" anchor="t">
            <a:noAutofit/>
          </a:bodyPr>
          <a:lstStyle/>
          <a:p>
            <a:pPr algn="ctr">
              <a:defRPr sz="3900" b="0">
                <a:solidFill>
                  <a:srgbClr val="191A18"/>
                </a:solidFill>
                <a:latin typeface="Poppins"/>
                <a:ea typeface="Poppins"/>
                <a:cs typeface="Poppins"/>
              </a:defRPr>
            </a:pPr>
            <a:r>
              <a:rPr lang="en-US" sz="3900" b="0" dirty="0">
                <a:solidFill>
                  <a:srgbClr val="191A18"/>
                </a:solidFill>
                <a:latin typeface="Poppins"/>
                <a:ea typeface="Poppins"/>
                <a:cs typeface="Poppins"/>
              </a:rPr>
              <a:t>Revisit &amp; Reflect’ | Mental Health is Physical Wealth</a:t>
            </a:r>
            <a:endParaRPr sz="3900" b="0" dirty="0">
              <a:solidFill>
                <a:srgbClr val="191A18"/>
              </a:solidFill>
              <a:latin typeface="Poppins"/>
              <a:ea typeface="Poppins"/>
              <a:cs typeface="Poppins"/>
            </a:endParaRPr>
          </a:p>
        </p:txBody>
      </p:sp>
      <p:sp>
        <p:nvSpPr>
          <p:cNvPr id="3" name="HackMIT 2026">
            <a:extLst>
              <a:ext uri="{FF2B5EF4-FFF2-40B4-BE49-F238E27FC236}">
                <a16:creationId xmlns:a16="http://schemas.microsoft.com/office/drawing/2014/main" id="{B81E7FAE-9A66-474A-9B4D-CAC3043E93E8}"/>
              </a:ext>
            </a:extLst>
          </p:cNvPr>
          <p:cNvSpPr>
            <a:spLocks noGrp="1"/>
          </p:cNvSpPr>
          <p:nvPr/>
        </p:nvSpPr>
        <p:spPr>
          <a:xfrm>
            <a:off x="1524000" y="8639175"/>
            <a:ext cx="15240000" cy="571500"/>
          </a:xfrm>
          <a:prstGeom prst="rect">
            <a:avLst/>
          </a:prstGeom>
          <a:noFill/>
          <a:ln w="0">
            <a:noFill/>
          </a:ln>
        </p:spPr>
        <p:txBody>
          <a:bodyPr lIns="0" tIns="0" rIns="0" bIns="0" anchor="t">
            <a:noAutofit/>
          </a:bodyPr>
          <a:lstStyle/>
          <a:p>
            <a:pPr algn="ctr">
              <a:defRPr sz="2250" b="0">
                <a:solidFill>
                  <a:srgbClr val="9B712B"/>
                </a:solidFill>
                <a:latin typeface="Poppins"/>
                <a:ea typeface="Poppins"/>
                <a:cs typeface="Poppins"/>
              </a:defRPr>
            </a:pPr>
            <a:r>
              <a:rPr sz="2250" b="1" dirty="0" err="1">
                <a:solidFill>
                  <a:srgbClr val="9B712B"/>
                </a:solidFill>
                <a:latin typeface="Poppins"/>
                <a:ea typeface="Poppins"/>
                <a:cs typeface="Poppins"/>
              </a:rPr>
              <a:t>HackMIT</a:t>
            </a:r>
            <a:r>
              <a:rPr sz="2250" b="1" dirty="0">
                <a:solidFill>
                  <a:srgbClr val="9B712B"/>
                </a:solidFill>
                <a:latin typeface="Poppins"/>
                <a:ea typeface="Poppins"/>
                <a:cs typeface="Poppins"/>
              </a:rPr>
              <a:t> 2026</a:t>
            </a:r>
          </a:p>
        </p:txBody>
      </p:sp>
    </p:spTree>
    <p:extLst>
      <p:ext uri="{BB962C8B-B14F-4D97-AF65-F5344CB8AC3E}">
        <p14:creationId xmlns:p14="http://schemas.microsoft.com/office/powerpoint/2010/main" val="3075303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4EC"/>
        </a:solidFill>
        <a:effectLst/>
      </p:bgPr>
    </p:bg>
    <p:spTree>
      <p:nvGrpSpPr>
        <p:cNvPr id="1" name=""/>
        <p:cNvGrpSpPr/>
        <p:nvPr/>
      </p:nvGrpSpPr>
      <p:grpSpPr>
        <a:xfrm>
          <a:off x="0" y="0"/>
          <a:ext cx="0" cy="0"/>
          <a:chOff x="0" y="0"/>
          <a:chExt cx="0" cy="0"/>
        </a:xfrm>
      </p:grpSpPr>
      <p:sp>
        <p:nvSpPr>
          <p:cNvPr id="4" name="Ever walked into a room…">
            <a:extLst>
              <a:ext uri="{FF2B5EF4-FFF2-40B4-BE49-F238E27FC236}">
                <a16:creationId xmlns:a16="http://schemas.microsoft.com/office/drawing/2014/main" id="{6DCAE052-242B-48AC-BF0A-5BAB14280E65}"/>
              </a:ext>
            </a:extLst>
          </p:cNvPr>
          <p:cNvSpPr>
            <a:spLocks noGrp="1"/>
          </p:cNvSpPr>
          <p:nvPr/>
        </p:nvSpPr>
        <p:spPr>
          <a:xfrm>
            <a:off x="1047750" y="2190750"/>
            <a:ext cx="15716250" cy="1381125"/>
          </a:xfrm>
          <a:prstGeom prst="rect">
            <a:avLst/>
          </a:prstGeom>
          <a:noFill/>
          <a:ln w="0">
            <a:noFill/>
          </a:ln>
        </p:spPr>
        <p:txBody>
          <a:bodyPr lIns="0" tIns="0" rIns="0" bIns="0" anchor="t">
            <a:noAutofit/>
          </a:bodyPr>
          <a:lstStyle/>
          <a:p>
            <a:pPr algn="l">
              <a:defRPr sz="6750" b="1">
                <a:solidFill>
                  <a:srgbClr val="191A18"/>
                </a:solidFill>
                <a:latin typeface="Poppins"/>
                <a:ea typeface="Poppins"/>
                <a:cs typeface="Poppins"/>
              </a:defRPr>
            </a:pPr>
            <a:r>
              <a:rPr sz="6750" b="1" dirty="0">
                <a:solidFill>
                  <a:srgbClr val="191A18"/>
                </a:solidFill>
                <a:latin typeface="Poppins"/>
                <a:ea typeface="Poppins"/>
                <a:cs typeface="Poppins"/>
              </a:rPr>
              <a:t>Ever walked into a room…</a:t>
            </a:r>
          </a:p>
        </p:txBody>
      </p:sp>
      <p:sp>
        <p:nvSpPr>
          <p:cNvPr id="2" name="and forgotten what you came to say?">
            <a:extLst>
              <a:ext uri="{FF2B5EF4-FFF2-40B4-BE49-F238E27FC236}">
                <a16:creationId xmlns:a16="http://schemas.microsoft.com/office/drawing/2014/main" id="{7BEAB044-86CC-4A88-A6FC-3525B93F79B0}"/>
              </a:ext>
            </a:extLst>
          </p:cNvPr>
          <p:cNvSpPr>
            <a:spLocks noGrp="1"/>
          </p:cNvSpPr>
          <p:nvPr/>
        </p:nvSpPr>
        <p:spPr>
          <a:xfrm>
            <a:off x="1047750" y="3143250"/>
            <a:ext cx="15811500" cy="2000250"/>
          </a:xfrm>
          <a:prstGeom prst="rect">
            <a:avLst/>
          </a:prstGeom>
          <a:noFill/>
          <a:ln w="0">
            <a:noFill/>
          </a:ln>
        </p:spPr>
        <p:txBody>
          <a:bodyPr lIns="0" tIns="0" rIns="0" bIns="0" anchor="t">
            <a:noAutofit/>
          </a:bodyPr>
          <a:lstStyle/>
          <a:p>
            <a:pPr algn="l">
              <a:defRPr sz="6150" b="1">
                <a:solidFill>
                  <a:srgbClr val="191A18"/>
                </a:solidFill>
                <a:latin typeface="Poppins"/>
                <a:ea typeface="Poppins"/>
                <a:cs typeface="Poppins"/>
              </a:defRPr>
            </a:pPr>
            <a:r>
              <a:rPr sz="6150" b="1" dirty="0">
                <a:solidFill>
                  <a:srgbClr val="191A18"/>
                </a:solidFill>
                <a:latin typeface="Poppins"/>
                <a:ea typeface="Poppins"/>
                <a:cs typeface="Poppins"/>
              </a:rPr>
              <a:t>and </a:t>
            </a:r>
            <a:r>
              <a:rPr sz="6750" b="1" dirty="0">
                <a:solidFill>
                  <a:srgbClr val="191A18"/>
                </a:solidFill>
                <a:latin typeface="Poppins"/>
                <a:ea typeface="Poppins"/>
                <a:cs typeface="Poppins"/>
              </a:rPr>
              <a:t>forgotten</a:t>
            </a:r>
            <a:r>
              <a:rPr sz="6150" b="1" dirty="0">
                <a:solidFill>
                  <a:srgbClr val="191A18"/>
                </a:solidFill>
                <a:latin typeface="Poppins"/>
                <a:ea typeface="Poppins"/>
                <a:cs typeface="Poppins"/>
              </a:rPr>
              <a:t> what you came to say?</a:t>
            </a:r>
          </a:p>
        </p:txBody>
      </p:sp>
      <p:sp>
        <p:nvSpPr>
          <p:cNvPr id="5" name="Our objective">
            <a:extLst>
              <a:ext uri="{FF2B5EF4-FFF2-40B4-BE49-F238E27FC236}">
                <a16:creationId xmlns:a16="http://schemas.microsoft.com/office/drawing/2014/main" id="{09BA193B-2414-0998-1088-4542D5D36D13}"/>
              </a:ext>
            </a:extLst>
          </p:cNvPr>
          <p:cNvSpPr>
            <a:spLocks noGrp="1"/>
          </p:cNvSpPr>
          <p:nvPr/>
        </p:nvSpPr>
        <p:spPr>
          <a:xfrm>
            <a:off x="1047750" y="6962775"/>
            <a:ext cx="15716250" cy="619125"/>
          </a:xfrm>
          <a:prstGeom prst="rect">
            <a:avLst/>
          </a:prstGeom>
          <a:noFill/>
          <a:ln w="0">
            <a:noFill/>
          </a:ln>
        </p:spPr>
        <p:txBody>
          <a:bodyPr lIns="0" tIns="0" rIns="0" bIns="0" anchor="t">
            <a:noAutofit/>
          </a:bodyPr>
          <a:lstStyle/>
          <a:p>
            <a:pPr algn="l">
              <a:defRPr sz="2925" b="1">
                <a:solidFill>
                  <a:srgbClr val="9B712B"/>
                </a:solidFill>
                <a:latin typeface="Poppins"/>
                <a:ea typeface="Poppins"/>
                <a:cs typeface="Poppins"/>
              </a:defRPr>
            </a:pPr>
            <a:r>
              <a:rPr sz="2925" b="1">
                <a:solidFill>
                  <a:srgbClr val="9B712B"/>
                </a:solidFill>
                <a:latin typeface="Poppins"/>
                <a:ea typeface="Poppins"/>
                <a:cs typeface="Poppins"/>
              </a:rPr>
              <a:t>Our objective</a:t>
            </a:r>
          </a:p>
        </p:txBody>
      </p:sp>
      <p:sp>
        <p:nvSpPr>
          <p:cNvPr id="6" name="Revisit recorded moments, reflect on your day,&#10;and">
            <a:extLst>
              <a:ext uri="{FF2B5EF4-FFF2-40B4-BE49-F238E27FC236}">
                <a16:creationId xmlns:a16="http://schemas.microsoft.com/office/drawing/2014/main" id="{81355D6C-A118-DAFD-F692-AB109ED3E3FA}"/>
              </a:ext>
            </a:extLst>
          </p:cNvPr>
          <p:cNvSpPr>
            <a:spLocks noGrp="1"/>
          </p:cNvSpPr>
          <p:nvPr/>
        </p:nvSpPr>
        <p:spPr>
          <a:xfrm>
            <a:off x="1047750" y="7667625"/>
            <a:ext cx="15811500" cy="1524000"/>
          </a:xfrm>
          <a:prstGeom prst="rect">
            <a:avLst/>
          </a:prstGeom>
          <a:noFill/>
          <a:ln w="0">
            <a:noFill/>
          </a:ln>
        </p:spPr>
        <p:txBody>
          <a:bodyPr lIns="0" tIns="0" rIns="0" bIns="0" anchor="t">
            <a:noAutofit/>
          </a:bodyPr>
          <a:lstStyle/>
          <a:p>
            <a:pPr algn="l">
              <a:defRPr sz="2925" b="0">
                <a:solidFill>
                  <a:srgbClr val="326B8C"/>
                </a:solidFill>
                <a:latin typeface="Poppins"/>
                <a:ea typeface="Poppins"/>
                <a:cs typeface="Poppins"/>
              </a:defRPr>
            </a:pPr>
            <a:r>
              <a:rPr sz="2925" b="0" dirty="0">
                <a:solidFill>
                  <a:srgbClr val="326B8C"/>
                </a:solidFill>
                <a:latin typeface="Poppins"/>
                <a:ea typeface="Poppins"/>
                <a:cs typeface="Poppins"/>
              </a:rPr>
              <a:t>Revisit recorded moments, reflect on your day,</a:t>
            </a:r>
          </a:p>
          <a:p>
            <a:pPr algn="l">
              <a:defRPr sz="2925" b="0">
                <a:solidFill>
                  <a:srgbClr val="326B8C"/>
                </a:solidFill>
                <a:latin typeface="Poppins"/>
                <a:ea typeface="Poppins"/>
                <a:cs typeface="Poppins"/>
              </a:defRPr>
            </a:pPr>
            <a:r>
              <a:rPr sz="2925" b="0" dirty="0">
                <a:solidFill>
                  <a:srgbClr val="326B8C"/>
                </a:solidFill>
                <a:latin typeface="Poppins"/>
                <a:ea typeface="Poppins"/>
                <a:cs typeface="Poppins"/>
              </a:rPr>
              <a:t>and share selected experiences with </a:t>
            </a:r>
            <a:r>
              <a:rPr lang="en-US" sz="2925" dirty="0">
                <a:solidFill>
                  <a:srgbClr val="326B8C"/>
                </a:solidFill>
                <a:latin typeface="Poppins"/>
                <a:ea typeface="Poppins"/>
                <a:cs typeface="Poppins"/>
              </a:rPr>
              <a:t>close ones</a:t>
            </a:r>
            <a:r>
              <a:rPr sz="2925" b="0" dirty="0">
                <a:solidFill>
                  <a:srgbClr val="326B8C"/>
                </a:solidFill>
                <a:latin typeface="Poppins"/>
                <a:ea typeface="Poppins"/>
                <a:cs typeface="Poppins"/>
              </a:rPr>
              <a:t>.</a:t>
            </a:r>
          </a:p>
        </p:txBody>
      </p:sp>
    </p:spTree>
    <p:extLst>
      <p:ext uri="{BB962C8B-B14F-4D97-AF65-F5344CB8AC3E}">
        <p14:creationId xmlns:p14="http://schemas.microsoft.com/office/powerpoint/2010/main" val="17913907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4EC"/>
        </a:solidFill>
        <a:effectLst/>
      </p:bgPr>
    </p:bg>
    <p:spTree>
      <p:nvGrpSpPr>
        <p:cNvPr id="1" name=""/>
        <p:cNvGrpSpPr/>
        <p:nvPr/>
      </p:nvGrpSpPr>
      <p:grpSpPr>
        <a:xfrm>
          <a:off x="0" y="0"/>
          <a:ext cx="0" cy="0"/>
          <a:chOff x="0" y="0"/>
          <a:chExt cx="0" cy="0"/>
        </a:xfrm>
      </p:grpSpPr>
      <p:pic>
        <p:nvPicPr>
          <p:cNvPr id="2" name="intro video">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18288000" cy="10287000"/>
          </a:xfrm>
          <a:prstGeom prst="rect">
            <a:avLst/>
          </a:prstGeom>
        </p:spPr>
      </p:pic>
    </p:spTree>
    <p:extLst>
      <p:ext uri="{BB962C8B-B14F-4D97-AF65-F5344CB8AC3E}">
        <p14:creationId xmlns:p14="http://schemas.microsoft.com/office/powerpoint/2010/main" val="378979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4EC"/>
        </a:solidFill>
        <a:effectLst/>
      </p:bgPr>
    </p:bg>
    <p:spTree>
      <p:nvGrpSpPr>
        <p:cNvPr id="1" name=""/>
        <p:cNvGrpSpPr/>
        <p:nvPr/>
      </p:nvGrpSpPr>
      <p:grpSpPr>
        <a:xfrm>
          <a:off x="0" y="0"/>
          <a:ext cx="0" cy="0"/>
          <a:chOff x="0" y="0"/>
          <a:chExt cx="0" cy="0"/>
        </a:xfrm>
      </p:grpSpPr>
      <p:sp>
        <p:nvSpPr>
          <p:cNvPr id="3" name="Text 0"/>
          <p:cNvSpPr txBox="1"/>
          <p:nvPr/>
        </p:nvSpPr>
        <p:spPr>
          <a:xfrm>
            <a:off x="905256" y="685800"/>
            <a:ext cx="16472916" cy="466344"/>
          </a:xfrm>
          <a:prstGeom prst="rect">
            <a:avLst/>
          </a:prstGeom>
          <a:noFill/>
          <a:ln/>
        </p:spPr>
        <p:txBody>
          <a:bodyPr wrap="square" lIns="0" tIns="0" rIns="0" bIns="0" rtlCol="0" anchor="ctr"/>
          <a:lstStyle/>
          <a:p>
            <a:r>
              <a:rPr lang="en-US" sz="2700" b="1" i="1" kern="0" spc="390" dirty="0">
                <a:solidFill>
                  <a:srgbClr val="6E685C"/>
                </a:solidFill>
                <a:latin typeface="Century Gothic" pitchFamily="34" charset="0"/>
                <a:ea typeface="Century Gothic" pitchFamily="34" charset="-122"/>
                <a:cs typeface="Century Gothic" pitchFamily="34" charset="-120"/>
              </a:rPr>
              <a:t>THE SYSTEM</a:t>
            </a:r>
            <a:endParaRPr lang="en-US" sz="2700" i="1" dirty="0"/>
          </a:p>
        </p:txBody>
      </p:sp>
      <p:sp>
        <p:nvSpPr>
          <p:cNvPr id="4" name="Text 1"/>
          <p:cNvSpPr txBox="1"/>
          <p:nvPr/>
        </p:nvSpPr>
        <p:spPr>
          <a:xfrm>
            <a:off x="905256" y="1303021"/>
            <a:ext cx="16472916" cy="1876349"/>
          </a:xfrm>
          <a:prstGeom prst="rect">
            <a:avLst/>
          </a:prstGeom>
          <a:noFill/>
          <a:ln/>
        </p:spPr>
        <p:txBody>
          <a:bodyPr wrap="square" lIns="0" tIns="0" rIns="0" bIns="0" rtlCol="0" anchor="t"/>
          <a:lstStyle/>
          <a:p>
            <a:pPr>
              <a:lnSpc>
                <a:spcPct val="108000"/>
              </a:lnSpc>
            </a:pPr>
            <a:r>
              <a:rPr lang="en-US" sz="5700" b="1" dirty="0">
                <a:solidFill>
                  <a:srgbClr val="1A1917"/>
                </a:solidFill>
                <a:latin typeface="Century Gothic" pitchFamily="34" charset="0"/>
                <a:ea typeface="Century Gothic" pitchFamily="34" charset="-122"/>
                <a:cs typeface="Century Gothic" pitchFamily="34" charset="-120"/>
              </a:rPr>
              <a:t>Sense it. Capture it. Come back to it.</a:t>
            </a:r>
            <a:endParaRPr lang="en-US" sz="5700" dirty="0"/>
          </a:p>
        </p:txBody>
      </p:sp>
      <p:sp>
        <p:nvSpPr>
          <p:cNvPr id="5" name="Shape 2"/>
          <p:cNvSpPr/>
          <p:nvPr/>
        </p:nvSpPr>
        <p:spPr>
          <a:xfrm>
            <a:off x="905256" y="2682240"/>
            <a:ext cx="4210812" cy="5935980"/>
          </a:xfrm>
          <a:prstGeom prst="roundRect">
            <a:avLst>
              <a:gd name="adj" fmla="val 5212"/>
            </a:avLst>
          </a:prstGeom>
          <a:solidFill>
            <a:srgbClr val="FBF9F3"/>
          </a:solidFill>
          <a:ln w="12700">
            <a:solidFill>
              <a:srgbClr val="DFD8C6"/>
            </a:solidFill>
            <a:prstDash val="solid"/>
          </a:ln>
          <a:effectLst>
            <a:outerShdw blurRad="114300" dist="25400" dir="5400000" algn="bl" rotWithShape="0">
              <a:srgbClr val="BFB49A">
                <a:alpha val="30000"/>
              </a:srgbClr>
            </a:outerShdw>
          </a:effectLst>
        </p:spPr>
        <p:txBody>
          <a:bodyPr/>
          <a:lstStyle/>
          <a:p>
            <a:endParaRPr lang="en-US" sz="2700"/>
          </a:p>
        </p:txBody>
      </p:sp>
      <p:pic>
        <p:nvPicPr>
          <p:cNvPr id="6" name="Image 0" descr="/home/claude/newslides/media/crown.png"/>
          <p:cNvPicPr>
            <a:picLocks noChangeAspect="1"/>
          </p:cNvPicPr>
          <p:nvPr/>
        </p:nvPicPr>
        <p:blipFill>
          <a:blip r:embed="rId3"/>
          <a:stretch>
            <a:fillRect/>
          </a:stretch>
        </p:blipFill>
        <p:spPr>
          <a:xfrm>
            <a:off x="1097281" y="2831823"/>
            <a:ext cx="3866896" cy="2736843"/>
          </a:xfrm>
          <a:prstGeom prst="rect">
            <a:avLst/>
          </a:prstGeom>
        </p:spPr>
      </p:pic>
      <p:sp>
        <p:nvSpPr>
          <p:cNvPr id="7" name="Text 3"/>
          <p:cNvSpPr txBox="1"/>
          <p:nvPr/>
        </p:nvSpPr>
        <p:spPr>
          <a:xfrm>
            <a:off x="1371600" y="5760721"/>
            <a:ext cx="3278124" cy="665684"/>
          </a:xfrm>
          <a:prstGeom prst="rect">
            <a:avLst/>
          </a:prstGeom>
          <a:noFill/>
          <a:ln/>
        </p:spPr>
        <p:txBody>
          <a:bodyPr wrap="square" lIns="0" tIns="0" rIns="0" bIns="0" rtlCol="0" anchor="ctr"/>
          <a:lstStyle/>
          <a:p>
            <a:pPr>
              <a:lnSpc>
                <a:spcPct val="112000"/>
              </a:lnSpc>
            </a:pPr>
            <a:r>
              <a:rPr lang="en-US" sz="3900" b="1" dirty="0">
                <a:solidFill>
                  <a:srgbClr val="7A6430"/>
                </a:solidFill>
                <a:latin typeface="Century Gothic" pitchFamily="34" charset="0"/>
                <a:ea typeface="Century Gothic" pitchFamily="34" charset="-122"/>
                <a:cs typeface="Century Gothic" pitchFamily="34" charset="-120"/>
              </a:rPr>
              <a:t>Sense (EEG)</a:t>
            </a:r>
            <a:endParaRPr lang="en-US" sz="3900" dirty="0"/>
          </a:p>
        </p:txBody>
      </p:sp>
      <p:sp>
        <p:nvSpPr>
          <p:cNvPr id="8" name="Text 4"/>
          <p:cNvSpPr txBox="1"/>
          <p:nvPr/>
        </p:nvSpPr>
        <p:spPr>
          <a:xfrm>
            <a:off x="1371600" y="6645860"/>
            <a:ext cx="3278124" cy="1506017"/>
          </a:xfrm>
          <a:prstGeom prst="rect">
            <a:avLst/>
          </a:prstGeom>
          <a:noFill/>
          <a:ln/>
        </p:spPr>
        <p:txBody>
          <a:bodyPr wrap="square" lIns="0" tIns="0" rIns="0" bIns="0" rtlCol="0" anchor="ctr"/>
          <a:lstStyle/>
          <a:p>
            <a:pPr>
              <a:lnSpc>
                <a:spcPct val="122000"/>
              </a:lnSpc>
            </a:pPr>
            <a:r>
              <a:rPr lang="en-US" sz="2700" dirty="0">
                <a:solidFill>
                  <a:srgbClr val="4E4A42"/>
                </a:solidFill>
                <a:latin typeface="Century Gothic" pitchFamily="34" charset="0"/>
                <a:ea typeface="Century Gothic" pitchFamily="34" charset="-122"/>
                <a:cs typeface="Century Gothic" pitchFamily="34" charset="-120"/>
              </a:rPr>
              <a:t>Neurosity Crown, against your baseline.</a:t>
            </a:r>
            <a:endParaRPr lang="en-US" sz="2700" dirty="0"/>
          </a:p>
        </p:txBody>
      </p:sp>
      <p:sp>
        <p:nvSpPr>
          <p:cNvPr id="9" name="Shape 5"/>
          <p:cNvSpPr/>
          <p:nvPr/>
        </p:nvSpPr>
        <p:spPr>
          <a:xfrm rot="5400000">
            <a:off x="5939028" y="6099048"/>
            <a:ext cx="274320" cy="356616"/>
          </a:xfrm>
          <a:prstGeom prst="triangle">
            <a:avLst/>
          </a:prstGeom>
          <a:solidFill>
            <a:srgbClr val="8B8378"/>
          </a:solidFill>
          <a:ln w="12700">
            <a:solidFill>
              <a:srgbClr val="8B8378"/>
            </a:solidFill>
            <a:prstDash val="solid"/>
          </a:ln>
        </p:spPr>
        <p:txBody>
          <a:bodyPr/>
          <a:lstStyle/>
          <a:p>
            <a:endParaRPr lang="en-US" sz="2700"/>
          </a:p>
        </p:txBody>
      </p:sp>
      <p:sp>
        <p:nvSpPr>
          <p:cNvPr id="10" name="Text 6"/>
          <p:cNvSpPr txBox="1"/>
          <p:nvPr/>
        </p:nvSpPr>
        <p:spPr>
          <a:xfrm>
            <a:off x="5116068" y="5372100"/>
            <a:ext cx="1920240" cy="411480"/>
          </a:xfrm>
          <a:prstGeom prst="rect">
            <a:avLst/>
          </a:prstGeom>
          <a:noFill/>
          <a:ln/>
        </p:spPr>
        <p:txBody>
          <a:bodyPr wrap="square" lIns="0" tIns="0" rIns="0" bIns="0" rtlCol="0" anchor="ctr"/>
          <a:lstStyle/>
          <a:p>
            <a:pPr algn="ctr"/>
            <a:r>
              <a:rPr lang="en-US" sz="2700" b="1" dirty="0">
                <a:solidFill>
                  <a:srgbClr val="6E685C"/>
                </a:solidFill>
                <a:latin typeface="Century Gothic" pitchFamily="34" charset="0"/>
                <a:ea typeface="Century Gothic" pitchFamily="34" charset="-122"/>
                <a:cs typeface="Century Gothic" pitchFamily="34" charset="-120"/>
              </a:rPr>
              <a:t>TRIGGER</a:t>
            </a:r>
            <a:endParaRPr lang="en-US" sz="2700" dirty="0"/>
          </a:p>
        </p:txBody>
      </p:sp>
      <p:sp>
        <p:nvSpPr>
          <p:cNvPr id="11" name="Shape 7"/>
          <p:cNvSpPr/>
          <p:nvPr/>
        </p:nvSpPr>
        <p:spPr>
          <a:xfrm>
            <a:off x="7036308" y="2682240"/>
            <a:ext cx="4210812" cy="5935980"/>
          </a:xfrm>
          <a:prstGeom prst="roundRect">
            <a:avLst>
              <a:gd name="adj" fmla="val 5212"/>
            </a:avLst>
          </a:prstGeom>
          <a:solidFill>
            <a:srgbClr val="FBF9F3"/>
          </a:solidFill>
          <a:ln w="12700">
            <a:solidFill>
              <a:srgbClr val="DFD8C6"/>
            </a:solidFill>
            <a:prstDash val="solid"/>
          </a:ln>
          <a:effectLst>
            <a:outerShdw blurRad="114300" dist="25400" dir="5400000" algn="bl" rotWithShape="0">
              <a:srgbClr val="BFB49A">
                <a:alpha val="30000"/>
              </a:srgbClr>
            </a:outerShdw>
          </a:effectLst>
        </p:spPr>
        <p:txBody>
          <a:bodyPr/>
          <a:lstStyle/>
          <a:p>
            <a:endParaRPr lang="en-US" sz="2700"/>
          </a:p>
        </p:txBody>
      </p:sp>
      <p:pic>
        <p:nvPicPr>
          <p:cNvPr id="12" name="Image 1" descr="/home/claude/newslides/media/glasses.png"/>
          <p:cNvPicPr>
            <a:picLocks noChangeAspect="1"/>
          </p:cNvPicPr>
          <p:nvPr/>
        </p:nvPicPr>
        <p:blipFill>
          <a:blip r:embed="rId4"/>
          <a:stretch>
            <a:fillRect/>
          </a:stretch>
        </p:blipFill>
        <p:spPr>
          <a:xfrm>
            <a:off x="7533892" y="2482598"/>
            <a:ext cx="3278124" cy="3278124"/>
          </a:xfrm>
          <a:prstGeom prst="rect">
            <a:avLst/>
          </a:prstGeom>
        </p:spPr>
      </p:pic>
      <p:sp>
        <p:nvSpPr>
          <p:cNvPr id="13" name="Text 8"/>
          <p:cNvSpPr txBox="1"/>
          <p:nvPr/>
        </p:nvSpPr>
        <p:spPr>
          <a:xfrm>
            <a:off x="7502652" y="5760721"/>
            <a:ext cx="3278124" cy="665684"/>
          </a:xfrm>
          <a:prstGeom prst="rect">
            <a:avLst/>
          </a:prstGeom>
          <a:noFill/>
          <a:ln/>
        </p:spPr>
        <p:txBody>
          <a:bodyPr wrap="square" lIns="0" tIns="0" rIns="0" bIns="0" rtlCol="0" anchor="ctr"/>
          <a:lstStyle/>
          <a:p>
            <a:pPr>
              <a:lnSpc>
                <a:spcPct val="112000"/>
              </a:lnSpc>
            </a:pPr>
            <a:r>
              <a:rPr lang="en-US" sz="3900" b="1" dirty="0">
                <a:solidFill>
                  <a:srgbClr val="7A6430"/>
                </a:solidFill>
                <a:latin typeface="Century Gothic" pitchFamily="34" charset="0"/>
                <a:ea typeface="Century Gothic" pitchFamily="34" charset="-122"/>
                <a:cs typeface="Century Gothic" pitchFamily="34" charset="-120"/>
              </a:rPr>
              <a:t>Capture</a:t>
            </a:r>
            <a:endParaRPr lang="en-US" sz="3900" dirty="0"/>
          </a:p>
        </p:txBody>
      </p:sp>
      <p:sp>
        <p:nvSpPr>
          <p:cNvPr id="14" name="Text 9"/>
          <p:cNvSpPr txBox="1"/>
          <p:nvPr/>
        </p:nvSpPr>
        <p:spPr>
          <a:xfrm>
            <a:off x="7502652" y="6645860"/>
            <a:ext cx="3278124" cy="1506017"/>
          </a:xfrm>
          <a:prstGeom prst="rect">
            <a:avLst/>
          </a:prstGeom>
          <a:noFill/>
          <a:ln/>
        </p:spPr>
        <p:txBody>
          <a:bodyPr wrap="square" lIns="0" tIns="0" rIns="0" bIns="0" rtlCol="0" anchor="ctr"/>
          <a:lstStyle/>
          <a:p>
            <a:pPr>
              <a:lnSpc>
                <a:spcPct val="122000"/>
              </a:lnSpc>
            </a:pPr>
            <a:r>
              <a:rPr lang="en-US" sz="2700" dirty="0">
                <a:solidFill>
                  <a:srgbClr val="4E4A42"/>
                </a:solidFill>
                <a:latin typeface="Century Gothic" pitchFamily="34" charset="0"/>
                <a:ea typeface="Century Gothic" pitchFamily="34" charset="-122"/>
                <a:cs typeface="Century Gothic" pitchFamily="34" charset="-120"/>
              </a:rPr>
              <a:t>Ray-Ban Meta, only when it matters.</a:t>
            </a:r>
            <a:endParaRPr lang="en-US" sz="2700" dirty="0"/>
          </a:p>
        </p:txBody>
      </p:sp>
      <p:sp>
        <p:nvSpPr>
          <p:cNvPr id="15" name="Shape 10"/>
          <p:cNvSpPr/>
          <p:nvPr/>
        </p:nvSpPr>
        <p:spPr>
          <a:xfrm rot="5400000">
            <a:off x="12070080" y="6099048"/>
            <a:ext cx="274320" cy="356616"/>
          </a:xfrm>
          <a:prstGeom prst="triangle">
            <a:avLst/>
          </a:prstGeom>
          <a:solidFill>
            <a:srgbClr val="8B8378"/>
          </a:solidFill>
          <a:ln w="12700">
            <a:solidFill>
              <a:srgbClr val="8B8378"/>
            </a:solidFill>
            <a:prstDash val="solid"/>
          </a:ln>
        </p:spPr>
        <p:txBody>
          <a:bodyPr/>
          <a:lstStyle/>
          <a:p>
            <a:endParaRPr lang="en-US" sz="2700"/>
          </a:p>
        </p:txBody>
      </p:sp>
      <p:sp>
        <p:nvSpPr>
          <p:cNvPr id="16" name="Text 11"/>
          <p:cNvSpPr txBox="1"/>
          <p:nvPr/>
        </p:nvSpPr>
        <p:spPr>
          <a:xfrm>
            <a:off x="11247120" y="5372100"/>
            <a:ext cx="1920240" cy="411480"/>
          </a:xfrm>
          <a:prstGeom prst="rect">
            <a:avLst/>
          </a:prstGeom>
          <a:noFill/>
          <a:ln/>
        </p:spPr>
        <p:txBody>
          <a:bodyPr wrap="square" lIns="0" tIns="0" rIns="0" bIns="0" rtlCol="0" anchor="ctr"/>
          <a:lstStyle/>
          <a:p>
            <a:pPr algn="ctr"/>
            <a:r>
              <a:rPr lang="en-US" sz="2700" b="1" dirty="0">
                <a:solidFill>
                  <a:srgbClr val="6E685C"/>
                </a:solidFill>
                <a:latin typeface="Century Gothic" pitchFamily="34" charset="0"/>
                <a:ea typeface="Century Gothic" pitchFamily="34" charset="-122"/>
                <a:cs typeface="Century Gothic" pitchFamily="34" charset="-120"/>
              </a:rPr>
              <a:t>INDEX</a:t>
            </a:r>
            <a:endParaRPr lang="en-US" sz="2700" dirty="0"/>
          </a:p>
        </p:txBody>
      </p:sp>
      <p:sp>
        <p:nvSpPr>
          <p:cNvPr id="17" name="Shape 12"/>
          <p:cNvSpPr/>
          <p:nvPr/>
        </p:nvSpPr>
        <p:spPr>
          <a:xfrm>
            <a:off x="13167360" y="2682240"/>
            <a:ext cx="4210812" cy="5935980"/>
          </a:xfrm>
          <a:prstGeom prst="roundRect">
            <a:avLst>
              <a:gd name="adj" fmla="val 5212"/>
            </a:avLst>
          </a:prstGeom>
          <a:solidFill>
            <a:srgbClr val="FBF9F3"/>
          </a:solidFill>
          <a:ln w="12700">
            <a:solidFill>
              <a:srgbClr val="DFD8C6"/>
            </a:solidFill>
            <a:prstDash val="solid"/>
          </a:ln>
          <a:effectLst>
            <a:outerShdw blurRad="114300" dist="25400" dir="5400000" algn="bl" rotWithShape="0">
              <a:srgbClr val="BFB49A">
                <a:alpha val="30000"/>
              </a:srgbClr>
            </a:outerShdw>
          </a:effectLst>
        </p:spPr>
        <p:txBody>
          <a:bodyPr/>
          <a:lstStyle/>
          <a:p>
            <a:endParaRPr lang="en-US" sz="2700"/>
          </a:p>
        </p:txBody>
      </p:sp>
      <p:sp>
        <p:nvSpPr>
          <p:cNvPr id="19" name="Text 13"/>
          <p:cNvSpPr txBox="1"/>
          <p:nvPr/>
        </p:nvSpPr>
        <p:spPr>
          <a:xfrm>
            <a:off x="13633704" y="5760721"/>
            <a:ext cx="3278124" cy="665684"/>
          </a:xfrm>
          <a:prstGeom prst="rect">
            <a:avLst/>
          </a:prstGeom>
          <a:noFill/>
          <a:ln/>
        </p:spPr>
        <p:txBody>
          <a:bodyPr wrap="square" lIns="0" tIns="0" rIns="0" bIns="0" rtlCol="0" anchor="ctr"/>
          <a:lstStyle/>
          <a:p>
            <a:pPr>
              <a:lnSpc>
                <a:spcPct val="112000"/>
              </a:lnSpc>
            </a:pPr>
            <a:r>
              <a:rPr lang="en-US" sz="3900" b="1" dirty="0">
                <a:solidFill>
                  <a:srgbClr val="7A6430"/>
                </a:solidFill>
                <a:latin typeface="Century Gothic" pitchFamily="34" charset="0"/>
                <a:ea typeface="Century Gothic" pitchFamily="34" charset="-122"/>
                <a:cs typeface="Century Gothic" pitchFamily="34" charset="-120"/>
              </a:rPr>
              <a:t>Revisit</a:t>
            </a:r>
            <a:endParaRPr lang="en-US" sz="3900" dirty="0"/>
          </a:p>
        </p:txBody>
      </p:sp>
      <p:sp>
        <p:nvSpPr>
          <p:cNvPr id="20" name="Text 14"/>
          <p:cNvSpPr txBox="1"/>
          <p:nvPr/>
        </p:nvSpPr>
        <p:spPr>
          <a:xfrm>
            <a:off x="13633704" y="6645860"/>
            <a:ext cx="3278124" cy="1506017"/>
          </a:xfrm>
          <a:prstGeom prst="rect">
            <a:avLst/>
          </a:prstGeom>
          <a:noFill/>
          <a:ln/>
        </p:spPr>
        <p:txBody>
          <a:bodyPr wrap="square" lIns="0" tIns="0" rIns="0" bIns="0" rtlCol="0" anchor="ctr"/>
          <a:lstStyle/>
          <a:p>
            <a:pPr>
              <a:lnSpc>
                <a:spcPct val="122000"/>
              </a:lnSpc>
            </a:pPr>
            <a:r>
              <a:rPr lang="en-US" sz="2700" dirty="0">
                <a:solidFill>
                  <a:srgbClr val="4E4A42"/>
                </a:solidFill>
                <a:latin typeface="Century Gothic" pitchFamily="34" charset="0"/>
                <a:ea typeface="Century Gothic" pitchFamily="34" charset="-122"/>
                <a:cs typeface="Century Gothic" pitchFamily="34" charset="-120"/>
              </a:rPr>
              <a:t>Memorypalace. Search, reflect, share.</a:t>
            </a:r>
            <a:endParaRPr lang="en-US" sz="2700" dirty="0"/>
          </a:p>
        </p:txBody>
      </p:sp>
      <p:sp>
        <p:nvSpPr>
          <p:cNvPr id="21" name="Text 15"/>
          <p:cNvSpPr txBox="1"/>
          <p:nvPr/>
        </p:nvSpPr>
        <p:spPr>
          <a:xfrm>
            <a:off x="905256" y="9079992"/>
            <a:ext cx="16472916" cy="521208"/>
          </a:xfrm>
          <a:prstGeom prst="rect">
            <a:avLst/>
          </a:prstGeom>
          <a:noFill/>
          <a:ln/>
        </p:spPr>
        <p:txBody>
          <a:bodyPr wrap="square" lIns="0" tIns="0" rIns="0" bIns="0" rtlCol="0" anchor="ctr"/>
          <a:lstStyle/>
          <a:p>
            <a:r>
              <a:rPr lang="en-US" sz="2850" dirty="0">
                <a:solidFill>
                  <a:srgbClr val="7A6430"/>
                </a:solidFill>
                <a:latin typeface="Century Gothic" pitchFamily="34" charset="0"/>
                <a:ea typeface="Century Gothic" pitchFamily="34" charset="-122"/>
                <a:cs typeface="Century Gothic" pitchFamily="34" charset="-120"/>
              </a:rPr>
              <a:t>The prototype records with a phone camera; the Crown adapter is implemented.</a:t>
            </a:r>
            <a:endParaRPr lang="en-US" sz="2850" dirty="0"/>
          </a:p>
        </p:txBody>
      </p:sp>
      <p:pic>
        <p:nvPicPr>
          <p:cNvPr id="2" name="Picture 1">
            <a:extLst>
              <a:ext uri="{FF2B5EF4-FFF2-40B4-BE49-F238E27FC236}">
                <a16:creationId xmlns:a16="http://schemas.microsoft.com/office/drawing/2014/main" id="{13E6C34A-CD61-518C-0409-3492F4F6C2B2}"/>
              </a:ext>
            </a:extLst>
          </p:cNvPr>
          <p:cNvPicPr>
            <a:picLocks noChangeAspect="1"/>
          </p:cNvPicPr>
          <p:nvPr/>
        </p:nvPicPr>
        <p:blipFill>
          <a:blip r:embed="rId5"/>
          <a:srcRect l="15319" t="32849" r="15319" b="37037"/>
          <a:stretch>
            <a:fillRect/>
          </a:stretch>
        </p:blipFill>
        <p:spPr>
          <a:xfrm>
            <a:off x="13167360" y="3641140"/>
            <a:ext cx="4210812" cy="1028893"/>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txBox="1"/>
          <p:nvPr/>
        </p:nvSpPr>
        <p:spPr>
          <a:xfrm>
            <a:off x="905256" y="685800"/>
            <a:ext cx="16472916" cy="466344"/>
          </a:xfrm>
          <a:prstGeom prst="rect">
            <a:avLst/>
          </a:prstGeom>
          <a:noFill/>
          <a:ln/>
        </p:spPr>
        <p:txBody>
          <a:bodyPr wrap="square" lIns="0" tIns="0" rIns="0" bIns="0" rtlCol="0" anchor="ctr"/>
          <a:lstStyle/>
          <a:p>
            <a:r>
              <a:rPr lang="en-US" sz="2700" b="1" kern="0" spc="390" dirty="0">
                <a:solidFill>
                  <a:srgbClr val="6E685C"/>
                </a:solidFill>
                <a:latin typeface="Century Gothic" pitchFamily="34" charset="0"/>
                <a:ea typeface="Century Gothic" pitchFamily="34" charset="-122"/>
                <a:cs typeface="Century Gothic" pitchFamily="34" charset="-120"/>
              </a:rPr>
              <a:t>WHY THIS IS DIFFERENT</a:t>
            </a:r>
            <a:endParaRPr lang="en-US" sz="2700" dirty="0"/>
          </a:p>
        </p:txBody>
      </p:sp>
      <p:sp>
        <p:nvSpPr>
          <p:cNvPr id="4" name="Text 1"/>
          <p:cNvSpPr txBox="1"/>
          <p:nvPr/>
        </p:nvSpPr>
        <p:spPr>
          <a:xfrm>
            <a:off x="905256" y="1303020"/>
            <a:ext cx="16472916" cy="1777593"/>
          </a:xfrm>
          <a:prstGeom prst="rect">
            <a:avLst/>
          </a:prstGeom>
          <a:noFill/>
          <a:ln/>
        </p:spPr>
        <p:txBody>
          <a:bodyPr wrap="square" lIns="0" tIns="0" rIns="0" bIns="0" rtlCol="0" anchor="t"/>
          <a:lstStyle/>
          <a:p>
            <a:pPr>
              <a:lnSpc>
                <a:spcPct val="108000"/>
              </a:lnSpc>
            </a:pPr>
            <a:r>
              <a:rPr lang="en-US" sz="5400" b="1" dirty="0">
                <a:solidFill>
                  <a:srgbClr val="1A1917"/>
                </a:solidFill>
                <a:latin typeface="Century Gothic" pitchFamily="34" charset="0"/>
                <a:ea typeface="Century Gothic" pitchFamily="34" charset="-122"/>
                <a:cs typeface="Century Gothic" pitchFamily="34" charset="-120"/>
              </a:rPr>
              <a:t>The field chased the hard problem.</a:t>
            </a:r>
            <a:endParaRPr lang="en-US" sz="5400" dirty="0"/>
          </a:p>
          <a:p>
            <a:pPr>
              <a:lnSpc>
                <a:spcPct val="108000"/>
              </a:lnSpc>
            </a:pPr>
            <a:r>
              <a:rPr lang="en-US" sz="5400" b="1" dirty="0">
                <a:solidFill>
                  <a:srgbClr val="1A1917"/>
                </a:solidFill>
                <a:latin typeface="Century Gothic" pitchFamily="34" charset="0"/>
                <a:ea typeface="Century Gothic" pitchFamily="34" charset="-122"/>
                <a:cs typeface="Century Gothic" pitchFamily="34" charset="-120"/>
              </a:rPr>
              <a:t>We took the useful one.</a:t>
            </a:r>
            <a:endParaRPr lang="en-US" sz="5400" dirty="0"/>
          </a:p>
        </p:txBody>
      </p:sp>
      <p:sp>
        <p:nvSpPr>
          <p:cNvPr id="5" name="Shape 2"/>
          <p:cNvSpPr/>
          <p:nvPr/>
        </p:nvSpPr>
        <p:spPr>
          <a:xfrm>
            <a:off x="905256" y="3511296"/>
            <a:ext cx="9554292" cy="4912767"/>
          </a:xfrm>
          <a:prstGeom prst="roundRect">
            <a:avLst>
              <a:gd name="adj" fmla="val 4467"/>
            </a:avLst>
          </a:prstGeom>
          <a:solidFill>
            <a:srgbClr val="FBF9F3"/>
          </a:solidFill>
          <a:ln w="12700">
            <a:solidFill>
              <a:srgbClr val="DFD8C6"/>
            </a:solidFill>
            <a:prstDash val="solid"/>
          </a:ln>
          <a:effectLst>
            <a:outerShdw blurRad="114300" dist="25400" dir="5400000" algn="bl" rotWithShape="0">
              <a:srgbClr val="BFB49A">
                <a:alpha val="30000"/>
              </a:srgbClr>
            </a:outerShdw>
          </a:effectLst>
        </p:spPr>
        <p:txBody>
          <a:bodyPr/>
          <a:lstStyle/>
          <a:p>
            <a:endParaRPr lang="en-US" sz="2700"/>
          </a:p>
        </p:txBody>
      </p:sp>
      <p:sp>
        <p:nvSpPr>
          <p:cNvPr id="6" name="Text 3"/>
          <p:cNvSpPr txBox="1"/>
          <p:nvPr/>
        </p:nvSpPr>
        <p:spPr>
          <a:xfrm>
            <a:off x="1371600" y="3977640"/>
            <a:ext cx="8621604" cy="466344"/>
          </a:xfrm>
          <a:prstGeom prst="rect">
            <a:avLst/>
          </a:prstGeom>
          <a:noFill/>
          <a:ln/>
        </p:spPr>
        <p:txBody>
          <a:bodyPr wrap="square" lIns="0" tIns="0" rIns="0" bIns="0" rtlCol="0" anchor="ctr"/>
          <a:lstStyle/>
          <a:p>
            <a:r>
              <a:rPr lang="en-US" sz="2700" b="1" kern="0" spc="240" dirty="0">
                <a:solidFill>
                  <a:srgbClr val="FF0000"/>
                </a:solidFill>
                <a:latin typeface="Century Gothic" pitchFamily="34" charset="0"/>
                <a:ea typeface="Century Gothic" pitchFamily="34" charset="-122"/>
                <a:cs typeface="Century Gothic" pitchFamily="34" charset="-120"/>
              </a:rPr>
              <a:t>FIELD: DECODING WHAT YOU FEEL OR THINK</a:t>
            </a:r>
            <a:endParaRPr lang="en-US" sz="2700" dirty="0">
              <a:solidFill>
                <a:srgbClr val="FF0000"/>
              </a:solidFill>
            </a:endParaRPr>
          </a:p>
        </p:txBody>
      </p:sp>
      <p:sp>
        <p:nvSpPr>
          <p:cNvPr id="7" name="Text 4"/>
          <p:cNvSpPr txBox="1"/>
          <p:nvPr/>
        </p:nvSpPr>
        <p:spPr>
          <a:xfrm>
            <a:off x="1371600" y="4663440"/>
            <a:ext cx="8621604" cy="3294279"/>
          </a:xfrm>
          <a:prstGeom prst="rect">
            <a:avLst/>
          </a:prstGeom>
          <a:noFill/>
          <a:ln/>
        </p:spPr>
        <p:txBody>
          <a:bodyPr wrap="square" lIns="0" tIns="0" rIns="0" bIns="0" rtlCol="0" anchor="t"/>
          <a:lstStyle/>
          <a:p>
            <a:pPr marL="285750" indent="-285750">
              <a:lnSpc>
                <a:spcPct val="118000"/>
              </a:lnSpc>
              <a:spcAft>
                <a:spcPts val="1500"/>
              </a:spcAft>
              <a:buSzPct val="100000"/>
              <a:buChar char="•"/>
            </a:pPr>
            <a:r>
              <a:rPr lang="en-US" sz="2700" dirty="0">
                <a:solidFill>
                  <a:srgbClr val="4E4A42"/>
                </a:solidFill>
                <a:latin typeface="Century Gothic" pitchFamily="34" charset="0"/>
                <a:ea typeface="Century Gothic" pitchFamily="34" charset="-122"/>
                <a:cs typeface="Century Gothic" pitchFamily="34" charset="-120"/>
              </a:rPr>
              <a:t>SEED benchmark: </a:t>
            </a:r>
            <a:r>
              <a:rPr lang="en-US" sz="2700" b="1" dirty="0">
                <a:solidFill>
                  <a:srgbClr val="FF0000"/>
                </a:solidFill>
                <a:latin typeface="Century Gothic" pitchFamily="34" charset="0"/>
                <a:ea typeface="Century Gothic" pitchFamily="34" charset="-122"/>
                <a:cs typeface="Century Gothic" pitchFamily="34" charset="-120"/>
              </a:rPr>
              <a:t>15 people, 2 sessions a week apart, 62 electrodes.</a:t>
            </a:r>
            <a:endParaRPr lang="en-US" sz="2700" b="1" dirty="0">
              <a:solidFill>
                <a:srgbClr val="FF0000"/>
              </a:solidFill>
            </a:endParaRPr>
          </a:p>
          <a:p>
            <a:pPr marL="285750" indent="-285750">
              <a:lnSpc>
                <a:spcPct val="118000"/>
              </a:lnSpc>
              <a:spcAft>
                <a:spcPts val="1500"/>
              </a:spcAft>
              <a:buSzPct val="100000"/>
              <a:buChar char="•"/>
            </a:pPr>
            <a:r>
              <a:rPr lang="en-US" sz="2700" dirty="0">
                <a:solidFill>
                  <a:srgbClr val="4E4A42"/>
                </a:solidFill>
                <a:latin typeface="Century Gothic" pitchFamily="34" charset="0"/>
                <a:ea typeface="Century Gothic" pitchFamily="34" charset="-122"/>
                <a:cs typeface="Century Gothic" pitchFamily="34" charset="-120"/>
              </a:rPr>
              <a:t>Motor imagery BCIs need 200 to 288 calibration trials per person.</a:t>
            </a:r>
            <a:endParaRPr lang="en-US" sz="2700" dirty="0"/>
          </a:p>
          <a:p>
            <a:pPr marL="285750" indent="-285750">
              <a:lnSpc>
                <a:spcPct val="118000"/>
              </a:lnSpc>
              <a:spcAft>
                <a:spcPts val="1500"/>
              </a:spcAft>
              <a:buSzPct val="100000"/>
              <a:buChar char="•"/>
            </a:pPr>
            <a:r>
              <a:rPr lang="en-US" sz="2700" dirty="0">
                <a:solidFill>
                  <a:srgbClr val="4E4A42"/>
                </a:solidFill>
                <a:latin typeface="Century Gothic" pitchFamily="34" charset="0"/>
                <a:ea typeface="Century Gothic" pitchFamily="34" charset="-122"/>
                <a:cs typeface="Century Gothic" pitchFamily="34" charset="-120"/>
              </a:rPr>
              <a:t>Naming a feeling needs dense coverage and much labelled data.</a:t>
            </a:r>
            <a:endParaRPr lang="en-US" sz="2700" dirty="0"/>
          </a:p>
        </p:txBody>
      </p:sp>
      <p:sp>
        <p:nvSpPr>
          <p:cNvPr id="8" name="Shape 5"/>
          <p:cNvSpPr/>
          <p:nvPr/>
        </p:nvSpPr>
        <p:spPr>
          <a:xfrm>
            <a:off x="11145348" y="3511296"/>
            <a:ext cx="6232824" cy="4912767"/>
          </a:xfrm>
          <a:prstGeom prst="roundRect">
            <a:avLst>
              <a:gd name="adj" fmla="val 4467"/>
            </a:avLst>
          </a:prstGeom>
          <a:solidFill>
            <a:srgbClr val="FCF9F4"/>
          </a:solidFill>
          <a:ln w="15875">
            <a:solidFill>
              <a:srgbClr val="B49A5C"/>
            </a:solidFill>
            <a:prstDash val="solid"/>
          </a:ln>
          <a:effectLst>
            <a:outerShdw blurRad="114300" dist="25400" dir="5400000" algn="bl" rotWithShape="0">
              <a:srgbClr val="BFB49A">
                <a:alpha val="30000"/>
              </a:srgbClr>
            </a:outerShdw>
          </a:effectLst>
        </p:spPr>
        <p:txBody>
          <a:bodyPr/>
          <a:lstStyle/>
          <a:p>
            <a:endParaRPr lang="en-US" sz="2700"/>
          </a:p>
        </p:txBody>
      </p:sp>
      <p:sp>
        <p:nvSpPr>
          <p:cNvPr id="9" name="Text 6"/>
          <p:cNvSpPr txBox="1"/>
          <p:nvPr/>
        </p:nvSpPr>
        <p:spPr>
          <a:xfrm>
            <a:off x="11611692" y="3977640"/>
            <a:ext cx="5300136" cy="466344"/>
          </a:xfrm>
          <a:prstGeom prst="rect">
            <a:avLst/>
          </a:prstGeom>
          <a:noFill/>
          <a:ln/>
        </p:spPr>
        <p:txBody>
          <a:bodyPr wrap="square" lIns="0" tIns="0" rIns="0" bIns="0" rtlCol="0" anchor="ctr"/>
          <a:lstStyle/>
          <a:p>
            <a:r>
              <a:rPr lang="en-US" sz="2700" b="1" kern="0" spc="240" dirty="0">
                <a:solidFill>
                  <a:srgbClr val="7A6430"/>
                </a:solidFill>
                <a:latin typeface="Century Gothic" pitchFamily="34" charset="0"/>
                <a:ea typeface="Century Gothic" pitchFamily="34" charset="-122"/>
                <a:cs typeface="Century Gothic" pitchFamily="34" charset="-120"/>
              </a:rPr>
              <a:t>US: DETECTING THAT SOMETHING CHANGED</a:t>
            </a:r>
            <a:endParaRPr lang="en-US" sz="2700" dirty="0"/>
          </a:p>
        </p:txBody>
      </p:sp>
      <p:sp>
        <p:nvSpPr>
          <p:cNvPr id="10" name="Text 7"/>
          <p:cNvSpPr txBox="1"/>
          <p:nvPr/>
        </p:nvSpPr>
        <p:spPr>
          <a:xfrm>
            <a:off x="11611692" y="4663440"/>
            <a:ext cx="5300136" cy="3294279"/>
          </a:xfrm>
          <a:prstGeom prst="rect">
            <a:avLst/>
          </a:prstGeom>
          <a:noFill/>
          <a:ln/>
        </p:spPr>
        <p:txBody>
          <a:bodyPr wrap="square" lIns="0" tIns="0" rIns="0" bIns="0" rtlCol="0" anchor="t"/>
          <a:lstStyle/>
          <a:p>
            <a:pPr marL="285750" indent="-285750">
              <a:lnSpc>
                <a:spcPct val="118000"/>
              </a:lnSpc>
              <a:spcAft>
                <a:spcPts val="1500"/>
              </a:spcAft>
              <a:buSzPct val="100000"/>
              <a:buChar char="•"/>
            </a:pPr>
            <a:r>
              <a:rPr lang="en-US" sz="2700" dirty="0">
                <a:solidFill>
                  <a:srgbClr val="4E4A42"/>
                </a:solidFill>
                <a:latin typeface="Century Gothic" pitchFamily="34" charset="0"/>
                <a:ea typeface="Century Gothic" pitchFamily="34" charset="-122"/>
                <a:cs typeface="Century Gothic" pitchFamily="34" charset="-120"/>
              </a:rPr>
              <a:t>We detect change, never the feeling.</a:t>
            </a:r>
            <a:endParaRPr lang="en-US" sz="2700" dirty="0"/>
          </a:p>
          <a:p>
            <a:pPr marL="285750" indent="-285750">
              <a:lnSpc>
                <a:spcPct val="118000"/>
              </a:lnSpc>
              <a:spcAft>
                <a:spcPts val="1500"/>
              </a:spcAft>
              <a:buSzPct val="100000"/>
              <a:buChar char="•"/>
            </a:pPr>
            <a:r>
              <a:rPr lang="en-US" sz="2700" b="1" dirty="0">
                <a:solidFill>
                  <a:srgbClr val="00B050"/>
                </a:solidFill>
                <a:latin typeface="Century Gothic" pitchFamily="34" charset="0"/>
                <a:ea typeface="Century Gothic" pitchFamily="34" charset="-122"/>
                <a:cs typeface="Century Gothic" pitchFamily="34" charset="-120"/>
              </a:rPr>
              <a:t>120 seconds of calibration, once.</a:t>
            </a:r>
            <a:endParaRPr lang="en-US" sz="2700" b="1" dirty="0">
              <a:solidFill>
                <a:srgbClr val="00B050"/>
              </a:solidFill>
            </a:endParaRPr>
          </a:p>
          <a:p>
            <a:pPr marL="285750" indent="-285750">
              <a:lnSpc>
                <a:spcPct val="118000"/>
              </a:lnSpc>
              <a:spcAft>
                <a:spcPts val="1500"/>
              </a:spcAft>
              <a:buSzPct val="100000"/>
              <a:buChar char="•"/>
            </a:pPr>
            <a:r>
              <a:rPr lang="en-US" sz="2700" dirty="0">
                <a:solidFill>
                  <a:srgbClr val="4E4A42"/>
                </a:solidFill>
                <a:latin typeface="Century Gothic" pitchFamily="34" charset="0"/>
                <a:ea typeface="Century Gothic" pitchFamily="34" charset="-122"/>
                <a:cs typeface="Century Gothic" pitchFamily="34" charset="-120"/>
              </a:rPr>
              <a:t>8 electrodes: 0.763 AUC. 16: 0.778.</a:t>
            </a:r>
            <a:endParaRPr lang="en-US" sz="2700" dirty="0"/>
          </a:p>
        </p:txBody>
      </p:sp>
      <p:sp>
        <p:nvSpPr>
          <p:cNvPr id="11" name="Text 8"/>
          <p:cNvSpPr txBox="1"/>
          <p:nvPr/>
        </p:nvSpPr>
        <p:spPr>
          <a:xfrm>
            <a:off x="905256" y="8983980"/>
            <a:ext cx="16472916" cy="1042416"/>
          </a:xfrm>
          <a:prstGeom prst="rect">
            <a:avLst/>
          </a:prstGeom>
          <a:noFill/>
          <a:ln/>
        </p:spPr>
        <p:txBody>
          <a:bodyPr wrap="square" lIns="0" tIns="0" rIns="0" bIns="0" rtlCol="0" anchor="ctr"/>
          <a:lstStyle/>
          <a:p>
            <a:r>
              <a:rPr lang="en-US" sz="2850" i="1" dirty="0">
                <a:solidFill>
                  <a:srgbClr val="6E685C"/>
                </a:solidFill>
                <a:latin typeface="Century Gothic" pitchFamily="34" charset="0"/>
                <a:ea typeface="Century Gothic" pitchFamily="34" charset="-122"/>
                <a:cs typeface="Century Gothic" pitchFamily="34" charset="-120"/>
              </a:rPr>
              <a:t>Zheng &amp; Lu, IEEE TAMD 7(3), 2015  •  Wang et al., Front. Neurosci. 15, 2021  •  CHANNELS.md</a:t>
            </a:r>
            <a:endParaRPr lang="en-US" sz="2850" i="1" dirty="0"/>
          </a:p>
        </p:txBody>
      </p:sp>
    </p:spTree>
    <p:extLst>
      <p:ext uri="{BB962C8B-B14F-4D97-AF65-F5344CB8AC3E}">
        <p14:creationId xmlns:p14="http://schemas.microsoft.com/office/powerpoint/2010/main" val="30800870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4EC"/>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1B3ADFB2-A18E-3054-F700-95DB2355822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 y="2767716"/>
            <a:ext cx="11920085" cy="6947173"/>
          </a:xfrm>
          <a:prstGeom prst="rect">
            <a:avLst/>
          </a:prstGeom>
        </p:spPr>
      </p:pic>
      <p:sp>
        <p:nvSpPr>
          <p:cNvPr id="7" name="Text 1">
            <a:extLst>
              <a:ext uri="{FF2B5EF4-FFF2-40B4-BE49-F238E27FC236}">
                <a16:creationId xmlns:a16="http://schemas.microsoft.com/office/drawing/2014/main" id="{4F02AAA1-AC42-DDFD-6A8E-CC9D5047084C}"/>
              </a:ext>
            </a:extLst>
          </p:cNvPr>
          <p:cNvSpPr txBox="1"/>
          <p:nvPr/>
        </p:nvSpPr>
        <p:spPr>
          <a:xfrm>
            <a:off x="690879" y="572111"/>
            <a:ext cx="16472916" cy="1777593"/>
          </a:xfrm>
          <a:prstGeom prst="rect">
            <a:avLst/>
          </a:prstGeom>
          <a:noFill/>
          <a:ln/>
        </p:spPr>
        <p:txBody>
          <a:bodyPr wrap="square" lIns="0" tIns="0" rIns="0" bIns="0" rtlCol="0" anchor="t"/>
          <a:lstStyle/>
          <a:p>
            <a:pPr>
              <a:lnSpc>
                <a:spcPct val="108000"/>
              </a:lnSpc>
            </a:pPr>
            <a:r>
              <a:rPr lang="en-US" sz="5400" b="1" dirty="0">
                <a:solidFill>
                  <a:srgbClr val="1A1917"/>
                </a:solidFill>
                <a:latin typeface="Century Gothic" pitchFamily="34" charset="0"/>
                <a:ea typeface="Century Gothic" pitchFamily="34" charset="-122"/>
                <a:cs typeface="Century Gothic" pitchFamily="34" charset="-120"/>
              </a:rPr>
              <a:t>Remember one detail.</a:t>
            </a:r>
            <a:endParaRPr lang="en-US" sz="5400" dirty="0"/>
          </a:p>
          <a:p>
            <a:pPr>
              <a:lnSpc>
                <a:spcPct val="108000"/>
              </a:lnSpc>
            </a:pPr>
            <a:r>
              <a:rPr lang="en-US" sz="5400" b="1" dirty="0">
                <a:solidFill>
                  <a:srgbClr val="1A1917"/>
                </a:solidFill>
                <a:latin typeface="Century Gothic" pitchFamily="34" charset="0"/>
                <a:ea typeface="Century Gothic" pitchFamily="34" charset="-122"/>
                <a:cs typeface="Century Gothic" pitchFamily="34" charset="-120"/>
              </a:rPr>
              <a:t>Get the whole moment back.</a:t>
            </a:r>
            <a:endParaRPr lang="en-US" sz="5400" dirty="0"/>
          </a:p>
        </p:txBody>
      </p:sp>
      <p:sp>
        <p:nvSpPr>
          <p:cNvPr id="8" name="Shape 3">
            <a:extLst>
              <a:ext uri="{FF2B5EF4-FFF2-40B4-BE49-F238E27FC236}">
                <a16:creationId xmlns:a16="http://schemas.microsoft.com/office/drawing/2014/main" id="{78E68FCF-D7F4-2B4F-40A4-DB22E6E0D5E9}"/>
              </a:ext>
            </a:extLst>
          </p:cNvPr>
          <p:cNvSpPr/>
          <p:nvPr/>
        </p:nvSpPr>
        <p:spPr>
          <a:xfrm>
            <a:off x="13025119" y="3026868"/>
            <a:ext cx="4836161" cy="1917497"/>
          </a:xfrm>
          <a:prstGeom prst="roundRect">
            <a:avLst>
              <a:gd name="adj" fmla="val 11445"/>
            </a:avLst>
          </a:prstGeom>
          <a:solidFill>
            <a:srgbClr val="FBF9F3"/>
          </a:solidFill>
          <a:ln w="12700">
            <a:solidFill>
              <a:srgbClr val="DFD8C6"/>
            </a:solidFill>
            <a:prstDash val="solid"/>
          </a:ln>
          <a:effectLst>
            <a:outerShdw blurRad="114300" dist="25400" dir="5400000" algn="bl" rotWithShape="0">
              <a:srgbClr val="BFB49A">
                <a:alpha val="30000"/>
              </a:srgbClr>
            </a:outerShdw>
          </a:effectLst>
        </p:spPr>
        <p:txBody>
          <a:bodyPr/>
          <a:lstStyle/>
          <a:p>
            <a:endParaRPr lang="en-US" sz="2700"/>
          </a:p>
        </p:txBody>
      </p:sp>
      <p:sp>
        <p:nvSpPr>
          <p:cNvPr id="9" name="Text 4">
            <a:extLst>
              <a:ext uri="{FF2B5EF4-FFF2-40B4-BE49-F238E27FC236}">
                <a16:creationId xmlns:a16="http://schemas.microsoft.com/office/drawing/2014/main" id="{D624BE5E-E657-A0CA-A150-1B2A8F7D7AC2}"/>
              </a:ext>
            </a:extLst>
          </p:cNvPr>
          <p:cNvSpPr txBox="1"/>
          <p:nvPr/>
        </p:nvSpPr>
        <p:spPr>
          <a:xfrm>
            <a:off x="13239601" y="3383484"/>
            <a:ext cx="4438799" cy="537668"/>
          </a:xfrm>
          <a:prstGeom prst="rect">
            <a:avLst/>
          </a:prstGeom>
          <a:noFill/>
          <a:ln/>
        </p:spPr>
        <p:txBody>
          <a:bodyPr wrap="square" lIns="0" tIns="0" rIns="0" bIns="0" rtlCol="0" anchor="ctr"/>
          <a:lstStyle/>
          <a:p>
            <a:pPr>
              <a:lnSpc>
                <a:spcPct val="112000"/>
              </a:lnSpc>
            </a:pPr>
            <a:r>
              <a:rPr lang="en-US" sz="3150" b="1" dirty="0">
                <a:solidFill>
                  <a:srgbClr val="1A1917"/>
                </a:solidFill>
                <a:latin typeface="Century Gothic" pitchFamily="34" charset="0"/>
                <a:ea typeface="Century Gothic" pitchFamily="34" charset="-122"/>
                <a:cs typeface="Century Gothic" pitchFamily="34" charset="-120"/>
              </a:rPr>
              <a:t>Search a fragment</a:t>
            </a:r>
            <a:endParaRPr lang="en-US" sz="3150" dirty="0"/>
          </a:p>
        </p:txBody>
      </p:sp>
      <p:sp>
        <p:nvSpPr>
          <p:cNvPr id="11" name="Text 5">
            <a:extLst>
              <a:ext uri="{FF2B5EF4-FFF2-40B4-BE49-F238E27FC236}">
                <a16:creationId xmlns:a16="http://schemas.microsoft.com/office/drawing/2014/main" id="{161EB0CF-C829-43D5-B7EC-5E8A28B69BCF}"/>
              </a:ext>
            </a:extLst>
          </p:cNvPr>
          <p:cNvSpPr txBox="1"/>
          <p:nvPr/>
        </p:nvSpPr>
        <p:spPr>
          <a:xfrm>
            <a:off x="13239601" y="4085743"/>
            <a:ext cx="4438799" cy="502005"/>
          </a:xfrm>
          <a:prstGeom prst="rect">
            <a:avLst/>
          </a:prstGeom>
          <a:noFill/>
          <a:ln/>
        </p:spPr>
        <p:txBody>
          <a:bodyPr wrap="square" lIns="0" tIns="0" rIns="0" bIns="0" rtlCol="0" anchor="ctr"/>
          <a:lstStyle/>
          <a:p>
            <a:pPr>
              <a:lnSpc>
                <a:spcPct val="122000"/>
              </a:lnSpc>
            </a:pPr>
            <a:r>
              <a:rPr lang="en-US" sz="2700" dirty="0">
                <a:solidFill>
                  <a:srgbClr val="4E4A42"/>
                </a:solidFill>
                <a:latin typeface="Century Gothic" pitchFamily="34" charset="0"/>
                <a:ea typeface="Century Gothic" pitchFamily="34" charset="-122"/>
                <a:cs typeface="Century Gothic" pitchFamily="34" charset="-120"/>
              </a:rPr>
              <a:t>One detail you remember.</a:t>
            </a:r>
            <a:endParaRPr lang="en-US" sz="2700" dirty="0"/>
          </a:p>
        </p:txBody>
      </p:sp>
      <p:sp>
        <p:nvSpPr>
          <p:cNvPr id="12" name="Shape 6">
            <a:extLst>
              <a:ext uri="{FF2B5EF4-FFF2-40B4-BE49-F238E27FC236}">
                <a16:creationId xmlns:a16="http://schemas.microsoft.com/office/drawing/2014/main" id="{46622850-DB3E-C398-0E2C-536666FA74D1}"/>
              </a:ext>
            </a:extLst>
          </p:cNvPr>
          <p:cNvSpPr/>
          <p:nvPr/>
        </p:nvSpPr>
        <p:spPr>
          <a:xfrm>
            <a:off x="13025119" y="5163820"/>
            <a:ext cx="4836161" cy="1917497"/>
          </a:xfrm>
          <a:prstGeom prst="roundRect">
            <a:avLst>
              <a:gd name="adj" fmla="val 11445"/>
            </a:avLst>
          </a:prstGeom>
          <a:solidFill>
            <a:srgbClr val="FBF9F3"/>
          </a:solidFill>
          <a:ln w="12700">
            <a:solidFill>
              <a:srgbClr val="DFD8C6"/>
            </a:solidFill>
            <a:prstDash val="solid"/>
          </a:ln>
          <a:effectLst>
            <a:outerShdw blurRad="114300" dist="25400" dir="5400000" algn="bl" rotWithShape="0">
              <a:srgbClr val="BFB49A">
                <a:alpha val="30000"/>
              </a:srgbClr>
            </a:outerShdw>
          </a:effectLst>
        </p:spPr>
        <p:txBody>
          <a:bodyPr/>
          <a:lstStyle/>
          <a:p>
            <a:endParaRPr lang="en-US" sz="2700"/>
          </a:p>
        </p:txBody>
      </p:sp>
      <p:sp>
        <p:nvSpPr>
          <p:cNvPr id="13" name="Text 7">
            <a:extLst>
              <a:ext uri="{FF2B5EF4-FFF2-40B4-BE49-F238E27FC236}">
                <a16:creationId xmlns:a16="http://schemas.microsoft.com/office/drawing/2014/main" id="{C0780C55-EF4E-B20B-9588-4C1F3176CAA7}"/>
              </a:ext>
            </a:extLst>
          </p:cNvPr>
          <p:cNvSpPr txBox="1"/>
          <p:nvPr/>
        </p:nvSpPr>
        <p:spPr>
          <a:xfrm>
            <a:off x="13239601" y="5520436"/>
            <a:ext cx="4438799" cy="537668"/>
          </a:xfrm>
          <a:prstGeom prst="rect">
            <a:avLst/>
          </a:prstGeom>
          <a:noFill/>
          <a:ln/>
        </p:spPr>
        <p:txBody>
          <a:bodyPr wrap="square" lIns="0" tIns="0" rIns="0" bIns="0" rtlCol="0" anchor="ctr"/>
          <a:lstStyle/>
          <a:p>
            <a:pPr>
              <a:lnSpc>
                <a:spcPct val="112000"/>
              </a:lnSpc>
            </a:pPr>
            <a:r>
              <a:rPr lang="en-US" sz="3150" b="1" dirty="0">
                <a:solidFill>
                  <a:srgbClr val="1A1917"/>
                </a:solidFill>
                <a:latin typeface="Century Gothic" pitchFamily="34" charset="0"/>
                <a:ea typeface="Century Gothic" pitchFamily="34" charset="-122"/>
                <a:cs typeface="Century Gothic" pitchFamily="34" charset="-120"/>
              </a:rPr>
              <a:t>Get the clip back</a:t>
            </a:r>
            <a:endParaRPr lang="en-US" sz="3150" dirty="0"/>
          </a:p>
        </p:txBody>
      </p:sp>
      <p:sp>
        <p:nvSpPr>
          <p:cNvPr id="14" name="Text 8">
            <a:extLst>
              <a:ext uri="{FF2B5EF4-FFF2-40B4-BE49-F238E27FC236}">
                <a16:creationId xmlns:a16="http://schemas.microsoft.com/office/drawing/2014/main" id="{3F7B2CF7-6C6C-08F8-31CE-7E9B23B5D138}"/>
              </a:ext>
            </a:extLst>
          </p:cNvPr>
          <p:cNvSpPr txBox="1"/>
          <p:nvPr/>
        </p:nvSpPr>
        <p:spPr>
          <a:xfrm>
            <a:off x="13239601" y="6222695"/>
            <a:ext cx="4438799" cy="502005"/>
          </a:xfrm>
          <a:prstGeom prst="rect">
            <a:avLst/>
          </a:prstGeom>
          <a:noFill/>
          <a:ln/>
        </p:spPr>
        <p:txBody>
          <a:bodyPr wrap="square" lIns="0" tIns="0" rIns="0" bIns="0" rtlCol="0" anchor="ctr"/>
          <a:lstStyle/>
          <a:p>
            <a:pPr>
              <a:lnSpc>
                <a:spcPct val="122000"/>
              </a:lnSpc>
            </a:pPr>
            <a:r>
              <a:rPr lang="en-US" sz="2700" dirty="0">
                <a:solidFill>
                  <a:srgbClr val="4E4A42"/>
                </a:solidFill>
                <a:latin typeface="Century Gothic" pitchFamily="34" charset="0"/>
                <a:ea typeface="Century Gothic" pitchFamily="34" charset="-122"/>
                <a:cs typeface="Century Gothic" pitchFamily="34" charset="-120"/>
              </a:rPr>
              <a:t>Opens where it fired.</a:t>
            </a:r>
            <a:endParaRPr lang="en-US" sz="2700" dirty="0"/>
          </a:p>
        </p:txBody>
      </p:sp>
      <p:sp>
        <p:nvSpPr>
          <p:cNvPr id="15" name="Shape 9">
            <a:extLst>
              <a:ext uri="{FF2B5EF4-FFF2-40B4-BE49-F238E27FC236}">
                <a16:creationId xmlns:a16="http://schemas.microsoft.com/office/drawing/2014/main" id="{E6E319AB-970F-C114-1237-FE1E14B65A78}"/>
              </a:ext>
            </a:extLst>
          </p:cNvPr>
          <p:cNvSpPr/>
          <p:nvPr/>
        </p:nvSpPr>
        <p:spPr>
          <a:xfrm>
            <a:off x="13025119" y="7300773"/>
            <a:ext cx="4836161" cy="1917497"/>
          </a:xfrm>
          <a:prstGeom prst="roundRect">
            <a:avLst>
              <a:gd name="adj" fmla="val 11445"/>
            </a:avLst>
          </a:prstGeom>
          <a:solidFill>
            <a:srgbClr val="F7EFDA"/>
          </a:solidFill>
          <a:ln w="15875">
            <a:solidFill>
              <a:srgbClr val="B49A5C"/>
            </a:solidFill>
            <a:prstDash val="solid"/>
          </a:ln>
          <a:effectLst>
            <a:outerShdw blurRad="114300" dist="25400" dir="5400000" algn="bl" rotWithShape="0">
              <a:srgbClr val="BFB49A">
                <a:alpha val="30000"/>
              </a:srgbClr>
            </a:outerShdw>
          </a:effectLst>
        </p:spPr>
        <p:txBody>
          <a:bodyPr/>
          <a:lstStyle/>
          <a:p>
            <a:endParaRPr lang="en-US" sz="2700"/>
          </a:p>
        </p:txBody>
      </p:sp>
      <p:sp>
        <p:nvSpPr>
          <p:cNvPr id="16" name="Text 10">
            <a:extLst>
              <a:ext uri="{FF2B5EF4-FFF2-40B4-BE49-F238E27FC236}">
                <a16:creationId xmlns:a16="http://schemas.microsoft.com/office/drawing/2014/main" id="{49181198-129D-D347-E8FD-B265A3B34271}"/>
              </a:ext>
            </a:extLst>
          </p:cNvPr>
          <p:cNvSpPr txBox="1"/>
          <p:nvPr/>
        </p:nvSpPr>
        <p:spPr>
          <a:xfrm>
            <a:off x="13239601" y="7657389"/>
            <a:ext cx="4438799" cy="537668"/>
          </a:xfrm>
          <a:prstGeom prst="rect">
            <a:avLst/>
          </a:prstGeom>
          <a:noFill/>
          <a:ln/>
        </p:spPr>
        <p:txBody>
          <a:bodyPr wrap="square" lIns="0" tIns="0" rIns="0" bIns="0" rtlCol="0" anchor="ctr"/>
          <a:lstStyle/>
          <a:p>
            <a:pPr>
              <a:lnSpc>
                <a:spcPct val="112000"/>
              </a:lnSpc>
            </a:pPr>
            <a:r>
              <a:rPr lang="en-US" sz="3150" b="1" dirty="0">
                <a:solidFill>
                  <a:srgbClr val="7A6430"/>
                </a:solidFill>
                <a:latin typeface="Century Gothic" pitchFamily="34" charset="0"/>
                <a:ea typeface="Century Gothic" pitchFamily="34" charset="-122"/>
                <a:cs typeface="Century Gothic" pitchFamily="34" charset="-120"/>
              </a:rPr>
              <a:t>Nothing was staged</a:t>
            </a:r>
            <a:endParaRPr lang="en-US" sz="3150" dirty="0"/>
          </a:p>
        </p:txBody>
      </p:sp>
      <p:sp>
        <p:nvSpPr>
          <p:cNvPr id="17" name="Text 11">
            <a:extLst>
              <a:ext uri="{FF2B5EF4-FFF2-40B4-BE49-F238E27FC236}">
                <a16:creationId xmlns:a16="http://schemas.microsoft.com/office/drawing/2014/main" id="{B9A8287C-D42E-F48C-031F-E25965DD14BE}"/>
              </a:ext>
            </a:extLst>
          </p:cNvPr>
          <p:cNvSpPr txBox="1"/>
          <p:nvPr/>
        </p:nvSpPr>
        <p:spPr>
          <a:xfrm>
            <a:off x="13239601" y="8359648"/>
            <a:ext cx="4438799" cy="502005"/>
          </a:xfrm>
          <a:prstGeom prst="rect">
            <a:avLst/>
          </a:prstGeom>
          <a:noFill/>
          <a:ln/>
        </p:spPr>
        <p:txBody>
          <a:bodyPr wrap="square" lIns="0" tIns="0" rIns="0" bIns="0" rtlCol="0" anchor="ctr"/>
          <a:lstStyle/>
          <a:p>
            <a:pPr>
              <a:lnSpc>
                <a:spcPct val="122000"/>
              </a:lnSpc>
            </a:pPr>
            <a:r>
              <a:rPr lang="en-US" sz="2700" dirty="0">
                <a:solidFill>
                  <a:srgbClr val="4E4A42"/>
                </a:solidFill>
                <a:latin typeface="Century Gothic" pitchFamily="34" charset="0"/>
                <a:ea typeface="Century Gothic" pitchFamily="34" charset="-122"/>
                <a:cs typeface="Century Gothic" pitchFamily="34" charset="-120"/>
              </a:rPr>
              <a:t>Real app, captured live.</a:t>
            </a:r>
            <a:endParaRPr lang="en-US" sz="2700" dirty="0"/>
          </a:p>
        </p:txBody>
      </p:sp>
    </p:spTree>
    <p:extLst>
      <p:ext uri="{BB962C8B-B14F-4D97-AF65-F5344CB8AC3E}">
        <p14:creationId xmlns:p14="http://schemas.microsoft.com/office/powerpoint/2010/main" val="17657401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4EC"/>
        </a:solidFill>
        <a:effectLst/>
      </p:bgPr>
    </p:bg>
    <p:spTree>
      <p:nvGrpSpPr>
        <p:cNvPr id="1" name=""/>
        <p:cNvGrpSpPr/>
        <p:nvPr/>
      </p:nvGrpSpPr>
      <p:grpSpPr>
        <a:xfrm>
          <a:off x="0" y="0"/>
          <a:ext cx="0" cy="0"/>
          <a:chOff x="0" y="0"/>
          <a:chExt cx="0" cy="0"/>
        </a:xfrm>
      </p:grpSpPr>
      <p:sp>
        <p:nvSpPr>
          <p:cNvPr id="101" name="Reflection, for the moments you miss."/>
          <p:cNvSpPr txBox="1"/>
          <p:nvPr/>
        </p:nvSpPr>
        <p:spPr>
          <a:xfrm>
            <a:off x="1000125" y="742950"/>
            <a:ext cx="16287750" cy="1238250"/>
          </a:xfrm>
          <a:prstGeom prst="rect">
            <a:avLst/>
          </a:prstGeom>
          <a:noFill/>
          <a:ln>
            <a:noFill/>
          </a:ln>
        </p:spPr>
        <p:txBody>
          <a:bodyPr wrap="square" lIns="0" tIns="0" rIns="0" bIns="0" rtlCol="0" anchor="t">
            <a:noAutofit/>
          </a:bodyPr>
          <a:lstStyle/>
          <a:p>
            <a:pPr algn="l">
              <a:lnSpc>
                <a:spcPct val="118000"/>
              </a:lnSpc>
            </a:pPr>
            <a:r>
              <a:rPr lang="en-US" sz="5400" b="1" dirty="0">
                <a:solidFill>
                  <a:srgbClr val="191A18"/>
                </a:solidFill>
                <a:latin typeface="Poppins"/>
                <a:ea typeface="Poppins"/>
                <a:cs typeface="Poppins"/>
              </a:rPr>
              <a:t>Reflection, for the moments you miss.</a:t>
            </a:r>
          </a:p>
        </p:txBody>
      </p:sp>
      <p:sp>
        <p:nvSpPr>
          <p:cNvPr id="102" name="Healthcare track • the everyday case, an"/>
          <p:cNvSpPr txBox="1"/>
          <p:nvPr/>
        </p:nvSpPr>
        <p:spPr>
          <a:xfrm>
            <a:off x="1047750" y="2028825"/>
            <a:ext cx="16192500" cy="1000125"/>
          </a:xfrm>
          <a:prstGeom prst="rect">
            <a:avLst/>
          </a:prstGeom>
          <a:noFill/>
          <a:ln>
            <a:noFill/>
          </a:ln>
        </p:spPr>
        <p:txBody>
          <a:bodyPr wrap="square" lIns="0" tIns="0" rIns="0" bIns="0" rtlCol="0" anchor="t">
            <a:noAutofit/>
          </a:bodyPr>
          <a:lstStyle/>
          <a:p>
            <a:pPr algn="l">
              <a:lnSpc>
                <a:spcPct val="118000"/>
              </a:lnSpc>
            </a:pPr>
            <a:r>
              <a:rPr lang="en-US" sz="2625" b="0" dirty="0">
                <a:solidFill>
                  <a:srgbClr val="5A5D59"/>
                </a:solidFill>
                <a:latin typeface="Poppins"/>
                <a:ea typeface="Poppins"/>
                <a:cs typeface="Poppins"/>
              </a:rPr>
              <a:t>Healthcare track • the everyday case, and the one that will not speak up.</a:t>
            </a:r>
          </a:p>
        </p:txBody>
      </p:sp>
      <p:sp>
        <p:nvSpPr>
          <p:cNvPr id="103" name="card"/>
          <p:cNvSpPr/>
          <p:nvPr/>
        </p:nvSpPr>
        <p:spPr>
          <a:xfrm>
            <a:off x="1047750" y="3200000"/>
            <a:ext cx="7858125" cy="5997280"/>
          </a:xfrm>
          <a:prstGeom prst="roundRect">
            <a:avLst>
              <a:gd name="adj" fmla="val 4467"/>
            </a:avLst>
          </a:prstGeom>
          <a:solidFill>
            <a:srgbClr val="FBF9F3"/>
          </a:solidFill>
          <a:ln w="12700">
            <a:solidFill>
              <a:srgbClr val="DFD8C6"/>
            </a:solidFill>
            <a:prstDash val="solid"/>
          </a:ln>
          <a:effectLst>
            <a:outerShdw blurRad="114300" dist="25400" dir="5400000" algn="bl" rotWithShape="0">
              <a:srgbClr val="BFB49A">
                <a:alpha val="30000"/>
              </a:srgbClr>
            </a:outerShdw>
          </a:effectLst>
        </p:spPr>
        <p:txBody>
          <a:bodyPr/>
          <a:lstStyle/>
          <a:p>
            <a:endParaRPr lang="en-US"/>
          </a:p>
        </p:txBody>
      </p:sp>
      <p:sp>
        <p:nvSpPr>
          <p:cNvPr id="104" name="EVERY DAY"/>
          <p:cNvSpPr txBox="1"/>
          <p:nvPr/>
        </p:nvSpPr>
        <p:spPr>
          <a:xfrm>
            <a:off x="1427750" y="3580000"/>
            <a:ext cx="7098125" cy="340000"/>
          </a:xfrm>
          <a:prstGeom prst="rect">
            <a:avLst/>
          </a:prstGeom>
          <a:noFill/>
          <a:ln>
            <a:noFill/>
          </a:ln>
        </p:spPr>
        <p:txBody>
          <a:bodyPr wrap="square" lIns="0" tIns="0" rIns="0" bIns="0" rtlCol="0" anchor="t">
            <a:noAutofit/>
          </a:bodyPr>
          <a:lstStyle/>
          <a:p>
            <a:pPr algn="l">
              <a:lnSpc>
                <a:spcPct val="118000"/>
              </a:lnSpc>
            </a:pPr>
            <a:r>
              <a:rPr lang="en-US" sz="1725" b="1" dirty="0">
                <a:solidFill>
                  <a:srgbClr val="9B712B"/>
                </a:solidFill>
                <a:latin typeface="Poppins"/>
                <a:ea typeface="Poppins"/>
                <a:cs typeface="Poppins"/>
              </a:rPr>
              <a:t>EVERY DAY</a:t>
            </a:r>
          </a:p>
        </p:txBody>
      </p:sp>
      <p:sp>
        <p:nvSpPr>
          <p:cNvPr id="105" name="Journaling, without the writing."/>
          <p:cNvSpPr txBox="1"/>
          <p:nvPr/>
        </p:nvSpPr>
        <p:spPr>
          <a:xfrm>
            <a:off x="1427750" y="4010000"/>
            <a:ext cx="7098125" cy="397764"/>
          </a:xfrm>
          <a:prstGeom prst="rect">
            <a:avLst/>
          </a:prstGeom>
          <a:noFill/>
          <a:ln>
            <a:noFill/>
          </a:ln>
        </p:spPr>
        <p:txBody>
          <a:bodyPr wrap="square" lIns="0" tIns="0" rIns="0" bIns="0" rtlCol="0" anchor="t">
            <a:noAutofit/>
          </a:bodyPr>
          <a:lstStyle/>
          <a:p>
            <a:pPr algn="l">
              <a:lnSpc>
                <a:spcPct val="116000"/>
              </a:lnSpc>
            </a:pPr>
            <a:r>
              <a:rPr lang="en-US" sz="2700" b="1" dirty="0">
                <a:solidFill>
                  <a:srgbClr val="191A18"/>
                </a:solidFill>
                <a:latin typeface="Poppins"/>
                <a:ea typeface="Poppins"/>
                <a:cs typeface="Poppins"/>
              </a:rPr>
              <a:t>Journaling, without the writing.</a:t>
            </a:r>
          </a:p>
        </p:txBody>
      </p:sp>
      <p:sp>
        <p:nvSpPr>
          <p:cNvPr id="106" name="bar"/>
          <p:cNvSpPr/>
          <p:nvPr/>
        </p:nvSpPr>
        <p:spPr>
          <a:xfrm>
            <a:off x="1467750" y="4807776"/>
            <a:ext cx="95000" cy="95000"/>
          </a:xfrm>
          <a:prstGeom prst="roundRect">
            <a:avLst>
              <a:gd name="adj" fmla="val 50000"/>
            </a:avLst>
          </a:prstGeom>
          <a:solidFill>
            <a:srgbClr val="9B712B"/>
          </a:solidFill>
          <a:ln>
            <a:noFill/>
          </a:ln>
          <a:effectLst/>
        </p:spPr>
        <p:txBody>
          <a:bodyPr/>
          <a:lstStyle/>
          <a:p>
            <a:endParaRPr lang="en-US"/>
          </a:p>
        </p:txBody>
      </p:sp>
      <p:sp>
        <p:nvSpPr>
          <p:cNvPr id="107" name="A meeting that went badly. A convers"/>
          <p:cNvSpPr txBox="1"/>
          <p:nvPr/>
        </p:nvSpPr>
        <p:spPr>
          <a:xfrm>
            <a:off x="1727750" y="4707764"/>
            <a:ext cx="6798125" cy="609600"/>
          </a:xfrm>
          <a:prstGeom prst="rect">
            <a:avLst/>
          </a:prstGeom>
          <a:noFill/>
          <a:ln>
            <a:noFill/>
          </a:ln>
        </p:spPr>
        <p:txBody>
          <a:bodyPr wrap="square" lIns="0" tIns="0" rIns="0" bIns="0" rtlCol="0" anchor="t">
            <a:noAutofit/>
          </a:bodyPr>
          <a:lstStyle/>
          <a:p>
            <a:pPr algn="l">
              <a:lnSpc>
                <a:spcPct val="128000"/>
              </a:lnSpc>
            </a:pPr>
            <a:r>
              <a:rPr lang="en-US" sz="2000" b="0" dirty="0">
                <a:solidFill>
                  <a:srgbClr val="5A5D59"/>
                </a:solidFill>
                <a:latin typeface="Poppins"/>
                <a:ea typeface="Poppins"/>
                <a:cs typeface="Poppins"/>
              </a:rPr>
              <a:t>A meeting that went badly. A conversation that turned.</a:t>
            </a:r>
          </a:p>
        </p:txBody>
      </p:sp>
      <p:sp>
        <p:nvSpPr>
          <p:cNvPr id="108" name="bar"/>
          <p:cNvSpPr/>
          <p:nvPr/>
        </p:nvSpPr>
        <p:spPr>
          <a:xfrm>
            <a:off x="1467750" y="5627376"/>
            <a:ext cx="95000" cy="95000"/>
          </a:xfrm>
          <a:prstGeom prst="roundRect">
            <a:avLst>
              <a:gd name="adj" fmla="val 50000"/>
            </a:avLst>
          </a:prstGeom>
          <a:solidFill>
            <a:srgbClr val="9B712B"/>
          </a:solidFill>
          <a:ln>
            <a:noFill/>
          </a:ln>
          <a:effectLst/>
        </p:spPr>
        <p:txBody>
          <a:bodyPr/>
          <a:lstStyle/>
          <a:p>
            <a:endParaRPr lang="en-US"/>
          </a:p>
        </p:txBody>
      </p:sp>
      <p:sp>
        <p:nvSpPr>
          <p:cNvPr id="109" name="You do not have to remember to recor"/>
          <p:cNvSpPr txBox="1"/>
          <p:nvPr/>
        </p:nvSpPr>
        <p:spPr>
          <a:xfrm>
            <a:off x="1727750" y="5527364"/>
            <a:ext cx="6798125" cy="914400"/>
          </a:xfrm>
          <a:prstGeom prst="rect">
            <a:avLst/>
          </a:prstGeom>
          <a:noFill/>
          <a:ln>
            <a:noFill/>
          </a:ln>
        </p:spPr>
        <p:txBody>
          <a:bodyPr wrap="square" lIns="0" tIns="0" rIns="0" bIns="0" rtlCol="0" anchor="t">
            <a:noAutofit/>
          </a:bodyPr>
          <a:lstStyle/>
          <a:p>
            <a:pPr algn="l">
              <a:lnSpc>
                <a:spcPct val="128000"/>
              </a:lnSpc>
            </a:pPr>
            <a:r>
              <a:rPr lang="en-US" sz="2000" b="0" dirty="0">
                <a:solidFill>
                  <a:srgbClr val="5A5D59"/>
                </a:solidFill>
                <a:latin typeface="Poppins"/>
                <a:ea typeface="Poppins"/>
                <a:cs typeface="Poppins"/>
              </a:rPr>
              <a:t>You do not have to remember to record it. Your own EEG left your own baseline, and the clip was kept.</a:t>
            </a:r>
          </a:p>
        </p:txBody>
      </p:sp>
      <p:sp>
        <p:nvSpPr>
          <p:cNvPr id="110" name="bar"/>
          <p:cNvSpPr/>
          <p:nvPr/>
        </p:nvSpPr>
        <p:spPr>
          <a:xfrm>
            <a:off x="1467750" y="6751776"/>
            <a:ext cx="95000" cy="95000"/>
          </a:xfrm>
          <a:prstGeom prst="roundRect">
            <a:avLst>
              <a:gd name="adj" fmla="val 50000"/>
            </a:avLst>
          </a:prstGeom>
          <a:solidFill>
            <a:srgbClr val="9B712B"/>
          </a:solidFill>
          <a:ln>
            <a:noFill/>
          </a:ln>
          <a:effectLst/>
        </p:spPr>
        <p:txBody>
          <a:bodyPr/>
          <a:lstStyle/>
          <a:p>
            <a:endParaRPr lang="en-US"/>
          </a:p>
        </p:txBody>
      </p:sp>
      <p:sp>
        <p:nvSpPr>
          <p:cNvPr id="111" name="Look at it that evening, when you ha"/>
          <p:cNvSpPr txBox="1"/>
          <p:nvPr/>
        </p:nvSpPr>
        <p:spPr>
          <a:xfrm>
            <a:off x="1727750" y="6651764"/>
            <a:ext cx="6798125" cy="609600"/>
          </a:xfrm>
          <a:prstGeom prst="rect">
            <a:avLst/>
          </a:prstGeom>
          <a:noFill/>
          <a:ln>
            <a:noFill/>
          </a:ln>
        </p:spPr>
        <p:txBody>
          <a:bodyPr wrap="square" lIns="0" tIns="0" rIns="0" bIns="0" rtlCol="0" anchor="t">
            <a:noAutofit/>
          </a:bodyPr>
          <a:lstStyle/>
          <a:p>
            <a:pPr algn="l">
              <a:lnSpc>
                <a:spcPct val="128000"/>
              </a:lnSpc>
            </a:pPr>
            <a:r>
              <a:rPr lang="en-US" sz="2000" b="0" dirty="0">
                <a:solidFill>
                  <a:srgbClr val="5A5D59"/>
                </a:solidFill>
                <a:latin typeface="Poppins"/>
                <a:ea typeface="Poppins"/>
                <a:cs typeface="Poppins"/>
              </a:rPr>
              <a:t>Look at it that evening, when you have the room to think.</a:t>
            </a:r>
          </a:p>
        </p:txBody>
      </p:sp>
      <p:sp>
        <p:nvSpPr>
          <p:cNvPr id="112" name="bar"/>
          <p:cNvSpPr/>
          <p:nvPr/>
        </p:nvSpPr>
        <p:spPr>
          <a:xfrm>
            <a:off x="1467750" y="7571376"/>
            <a:ext cx="95000" cy="95000"/>
          </a:xfrm>
          <a:prstGeom prst="roundRect">
            <a:avLst>
              <a:gd name="adj" fmla="val 50000"/>
            </a:avLst>
          </a:prstGeom>
          <a:solidFill>
            <a:srgbClr val="9B712B"/>
          </a:solidFill>
          <a:ln>
            <a:noFill/>
          </a:ln>
          <a:effectLst/>
        </p:spPr>
        <p:txBody>
          <a:bodyPr/>
          <a:lstStyle/>
          <a:p>
            <a:endParaRPr lang="en-US"/>
          </a:p>
        </p:txBody>
      </p:sp>
      <p:sp>
        <p:nvSpPr>
          <p:cNvPr id="113" name="You decide what stays and what is de"/>
          <p:cNvSpPr txBox="1"/>
          <p:nvPr/>
        </p:nvSpPr>
        <p:spPr>
          <a:xfrm>
            <a:off x="1727750" y="7471364"/>
            <a:ext cx="6798125" cy="304800"/>
          </a:xfrm>
          <a:prstGeom prst="rect">
            <a:avLst/>
          </a:prstGeom>
          <a:noFill/>
          <a:ln>
            <a:noFill/>
          </a:ln>
        </p:spPr>
        <p:txBody>
          <a:bodyPr wrap="square" lIns="0" tIns="0" rIns="0" bIns="0" rtlCol="0" anchor="t">
            <a:noAutofit/>
          </a:bodyPr>
          <a:lstStyle/>
          <a:p>
            <a:pPr algn="l">
              <a:lnSpc>
                <a:spcPct val="128000"/>
              </a:lnSpc>
            </a:pPr>
            <a:r>
              <a:rPr lang="en-US" sz="2000" b="0" dirty="0">
                <a:solidFill>
                  <a:srgbClr val="5A5D59"/>
                </a:solidFill>
                <a:latin typeface="Poppins"/>
                <a:ea typeface="Poppins"/>
                <a:cs typeface="Poppins"/>
              </a:rPr>
              <a:t>You decide what stays and what is deleted.</a:t>
            </a:r>
          </a:p>
        </p:txBody>
      </p:sp>
      <p:sp>
        <p:nvSpPr>
          <p:cNvPr id="114" name="card"/>
          <p:cNvSpPr/>
          <p:nvPr/>
        </p:nvSpPr>
        <p:spPr>
          <a:xfrm>
            <a:off x="9382125" y="3200000"/>
            <a:ext cx="7858125" cy="5997280"/>
          </a:xfrm>
          <a:prstGeom prst="roundRect">
            <a:avLst>
              <a:gd name="adj" fmla="val 4467"/>
            </a:avLst>
          </a:prstGeom>
          <a:solidFill>
            <a:srgbClr val="FBF9F3"/>
          </a:solidFill>
          <a:ln w="12700">
            <a:solidFill>
              <a:srgbClr val="DFD8C6"/>
            </a:solidFill>
            <a:prstDash val="solid"/>
          </a:ln>
          <a:effectLst>
            <a:outerShdw blurRad="114300" dist="25400" dir="5400000" algn="bl" rotWithShape="0">
              <a:srgbClr val="BFB49A">
                <a:alpha val="30000"/>
              </a:srgbClr>
            </a:outerShdw>
          </a:effectLst>
        </p:spPr>
        <p:txBody>
          <a:bodyPr/>
          <a:lstStyle/>
          <a:p>
            <a:endParaRPr lang="en-US"/>
          </a:p>
        </p:txBody>
      </p:sp>
      <p:sp>
        <p:nvSpPr>
          <p:cNvPr id="115" name="CHILDREN"/>
          <p:cNvSpPr txBox="1"/>
          <p:nvPr/>
        </p:nvSpPr>
        <p:spPr>
          <a:xfrm>
            <a:off x="9762125" y="3580000"/>
            <a:ext cx="7098125" cy="340000"/>
          </a:xfrm>
          <a:prstGeom prst="rect">
            <a:avLst/>
          </a:prstGeom>
          <a:noFill/>
          <a:ln>
            <a:noFill/>
          </a:ln>
        </p:spPr>
        <p:txBody>
          <a:bodyPr wrap="square" lIns="0" tIns="0" rIns="0" bIns="0" rtlCol="0" anchor="t">
            <a:noAutofit/>
          </a:bodyPr>
          <a:lstStyle/>
          <a:p>
            <a:pPr algn="l">
              <a:lnSpc>
                <a:spcPct val="118000"/>
              </a:lnSpc>
            </a:pPr>
            <a:r>
              <a:rPr lang="en-US" sz="1725" b="1" dirty="0">
                <a:solidFill>
                  <a:srgbClr val="326B8C"/>
                </a:solidFill>
                <a:latin typeface="Poppins"/>
                <a:ea typeface="Poppins"/>
                <a:cs typeface="Poppins"/>
              </a:rPr>
              <a:t>CHILDREN</a:t>
            </a:r>
          </a:p>
        </p:txBody>
      </p:sp>
      <p:sp>
        <p:nvSpPr>
          <p:cNvPr id="116" name="When a child will not say it."/>
          <p:cNvSpPr txBox="1"/>
          <p:nvPr/>
        </p:nvSpPr>
        <p:spPr>
          <a:xfrm>
            <a:off x="9762125" y="4010000"/>
            <a:ext cx="7098125" cy="397764"/>
          </a:xfrm>
          <a:prstGeom prst="rect">
            <a:avLst/>
          </a:prstGeom>
          <a:noFill/>
          <a:ln>
            <a:noFill/>
          </a:ln>
        </p:spPr>
        <p:txBody>
          <a:bodyPr wrap="square" lIns="0" tIns="0" rIns="0" bIns="0" rtlCol="0" anchor="t">
            <a:noAutofit/>
          </a:bodyPr>
          <a:lstStyle/>
          <a:p>
            <a:pPr algn="l">
              <a:lnSpc>
                <a:spcPct val="116000"/>
              </a:lnSpc>
            </a:pPr>
            <a:r>
              <a:rPr lang="en-US" sz="2700" b="1" dirty="0">
                <a:solidFill>
                  <a:srgbClr val="191A18"/>
                </a:solidFill>
                <a:latin typeface="Poppins"/>
                <a:ea typeface="Poppins"/>
                <a:cs typeface="Poppins"/>
              </a:rPr>
              <a:t>When a child will not say it.</a:t>
            </a:r>
          </a:p>
        </p:txBody>
      </p:sp>
      <p:sp>
        <p:nvSpPr>
          <p:cNvPr id="117" name="bar"/>
          <p:cNvSpPr/>
          <p:nvPr/>
        </p:nvSpPr>
        <p:spPr>
          <a:xfrm>
            <a:off x="9802125" y="4807776"/>
            <a:ext cx="95000" cy="95000"/>
          </a:xfrm>
          <a:prstGeom prst="roundRect">
            <a:avLst>
              <a:gd name="adj" fmla="val 50000"/>
            </a:avLst>
          </a:prstGeom>
          <a:solidFill>
            <a:srgbClr val="9B712B"/>
          </a:solidFill>
          <a:ln>
            <a:noFill/>
          </a:ln>
          <a:effectLst/>
        </p:spPr>
        <p:txBody>
          <a:bodyPr/>
          <a:lstStyle/>
          <a:p>
            <a:endParaRPr lang="en-US"/>
          </a:p>
        </p:txBody>
      </p:sp>
      <p:sp>
        <p:nvSpPr>
          <p:cNvPr id="118" name="Children under-report. A hard hour a"/>
          <p:cNvSpPr txBox="1"/>
          <p:nvPr/>
        </p:nvSpPr>
        <p:spPr>
          <a:xfrm>
            <a:off x="10062125" y="4707764"/>
            <a:ext cx="6798125" cy="609600"/>
          </a:xfrm>
          <a:prstGeom prst="rect">
            <a:avLst/>
          </a:prstGeom>
          <a:noFill/>
          <a:ln>
            <a:noFill/>
          </a:ln>
        </p:spPr>
        <p:txBody>
          <a:bodyPr wrap="square" lIns="0" tIns="0" rIns="0" bIns="0" rtlCol="0" anchor="t">
            <a:noAutofit/>
          </a:bodyPr>
          <a:lstStyle/>
          <a:p>
            <a:pPr algn="l">
              <a:lnSpc>
                <a:spcPct val="128000"/>
              </a:lnSpc>
            </a:pPr>
            <a:r>
              <a:rPr lang="en-US" sz="2000" b="0" dirty="0">
                <a:solidFill>
                  <a:srgbClr val="5A5D59"/>
                </a:solidFill>
                <a:latin typeface="Poppins"/>
                <a:ea typeface="Poppins"/>
                <a:cs typeface="Poppins"/>
              </a:rPr>
              <a:t>Children under-report. A hard hour at school passes unmentioned.</a:t>
            </a:r>
          </a:p>
        </p:txBody>
      </p:sp>
      <p:sp>
        <p:nvSpPr>
          <p:cNvPr id="119" name="bar"/>
          <p:cNvSpPr/>
          <p:nvPr/>
        </p:nvSpPr>
        <p:spPr>
          <a:xfrm>
            <a:off x="9802125" y="5627376"/>
            <a:ext cx="95000" cy="95000"/>
          </a:xfrm>
          <a:prstGeom prst="roundRect">
            <a:avLst>
              <a:gd name="adj" fmla="val 50000"/>
            </a:avLst>
          </a:prstGeom>
          <a:solidFill>
            <a:srgbClr val="9B712B"/>
          </a:solidFill>
          <a:ln>
            <a:noFill/>
          </a:ln>
          <a:effectLst/>
        </p:spPr>
        <p:txBody>
          <a:bodyPr/>
          <a:lstStyle/>
          <a:p>
            <a:endParaRPr lang="en-US"/>
          </a:p>
        </p:txBody>
      </p:sp>
      <p:sp>
        <p:nvSpPr>
          <p:cNvPr id="120" name="The headband flags that their baseli"/>
          <p:cNvSpPr txBox="1"/>
          <p:nvPr/>
        </p:nvSpPr>
        <p:spPr>
          <a:xfrm>
            <a:off x="10062125" y="5527364"/>
            <a:ext cx="6798125" cy="609600"/>
          </a:xfrm>
          <a:prstGeom prst="rect">
            <a:avLst/>
          </a:prstGeom>
          <a:noFill/>
          <a:ln>
            <a:noFill/>
          </a:ln>
        </p:spPr>
        <p:txBody>
          <a:bodyPr wrap="square" lIns="0" tIns="0" rIns="0" bIns="0" rtlCol="0" anchor="t">
            <a:noAutofit/>
          </a:bodyPr>
          <a:lstStyle/>
          <a:p>
            <a:pPr algn="l">
              <a:lnSpc>
                <a:spcPct val="128000"/>
              </a:lnSpc>
            </a:pPr>
            <a:r>
              <a:rPr lang="en-US" sz="2000" b="0" dirty="0">
                <a:solidFill>
                  <a:srgbClr val="5A5D59"/>
                </a:solidFill>
                <a:latin typeface="Poppins"/>
                <a:ea typeface="Poppins"/>
                <a:cs typeface="Poppins"/>
              </a:rPr>
              <a:t>The headband flags that their baseline moved. It does not name a feeling.</a:t>
            </a:r>
          </a:p>
        </p:txBody>
      </p:sp>
      <p:sp>
        <p:nvSpPr>
          <p:cNvPr id="121" name="bar"/>
          <p:cNvSpPr/>
          <p:nvPr/>
        </p:nvSpPr>
        <p:spPr>
          <a:xfrm>
            <a:off x="9802125" y="6446976"/>
            <a:ext cx="95000" cy="95000"/>
          </a:xfrm>
          <a:prstGeom prst="roundRect">
            <a:avLst>
              <a:gd name="adj" fmla="val 50000"/>
            </a:avLst>
          </a:prstGeom>
          <a:solidFill>
            <a:srgbClr val="9B712B"/>
          </a:solidFill>
          <a:ln>
            <a:noFill/>
          </a:ln>
          <a:effectLst/>
        </p:spPr>
        <p:txBody>
          <a:bodyPr/>
          <a:lstStyle/>
          <a:p>
            <a:endParaRPr lang="en-US"/>
          </a:p>
        </p:txBody>
      </p:sp>
      <p:sp>
        <p:nvSpPr>
          <p:cNvPr id="122" name="A parent gets a moment to ask about,"/>
          <p:cNvSpPr txBox="1"/>
          <p:nvPr/>
        </p:nvSpPr>
        <p:spPr>
          <a:xfrm>
            <a:off x="10062125" y="6346964"/>
            <a:ext cx="6798125" cy="609600"/>
          </a:xfrm>
          <a:prstGeom prst="rect">
            <a:avLst/>
          </a:prstGeom>
          <a:noFill/>
          <a:ln>
            <a:noFill/>
          </a:ln>
        </p:spPr>
        <p:txBody>
          <a:bodyPr wrap="square" lIns="0" tIns="0" rIns="0" bIns="0" rtlCol="0" anchor="t">
            <a:noAutofit/>
          </a:bodyPr>
          <a:lstStyle/>
          <a:p>
            <a:pPr algn="l">
              <a:lnSpc>
                <a:spcPct val="128000"/>
              </a:lnSpc>
            </a:pPr>
            <a:r>
              <a:rPr lang="en-US" sz="2000" b="0" dirty="0">
                <a:solidFill>
                  <a:srgbClr val="5A5D59"/>
                </a:solidFill>
                <a:latin typeface="Poppins"/>
                <a:ea typeface="Poppins"/>
                <a:cs typeface="Poppins"/>
              </a:rPr>
              <a:t>A parent gets a moment to ask about, never a diagnosis.</a:t>
            </a:r>
          </a:p>
        </p:txBody>
      </p:sp>
      <p:sp>
        <p:nvSpPr>
          <p:cNvPr id="123" name="bar"/>
          <p:cNvSpPr/>
          <p:nvPr/>
        </p:nvSpPr>
        <p:spPr>
          <a:xfrm>
            <a:off x="9802125" y="7266576"/>
            <a:ext cx="95000" cy="95000"/>
          </a:xfrm>
          <a:prstGeom prst="roundRect">
            <a:avLst>
              <a:gd name="adj" fmla="val 50000"/>
            </a:avLst>
          </a:prstGeom>
          <a:solidFill>
            <a:srgbClr val="9B712B"/>
          </a:solidFill>
          <a:ln>
            <a:noFill/>
          </a:ln>
          <a:effectLst/>
        </p:spPr>
        <p:txBody>
          <a:bodyPr/>
          <a:lstStyle/>
          <a:p>
            <a:endParaRPr lang="en-US"/>
          </a:p>
        </p:txBody>
      </p:sp>
      <p:sp>
        <p:nvSpPr>
          <p:cNvPr id="124" name="Sensing stays on the headband. Our o"/>
          <p:cNvSpPr txBox="1"/>
          <p:nvPr/>
        </p:nvSpPr>
        <p:spPr>
          <a:xfrm>
            <a:off x="10062125" y="7166564"/>
            <a:ext cx="6798125" cy="609600"/>
          </a:xfrm>
          <a:prstGeom prst="rect">
            <a:avLst/>
          </a:prstGeom>
          <a:noFill/>
          <a:ln>
            <a:noFill/>
          </a:ln>
        </p:spPr>
        <p:txBody>
          <a:bodyPr wrap="square" lIns="0" tIns="0" rIns="0" bIns="0" rtlCol="0" anchor="t">
            <a:noAutofit/>
          </a:bodyPr>
          <a:lstStyle/>
          <a:p>
            <a:pPr algn="l">
              <a:lnSpc>
                <a:spcPct val="128000"/>
              </a:lnSpc>
            </a:pPr>
            <a:r>
              <a:rPr lang="en-US" sz="2000" b="0" dirty="0">
                <a:solidFill>
                  <a:srgbClr val="5A5D59"/>
                </a:solidFill>
                <a:latin typeface="Poppins"/>
                <a:ea typeface="Poppins"/>
                <a:cs typeface="Poppins"/>
              </a:rPr>
              <a:t>Sensing stays on the headband. Our own data rules out electrodes in the frames.</a:t>
            </a:r>
          </a:p>
        </p:txBody>
      </p:sp>
      <p:sp>
        <p:nvSpPr>
          <p:cNvPr id="129" name="footnote"/>
          <p:cNvSpPr txBox="1"/>
          <p:nvPr/>
        </p:nvSpPr>
        <p:spPr>
          <a:xfrm>
            <a:off x="1047750" y="9486900"/>
            <a:ext cx="16192500" cy="476250"/>
          </a:xfrm>
          <a:prstGeom prst="rect">
            <a:avLst/>
          </a:prstGeom>
          <a:noFill/>
          <a:ln>
            <a:noFill/>
          </a:ln>
        </p:spPr>
        <p:txBody>
          <a:bodyPr wrap="square" lIns="0" tIns="0" rIns="0" bIns="0" rtlCol="0" anchor="t">
            <a:noAutofit/>
          </a:bodyPr>
          <a:lstStyle/>
          <a:p>
            <a:pPr algn="l">
              <a:lnSpc>
                <a:spcPct val="118000"/>
              </a:lnSpc>
            </a:pPr>
            <a:r>
              <a:rPr lang="en-US" sz="1875" b="0" dirty="0">
                <a:solidFill>
                  <a:srgbClr val="5A5D59"/>
                </a:solidFill>
                <a:latin typeface="Poppins"/>
                <a:ea typeface="Poppins"/>
                <a:cs typeface="Poppins"/>
              </a:rPr>
              <a:t>Glasses electrode positions rank 118, 119 and 120 of 120 pairs • confusion-detector/CHANNELS.md</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4EC"/>
        </a:solidFill>
        <a:effectLst/>
      </p:bgPr>
    </p:bg>
    <p:spTree>
      <p:nvGrpSpPr>
        <p:cNvPr id="1" name=""/>
        <p:cNvGrpSpPr/>
        <p:nvPr/>
      </p:nvGrpSpPr>
      <p:grpSpPr>
        <a:xfrm>
          <a:off x="0" y="0"/>
          <a:ext cx="0" cy="0"/>
          <a:chOff x="0" y="0"/>
          <a:chExt cx="0" cy="0"/>
        </a:xfrm>
      </p:grpSpPr>
      <p:sp>
        <p:nvSpPr>
          <p:cNvPr id="130" name="A memory aid, and one trusted person"/>
          <p:cNvSpPr txBox="1"/>
          <p:nvPr/>
        </p:nvSpPr>
        <p:spPr>
          <a:xfrm>
            <a:off x="1000125" y="742950"/>
            <a:ext cx="16287750" cy="1238250"/>
          </a:xfrm>
          <a:prstGeom prst="rect">
            <a:avLst/>
          </a:prstGeom>
          <a:noFill/>
          <a:ln>
            <a:noFill/>
          </a:ln>
        </p:spPr>
        <p:txBody>
          <a:bodyPr wrap="square" lIns="0" tIns="0" rIns="0" bIns="0" rtlCol="0" anchor="t">
            <a:noAutofit/>
          </a:bodyPr>
          <a:lstStyle/>
          <a:p>
            <a:pPr algn="l">
              <a:lnSpc>
                <a:spcPct val="118000"/>
              </a:lnSpc>
            </a:pPr>
            <a:r>
              <a:rPr lang="en-US" sz="5400" b="1" dirty="0">
                <a:solidFill>
                  <a:srgbClr val="191A18"/>
                </a:solidFill>
                <a:latin typeface="Poppins"/>
                <a:ea typeface="Poppins"/>
                <a:cs typeface="Poppins"/>
              </a:rPr>
              <a:t>A memory aid, and one trusted person</a:t>
            </a:r>
          </a:p>
        </p:txBody>
      </p:sp>
      <p:sp>
        <p:nvSpPr>
          <p:cNvPr id="131" name="Healthcare track • dementia care, and th"/>
          <p:cNvSpPr txBox="1"/>
          <p:nvPr/>
        </p:nvSpPr>
        <p:spPr>
          <a:xfrm>
            <a:off x="1047750" y="2028825"/>
            <a:ext cx="16192500" cy="1000125"/>
          </a:xfrm>
          <a:prstGeom prst="rect">
            <a:avLst/>
          </a:prstGeom>
          <a:noFill/>
          <a:ln>
            <a:noFill/>
          </a:ln>
        </p:spPr>
        <p:txBody>
          <a:bodyPr wrap="square" lIns="0" tIns="0" rIns="0" bIns="0" rtlCol="0" anchor="t">
            <a:noAutofit/>
          </a:bodyPr>
          <a:lstStyle/>
          <a:p>
            <a:pPr algn="l">
              <a:lnSpc>
                <a:spcPct val="118000"/>
              </a:lnSpc>
            </a:pPr>
            <a:r>
              <a:rPr lang="en-US" sz="2625" b="0" dirty="0">
                <a:solidFill>
                  <a:srgbClr val="5A5D59"/>
                </a:solidFill>
                <a:latin typeface="Poppins"/>
                <a:ea typeface="Poppins"/>
                <a:cs typeface="Poppins"/>
              </a:rPr>
              <a:t>Healthcare track • dementia care, and the honest distance we still have to cover.</a:t>
            </a:r>
          </a:p>
        </p:txBody>
      </p:sp>
      <p:sp>
        <p:nvSpPr>
          <p:cNvPr id="132" name="card"/>
          <p:cNvSpPr/>
          <p:nvPr/>
        </p:nvSpPr>
        <p:spPr>
          <a:xfrm>
            <a:off x="1047750" y="3200000"/>
            <a:ext cx="7858125" cy="4980000"/>
          </a:xfrm>
          <a:prstGeom prst="roundRect">
            <a:avLst>
              <a:gd name="adj" fmla="val 4467"/>
            </a:avLst>
          </a:prstGeom>
          <a:solidFill>
            <a:srgbClr val="FBF9F3"/>
          </a:solidFill>
          <a:ln w="12700">
            <a:solidFill>
              <a:srgbClr val="DFD8C6"/>
            </a:solidFill>
            <a:prstDash val="solid"/>
          </a:ln>
          <a:effectLst>
            <a:outerShdw blurRad="114300" dist="25400" dir="5400000" algn="bl" rotWithShape="0">
              <a:srgbClr val="BFB49A">
                <a:alpha val="30000"/>
              </a:srgbClr>
            </a:outerShdw>
          </a:effectLst>
        </p:spPr>
        <p:txBody>
          <a:bodyPr/>
          <a:lstStyle/>
          <a:p>
            <a:endParaRPr lang="en-US"/>
          </a:p>
        </p:txBody>
      </p:sp>
      <p:sp>
        <p:nvSpPr>
          <p:cNvPr id="133" name="DEMENTIA"/>
          <p:cNvSpPr txBox="1"/>
          <p:nvPr/>
        </p:nvSpPr>
        <p:spPr>
          <a:xfrm>
            <a:off x="1427750" y="3580000"/>
            <a:ext cx="7098125" cy="340000"/>
          </a:xfrm>
          <a:prstGeom prst="rect">
            <a:avLst/>
          </a:prstGeom>
          <a:noFill/>
          <a:ln>
            <a:noFill/>
          </a:ln>
        </p:spPr>
        <p:txBody>
          <a:bodyPr wrap="square" lIns="0" tIns="0" rIns="0" bIns="0" rtlCol="0" anchor="t">
            <a:noAutofit/>
          </a:bodyPr>
          <a:lstStyle/>
          <a:p>
            <a:pPr algn="l">
              <a:lnSpc>
                <a:spcPct val="118000"/>
              </a:lnSpc>
            </a:pPr>
            <a:r>
              <a:rPr lang="en-US" sz="1725" b="1" dirty="0">
                <a:solidFill>
                  <a:srgbClr val="9B712B"/>
                </a:solidFill>
                <a:latin typeface="Poppins"/>
                <a:ea typeface="Poppins"/>
                <a:cs typeface="Poppins"/>
              </a:rPr>
              <a:t>DEMENTIA</a:t>
            </a:r>
          </a:p>
        </p:txBody>
      </p:sp>
      <p:sp>
        <p:nvSpPr>
          <p:cNvPr id="134" name="The minutes around a lapse."/>
          <p:cNvSpPr txBox="1"/>
          <p:nvPr/>
        </p:nvSpPr>
        <p:spPr>
          <a:xfrm>
            <a:off x="1427750" y="4010000"/>
            <a:ext cx="7098125" cy="397764"/>
          </a:xfrm>
          <a:prstGeom prst="rect">
            <a:avLst/>
          </a:prstGeom>
          <a:noFill/>
          <a:ln>
            <a:noFill/>
          </a:ln>
        </p:spPr>
        <p:txBody>
          <a:bodyPr wrap="square" lIns="0" tIns="0" rIns="0" bIns="0" rtlCol="0" anchor="t">
            <a:noAutofit/>
          </a:bodyPr>
          <a:lstStyle/>
          <a:p>
            <a:pPr algn="l">
              <a:lnSpc>
                <a:spcPct val="116000"/>
              </a:lnSpc>
            </a:pPr>
            <a:r>
              <a:rPr lang="en-US" sz="2700" b="1" dirty="0">
                <a:solidFill>
                  <a:srgbClr val="191A18"/>
                </a:solidFill>
                <a:latin typeface="Poppins"/>
                <a:ea typeface="Poppins"/>
                <a:cs typeface="Poppins"/>
              </a:rPr>
              <a:t>The minutes around a lapse.</a:t>
            </a:r>
          </a:p>
        </p:txBody>
      </p:sp>
      <p:sp>
        <p:nvSpPr>
          <p:cNvPr id="135" name="bar"/>
          <p:cNvSpPr/>
          <p:nvPr/>
        </p:nvSpPr>
        <p:spPr>
          <a:xfrm>
            <a:off x="1467750" y="4807776"/>
            <a:ext cx="95000" cy="95000"/>
          </a:xfrm>
          <a:prstGeom prst="roundRect">
            <a:avLst>
              <a:gd name="adj" fmla="val 50000"/>
            </a:avLst>
          </a:prstGeom>
          <a:solidFill>
            <a:srgbClr val="9B712B"/>
          </a:solidFill>
          <a:ln>
            <a:noFill/>
          </a:ln>
          <a:effectLst/>
        </p:spPr>
        <p:txBody>
          <a:bodyPr/>
          <a:lstStyle/>
          <a:p>
            <a:endParaRPr lang="en-US"/>
          </a:p>
        </p:txBody>
      </p:sp>
      <p:sp>
        <p:nvSpPr>
          <p:cNvPr id="136" name="Disorientation is frightening, and a"/>
          <p:cNvSpPr txBox="1"/>
          <p:nvPr/>
        </p:nvSpPr>
        <p:spPr>
          <a:xfrm>
            <a:off x="1727750" y="4707764"/>
            <a:ext cx="6798125" cy="609600"/>
          </a:xfrm>
          <a:prstGeom prst="rect">
            <a:avLst/>
          </a:prstGeom>
          <a:noFill/>
          <a:ln>
            <a:noFill/>
          </a:ln>
        </p:spPr>
        <p:txBody>
          <a:bodyPr wrap="square" lIns="0" tIns="0" rIns="0" bIns="0" rtlCol="0" anchor="t">
            <a:noAutofit/>
          </a:bodyPr>
          <a:lstStyle/>
          <a:p>
            <a:pPr algn="l">
              <a:lnSpc>
                <a:spcPct val="128000"/>
              </a:lnSpc>
            </a:pPr>
            <a:r>
              <a:rPr lang="en-US" sz="1875" b="0" dirty="0">
                <a:solidFill>
                  <a:srgbClr val="5A5D59"/>
                </a:solidFill>
                <a:latin typeface="Poppins"/>
                <a:ea typeface="Poppins"/>
                <a:cs typeface="Poppins"/>
              </a:rPr>
              <a:t>Disorientation is frightening, and almost impossible to describe afterwards.</a:t>
            </a:r>
          </a:p>
        </p:txBody>
      </p:sp>
      <p:sp>
        <p:nvSpPr>
          <p:cNvPr id="137" name="bar"/>
          <p:cNvSpPr/>
          <p:nvPr/>
        </p:nvSpPr>
        <p:spPr>
          <a:xfrm>
            <a:off x="1467750" y="5627376"/>
            <a:ext cx="95000" cy="95000"/>
          </a:xfrm>
          <a:prstGeom prst="roundRect">
            <a:avLst>
              <a:gd name="adj" fmla="val 50000"/>
            </a:avLst>
          </a:prstGeom>
          <a:solidFill>
            <a:srgbClr val="9B712B"/>
          </a:solidFill>
          <a:ln>
            <a:noFill/>
          </a:ln>
          <a:effectLst/>
        </p:spPr>
        <p:txBody>
          <a:bodyPr/>
          <a:lstStyle/>
          <a:p>
            <a:endParaRPr lang="en-US"/>
          </a:p>
        </p:txBody>
      </p:sp>
      <p:sp>
        <p:nvSpPr>
          <p:cNvPr id="138" name="The wearer names one trusted person:"/>
          <p:cNvSpPr txBox="1"/>
          <p:nvPr/>
        </p:nvSpPr>
        <p:spPr>
          <a:xfrm>
            <a:off x="1727750" y="5527364"/>
            <a:ext cx="6798125" cy="609600"/>
          </a:xfrm>
          <a:prstGeom prst="rect">
            <a:avLst/>
          </a:prstGeom>
          <a:noFill/>
          <a:ln>
            <a:noFill/>
          </a:ln>
        </p:spPr>
        <p:txBody>
          <a:bodyPr wrap="square" lIns="0" tIns="0" rIns="0" bIns="0" rtlCol="0" anchor="t">
            <a:noAutofit/>
          </a:bodyPr>
          <a:lstStyle/>
          <a:p>
            <a:pPr algn="l">
              <a:lnSpc>
                <a:spcPct val="128000"/>
              </a:lnSpc>
            </a:pPr>
            <a:r>
              <a:rPr lang="en-US" sz="1875" b="0" dirty="0">
                <a:solidFill>
                  <a:srgbClr val="5A5D59"/>
                </a:solidFill>
                <a:latin typeface="Poppins"/>
                <a:ea typeface="Poppins"/>
                <a:cs typeface="Poppins"/>
              </a:rPr>
              <a:t>The wearer names one trusted person: a carer, or their clinician.</a:t>
            </a:r>
          </a:p>
        </p:txBody>
      </p:sp>
      <p:sp>
        <p:nvSpPr>
          <p:cNvPr id="139" name="bar"/>
          <p:cNvSpPr/>
          <p:nvPr/>
        </p:nvSpPr>
        <p:spPr>
          <a:xfrm>
            <a:off x="1467750" y="6446976"/>
            <a:ext cx="95000" cy="95000"/>
          </a:xfrm>
          <a:prstGeom prst="roundRect">
            <a:avLst>
              <a:gd name="adj" fmla="val 50000"/>
            </a:avLst>
          </a:prstGeom>
          <a:solidFill>
            <a:srgbClr val="9B712B"/>
          </a:solidFill>
          <a:ln>
            <a:noFill/>
          </a:ln>
          <a:effectLst/>
        </p:spPr>
        <p:txBody>
          <a:bodyPr/>
          <a:lstStyle/>
          <a:p>
            <a:endParaRPr lang="en-US"/>
          </a:p>
        </p:txBody>
      </p:sp>
      <p:sp>
        <p:nvSpPr>
          <p:cNvPr id="140" name="That person receives the moment. Not"/>
          <p:cNvSpPr txBox="1"/>
          <p:nvPr/>
        </p:nvSpPr>
        <p:spPr>
          <a:xfrm>
            <a:off x="1727750" y="6346964"/>
            <a:ext cx="6798125" cy="609600"/>
          </a:xfrm>
          <a:prstGeom prst="rect">
            <a:avLst/>
          </a:prstGeom>
          <a:noFill/>
          <a:ln>
            <a:noFill/>
          </a:ln>
        </p:spPr>
        <p:txBody>
          <a:bodyPr wrap="square" lIns="0" tIns="0" rIns="0" bIns="0" rtlCol="0" anchor="t">
            <a:noAutofit/>
          </a:bodyPr>
          <a:lstStyle/>
          <a:p>
            <a:pPr algn="l">
              <a:lnSpc>
                <a:spcPct val="128000"/>
              </a:lnSpc>
            </a:pPr>
            <a:r>
              <a:rPr lang="en-US" sz="1875" b="0" dirty="0">
                <a:solidFill>
                  <a:srgbClr val="5A5D59"/>
                </a:solidFill>
                <a:latin typeface="Poppins"/>
                <a:ea typeface="Poppins"/>
                <a:cs typeface="Poppins"/>
              </a:rPr>
              <a:t>That person receives the moment. Not a live feed, not a dashboard.</a:t>
            </a:r>
          </a:p>
        </p:txBody>
      </p:sp>
      <p:sp>
        <p:nvSpPr>
          <p:cNvPr id="141" name="bar"/>
          <p:cNvSpPr/>
          <p:nvPr/>
        </p:nvSpPr>
        <p:spPr>
          <a:xfrm>
            <a:off x="1467750" y="7266576"/>
            <a:ext cx="95000" cy="95000"/>
          </a:xfrm>
          <a:prstGeom prst="roundRect">
            <a:avLst>
              <a:gd name="adj" fmla="val 50000"/>
            </a:avLst>
          </a:prstGeom>
          <a:solidFill>
            <a:srgbClr val="9B712B"/>
          </a:solidFill>
          <a:ln>
            <a:noFill/>
          </a:ln>
          <a:effectLst/>
        </p:spPr>
        <p:txBody>
          <a:bodyPr/>
          <a:lstStyle/>
          <a:p>
            <a:endParaRPr lang="en-US"/>
          </a:p>
        </p:txBody>
      </p:sp>
      <p:sp>
        <p:nvSpPr>
          <p:cNvPr id="142" name="Precedent: wearable camera review im"/>
          <p:cNvSpPr txBox="1"/>
          <p:nvPr/>
        </p:nvSpPr>
        <p:spPr>
          <a:xfrm>
            <a:off x="1727750" y="7166564"/>
            <a:ext cx="6798125" cy="609600"/>
          </a:xfrm>
          <a:prstGeom prst="rect">
            <a:avLst/>
          </a:prstGeom>
          <a:noFill/>
          <a:ln>
            <a:noFill/>
          </a:ln>
        </p:spPr>
        <p:txBody>
          <a:bodyPr wrap="square" lIns="0" tIns="0" rIns="0" bIns="0" rtlCol="0" anchor="t">
            <a:noAutofit/>
          </a:bodyPr>
          <a:lstStyle/>
          <a:p>
            <a:pPr algn="l">
              <a:lnSpc>
                <a:spcPct val="128000"/>
              </a:lnSpc>
            </a:pPr>
            <a:r>
              <a:rPr lang="en-US" sz="1875" b="0" dirty="0">
                <a:solidFill>
                  <a:srgbClr val="5A5D59"/>
                </a:solidFill>
                <a:latin typeface="Poppins"/>
                <a:ea typeface="Poppins"/>
                <a:cs typeface="Poppins"/>
              </a:rPr>
              <a:t>Precedent: wearable camera review improved memory in Alzheimer's patients. Memory 23(3), 2015.</a:t>
            </a:r>
          </a:p>
        </p:txBody>
      </p:sp>
      <p:sp>
        <p:nvSpPr>
          <p:cNvPr id="154" name="card"/>
          <p:cNvSpPr/>
          <p:nvPr/>
        </p:nvSpPr>
        <p:spPr>
          <a:xfrm>
            <a:off x="1047750" y="8320000"/>
            <a:ext cx="16192500" cy="1050000"/>
          </a:xfrm>
          <a:prstGeom prst="roundRect">
            <a:avLst>
              <a:gd name="adj" fmla="val 4467"/>
            </a:avLst>
          </a:prstGeom>
          <a:solidFill>
            <a:srgbClr val="F1ECE0"/>
          </a:solidFill>
          <a:ln w="12700">
            <a:solidFill>
              <a:srgbClr val="E3DBC8"/>
            </a:solidFill>
            <a:prstDash val="solid"/>
          </a:ln>
          <a:effectLst/>
        </p:spPr>
        <p:txBody>
          <a:bodyPr/>
          <a:lstStyle/>
          <a:p>
            <a:endParaRPr lang="en-US"/>
          </a:p>
        </p:txBody>
      </p:sp>
      <p:sp>
        <p:nvSpPr>
          <p:cNvPr id="155" name="bar"/>
          <p:cNvSpPr/>
          <p:nvPr/>
        </p:nvSpPr>
        <p:spPr>
          <a:xfrm>
            <a:off x="1047750" y="8580000"/>
            <a:ext cx="47625" cy="530000"/>
          </a:xfrm>
          <a:prstGeom prst="rect">
            <a:avLst/>
          </a:prstGeom>
          <a:solidFill>
            <a:srgbClr val="46683F"/>
          </a:solidFill>
          <a:ln>
            <a:noFill/>
          </a:ln>
          <a:effectLst/>
        </p:spPr>
        <p:txBody>
          <a:bodyPr/>
          <a:lstStyle/>
          <a:p>
            <a:endParaRPr lang="en-US"/>
          </a:p>
        </p:txBody>
      </p:sp>
      <p:sp>
        <p:nvSpPr>
          <p:cNvPr id="156" name="strip head"/>
          <p:cNvSpPr txBox="1"/>
          <p:nvPr/>
        </p:nvSpPr>
        <p:spPr>
          <a:xfrm>
            <a:off x="1427750" y="8570000"/>
            <a:ext cx="5200000" cy="360000"/>
          </a:xfrm>
          <a:prstGeom prst="rect">
            <a:avLst/>
          </a:prstGeom>
          <a:noFill/>
          <a:ln>
            <a:noFill/>
          </a:ln>
        </p:spPr>
        <p:txBody>
          <a:bodyPr wrap="square" lIns="0" tIns="0" rIns="0" bIns="0" rtlCol="0" anchor="t">
            <a:noAutofit/>
          </a:bodyPr>
          <a:lstStyle/>
          <a:p>
            <a:pPr algn="l">
              <a:lnSpc>
                <a:spcPct val="118000"/>
              </a:lnSpc>
            </a:pPr>
            <a:r>
              <a:rPr lang="en-US" sz="1725" b="1" dirty="0">
                <a:solidFill>
                  <a:srgbClr val="46683F"/>
                </a:solidFill>
                <a:latin typeface="Poppins"/>
                <a:ea typeface="Poppins"/>
                <a:cs typeface="Poppins"/>
              </a:rPr>
              <a:t>WHY IT IS WORTH BUILDING</a:t>
            </a:r>
          </a:p>
        </p:txBody>
      </p:sp>
      <p:sp>
        <p:nvSpPr>
          <p:cNvPr id="157" name="strip"/>
          <p:cNvSpPr txBox="1"/>
          <p:nvPr/>
        </p:nvSpPr>
        <p:spPr>
          <a:xfrm>
            <a:off x="7027750" y="8570000"/>
            <a:ext cx="9832500" cy="569595"/>
          </a:xfrm>
          <a:prstGeom prst="rect">
            <a:avLst/>
          </a:prstGeom>
          <a:noFill/>
          <a:ln>
            <a:noFill/>
          </a:ln>
        </p:spPr>
        <p:txBody>
          <a:bodyPr wrap="square" lIns="0" tIns="0" rIns="0" bIns="0" rtlCol="0" anchor="t">
            <a:noAutofit/>
          </a:bodyPr>
          <a:lstStyle/>
          <a:p>
            <a:pPr algn="l">
              <a:lnSpc>
                <a:spcPct val="130000"/>
              </a:lnSpc>
            </a:pPr>
            <a:r>
              <a:rPr lang="en-US" sz="1725" b="0" dirty="0">
                <a:solidFill>
                  <a:srgbClr val="5A5D59"/>
                </a:solidFill>
                <a:latin typeface="Poppins"/>
                <a:ea typeface="Poppins"/>
                <a:cs typeface="Poppins"/>
              </a:rPr>
              <a:t>The hard part of a memory aid is knowing which minute to keep. That is the part we measured, on public data, before we built anything around it.</a:t>
            </a:r>
          </a:p>
        </p:txBody>
      </p:sp>
      <p:sp>
        <p:nvSpPr>
          <p:cNvPr id="158" name="footnote"/>
          <p:cNvSpPr txBox="1"/>
          <p:nvPr/>
        </p:nvSpPr>
        <p:spPr>
          <a:xfrm>
            <a:off x="1047750" y="9486900"/>
            <a:ext cx="16192500" cy="476250"/>
          </a:xfrm>
          <a:prstGeom prst="rect">
            <a:avLst/>
          </a:prstGeom>
          <a:noFill/>
          <a:ln>
            <a:noFill/>
          </a:ln>
        </p:spPr>
        <p:txBody>
          <a:bodyPr wrap="square" lIns="0" tIns="0" rIns="0" bIns="0" rtlCol="0" anchor="t">
            <a:noAutofit/>
          </a:bodyPr>
          <a:lstStyle/>
          <a:p>
            <a:pPr algn="l">
              <a:lnSpc>
                <a:spcPct val="118000"/>
              </a:lnSpc>
            </a:pPr>
            <a:r>
              <a:rPr lang="en-US" sz="1875" b="0" dirty="0">
                <a:solidFill>
                  <a:srgbClr val="5A5D59"/>
                </a:solidFill>
                <a:latin typeface="Poppins"/>
                <a:ea typeface="Poppins"/>
                <a:cs typeface="Poppins"/>
              </a:rPr>
              <a:t>Berry et al., Memory 19(7), 2011 • Alzheimer's study, Memory 23(3), 2015 • root README.md, limitations</a:t>
            </a:r>
          </a:p>
        </p:txBody>
      </p:sp>
      <p:pic>
        <p:nvPicPr>
          <p:cNvPr id="2" name="Picture 1" descr="Stalked By The Fear That Dementia Is Stalking You - KFF Health News">
            <a:extLst>
              <a:ext uri="{FF2B5EF4-FFF2-40B4-BE49-F238E27FC236}">
                <a16:creationId xmlns:a16="http://schemas.microsoft.com/office/drawing/2014/main" id="{31164D2A-CB72-A2E6-B4C5-49FA3CB781D3}"/>
              </a:ext>
            </a:extLst>
          </p:cNvPr>
          <p:cNvPicPr>
            <a:picLocks noChangeAspect="1"/>
          </p:cNvPicPr>
          <p:nvPr/>
        </p:nvPicPr>
        <p:blipFill>
          <a:blip r:embed="rId3"/>
          <a:stretch>
            <a:fillRect/>
          </a:stretch>
        </p:blipFill>
        <p:spPr>
          <a:xfrm>
            <a:off x="9323928" y="3200000"/>
            <a:ext cx="7377246" cy="4918164"/>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4EC"/>
        </a:solidFill>
        <a:effectLst/>
      </p:bgPr>
    </p:bg>
    <p:spTree>
      <p:nvGrpSpPr>
        <p:cNvPr id="1" name=""/>
        <p:cNvGrpSpPr/>
        <p:nvPr/>
      </p:nvGrpSpPr>
      <p:grpSpPr>
        <a:xfrm>
          <a:off x="0" y="0"/>
          <a:ext cx="0" cy="0"/>
          <a:chOff x="0" y="0"/>
          <a:chExt cx="0" cy="0"/>
        </a:xfrm>
      </p:grpSpPr>
      <p:sp>
        <p:nvSpPr>
          <p:cNvPr id="8" name="Your baseline makes the signal meaningful">
            <a:extLst>
              <a:ext uri="{FF2B5EF4-FFF2-40B4-BE49-F238E27FC236}">
                <a16:creationId xmlns:a16="http://schemas.microsoft.com/office/drawing/2014/main" id="{479A046D-8CCB-439B-B7F9-B2AB3089E8F6}"/>
              </a:ext>
            </a:extLst>
          </p:cNvPr>
          <p:cNvSpPr>
            <a:spLocks noGrp="1"/>
          </p:cNvSpPr>
          <p:nvPr/>
        </p:nvSpPr>
        <p:spPr>
          <a:xfrm>
            <a:off x="1000125" y="742950"/>
            <a:ext cx="16287750" cy="1238250"/>
          </a:xfrm>
          <a:prstGeom prst="rect">
            <a:avLst/>
          </a:prstGeom>
          <a:noFill/>
          <a:ln w="0">
            <a:noFill/>
          </a:ln>
        </p:spPr>
        <p:txBody>
          <a:bodyPr lIns="0" tIns="0" rIns="0" bIns="0" anchor="t">
            <a:noAutofit/>
          </a:bodyPr>
          <a:lstStyle/>
          <a:p>
            <a:pPr algn="l">
              <a:defRPr sz="5400" b="1">
                <a:solidFill>
                  <a:srgbClr val="191A18"/>
                </a:solidFill>
                <a:latin typeface="Poppins"/>
                <a:ea typeface="Poppins"/>
                <a:cs typeface="Poppins"/>
              </a:defRPr>
            </a:pPr>
            <a:r>
              <a:rPr sz="5400" b="1">
                <a:solidFill>
                  <a:srgbClr val="191A18"/>
                </a:solidFill>
                <a:latin typeface="Poppins"/>
                <a:ea typeface="Poppins"/>
                <a:cs typeface="Poppins"/>
              </a:rPr>
              <a:t>Your baseline makes the signal meaningful</a:t>
            </a:r>
          </a:p>
        </p:txBody>
      </p:sp>
      <p:sp>
        <p:nvSpPr>
          <p:cNvPr id="2" name="The same reading can be unusual for one person and">
            <a:extLst>
              <a:ext uri="{FF2B5EF4-FFF2-40B4-BE49-F238E27FC236}">
                <a16:creationId xmlns:a16="http://schemas.microsoft.com/office/drawing/2014/main" id="{8EBB3086-8B89-4FC0-9C2C-72AC36184EDC}"/>
              </a:ext>
            </a:extLst>
          </p:cNvPr>
          <p:cNvSpPr>
            <a:spLocks noGrp="1"/>
          </p:cNvSpPr>
          <p:nvPr/>
        </p:nvSpPr>
        <p:spPr>
          <a:xfrm>
            <a:off x="1047750" y="2028825"/>
            <a:ext cx="16192500" cy="952500"/>
          </a:xfrm>
          <a:prstGeom prst="rect">
            <a:avLst/>
          </a:prstGeom>
          <a:noFill/>
          <a:ln w="0">
            <a:noFill/>
          </a:ln>
        </p:spPr>
        <p:txBody>
          <a:bodyPr lIns="0" tIns="0" rIns="0" bIns="0" anchor="t">
            <a:noAutofit/>
          </a:bodyPr>
          <a:lstStyle/>
          <a:p>
            <a:pPr algn="l">
              <a:defRPr sz="2625" b="0">
                <a:solidFill>
                  <a:srgbClr val="5A5D59"/>
                </a:solidFill>
                <a:latin typeface="Poppins"/>
                <a:ea typeface="Poppins"/>
                <a:cs typeface="Poppins"/>
              </a:defRPr>
            </a:pPr>
            <a:r>
              <a:rPr sz="2625" b="0">
                <a:solidFill>
                  <a:srgbClr val="5A5D59"/>
                </a:solidFill>
                <a:latin typeface="Poppins"/>
                <a:ea typeface="Poppins"/>
                <a:cs typeface="Poppins"/>
              </a:rPr>
              <a:t>The same reading can be unusual for one person and normal for another.</a:t>
            </a:r>
          </a:p>
        </p:txBody>
      </p:sp>
      <p:graphicFrame>
        <p:nvGraphicFramePr>
          <p:cNvPr id="10" name="Chart"/>
          <p:cNvGraphicFramePr/>
          <p:nvPr/>
        </p:nvGraphicFramePr>
        <p:xfrm>
          <a:off x="1238250" y="3238500"/>
          <a:ext cx="10668000" cy="5095875"/>
        </p:xfrm>
        <a:graphic>
          <a:graphicData uri="http://schemas.openxmlformats.org/drawingml/2006/chart">
            <c:chart xmlns:c="http://schemas.openxmlformats.org/drawingml/2006/chart" xmlns:r="http://schemas.openxmlformats.org/officeDocument/2006/relationships" r:id="rId5"/>
          </a:graphicData>
        </a:graphic>
      </p:graphicFrame>
      <p:sp>
        <p:nvSpPr>
          <p:cNvPr id="4" name="Same raw value.&#10;Different meaning.">
            <a:extLst>
              <a:ext uri="{FF2B5EF4-FFF2-40B4-BE49-F238E27FC236}">
                <a16:creationId xmlns:a16="http://schemas.microsoft.com/office/drawing/2014/main" id="{5C29C475-2750-4FE5-B6B0-FEB6B57FC153}"/>
              </a:ext>
            </a:extLst>
          </p:cNvPr>
          <p:cNvSpPr>
            <a:spLocks noGrp="1"/>
          </p:cNvSpPr>
          <p:nvPr/>
        </p:nvSpPr>
        <p:spPr>
          <a:xfrm>
            <a:off x="12620625" y="3905250"/>
            <a:ext cx="4476750" cy="1524000"/>
          </a:xfrm>
          <a:prstGeom prst="rect">
            <a:avLst/>
          </a:prstGeom>
          <a:noFill/>
          <a:ln w="0">
            <a:noFill/>
          </a:ln>
        </p:spPr>
        <p:txBody>
          <a:bodyPr lIns="0" tIns="0" rIns="0" bIns="0" anchor="t">
            <a:noAutofit/>
          </a:bodyPr>
          <a:lstStyle/>
          <a:p>
            <a:pPr algn="l">
              <a:defRPr sz="3600" b="1">
                <a:solidFill>
                  <a:srgbClr val="191A18"/>
                </a:solidFill>
                <a:latin typeface="Poppins"/>
                <a:ea typeface="Poppins"/>
                <a:cs typeface="Poppins"/>
              </a:defRPr>
            </a:pPr>
            <a:r>
              <a:rPr sz="3600" b="1">
                <a:solidFill>
                  <a:srgbClr val="191A18"/>
                </a:solidFill>
                <a:latin typeface="Poppins"/>
                <a:ea typeface="Poppins"/>
                <a:cs typeface="Poppins"/>
              </a:rPr>
              <a:t>Same raw value.</a:t>
            </a:r>
          </a:p>
          <a:p>
            <a:pPr algn="l">
              <a:defRPr sz="3600" b="1">
                <a:solidFill>
                  <a:srgbClr val="191A18"/>
                </a:solidFill>
                <a:latin typeface="Poppins"/>
                <a:ea typeface="Poppins"/>
                <a:cs typeface="Poppins"/>
              </a:defRPr>
            </a:pPr>
            <a:r>
              <a:rPr sz="3600" b="1">
                <a:solidFill>
                  <a:srgbClr val="191A18"/>
                </a:solidFill>
                <a:latin typeface="Poppins"/>
                <a:ea typeface="Poppins"/>
                <a:cs typeface="Poppins"/>
              </a:rPr>
              <a:t>Different meaning.</a:t>
            </a:r>
          </a:p>
        </p:txBody>
      </p:sp>
      <p:sp>
        <p:nvSpPr>
          <p:cNvPr id="5" name="A: unusual change">
            <a:extLst>
              <a:ext uri="{FF2B5EF4-FFF2-40B4-BE49-F238E27FC236}">
                <a16:creationId xmlns:a16="http://schemas.microsoft.com/office/drawing/2014/main" id="{F775F714-0296-4988-96C6-637BDDB74D26}"/>
              </a:ext>
            </a:extLst>
          </p:cNvPr>
          <p:cNvSpPr>
            <a:spLocks noGrp="1"/>
          </p:cNvSpPr>
          <p:nvPr/>
        </p:nvSpPr>
        <p:spPr>
          <a:xfrm>
            <a:off x="12620625" y="6134100"/>
            <a:ext cx="4572000" cy="666750"/>
          </a:xfrm>
          <a:prstGeom prst="rect">
            <a:avLst/>
          </a:prstGeom>
          <a:noFill/>
          <a:ln w="0">
            <a:noFill/>
          </a:ln>
        </p:spPr>
        <p:txBody>
          <a:bodyPr lIns="0" tIns="0" rIns="0" bIns="0" anchor="t">
            <a:noAutofit/>
          </a:bodyPr>
          <a:lstStyle/>
          <a:p>
            <a:pPr algn="l">
              <a:defRPr sz="2700" b="1">
                <a:solidFill>
                  <a:srgbClr val="9B712B"/>
                </a:solidFill>
                <a:latin typeface="Poppins"/>
                <a:ea typeface="Poppins"/>
                <a:cs typeface="Poppins"/>
              </a:defRPr>
            </a:pPr>
            <a:r>
              <a:rPr sz="2700" b="1">
                <a:solidFill>
                  <a:srgbClr val="9B712B"/>
                </a:solidFill>
                <a:latin typeface="Poppins"/>
                <a:ea typeface="Poppins"/>
                <a:cs typeface="Poppins"/>
              </a:rPr>
              <a:t>A: unusual change</a:t>
            </a:r>
          </a:p>
        </p:txBody>
      </p:sp>
      <p:sp>
        <p:nvSpPr>
          <p:cNvPr id="6" name="B: within usual range">
            <a:extLst>
              <a:ext uri="{FF2B5EF4-FFF2-40B4-BE49-F238E27FC236}">
                <a16:creationId xmlns:a16="http://schemas.microsoft.com/office/drawing/2014/main" id="{EEC47868-FD19-4008-9166-4DA6C0AD783F}"/>
              </a:ext>
            </a:extLst>
          </p:cNvPr>
          <p:cNvSpPr>
            <a:spLocks noGrp="1"/>
          </p:cNvSpPr>
          <p:nvPr/>
        </p:nvSpPr>
        <p:spPr>
          <a:xfrm>
            <a:off x="12620625" y="7143750"/>
            <a:ext cx="4572000" cy="952500"/>
          </a:xfrm>
          <a:prstGeom prst="rect">
            <a:avLst/>
          </a:prstGeom>
          <a:noFill/>
          <a:ln w="0">
            <a:noFill/>
          </a:ln>
        </p:spPr>
        <p:txBody>
          <a:bodyPr lIns="0" tIns="0" rIns="0" bIns="0" anchor="t">
            <a:noAutofit/>
          </a:bodyPr>
          <a:lstStyle/>
          <a:p>
            <a:pPr algn="l">
              <a:defRPr sz="2700" b="1">
                <a:solidFill>
                  <a:srgbClr val="326B8C"/>
                </a:solidFill>
                <a:latin typeface="Poppins"/>
                <a:ea typeface="Poppins"/>
                <a:cs typeface="Poppins"/>
              </a:defRPr>
            </a:pPr>
            <a:r>
              <a:rPr sz="2700" b="1">
                <a:solidFill>
                  <a:srgbClr val="326B8C"/>
                </a:solidFill>
                <a:latin typeface="Poppins"/>
                <a:ea typeface="Poppins"/>
                <a:cs typeface="Poppins"/>
              </a:rPr>
              <a:t>B: within usual range</a:t>
            </a:r>
          </a:p>
        </p:txBody>
      </p:sp>
      <p:sp>
        <p:nvSpPr>
          <p:cNvPr id="7" name="Illustrative example • the current baseline routin">
            <a:extLst>
              <a:ext uri="{FF2B5EF4-FFF2-40B4-BE49-F238E27FC236}">
                <a16:creationId xmlns:a16="http://schemas.microsoft.com/office/drawing/2014/main" id="{83273A42-176D-4D38-AE13-6BA2295ED667}"/>
              </a:ext>
            </a:extLst>
          </p:cNvPr>
          <p:cNvSpPr>
            <a:spLocks noGrp="1"/>
          </p:cNvSpPr>
          <p:nvPr/>
        </p:nvSpPr>
        <p:spPr>
          <a:xfrm>
            <a:off x="1047750" y="9486900"/>
            <a:ext cx="16097250" cy="476250"/>
          </a:xfrm>
          <a:prstGeom prst="rect">
            <a:avLst/>
          </a:prstGeom>
          <a:noFill/>
          <a:ln w="0">
            <a:noFill/>
          </a:ln>
        </p:spPr>
        <p:txBody>
          <a:bodyPr lIns="0" tIns="0" rIns="0" bIns="0" anchor="t">
            <a:noAutofit/>
          </a:bodyPr>
          <a:lstStyle/>
          <a:p>
            <a:pPr algn="l">
              <a:defRPr sz="1875" b="0">
                <a:solidFill>
                  <a:srgbClr val="5A5D59"/>
                </a:solidFill>
                <a:latin typeface="Poppins"/>
                <a:ea typeface="Poppins"/>
                <a:cs typeface="Poppins"/>
              </a:defRPr>
            </a:pPr>
            <a:r>
              <a:rPr sz="1875" b="0">
                <a:solidFill>
                  <a:srgbClr val="5A5D59"/>
                </a:solidFill>
                <a:latin typeface="Poppins"/>
                <a:ea typeface="Poppins"/>
                <a:cs typeface="Poppins"/>
              </a:rPr>
              <a:t>Illustrative example • the current baseline routine collects 120 seconds of EEG</a:t>
            </a:r>
          </a:p>
        </p:txBody>
      </p:sp>
      <p:pic>
        <p:nvPicPr>
          <p:cNvPr id="11" name="baseline video">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0" y="0"/>
            <a:ext cx="18288000" cy="10287000"/>
          </a:xfrm>
          <a:prstGeom prst="rect">
            <a:avLst/>
          </a:prstGeom>
        </p:spPr>
      </p:pic>
    </p:spTree>
    <p:extLst>
      <p:ext uri="{BB962C8B-B14F-4D97-AF65-F5344CB8AC3E}">
        <p14:creationId xmlns:p14="http://schemas.microsoft.com/office/powerpoint/2010/main" val="10288303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Start by learning your normal">
            <a:extLst>
              <a:ext uri="{FF2B5EF4-FFF2-40B4-BE49-F238E27FC236}">
                <a16:creationId xmlns:a16="http://schemas.microsoft.com/office/drawing/2014/main" id="{CA5421D4-6A22-4C67-9C5C-07F997FD87B6}"/>
              </a:ext>
            </a:extLst>
          </p:cNvPr>
          <p:cNvSpPr>
            <a:spLocks noGrp="1"/>
          </p:cNvSpPr>
          <p:nvPr/>
        </p:nvSpPr>
        <p:spPr>
          <a:xfrm>
            <a:off x="1000125" y="742950"/>
            <a:ext cx="16287750" cy="1238250"/>
          </a:xfrm>
          <a:prstGeom prst="rect">
            <a:avLst/>
          </a:prstGeom>
          <a:noFill/>
          <a:ln w="0">
            <a:noFill/>
          </a:ln>
        </p:spPr>
        <p:txBody>
          <a:bodyPr lIns="0" tIns="0" rIns="0" bIns="0" anchor="t">
            <a:noAutofit/>
          </a:bodyPr>
          <a:lstStyle/>
          <a:p>
            <a:pPr algn="l">
              <a:defRPr sz="5400" b="1">
                <a:solidFill>
                  <a:srgbClr val="191A18"/>
                </a:solidFill>
                <a:latin typeface="Poppins"/>
                <a:ea typeface="Poppins"/>
                <a:cs typeface="Poppins"/>
              </a:defRPr>
            </a:pPr>
            <a:r>
              <a:rPr sz="5400" b="1" dirty="0">
                <a:solidFill>
                  <a:srgbClr val="191A18"/>
                </a:solidFill>
                <a:latin typeface="Poppins"/>
                <a:ea typeface="Poppins"/>
                <a:cs typeface="Poppins"/>
              </a:rPr>
              <a:t>Start by learning your normal</a:t>
            </a:r>
          </a:p>
        </p:txBody>
      </p:sp>
      <mc:AlternateContent xmlns:mc="http://schemas.openxmlformats.org/markup-compatibility/2006" xmlns:a14="http://schemas.microsoft.com/office/drawing/2010/main">
        <mc:Choice Requires="a14">
          <p:sp>
            <p:nvSpPr>
              <p:cNvPr id="2" name="First-time calibration gives each wearer a persona">
                <a:extLst>
                  <a:ext uri="{FF2B5EF4-FFF2-40B4-BE49-F238E27FC236}">
                    <a16:creationId xmlns:a16="http://schemas.microsoft.com/office/drawing/2014/main" id="{1624A309-AB70-4EDB-B379-C8E0F4EFC8C0}"/>
                  </a:ext>
                </a:extLst>
              </p:cNvPr>
              <p:cNvSpPr>
                <a:spLocks noGrp="1"/>
              </p:cNvSpPr>
              <p:nvPr/>
            </p:nvSpPr>
            <p:spPr>
              <a:xfrm>
                <a:off x="1047750" y="1828800"/>
                <a:ext cx="16192500" cy="1000125"/>
              </a:xfrm>
              <a:prstGeom prst="rect">
                <a:avLst/>
              </a:prstGeom>
              <a:noFill/>
              <a:ln w="0">
                <a:noFill/>
              </a:ln>
            </p:spPr>
            <p:txBody>
              <a:bodyPr lIns="0" tIns="0" rIns="0" bIns="0" anchor="t">
                <a:noAutofit/>
              </a:bodyPr>
              <a:lstStyle/>
              <a:p>
                <a:pPr>
                  <a:defRPr sz="2625" b="0">
                    <a:solidFill>
                      <a:srgbClr val="5A5D59"/>
                    </a:solidFill>
                    <a:latin typeface="Poppins"/>
                    <a:ea typeface="Poppins"/>
                    <a:cs typeface="Poppins"/>
                  </a:defRPr>
                </a:pPr>
                <a:r>
                  <a:rPr lang="en-CA" sz="2625" dirty="0">
                    <a:solidFill>
                      <a:srgbClr val="5A5D59"/>
                    </a:solidFill>
                    <a:latin typeface="Poppins"/>
                  </a:rPr>
                  <a:t>Raw amplitude varies with skull impedance and electrode contact. Our 30-second calibration maps personal resting spectral power to an individual </a:t>
                </a:r>
                <a14:m>
                  <m:oMath xmlns:m="http://schemas.openxmlformats.org/officeDocument/2006/math">
                    <m:r>
                      <a:rPr lang="en-US" sz="2625" i="1">
                        <a:solidFill>
                          <a:srgbClr val="5A5D59"/>
                        </a:solidFill>
                        <a:latin typeface="Cambria Math" panose="02040503050406030204" pitchFamily="18" charset="0"/>
                      </a:rPr>
                      <m:t>𝑍</m:t>
                    </m:r>
                  </m:oMath>
                </a14:m>
                <a:r>
                  <a:rPr lang="en-CA" sz="2625" dirty="0">
                    <a:solidFill>
                      <a:srgbClr val="5A5D59"/>
                    </a:solidFill>
                    <a:latin typeface="Poppins"/>
                  </a:rPr>
                  <a:t>-score baseline—enabling consistent event detection across any wearer.</a:t>
                </a:r>
                <a:endParaRPr sz="2625" b="0" dirty="0">
                  <a:solidFill>
                    <a:srgbClr val="5A5D59"/>
                  </a:solidFill>
                  <a:latin typeface="Poppins"/>
                  <a:ea typeface="Poppins"/>
                  <a:cs typeface="Poppins"/>
                </a:endParaRPr>
              </a:p>
            </p:txBody>
          </p:sp>
        </mc:Choice>
        <mc:Fallback xmlns="">
          <p:sp>
            <p:nvSpPr>
              <p:cNvPr id="2" name="First-time calibration gives each wearer a persona">
                <a:extLst>
                  <a:ext uri="{FF2B5EF4-FFF2-40B4-BE49-F238E27FC236}">
                    <a16:creationId xmlns:a16="http://schemas.microsoft.com/office/drawing/2014/main" id="{1624A309-AB70-4EDB-B379-C8E0F4EFC8C0}"/>
                  </a:ext>
                </a:extLst>
              </p:cNvPr>
              <p:cNvSpPr>
                <a:spLocks noGrp="1" noRot="1" noChangeAspect="1" noMove="1" noResize="1" noEditPoints="1" noAdjustHandles="1" noChangeArrowheads="1" noChangeShapeType="1" noTextEdit="1"/>
              </p:cNvSpPr>
              <p:nvPr/>
            </p:nvSpPr>
            <p:spPr>
              <a:xfrm>
                <a:off x="1047750" y="1828800"/>
                <a:ext cx="16192500" cy="1000125"/>
              </a:xfrm>
              <a:prstGeom prst="rect">
                <a:avLst/>
              </a:prstGeom>
              <a:blipFill>
                <a:blip r:embed="rId3"/>
                <a:stretch>
                  <a:fillRect l="-1254" t="-11392" b="-41772"/>
                </a:stretch>
              </a:blipFill>
              <a:ln w="0">
                <a:noFill/>
              </a:ln>
            </p:spPr>
            <p:txBody>
              <a:bodyPr/>
              <a:lstStyle/>
              <a:p>
                <a:r>
                  <a:rPr lang="en-US">
                    <a:noFill/>
                  </a:rPr>
                  <a:t> </a:t>
                </a:r>
              </a:p>
            </p:txBody>
          </p:sp>
        </mc:Fallback>
      </mc:AlternateContent>
      <p:graphicFrame>
        <p:nvGraphicFramePr>
          <p:cNvPr id="16" name="Chart"/>
          <p:cNvGraphicFramePr/>
          <p:nvPr/>
        </p:nvGraphicFramePr>
        <p:xfrm>
          <a:off x="1047750" y="3190875"/>
          <a:ext cx="5095875" cy="2667000"/>
        </p:xfrm>
        <a:graphic>
          <a:graphicData uri="http://schemas.openxmlformats.org/drawingml/2006/chart">
            <c:chart xmlns:c="http://schemas.openxmlformats.org/drawingml/2006/chart" xmlns:r="http://schemas.openxmlformats.org/officeDocument/2006/relationships" r:id="rId4"/>
          </a:graphicData>
        </a:graphic>
      </p:graphicFrame>
      <p:pic>
        <p:nvPicPr>
          <p:cNvPr id="17" name="Picture 16"/>
          <p:cNvPicPr>
            <a:picLocks noChangeAspect="1"/>
          </p:cNvPicPr>
          <p:nvPr/>
        </p:nvPicPr>
        <p:blipFill>
          <a:blip r:embed="rId5"/>
          <a:stretch/>
        </p:blipFill>
        <p:spPr>
          <a:xfrm>
            <a:off x="2714625" y="6124575"/>
            <a:ext cx="1762125" cy="1762125"/>
          </a:xfrm>
          <a:prstGeom prst="rect">
            <a:avLst/>
          </a:prstGeom>
        </p:spPr>
      </p:pic>
      <p:sp>
        <p:nvSpPr>
          <p:cNvPr id="5" name="20 µV peak-to-peak">
            <a:extLst>
              <a:ext uri="{FF2B5EF4-FFF2-40B4-BE49-F238E27FC236}">
                <a16:creationId xmlns:a16="http://schemas.microsoft.com/office/drawing/2014/main" id="{BA63B9C0-4386-4107-A623-E97C02C1041D}"/>
              </a:ext>
            </a:extLst>
          </p:cNvPr>
          <p:cNvSpPr>
            <a:spLocks noGrp="1"/>
          </p:cNvSpPr>
          <p:nvPr/>
        </p:nvSpPr>
        <p:spPr>
          <a:xfrm>
            <a:off x="1047750" y="8086725"/>
            <a:ext cx="5095875" cy="571500"/>
          </a:xfrm>
          <a:prstGeom prst="rect">
            <a:avLst/>
          </a:prstGeom>
          <a:noFill/>
          <a:ln w="0">
            <a:noFill/>
          </a:ln>
        </p:spPr>
        <p:txBody>
          <a:bodyPr lIns="0" tIns="0" rIns="0" bIns="0" anchor="t">
            <a:noAutofit/>
          </a:bodyPr>
          <a:lstStyle/>
          <a:p>
            <a:pPr algn="ctr">
              <a:defRPr sz="2625" b="1">
                <a:solidFill>
                  <a:srgbClr val="326B8C"/>
                </a:solidFill>
                <a:latin typeface="Poppins"/>
                <a:ea typeface="Poppins"/>
                <a:cs typeface="Poppins"/>
              </a:defRPr>
            </a:pPr>
            <a:r>
              <a:rPr sz="2625" b="1" dirty="0">
                <a:solidFill>
                  <a:srgbClr val="326B8C"/>
                </a:solidFill>
                <a:latin typeface="Poppins"/>
                <a:ea typeface="Poppins"/>
                <a:cs typeface="Poppins"/>
              </a:rPr>
              <a:t>20 µV </a:t>
            </a:r>
            <a:r>
              <a:rPr lang="en-CA" sz="2625" b="1" dirty="0">
                <a:solidFill>
                  <a:srgbClr val="326B8C"/>
                </a:solidFill>
                <a:latin typeface="Poppins"/>
                <a:ea typeface="Poppins"/>
                <a:cs typeface="Poppins"/>
              </a:rPr>
              <a:t>Baseline (Low Gain)</a:t>
            </a:r>
          </a:p>
          <a:p>
            <a:pPr algn="ctr">
              <a:defRPr sz="2625" b="1">
                <a:solidFill>
                  <a:srgbClr val="326B8C"/>
                </a:solidFill>
                <a:latin typeface="Poppins"/>
                <a:ea typeface="Poppins"/>
                <a:cs typeface="Poppins"/>
              </a:defRPr>
            </a:pPr>
            <a:r>
              <a:rPr lang="en-CA" sz="2625" b="1" dirty="0">
                <a:solidFill>
                  <a:srgbClr val="326B8C"/>
                </a:solidFill>
                <a:latin typeface="Poppins"/>
                <a:ea typeface="Poppins"/>
                <a:cs typeface="Poppins"/>
              </a:rPr>
              <a:t>Normalized Baseline: z = 0.0</a:t>
            </a:r>
            <a:endParaRPr sz="2625" b="1" dirty="0">
              <a:solidFill>
                <a:srgbClr val="326B8C"/>
              </a:solidFill>
              <a:latin typeface="Poppins"/>
              <a:ea typeface="Poppins"/>
              <a:cs typeface="Poppins"/>
            </a:endParaRPr>
          </a:p>
        </p:txBody>
      </p:sp>
      <p:graphicFrame>
        <p:nvGraphicFramePr>
          <p:cNvPr id="19" name="Chart"/>
          <p:cNvGraphicFramePr/>
          <p:nvPr/>
        </p:nvGraphicFramePr>
        <p:xfrm>
          <a:off x="6477000" y="3190875"/>
          <a:ext cx="5095875" cy="2667000"/>
        </p:xfrm>
        <a:graphic>
          <a:graphicData uri="http://schemas.openxmlformats.org/drawingml/2006/chart">
            <c:chart xmlns:c="http://schemas.openxmlformats.org/drawingml/2006/chart" xmlns:r="http://schemas.openxmlformats.org/officeDocument/2006/relationships" r:id="rId6"/>
          </a:graphicData>
        </a:graphic>
      </p:graphicFrame>
      <p:pic>
        <p:nvPicPr>
          <p:cNvPr id="20" name="Picture 19"/>
          <p:cNvPicPr>
            <a:picLocks noChangeAspect="1"/>
          </p:cNvPicPr>
          <p:nvPr/>
        </p:nvPicPr>
        <p:blipFill>
          <a:blip r:embed="rId5"/>
          <a:stretch/>
        </p:blipFill>
        <p:spPr>
          <a:xfrm>
            <a:off x="8143875" y="6124575"/>
            <a:ext cx="1762125" cy="1762125"/>
          </a:xfrm>
          <a:prstGeom prst="rect">
            <a:avLst/>
          </a:prstGeom>
        </p:spPr>
      </p:pic>
      <p:sp>
        <p:nvSpPr>
          <p:cNvPr id="8" name="40 µV peak-to-peak">
            <a:extLst>
              <a:ext uri="{FF2B5EF4-FFF2-40B4-BE49-F238E27FC236}">
                <a16:creationId xmlns:a16="http://schemas.microsoft.com/office/drawing/2014/main" id="{CEBBA9E3-D068-4749-A566-62799153F21F}"/>
              </a:ext>
            </a:extLst>
          </p:cNvPr>
          <p:cNvSpPr>
            <a:spLocks noGrp="1"/>
          </p:cNvSpPr>
          <p:nvPr/>
        </p:nvSpPr>
        <p:spPr>
          <a:xfrm>
            <a:off x="6477000" y="8086725"/>
            <a:ext cx="5429250" cy="571500"/>
          </a:xfrm>
          <a:prstGeom prst="rect">
            <a:avLst/>
          </a:prstGeom>
          <a:noFill/>
          <a:ln w="0">
            <a:noFill/>
          </a:ln>
        </p:spPr>
        <p:txBody>
          <a:bodyPr lIns="0" tIns="0" rIns="0" bIns="0" anchor="t">
            <a:noAutofit/>
          </a:bodyPr>
          <a:lstStyle/>
          <a:p>
            <a:pPr algn="ctr">
              <a:defRPr sz="2625" b="1">
                <a:solidFill>
                  <a:srgbClr val="9B712B"/>
                </a:solidFill>
                <a:latin typeface="Poppins"/>
                <a:ea typeface="Poppins"/>
                <a:cs typeface="Poppins"/>
              </a:defRPr>
            </a:pPr>
            <a:r>
              <a:rPr sz="2625" b="1" dirty="0">
                <a:solidFill>
                  <a:srgbClr val="9B712B"/>
                </a:solidFill>
                <a:latin typeface="Poppins"/>
                <a:ea typeface="Poppins"/>
                <a:cs typeface="Poppins"/>
              </a:rPr>
              <a:t>40 µV </a:t>
            </a:r>
            <a:r>
              <a:rPr lang="en-CA" sz="2625" b="1" dirty="0">
                <a:solidFill>
                  <a:srgbClr val="9B712B"/>
                </a:solidFill>
                <a:latin typeface="Poppins"/>
                <a:ea typeface="Poppins"/>
                <a:cs typeface="Poppins"/>
              </a:rPr>
              <a:t>Baseline ( Medium Gain)</a:t>
            </a:r>
          </a:p>
          <a:p>
            <a:pPr algn="ctr">
              <a:defRPr sz="2625" b="1">
                <a:solidFill>
                  <a:srgbClr val="9B712B"/>
                </a:solidFill>
                <a:latin typeface="Poppins"/>
                <a:ea typeface="Poppins"/>
                <a:cs typeface="Poppins"/>
              </a:defRPr>
            </a:pPr>
            <a:r>
              <a:rPr lang="en-CA" sz="2625" b="1" dirty="0">
                <a:solidFill>
                  <a:srgbClr val="9B712B"/>
                </a:solidFill>
                <a:latin typeface="Poppins"/>
                <a:ea typeface="Poppins"/>
                <a:cs typeface="Poppins"/>
              </a:rPr>
              <a:t>Normalized Baseline: z = 0.0</a:t>
            </a:r>
            <a:endParaRPr sz="2625" b="1" dirty="0">
              <a:solidFill>
                <a:srgbClr val="9B712B"/>
              </a:solidFill>
              <a:latin typeface="Poppins"/>
              <a:ea typeface="Poppins"/>
              <a:cs typeface="Poppins"/>
            </a:endParaRPr>
          </a:p>
        </p:txBody>
      </p:sp>
      <p:graphicFrame>
        <p:nvGraphicFramePr>
          <p:cNvPr id="22" name="Chart"/>
          <p:cNvGraphicFramePr/>
          <p:nvPr/>
        </p:nvGraphicFramePr>
        <p:xfrm>
          <a:off x="11906250" y="3190875"/>
          <a:ext cx="5095875" cy="2667000"/>
        </p:xfrm>
        <a:graphic>
          <a:graphicData uri="http://schemas.openxmlformats.org/drawingml/2006/chart">
            <c:chart xmlns:c="http://schemas.openxmlformats.org/drawingml/2006/chart" xmlns:r="http://schemas.openxmlformats.org/officeDocument/2006/relationships" r:id="rId7"/>
          </a:graphicData>
        </a:graphic>
      </p:graphicFrame>
      <p:pic>
        <p:nvPicPr>
          <p:cNvPr id="23" name="Picture 22"/>
          <p:cNvPicPr>
            <a:picLocks noChangeAspect="1"/>
          </p:cNvPicPr>
          <p:nvPr/>
        </p:nvPicPr>
        <p:blipFill>
          <a:blip r:embed="rId5"/>
          <a:stretch/>
        </p:blipFill>
        <p:spPr>
          <a:xfrm>
            <a:off x="13573125" y="6124575"/>
            <a:ext cx="1762125" cy="1762125"/>
          </a:xfrm>
          <a:prstGeom prst="rect">
            <a:avLst/>
          </a:prstGeom>
        </p:spPr>
      </p:pic>
      <p:sp>
        <p:nvSpPr>
          <p:cNvPr id="11" name="70 µV peak-to-peak">
            <a:extLst>
              <a:ext uri="{FF2B5EF4-FFF2-40B4-BE49-F238E27FC236}">
                <a16:creationId xmlns:a16="http://schemas.microsoft.com/office/drawing/2014/main" id="{8AD175AB-E116-43F5-B358-887307392102}"/>
              </a:ext>
            </a:extLst>
          </p:cNvPr>
          <p:cNvSpPr>
            <a:spLocks noGrp="1"/>
          </p:cNvSpPr>
          <p:nvPr/>
        </p:nvSpPr>
        <p:spPr>
          <a:xfrm>
            <a:off x="11906250" y="8086725"/>
            <a:ext cx="5095875" cy="571500"/>
          </a:xfrm>
          <a:prstGeom prst="rect">
            <a:avLst/>
          </a:prstGeom>
          <a:noFill/>
          <a:ln w="0">
            <a:noFill/>
          </a:ln>
        </p:spPr>
        <p:txBody>
          <a:bodyPr lIns="0" tIns="0" rIns="0" bIns="0" anchor="t">
            <a:noAutofit/>
          </a:bodyPr>
          <a:lstStyle/>
          <a:p>
            <a:pPr algn="ctr">
              <a:defRPr sz="2625" b="1">
                <a:solidFill>
                  <a:srgbClr val="36705C"/>
                </a:solidFill>
                <a:latin typeface="Poppins"/>
                <a:ea typeface="Poppins"/>
                <a:cs typeface="Poppins"/>
              </a:defRPr>
            </a:pPr>
            <a:r>
              <a:rPr sz="2625" b="1" dirty="0">
                <a:solidFill>
                  <a:srgbClr val="36705C"/>
                </a:solidFill>
                <a:latin typeface="Poppins"/>
                <a:ea typeface="Poppins"/>
                <a:cs typeface="Poppins"/>
              </a:rPr>
              <a:t>70 µV </a:t>
            </a:r>
            <a:r>
              <a:rPr lang="en-CA" sz="2625" b="1" dirty="0">
                <a:solidFill>
                  <a:srgbClr val="36705C"/>
                </a:solidFill>
                <a:latin typeface="Poppins"/>
                <a:ea typeface="Poppins"/>
                <a:cs typeface="Poppins"/>
              </a:rPr>
              <a:t>Baseline (High Gain)</a:t>
            </a:r>
          </a:p>
          <a:p>
            <a:pPr algn="ctr">
              <a:defRPr sz="2625" b="1">
                <a:solidFill>
                  <a:srgbClr val="36705C"/>
                </a:solidFill>
                <a:latin typeface="Poppins"/>
                <a:ea typeface="Poppins"/>
                <a:cs typeface="Poppins"/>
              </a:defRPr>
            </a:pPr>
            <a:r>
              <a:rPr lang="en-CA" sz="2625" b="1" dirty="0">
                <a:solidFill>
                  <a:srgbClr val="36705C"/>
                </a:solidFill>
                <a:latin typeface="Poppins"/>
                <a:ea typeface="Poppins"/>
                <a:cs typeface="Poppins"/>
              </a:rPr>
              <a:t>Normalized Baseline: z = 0.0</a:t>
            </a:r>
            <a:endParaRPr sz="2625" b="1" dirty="0">
              <a:solidFill>
                <a:srgbClr val="36705C"/>
              </a:solidFill>
              <a:latin typeface="Poppins"/>
              <a:ea typeface="Poppins"/>
              <a:cs typeface="Poppins"/>
            </a:endParaRPr>
          </a:p>
        </p:txBody>
      </p:sp>
      <p:sp>
        <p:nvSpPr>
          <p:cNvPr id="12" name="Different ranges. A baseline that belongs to you.">
            <a:extLst>
              <a:ext uri="{FF2B5EF4-FFF2-40B4-BE49-F238E27FC236}">
                <a16:creationId xmlns:a16="http://schemas.microsoft.com/office/drawing/2014/main" id="{697ED29B-4815-4C78-96D6-CEE3147414DC}"/>
              </a:ext>
            </a:extLst>
          </p:cNvPr>
          <p:cNvSpPr>
            <a:spLocks noGrp="1"/>
          </p:cNvSpPr>
          <p:nvPr/>
        </p:nvSpPr>
        <p:spPr>
          <a:xfrm>
            <a:off x="1047750" y="9352684"/>
            <a:ext cx="16192500" cy="619125"/>
          </a:xfrm>
          <a:prstGeom prst="rect">
            <a:avLst/>
          </a:prstGeom>
          <a:noFill/>
          <a:ln w="0">
            <a:noFill/>
          </a:ln>
        </p:spPr>
        <p:txBody>
          <a:bodyPr lIns="0" tIns="0" rIns="0" bIns="0" anchor="t">
            <a:noAutofit/>
          </a:bodyPr>
          <a:lstStyle/>
          <a:p>
            <a:pPr algn="l">
              <a:defRPr sz="3000" b="1">
                <a:solidFill>
                  <a:srgbClr val="191A18"/>
                </a:solidFill>
                <a:latin typeface="Poppins"/>
                <a:ea typeface="Poppins"/>
                <a:cs typeface="Poppins"/>
              </a:defRPr>
            </a:pPr>
            <a:r>
              <a:rPr sz="3000" b="1">
                <a:solidFill>
                  <a:srgbClr val="191A18"/>
                </a:solidFill>
                <a:latin typeface="Poppins"/>
                <a:ea typeface="Poppins"/>
                <a:cs typeface="Poppins"/>
              </a:rPr>
              <a:t>Different ranges. A baseline that belongs to you.</a:t>
            </a:r>
          </a:p>
        </p:txBody>
      </p:sp>
    </p:spTree>
    <p:extLst>
      <p:ext uri="{BB962C8B-B14F-4D97-AF65-F5344CB8AC3E}">
        <p14:creationId xmlns:p14="http://schemas.microsoft.com/office/powerpoint/2010/main" val="4358119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4EC"/>
        </a:solidFill>
        <a:effectLst/>
      </p:bgPr>
    </p:bg>
    <p:spTree>
      <p:nvGrpSpPr>
        <p:cNvPr id="1" name=""/>
        <p:cNvGrpSpPr/>
        <p:nvPr/>
      </p:nvGrpSpPr>
      <p:grpSpPr>
        <a:xfrm>
          <a:off x="0" y="0"/>
          <a:ext cx="0" cy="0"/>
          <a:chOff x="0" y="0"/>
          <a:chExt cx="0" cy="0"/>
        </a:xfrm>
      </p:grpSpPr>
      <p:sp>
        <p:nvSpPr>
          <p:cNvPr id="21" name="Four fresh windows confirm one event">
            <a:extLst>
              <a:ext uri="{FF2B5EF4-FFF2-40B4-BE49-F238E27FC236}">
                <a16:creationId xmlns:a16="http://schemas.microsoft.com/office/drawing/2014/main" id="{F1EFAC6C-AF35-43C9-9AAC-067AA5A69A5C}"/>
              </a:ext>
            </a:extLst>
          </p:cNvPr>
          <p:cNvSpPr>
            <a:spLocks noGrp="1"/>
          </p:cNvSpPr>
          <p:nvPr/>
        </p:nvSpPr>
        <p:spPr>
          <a:xfrm>
            <a:off x="1000125" y="742950"/>
            <a:ext cx="16287750" cy="1238250"/>
          </a:xfrm>
          <a:prstGeom prst="rect">
            <a:avLst/>
          </a:prstGeom>
          <a:noFill/>
          <a:ln w="0">
            <a:noFill/>
          </a:ln>
        </p:spPr>
        <p:txBody>
          <a:bodyPr lIns="0" tIns="0" rIns="0" bIns="0" anchor="t">
            <a:noAutofit/>
          </a:bodyPr>
          <a:lstStyle/>
          <a:p>
            <a:pPr algn="l">
              <a:defRPr sz="5400" b="1">
                <a:solidFill>
                  <a:srgbClr val="191A18"/>
                </a:solidFill>
                <a:latin typeface="Poppins"/>
                <a:ea typeface="Poppins"/>
                <a:cs typeface="Poppins"/>
              </a:defRPr>
            </a:pPr>
            <a:r>
              <a:rPr sz="5400" b="1">
                <a:solidFill>
                  <a:srgbClr val="191A18"/>
                </a:solidFill>
                <a:latin typeface="Poppins"/>
                <a:ea typeface="Poppins"/>
                <a:cs typeface="Poppins"/>
              </a:rPr>
              <a:t>Four fresh windows confirm one event</a:t>
            </a:r>
          </a:p>
        </p:txBody>
      </p:sp>
      <p:sp>
        <p:nvSpPr>
          <p:cNvPr id="2" name="Each window uses new EEG samples. A dip below the ">
            <a:extLst>
              <a:ext uri="{FF2B5EF4-FFF2-40B4-BE49-F238E27FC236}">
                <a16:creationId xmlns:a16="http://schemas.microsoft.com/office/drawing/2014/main" id="{9772F46B-BD6D-420B-9E2C-E03048DD5A2A}"/>
              </a:ext>
            </a:extLst>
          </p:cNvPr>
          <p:cNvSpPr>
            <a:spLocks noGrp="1"/>
          </p:cNvSpPr>
          <p:nvPr/>
        </p:nvSpPr>
        <p:spPr>
          <a:xfrm>
            <a:off x="1047750" y="2028825"/>
            <a:ext cx="16192500" cy="952500"/>
          </a:xfrm>
          <a:prstGeom prst="rect">
            <a:avLst/>
          </a:prstGeom>
          <a:noFill/>
          <a:ln w="0">
            <a:noFill/>
          </a:ln>
        </p:spPr>
        <p:txBody>
          <a:bodyPr lIns="0" tIns="0" rIns="0" bIns="0" anchor="t">
            <a:noAutofit/>
          </a:bodyPr>
          <a:lstStyle/>
          <a:p>
            <a:pPr algn="l">
              <a:defRPr sz="2625" b="0">
                <a:solidFill>
                  <a:srgbClr val="5A5D59"/>
                </a:solidFill>
                <a:latin typeface="Poppins"/>
                <a:ea typeface="Poppins"/>
                <a:cs typeface="Poppins"/>
              </a:defRPr>
            </a:pPr>
            <a:r>
              <a:rPr sz="2625" b="0">
                <a:solidFill>
                  <a:srgbClr val="5A5D59"/>
                </a:solidFill>
                <a:latin typeface="Poppins"/>
                <a:ea typeface="Poppins"/>
                <a:cs typeface="Poppins"/>
              </a:rPr>
              <a:t>Each window uses new EEG samples. A dip below the threshold resets the count.</a:t>
            </a:r>
          </a:p>
        </p:txBody>
      </p:sp>
      <p:sp>
        <p:nvSpPr>
          <p:cNvPr id="3" name="diagram">
            <a:extLst>
              <a:ext uri="{FF2B5EF4-FFF2-40B4-BE49-F238E27FC236}">
                <a16:creationId xmlns:a16="http://schemas.microsoft.com/office/drawing/2014/main" id="{C5601733-363C-4B02-85F2-B36904BD79CB}"/>
              </a:ext>
            </a:extLst>
          </p:cNvPr>
          <p:cNvSpPr>
            <a:spLocks noGrp="1"/>
          </p:cNvSpPr>
          <p:nvPr/>
        </p:nvSpPr>
        <p:spPr>
          <a:xfrm>
            <a:off x="1047750" y="4000500"/>
            <a:ext cx="3524250" cy="2095500"/>
          </a:xfrm>
          <a:prstGeom prst="rect">
            <a:avLst/>
          </a:prstGeom>
          <a:solidFill>
            <a:srgbClr val="326B8C"/>
          </a:solidFill>
          <a:ln w="0">
            <a:noFill/>
          </a:ln>
        </p:spPr>
        <p:txBody>
          <a:bodyPr/>
          <a:lstStyle/>
          <a:p>
            <a:endParaRPr lang="en-US"/>
          </a:p>
        </p:txBody>
      </p:sp>
      <p:sp>
        <p:nvSpPr>
          <p:cNvPr id="4" name="0–4 s">
            <a:extLst>
              <a:ext uri="{FF2B5EF4-FFF2-40B4-BE49-F238E27FC236}">
                <a16:creationId xmlns:a16="http://schemas.microsoft.com/office/drawing/2014/main" id="{FECE8493-3BCF-4CFA-97E1-63EE9C43013B}"/>
              </a:ext>
            </a:extLst>
          </p:cNvPr>
          <p:cNvSpPr>
            <a:spLocks noGrp="1"/>
          </p:cNvSpPr>
          <p:nvPr/>
        </p:nvSpPr>
        <p:spPr>
          <a:xfrm>
            <a:off x="1219200" y="4343400"/>
            <a:ext cx="3181350" cy="762000"/>
          </a:xfrm>
          <a:prstGeom prst="rect">
            <a:avLst/>
          </a:prstGeom>
          <a:noFill/>
          <a:ln w="0">
            <a:noFill/>
          </a:ln>
        </p:spPr>
        <p:txBody>
          <a:bodyPr lIns="0" tIns="0" rIns="0" bIns="0" anchor="t">
            <a:noAutofit/>
          </a:bodyPr>
          <a:lstStyle/>
          <a:p>
            <a:pPr algn="ctr">
              <a:defRPr sz="4200" b="1">
                <a:solidFill>
                  <a:srgbClr val="FFFFFF"/>
                </a:solidFill>
                <a:latin typeface="Poppins"/>
                <a:ea typeface="Poppins"/>
                <a:cs typeface="Poppins"/>
              </a:defRPr>
            </a:pPr>
            <a:r>
              <a:rPr sz="4200" b="1">
                <a:solidFill>
                  <a:srgbClr val="FFFFFF"/>
                </a:solidFill>
                <a:latin typeface="Poppins"/>
                <a:ea typeface="Poppins"/>
                <a:cs typeface="Poppins"/>
              </a:rPr>
              <a:t>0–4 s</a:t>
            </a:r>
          </a:p>
        </p:txBody>
      </p:sp>
      <p:sp>
        <p:nvSpPr>
          <p:cNvPr id="5" name="Elevated">
            <a:extLst>
              <a:ext uri="{FF2B5EF4-FFF2-40B4-BE49-F238E27FC236}">
                <a16:creationId xmlns:a16="http://schemas.microsoft.com/office/drawing/2014/main" id="{7BA858FA-F5AB-4FE9-8E41-F1D999061F81}"/>
              </a:ext>
            </a:extLst>
          </p:cNvPr>
          <p:cNvSpPr>
            <a:spLocks noGrp="1"/>
          </p:cNvSpPr>
          <p:nvPr/>
        </p:nvSpPr>
        <p:spPr>
          <a:xfrm>
            <a:off x="1219200" y="5267325"/>
            <a:ext cx="3181350" cy="571500"/>
          </a:xfrm>
          <a:prstGeom prst="rect">
            <a:avLst/>
          </a:prstGeom>
          <a:noFill/>
          <a:ln w="0">
            <a:noFill/>
          </a:ln>
        </p:spPr>
        <p:txBody>
          <a:bodyPr lIns="0" tIns="0" rIns="0" bIns="0" anchor="t">
            <a:noAutofit/>
          </a:bodyPr>
          <a:lstStyle/>
          <a:p>
            <a:pPr algn="ctr">
              <a:defRPr sz="2400" b="0">
                <a:solidFill>
                  <a:srgbClr val="FFFFFF"/>
                </a:solidFill>
                <a:latin typeface="Poppins"/>
                <a:ea typeface="Poppins"/>
                <a:cs typeface="Poppins"/>
              </a:defRPr>
            </a:pPr>
            <a:r>
              <a:rPr sz="2400" b="0">
                <a:solidFill>
                  <a:srgbClr val="FFFFFF"/>
                </a:solidFill>
                <a:latin typeface="Poppins"/>
                <a:ea typeface="Poppins"/>
                <a:cs typeface="Poppins"/>
              </a:rPr>
              <a:t>Elevated</a:t>
            </a:r>
          </a:p>
        </p:txBody>
      </p:sp>
      <p:sp>
        <p:nvSpPr>
          <p:cNvPr id="6" name="diagram">
            <a:extLst>
              <a:ext uri="{FF2B5EF4-FFF2-40B4-BE49-F238E27FC236}">
                <a16:creationId xmlns:a16="http://schemas.microsoft.com/office/drawing/2014/main" id="{41BECBFE-347D-41EC-B41A-6E010C6C73F5}"/>
              </a:ext>
            </a:extLst>
          </p:cNvPr>
          <p:cNvSpPr>
            <a:spLocks noGrp="1"/>
          </p:cNvSpPr>
          <p:nvPr/>
        </p:nvSpPr>
        <p:spPr>
          <a:xfrm>
            <a:off x="5095875" y="4000500"/>
            <a:ext cx="3524250" cy="2095500"/>
          </a:xfrm>
          <a:prstGeom prst="rect">
            <a:avLst/>
          </a:prstGeom>
          <a:solidFill>
            <a:srgbClr val="326B8C"/>
          </a:solidFill>
          <a:ln w="0">
            <a:noFill/>
          </a:ln>
        </p:spPr>
        <p:txBody>
          <a:bodyPr/>
          <a:lstStyle/>
          <a:p>
            <a:endParaRPr lang="en-US"/>
          </a:p>
        </p:txBody>
      </p:sp>
      <p:sp>
        <p:nvSpPr>
          <p:cNvPr id="7" name="4–8 s">
            <a:extLst>
              <a:ext uri="{FF2B5EF4-FFF2-40B4-BE49-F238E27FC236}">
                <a16:creationId xmlns:a16="http://schemas.microsoft.com/office/drawing/2014/main" id="{9E6A4A13-E08B-46EF-B040-81E3082369B1}"/>
              </a:ext>
            </a:extLst>
          </p:cNvPr>
          <p:cNvSpPr>
            <a:spLocks noGrp="1"/>
          </p:cNvSpPr>
          <p:nvPr/>
        </p:nvSpPr>
        <p:spPr>
          <a:xfrm>
            <a:off x="5267325" y="4343400"/>
            <a:ext cx="3181350" cy="762000"/>
          </a:xfrm>
          <a:prstGeom prst="rect">
            <a:avLst/>
          </a:prstGeom>
          <a:noFill/>
          <a:ln w="0">
            <a:noFill/>
          </a:ln>
        </p:spPr>
        <p:txBody>
          <a:bodyPr lIns="0" tIns="0" rIns="0" bIns="0" anchor="t">
            <a:noAutofit/>
          </a:bodyPr>
          <a:lstStyle/>
          <a:p>
            <a:pPr algn="ctr">
              <a:defRPr sz="4200" b="1">
                <a:solidFill>
                  <a:srgbClr val="FFFFFF"/>
                </a:solidFill>
                <a:latin typeface="Poppins"/>
                <a:ea typeface="Poppins"/>
                <a:cs typeface="Poppins"/>
              </a:defRPr>
            </a:pPr>
            <a:r>
              <a:rPr sz="4200" b="1">
                <a:solidFill>
                  <a:srgbClr val="FFFFFF"/>
                </a:solidFill>
                <a:latin typeface="Poppins"/>
                <a:ea typeface="Poppins"/>
                <a:cs typeface="Poppins"/>
              </a:rPr>
              <a:t>4–8 s</a:t>
            </a:r>
          </a:p>
        </p:txBody>
      </p:sp>
      <p:sp>
        <p:nvSpPr>
          <p:cNvPr id="8" name="Elevated">
            <a:extLst>
              <a:ext uri="{FF2B5EF4-FFF2-40B4-BE49-F238E27FC236}">
                <a16:creationId xmlns:a16="http://schemas.microsoft.com/office/drawing/2014/main" id="{1C54C7B6-9CB6-4DD9-ADC5-1457B9766A37}"/>
              </a:ext>
            </a:extLst>
          </p:cNvPr>
          <p:cNvSpPr>
            <a:spLocks noGrp="1"/>
          </p:cNvSpPr>
          <p:nvPr/>
        </p:nvSpPr>
        <p:spPr>
          <a:xfrm>
            <a:off x="5267325" y="5267325"/>
            <a:ext cx="3181350" cy="571500"/>
          </a:xfrm>
          <a:prstGeom prst="rect">
            <a:avLst/>
          </a:prstGeom>
          <a:noFill/>
          <a:ln w="0">
            <a:noFill/>
          </a:ln>
        </p:spPr>
        <p:txBody>
          <a:bodyPr lIns="0" tIns="0" rIns="0" bIns="0" anchor="t">
            <a:noAutofit/>
          </a:bodyPr>
          <a:lstStyle/>
          <a:p>
            <a:pPr algn="ctr">
              <a:defRPr sz="2400" b="0">
                <a:solidFill>
                  <a:srgbClr val="FFFFFF"/>
                </a:solidFill>
                <a:latin typeface="Poppins"/>
                <a:ea typeface="Poppins"/>
                <a:cs typeface="Poppins"/>
              </a:defRPr>
            </a:pPr>
            <a:r>
              <a:rPr sz="2400" b="0">
                <a:solidFill>
                  <a:srgbClr val="FFFFFF"/>
                </a:solidFill>
                <a:latin typeface="Poppins"/>
                <a:ea typeface="Poppins"/>
                <a:cs typeface="Poppins"/>
              </a:rPr>
              <a:t>Elevated</a:t>
            </a:r>
          </a:p>
        </p:txBody>
      </p:sp>
      <p:cxnSp>
        <p:nvCxnSpPr>
          <p:cNvPr id="29" name="Straight Arrow Connector 28"/>
          <p:cNvCxnSpPr>
            <a:stCxn id="3" idx="3"/>
            <a:endCxn id="6" idx="1"/>
          </p:cNvCxnSpPr>
          <p:nvPr/>
        </p:nvCxnSpPr>
        <p:spPr>
          <a:xfrm>
            <a:off x="4572000" y="5048250"/>
            <a:ext cx="523875" cy="0"/>
          </a:xfrm>
          <a:prstGeom prst="straightConnector1">
            <a:avLst/>
          </a:prstGeom>
          <a:ln w="38100">
            <a:solidFill>
              <a:srgbClr val="9B712B"/>
            </a:solidFill>
            <a:tailEnd type="triangle" w="med" len="med"/>
          </a:ln>
        </p:spPr>
      </p:cxnSp>
      <p:sp>
        <p:nvSpPr>
          <p:cNvPr id="10" name="diagram">
            <a:extLst>
              <a:ext uri="{FF2B5EF4-FFF2-40B4-BE49-F238E27FC236}">
                <a16:creationId xmlns:a16="http://schemas.microsoft.com/office/drawing/2014/main" id="{CCDCFD3F-EC0B-4D2C-893D-ADC3B546C3FA}"/>
              </a:ext>
            </a:extLst>
          </p:cNvPr>
          <p:cNvSpPr>
            <a:spLocks noGrp="1"/>
          </p:cNvSpPr>
          <p:nvPr/>
        </p:nvSpPr>
        <p:spPr>
          <a:xfrm>
            <a:off x="9144000" y="4000500"/>
            <a:ext cx="3524250" cy="2095500"/>
          </a:xfrm>
          <a:prstGeom prst="rect">
            <a:avLst/>
          </a:prstGeom>
          <a:solidFill>
            <a:srgbClr val="326B8C"/>
          </a:solidFill>
          <a:ln w="0">
            <a:noFill/>
          </a:ln>
        </p:spPr>
        <p:txBody>
          <a:bodyPr/>
          <a:lstStyle/>
          <a:p>
            <a:endParaRPr lang="en-US"/>
          </a:p>
        </p:txBody>
      </p:sp>
      <p:sp>
        <p:nvSpPr>
          <p:cNvPr id="11" name="8–12 s">
            <a:extLst>
              <a:ext uri="{FF2B5EF4-FFF2-40B4-BE49-F238E27FC236}">
                <a16:creationId xmlns:a16="http://schemas.microsoft.com/office/drawing/2014/main" id="{878DAA0B-CF12-4BA7-8C96-174651CE3066}"/>
              </a:ext>
            </a:extLst>
          </p:cNvPr>
          <p:cNvSpPr>
            <a:spLocks noGrp="1"/>
          </p:cNvSpPr>
          <p:nvPr/>
        </p:nvSpPr>
        <p:spPr>
          <a:xfrm>
            <a:off x="9315450" y="4343400"/>
            <a:ext cx="3181350" cy="762000"/>
          </a:xfrm>
          <a:prstGeom prst="rect">
            <a:avLst/>
          </a:prstGeom>
          <a:noFill/>
          <a:ln w="0">
            <a:noFill/>
          </a:ln>
        </p:spPr>
        <p:txBody>
          <a:bodyPr lIns="0" tIns="0" rIns="0" bIns="0" anchor="t">
            <a:noAutofit/>
          </a:bodyPr>
          <a:lstStyle/>
          <a:p>
            <a:pPr algn="ctr">
              <a:defRPr sz="4200" b="1">
                <a:solidFill>
                  <a:srgbClr val="FFFFFF"/>
                </a:solidFill>
                <a:latin typeface="Poppins"/>
                <a:ea typeface="Poppins"/>
                <a:cs typeface="Poppins"/>
              </a:defRPr>
            </a:pPr>
            <a:r>
              <a:rPr sz="4200" b="1">
                <a:solidFill>
                  <a:srgbClr val="FFFFFF"/>
                </a:solidFill>
                <a:latin typeface="Poppins"/>
                <a:ea typeface="Poppins"/>
                <a:cs typeface="Poppins"/>
              </a:rPr>
              <a:t>8–12 s</a:t>
            </a:r>
          </a:p>
        </p:txBody>
      </p:sp>
      <p:sp>
        <p:nvSpPr>
          <p:cNvPr id="12" name="Elevated">
            <a:extLst>
              <a:ext uri="{FF2B5EF4-FFF2-40B4-BE49-F238E27FC236}">
                <a16:creationId xmlns:a16="http://schemas.microsoft.com/office/drawing/2014/main" id="{53CBB6DE-ECC9-4F2C-B426-0057E5D99FEB}"/>
              </a:ext>
            </a:extLst>
          </p:cNvPr>
          <p:cNvSpPr>
            <a:spLocks noGrp="1"/>
          </p:cNvSpPr>
          <p:nvPr/>
        </p:nvSpPr>
        <p:spPr>
          <a:xfrm>
            <a:off x="9315450" y="5267325"/>
            <a:ext cx="3181350" cy="571500"/>
          </a:xfrm>
          <a:prstGeom prst="rect">
            <a:avLst/>
          </a:prstGeom>
          <a:noFill/>
          <a:ln w="0">
            <a:noFill/>
          </a:ln>
        </p:spPr>
        <p:txBody>
          <a:bodyPr lIns="0" tIns="0" rIns="0" bIns="0" anchor="t">
            <a:noAutofit/>
          </a:bodyPr>
          <a:lstStyle/>
          <a:p>
            <a:pPr algn="ctr">
              <a:defRPr sz="2400" b="0">
                <a:solidFill>
                  <a:srgbClr val="FFFFFF"/>
                </a:solidFill>
                <a:latin typeface="Poppins"/>
                <a:ea typeface="Poppins"/>
                <a:cs typeface="Poppins"/>
              </a:defRPr>
            </a:pPr>
            <a:r>
              <a:rPr sz="2400" b="0">
                <a:solidFill>
                  <a:srgbClr val="FFFFFF"/>
                </a:solidFill>
                <a:latin typeface="Poppins"/>
                <a:ea typeface="Poppins"/>
                <a:cs typeface="Poppins"/>
              </a:rPr>
              <a:t>Elevated</a:t>
            </a:r>
          </a:p>
        </p:txBody>
      </p:sp>
      <p:cxnSp>
        <p:nvCxnSpPr>
          <p:cNvPr id="33" name="Straight Arrow Connector 32"/>
          <p:cNvCxnSpPr>
            <a:stCxn id="6" idx="3"/>
            <a:endCxn id="10" idx="1"/>
          </p:cNvCxnSpPr>
          <p:nvPr/>
        </p:nvCxnSpPr>
        <p:spPr>
          <a:xfrm>
            <a:off x="8620125" y="5048250"/>
            <a:ext cx="523875" cy="0"/>
          </a:xfrm>
          <a:prstGeom prst="straightConnector1">
            <a:avLst/>
          </a:prstGeom>
          <a:ln w="38100">
            <a:solidFill>
              <a:srgbClr val="9B712B"/>
            </a:solidFill>
            <a:tailEnd type="triangle" w="med" len="med"/>
          </a:ln>
        </p:spPr>
      </p:cxnSp>
      <p:sp>
        <p:nvSpPr>
          <p:cNvPr id="14" name="diagram">
            <a:extLst>
              <a:ext uri="{FF2B5EF4-FFF2-40B4-BE49-F238E27FC236}">
                <a16:creationId xmlns:a16="http://schemas.microsoft.com/office/drawing/2014/main" id="{AC012E77-B905-4A0F-A4CC-D54CC42705D6}"/>
              </a:ext>
            </a:extLst>
          </p:cNvPr>
          <p:cNvSpPr>
            <a:spLocks noGrp="1"/>
          </p:cNvSpPr>
          <p:nvPr/>
        </p:nvSpPr>
        <p:spPr>
          <a:xfrm>
            <a:off x="13192125" y="4000500"/>
            <a:ext cx="3524250" cy="2095500"/>
          </a:xfrm>
          <a:prstGeom prst="rect">
            <a:avLst/>
          </a:prstGeom>
          <a:solidFill>
            <a:srgbClr val="326B8C"/>
          </a:solidFill>
          <a:ln w="0">
            <a:noFill/>
          </a:ln>
        </p:spPr>
        <p:txBody>
          <a:bodyPr/>
          <a:lstStyle/>
          <a:p>
            <a:endParaRPr lang="en-US"/>
          </a:p>
        </p:txBody>
      </p:sp>
      <p:sp>
        <p:nvSpPr>
          <p:cNvPr id="15" name="12–16 s">
            <a:extLst>
              <a:ext uri="{FF2B5EF4-FFF2-40B4-BE49-F238E27FC236}">
                <a16:creationId xmlns:a16="http://schemas.microsoft.com/office/drawing/2014/main" id="{9D78D298-B1AF-44D0-B7B2-118787597F82}"/>
              </a:ext>
            </a:extLst>
          </p:cNvPr>
          <p:cNvSpPr>
            <a:spLocks noGrp="1"/>
          </p:cNvSpPr>
          <p:nvPr/>
        </p:nvSpPr>
        <p:spPr>
          <a:xfrm>
            <a:off x="13363575" y="4343400"/>
            <a:ext cx="3181350" cy="762000"/>
          </a:xfrm>
          <a:prstGeom prst="rect">
            <a:avLst/>
          </a:prstGeom>
          <a:noFill/>
          <a:ln w="0">
            <a:noFill/>
          </a:ln>
        </p:spPr>
        <p:txBody>
          <a:bodyPr lIns="0" tIns="0" rIns="0" bIns="0" anchor="t">
            <a:noAutofit/>
          </a:bodyPr>
          <a:lstStyle/>
          <a:p>
            <a:pPr algn="ctr">
              <a:defRPr sz="4200" b="1">
                <a:solidFill>
                  <a:srgbClr val="FFFFFF"/>
                </a:solidFill>
                <a:latin typeface="Poppins"/>
                <a:ea typeface="Poppins"/>
                <a:cs typeface="Poppins"/>
              </a:defRPr>
            </a:pPr>
            <a:r>
              <a:rPr sz="4200" b="1">
                <a:solidFill>
                  <a:srgbClr val="FFFFFF"/>
                </a:solidFill>
                <a:latin typeface="Poppins"/>
                <a:ea typeface="Poppins"/>
                <a:cs typeface="Poppins"/>
              </a:rPr>
              <a:t>12–16 s</a:t>
            </a:r>
          </a:p>
        </p:txBody>
      </p:sp>
      <p:sp>
        <p:nvSpPr>
          <p:cNvPr id="16" name="Elevated">
            <a:extLst>
              <a:ext uri="{FF2B5EF4-FFF2-40B4-BE49-F238E27FC236}">
                <a16:creationId xmlns:a16="http://schemas.microsoft.com/office/drawing/2014/main" id="{E38B8DF5-E23C-4DA7-A1EB-8D9F4B7F7392}"/>
              </a:ext>
            </a:extLst>
          </p:cNvPr>
          <p:cNvSpPr>
            <a:spLocks noGrp="1"/>
          </p:cNvSpPr>
          <p:nvPr/>
        </p:nvSpPr>
        <p:spPr>
          <a:xfrm>
            <a:off x="13363575" y="5267325"/>
            <a:ext cx="3181350" cy="571500"/>
          </a:xfrm>
          <a:prstGeom prst="rect">
            <a:avLst/>
          </a:prstGeom>
          <a:noFill/>
          <a:ln w="0">
            <a:noFill/>
          </a:ln>
        </p:spPr>
        <p:txBody>
          <a:bodyPr lIns="0" tIns="0" rIns="0" bIns="0" anchor="t">
            <a:noAutofit/>
          </a:bodyPr>
          <a:lstStyle/>
          <a:p>
            <a:pPr algn="ctr">
              <a:defRPr sz="2400" b="0">
                <a:solidFill>
                  <a:srgbClr val="FFFFFF"/>
                </a:solidFill>
                <a:latin typeface="Poppins"/>
                <a:ea typeface="Poppins"/>
                <a:cs typeface="Poppins"/>
              </a:defRPr>
            </a:pPr>
            <a:r>
              <a:rPr sz="2400" b="0">
                <a:solidFill>
                  <a:srgbClr val="FFFFFF"/>
                </a:solidFill>
                <a:latin typeface="Poppins"/>
                <a:ea typeface="Poppins"/>
                <a:cs typeface="Poppins"/>
              </a:rPr>
              <a:t>Elevated</a:t>
            </a:r>
          </a:p>
        </p:txBody>
      </p:sp>
      <p:cxnSp>
        <p:nvCxnSpPr>
          <p:cNvPr id="37" name="Straight Arrow Connector 36"/>
          <p:cNvCxnSpPr>
            <a:stCxn id="10" idx="3"/>
            <a:endCxn id="14" idx="1"/>
          </p:cNvCxnSpPr>
          <p:nvPr/>
        </p:nvCxnSpPr>
        <p:spPr>
          <a:xfrm>
            <a:off x="12668250" y="5048250"/>
            <a:ext cx="523875" cy="0"/>
          </a:xfrm>
          <a:prstGeom prst="straightConnector1">
            <a:avLst/>
          </a:prstGeom>
          <a:ln w="38100">
            <a:solidFill>
              <a:srgbClr val="9B712B"/>
            </a:solidFill>
            <a:tailEnd type="triangle" w="med" len="med"/>
          </a:ln>
        </p:spPr>
      </p:cxnSp>
      <p:sp>
        <p:nvSpPr>
          <p:cNvPr id="18" name="4 / 4 confirmed">
            <a:extLst>
              <a:ext uri="{FF2B5EF4-FFF2-40B4-BE49-F238E27FC236}">
                <a16:creationId xmlns:a16="http://schemas.microsoft.com/office/drawing/2014/main" id="{8E54999F-B101-4235-91BF-541526709A53}"/>
              </a:ext>
            </a:extLst>
          </p:cNvPr>
          <p:cNvSpPr>
            <a:spLocks noGrp="1"/>
          </p:cNvSpPr>
          <p:nvPr/>
        </p:nvSpPr>
        <p:spPr>
          <a:xfrm>
            <a:off x="1047750" y="7000875"/>
            <a:ext cx="12382500" cy="952500"/>
          </a:xfrm>
          <a:prstGeom prst="rect">
            <a:avLst/>
          </a:prstGeom>
          <a:noFill/>
          <a:ln w="0">
            <a:noFill/>
          </a:ln>
        </p:spPr>
        <p:txBody>
          <a:bodyPr lIns="0" tIns="0" rIns="0" bIns="0" anchor="t">
            <a:noAutofit/>
          </a:bodyPr>
          <a:lstStyle/>
          <a:p>
            <a:pPr algn="l">
              <a:defRPr sz="4875" b="1">
                <a:solidFill>
                  <a:srgbClr val="191A18"/>
                </a:solidFill>
                <a:latin typeface="Poppins"/>
                <a:ea typeface="Poppins"/>
                <a:cs typeface="Poppins"/>
              </a:defRPr>
            </a:pPr>
            <a:r>
              <a:rPr sz="4875" b="1">
                <a:solidFill>
                  <a:srgbClr val="191A18"/>
                </a:solidFill>
                <a:latin typeface="Poppins"/>
                <a:ea typeface="Poppins"/>
                <a:cs typeface="Poppins"/>
              </a:rPr>
              <a:t>4 / 4 confirmed</a:t>
            </a:r>
          </a:p>
        </p:txBody>
      </p:sp>
      <p:sp>
        <p:nvSpPr>
          <p:cNvPr id="19" name="Flag the moment">
            <a:extLst>
              <a:ext uri="{FF2B5EF4-FFF2-40B4-BE49-F238E27FC236}">
                <a16:creationId xmlns:a16="http://schemas.microsoft.com/office/drawing/2014/main" id="{932AEA10-6D1A-4108-B3B7-39A6E3E3C77F}"/>
              </a:ext>
            </a:extLst>
          </p:cNvPr>
          <p:cNvSpPr>
            <a:spLocks noGrp="1"/>
          </p:cNvSpPr>
          <p:nvPr/>
        </p:nvSpPr>
        <p:spPr>
          <a:xfrm>
            <a:off x="1047750" y="8210550"/>
            <a:ext cx="13811250" cy="857250"/>
          </a:xfrm>
          <a:prstGeom prst="rect">
            <a:avLst/>
          </a:prstGeom>
          <a:noFill/>
          <a:ln w="0">
            <a:noFill/>
          </a:ln>
        </p:spPr>
        <p:txBody>
          <a:bodyPr lIns="0" tIns="0" rIns="0" bIns="0" anchor="t">
            <a:noAutofit/>
          </a:bodyPr>
          <a:lstStyle/>
          <a:p>
            <a:pPr algn="l">
              <a:defRPr sz="4425" b="1">
                <a:solidFill>
                  <a:srgbClr val="9B712B"/>
                </a:solidFill>
                <a:latin typeface="Poppins"/>
                <a:ea typeface="Poppins"/>
                <a:cs typeface="Poppins"/>
              </a:defRPr>
            </a:pPr>
            <a:r>
              <a:rPr sz="4425" b="1">
                <a:solidFill>
                  <a:srgbClr val="9B712B"/>
                </a:solidFill>
                <a:latin typeface="Poppins"/>
                <a:ea typeface="Poppins"/>
                <a:cs typeface="Poppins"/>
              </a:rPr>
              <a:t>Flag the moment</a:t>
            </a:r>
          </a:p>
        </p:txBody>
      </p:sp>
      <p:sp>
        <p:nvSpPr>
          <p:cNvPr id="20" name="Current detector: 4-second non-overlapping windows">
            <a:extLst>
              <a:ext uri="{FF2B5EF4-FFF2-40B4-BE49-F238E27FC236}">
                <a16:creationId xmlns:a16="http://schemas.microsoft.com/office/drawing/2014/main" id="{7E161E54-A654-40BD-A93B-970E4DB52C00}"/>
              </a:ext>
            </a:extLst>
          </p:cNvPr>
          <p:cNvSpPr>
            <a:spLocks noGrp="1"/>
          </p:cNvSpPr>
          <p:nvPr/>
        </p:nvSpPr>
        <p:spPr>
          <a:xfrm>
            <a:off x="1047750" y="9486900"/>
            <a:ext cx="16097250" cy="476250"/>
          </a:xfrm>
          <a:prstGeom prst="rect">
            <a:avLst/>
          </a:prstGeom>
          <a:noFill/>
          <a:ln w="0">
            <a:noFill/>
          </a:ln>
        </p:spPr>
        <p:txBody>
          <a:bodyPr lIns="0" tIns="0" rIns="0" bIns="0" anchor="t">
            <a:noAutofit/>
          </a:bodyPr>
          <a:lstStyle/>
          <a:p>
            <a:pPr algn="l">
              <a:defRPr sz="1875" b="0">
                <a:solidFill>
                  <a:srgbClr val="5A5D59"/>
                </a:solidFill>
                <a:latin typeface="Poppins"/>
                <a:ea typeface="Poppins"/>
                <a:cs typeface="Poppins"/>
              </a:defRPr>
            </a:pPr>
            <a:r>
              <a:rPr sz="1875" b="0">
                <a:solidFill>
                  <a:srgbClr val="5A5D59"/>
                </a:solidFill>
                <a:latin typeface="Poppins"/>
                <a:ea typeface="Poppins"/>
                <a:cs typeface="Poppins"/>
              </a:rPr>
              <a:t>Current detector: 4-second non-overlapping windows • illustrative signal sequence</a:t>
            </a:r>
          </a:p>
        </p:txBody>
      </p:sp>
      <p:pic>
        <p:nvPicPr>
          <p:cNvPr id="38" name="persistence video">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18288000" cy="10287000"/>
          </a:xfrm>
          <a:prstGeom prst="rect">
            <a:avLst/>
          </a:prstGeom>
        </p:spPr>
      </p:pic>
      <p:sp>
        <p:nvSpPr>
          <p:cNvPr id="9" name="Start by learning your normal">
            <a:extLst>
              <a:ext uri="{FF2B5EF4-FFF2-40B4-BE49-F238E27FC236}">
                <a16:creationId xmlns:a16="http://schemas.microsoft.com/office/drawing/2014/main" id="{224DB292-24B8-FBD9-9DA5-2BBB55D35E8F}"/>
              </a:ext>
            </a:extLst>
          </p:cNvPr>
          <p:cNvSpPr>
            <a:spLocks noGrp="1"/>
          </p:cNvSpPr>
          <p:nvPr/>
        </p:nvSpPr>
        <p:spPr>
          <a:xfrm>
            <a:off x="857250" y="1647825"/>
            <a:ext cx="16287750" cy="1238250"/>
          </a:xfrm>
          <a:prstGeom prst="rect">
            <a:avLst/>
          </a:prstGeom>
          <a:noFill/>
          <a:ln w="0">
            <a:noFill/>
          </a:ln>
        </p:spPr>
        <p:txBody>
          <a:bodyPr lIns="0" tIns="0" rIns="0" bIns="0" anchor="t">
            <a:noAutofit/>
          </a:bodyPr>
          <a:lstStyle/>
          <a:p>
            <a:pPr algn="ctr">
              <a:defRPr sz="5400" b="1">
                <a:solidFill>
                  <a:srgbClr val="191A18"/>
                </a:solidFill>
                <a:latin typeface="Poppins"/>
                <a:ea typeface="Poppins"/>
                <a:cs typeface="Poppins"/>
              </a:defRPr>
            </a:pPr>
            <a:r>
              <a:rPr lang="en-US" sz="5400" b="1" dirty="0">
                <a:solidFill>
                  <a:srgbClr val="191A18"/>
                </a:solidFill>
                <a:latin typeface="Poppins"/>
                <a:ea typeface="Poppins"/>
                <a:cs typeface="Poppins"/>
              </a:rPr>
              <a:t>Removing signal noise</a:t>
            </a:r>
            <a:endParaRPr sz="5400" b="1" dirty="0">
              <a:solidFill>
                <a:srgbClr val="191A18"/>
              </a:solidFill>
              <a:latin typeface="Poppins"/>
              <a:ea typeface="Poppins"/>
              <a:cs typeface="Poppins"/>
            </a:endParaRPr>
          </a:p>
        </p:txBody>
      </p:sp>
    </p:spTree>
    <p:extLst>
      <p:ext uri="{BB962C8B-B14F-4D97-AF65-F5344CB8AC3E}">
        <p14:creationId xmlns:p14="http://schemas.microsoft.com/office/powerpoint/2010/main" val="4047032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4EC"/>
        </a:solidFill>
        <a:effectLst/>
      </p:bgPr>
    </p:bg>
    <p:spTree>
      <p:nvGrpSpPr>
        <p:cNvPr id="1" name=""/>
        <p:cNvGrpSpPr/>
        <p:nvPr/>
      </p:nvGrpSpPr>
      <p:grpSpPr>
        <a:xfrm>
          <a:off x="0" y="0"/>
          <a:ext cx="0" cy="0"/>
          <a:chOff x="0" y="0"/>
          <a:chExt cx="0" cy="0"/>
        </a:xfrm>
      </p:grpSpPr>
      <p:sp>
        <p:nvSpPr>
          <p:cNvPr id="5" name="Fresh samples reduced false alarms">
            <a:extLst>
              <a:ext uri="{FF2B5EF4-FFF2-40B4-BE49-F238E27FC236}">
                <a16:creationId xmlns:a16="http://schemas.microsoft.com/office/drawing/2014/main" id="{228F833C-FE4A-478E-A271-D264D1D9C20F}"/>
              </a:ext>
            </a:extLst>
          </p:cNvPr>
          <p:cNvSpPr>
            <a:spLocks noGrp="1"/>
          </p:cNvSpPr>
          <p:nvPr/>
        </p:nvSpPr>
        <p:spPr>
          <a:xfrm>
            <a:off x="1000125" y="742950"/>
            <a:ext cx="16287750" cy="1238250"/>
          </a:xfrm>
          <a:prstGeom prst="rect">
            <a:avLst/>
          </a:prstGeom>
          <a:noFill/>
          <a:ln w="0">
            <a:noFill/>
          </a:ln>
        </p:spPr>
        <p:txBody>
          <a:bodyPr lIns="0" tIns="0" rIns="0" bIns="0" anchor="t">
            <a:noAutofit/>
          </a:bodyPr>
          <a:lstStyle/>
          <a:p>
            <a:pPr algn="l">
              <a:defRPr sz="5400" b="1">
                <a:solidFill>
                  <a:srgbClr val="191A18"/>
                </a:solidFill>
                <a:latin typeface="Poppins"/>
                <a:ea typeface="Poppins"/>
                <a:cs typeface="Poppins"/>
              </a:defRPr>
            </a:pPr>
            <a:r>
              <a:rPr sz="5400" b="1">
                <a:solidFill>
                  <a:srgbClr val="191A18"/>
                </a:solidFill>
                <a:latin typeface="Poppins"/>
                <a:ea typeface="Poppins"/>
                <a:cs typeface="Poppins"/>
              </a:rPr>
              <a:t>Every check uses data it has never seen</a:t>
            </a:r>
          </a:p>
        </p:txBody>
      </p:sp>
      <p:sp>
        <p:nvSpPr>
          <p:cNvPr id="2" name="Changing the overlap changed the result—even with ">
            <a:extLst>
              <a:ext uri="{FF2B5EF4-FFF2-40B4-BE49-F238E27FC236}">
                <a16:creationId xmlns:a16="http://schemas.microsoft.com/office/drawing/2014/main" id="{B83DBC44-5A8A-402E-A2A4-021B6D7C60FF}"/>
              </a:ext>
            </a:extLst>
          </p:cNvPr>
          <p:cNvSpPr>
            <a:spLocks noGrp="1"/>
          </p:cNvSpPr>
          <p:nvPr/>
        </p:nvSpPr>
        <p:spPr>
          <a:xfrm>
            <a:off x="1047750" y="2028825"/>
            <a:ext cx="16192500" cy="1000125"/>
          </a:xfrm>
          <a:prstGeom prst="rect">
            <a:avLst/>
          </a:prstGeom>
          <a:noFill/>
          <a:ln w="0">
            <a:noFill/>
          </a:ln>
        </p:spPr>
        <p:txBody>
          <a:bodyPr lIns="0" tIns="0" rIns="0" bIns="0" anchor="t">
            <a:noAutofit/>
          </a:bodyPr>
          <a:lstStyle/>
          <a:p>
            <a:pPr algn="l">
              <a:defRPr sz="2625" b="0">
                <a:solidFill>
                  <a:srgbClr val="5A5D59"/>
                </a:solidFill>
                <a:latin typeface="Poppins"/>
                <a:ea typeface="Poppins"/>
                <a:cs typeface="Poppins"/>
              </a:defRPr>
            </a:pPr>
            <a:r>
              <a:rPr sz="2625" b="0">
                <a:solidFill>
                  <a:srgbClr val="5A5D59"/>
                </a:solidFill>
                <a:latin typeface="Poppins"/>
                <a:ea typeface="Poppins"/>
                <a:cs typeface="Poppins"/>
              </a:rPr>
              <a:t>Fresh samples reduce false alarms.</a:t>
            </a:r>
          </a:p>
        </p:txBody>
      </p:sp>
      <p:graphicFrame>
        <p:nvGraphicFramePr>
          <p:cNvPr id="7" name="Chart"/>
          <p:cNvGraphicFramePr/>
          <p:nvPr/>
        </p:nvGraphicFramePr>
        <p:xfrm>
          <a:off x="1047750" y="3143250"/>
          <a:ext cx="16192500" cy="5143500"/>
        </p:xfrm>
        <a:graphic>
          <a:graphicData uri="http://schemas.openxmlformats.org/drawingml/2006/chart">
            <c:chart xmlns:c="http://schemas.openxmlformats.org/drawingml/2006/chart" xmlns:r="http://schemas.openxmlformats.org/officeDocument/2006/relationships" r:id="rId3"/>
          </a:graphicData>
        </a:graphic>
      </p:graphicFrame>
      <p:sp>
        <p:nvSpPr>
          <p:cNvPr id="4" name="Controlled synthetic fixture • same data and thres">
            <a:extLst>
              <a:ext uri="{FF2B5EF4-FFF2-40B4-BE49-F238E27FC236}">
                <a16:creationId xmlns:a16="http://schemas.microsoft.com/office/drawing/2014/main" id="{3D9F027E-B76E-4B68-9120-1811061C7AF6}"/>
              </a:ext>
            </a:extLst>
          </p:cNvPr>
          <p:cNvSpPr>
            <a:spLocks noGrp="1"/>
          </p:cNvSpPr>
          <p:nvPr/>
        </p:nvSpPr>
        <p:spPr>
          <a:xfrm>
            <a:off x="1047750" y="9486900"/>
            <a:ext cx="16097250" cy="476250"/>
          </a:xfrm>
          <a:prstGeom prst="rect">
            <a:avLst/>
          </a:prstGeom>
          <a:noFill/>
          <a:ln w="0">
            <a:noFill/>
          </a:ln>
        </p:spPr>
        <p:txBody>
          <a:bodyPr lIns="0" tIns="0" rIns="0" bIns="0" anchor="t">
            <a:noAutofit/>
          </a:bodyPr>
          <a:lstStyle/>
          <a:p>
            <a:pPr algn="l">
              <a:defRPr sz="1875" b="0">
                <a:solidFill>
                  <a:srgbClr val="5A5D59"/>
                </a:solidFill>
                <a:latin typeface="Poppins"/>
                <a:ea typeface="Poppins"/>
                <a:cs typeface="Poppins"/>
              </a:defRPr>
            </a:pPr>
            <a:r>
              <a:rPr sz="1875" b="0">
                <a:solidFill>
                  <a:srgbClr val="5A5D59"/>
                </a:solidFill>
                <a:latin typeface="Poppins"/>
                <a:ea typeface="Poppins"/>
                <a:cs typeface="Poppins"/>
              </a:rPr>
              <a:t>Controlled synthetic fixture • same data and threshold • source: confusion-detector/README.md</a:t>
            </a:r>
          </a:p>
        </p:txBody>
      </p:sp>
    </p:spTree>
    <p:extLst>
      <p:ext uri="{BB962C8B-B14F-4D97-AF65-F5344CB8AC3E}">
        <p14:creationId xmlns:p14="http://schemas.microsoft.com/office/powerpoint/2010/main" val="11781508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4EC"/>
        </a:solidFill>
        <a:effectLst/>
      </p:bgPr>
    </p:bg>
    <p:spTree>
      <p:nvGrpSpPr>
        <p:cNvPr id="1" name=""/>
        <p:cNvGrpSpPr/>
        <p:nvPr/>
      </p:nvGrpSpPr>
      <p:grpSpPr>
        <a:xfrm>
          <a:off x="0" y="0"/>
          <a:ext cx="0" cy="0"/>
          <a:chOff x="0" y="0"/>
          <a:chExt cx="0" cy="0"/>
        </a:xfrm>
      </p:grpSpPr>
      <p:sp>
        <p:nvSpPr>
          <p:cNvPr id="103" name="Five datasets. One question."/>
          <p:cNvSpPr txBox="1"/>
          <p:nvPr/>
        </p:nvSpPr>
        <p:spPr>
          <a:xfrm>
            <a:off x="1000125" y="742950"/>
            <a:ext cx="16287750" cy="1238250"/>
          </a:xfrm>
          <a:prstGeom prst="rect">
            <a:avLst/>
          </a:prstGeom>
          <a:noFill/>
          <a:ln>
            <a:noFill/>
          </a:ln>
        </p:spPr>
        <p:txBody>
          <a:bodyPr wrap="square" lIns="0" tIns="0" rIns="0" bIns="0" rtlCol="0" anchor="t">
            <a:noAutofit/>
          </a:bodyPr>
          <a:lstStyle/>
          <a:p>
            <a:pPr algn="l">
              <a:lnSpc>
                <a:spcPct val="118000"/>
              </a:lnSpc>
            </a:pPr>
            <a:r>
              <a:rPr lang="en-US" sz="5400" b="1" dirty="0">
                <a:solidFill>
                  <a:srgbClr val="191A18"/>
                </a:solidFill>
                <a:latin typeface="Poppins"/>
                <a:ea typeface="Poppins"/>
                <a:cs typeface="Poppins"/>
              </a:rPr>
              <a:t>Five datasets. One question.</a:t>
            </a:r>
          </a:p>
        </p:txBody>
      </p:sp>
      <p:sp>
        <p:nvSpPr>
          <p:cNvPr id="104" name="Voloridge • four public corpora and our "/>
          <p:cNvSpPr txBox="1"/>
          <p:nvPr/>
        </p:nvSpPr>
        <p:spPr>
          <a:xfrm>
            <a:off x="1047750" y="2028825"/>
            <a:ext cx="16192500" cy="1000125"/>
          </a:xfrm>
          <a:prstGeom prst="rect">
            <a:avLst/>
          </a:prstGeom>
          <a:noFill/>
          <a:ln>
            <a:noFill/>
          </a:ln>
        </p:spPr>
        <p:txBody>
          <a:bodyPr wrap="square" lIns="0" tIns="0" rIns="0" bIns="0" rtlCol="0" anchor="t">
            <a:noAutofit/>
          </a:bodyPr>
          <a:lstStyle/>
          <a:p>
            <a:pPr algn="l">
              <a:lnSpc>
                <a:spcPct val="118000"/>
              </a:lnSpc>
            </a:pPr>
            <a:r>
              <a:rPr lang="en-US" sz="2625" dirty="0">
                <a:solidFill>
                  <a:srgbClr val="5A5D59"/>
                </a:solidFill>
                <a:latin typeface="Poppins"/>
                <a:ea typeface="Poppins"/>
                <a:cs typeface="Poppins"/>
              </a:rPr>
              <a:t>4</a:t>
            </a:r>
            <a:r>
              <a:rPr lang="en-US" sz="2625" b="0" dirty="0">
                <a:solidFill>
                  <a:srgbClr val="5A5D59"/>
                </a:solidFill>
                <a:latin typeface="Poppins"/>
                <a:ea typeface="Poppins"/>
                <a:cs typeface="Poppins"/>
              </a:rPr>
              <a:t> public corpora and our own. Can scalp EEG mark a state change?</a:t>
            </a:r>
          </a:p>
        </p:txBody>
      </p:sp>
      <p:sp>
        <p:nvSpPr>
          <p:cNvPr id="105" name="card"/>
          <p:cNvSpPr/>
          <p:nvPr/>
        </p:nvSpPr>
        <p:spPr>
          <a:xfrm>
            <a:off x="1047750" y="3270000"/>
            <a:ext cx="10661650" cy="2700000"/>
          </a:xfrm>
          <a:prstGeom prst="roundRect">
            <a:avLst>
              <a:gd name="adj" fmla="val 4467"/>
            </a:avLst>
          </a:prstGeom>
          <a:solidFill>
            <a:srgbClr val="FBF9F3"/>
          </a:solidFill>
          <a:ln w="12700">
            <a:solidFill>
              <a:srgbClr val="DFD8C6"/>
            </a:solidFill>
            <a:prstDash val="solid"/>
          </a:ln>
          <a:effectLst>
            <a:outerShdw blurRad="114300" dist="25400" dir="5400000" algn="bl" rotWithShape="0">
              <a:srgbClr val="BFB49A">
                <a:alpha val="30000"/>
              </a:srgbClr>
            </a:outerShdw>
          </a:effectLst>
        </p:spPr>
        <p:txBody>
          <a:bodyPr/>
          <a:lstStyle/>
          <a:p>
            <a:endParaRPr lang="en-US"/>
          </a:p>
        </p:txBody>
      </p:sp>
      <p:sp>
        <p:nvSpPr>
          <p:cNvPr id="106" name="bar"/>
          <p:cNvSpPr/>
          <p:nvPr/>
        </p:nvSpPr>
        <p:spPr>
          <a:xfrm>
            <a:off x="1047750" y="3570000"/>
            <a:ext cx="47625" cy="600000"/>
          </a:xfrm>
          <a:prstGeom prst="rect">
            <a:avLst/>
          </a:prstGeom>
          <a:solidFill>
            <a:srgbClr val="9B712B"/>
          </a:solidFill>
          <a:ln>
            <a:noFill/>
          </a:ln>
          <a:effectLst/>
        </p:spPr>
        <p:txBody>
          <a:bodyPr/>
          <a:lstStyle/>
          <a:p>
            <a:endParaRPr lang="en-US"/>
          </a:p>
        </p:txBody>
      </p:sp>
      <p:sp>
        <p:nvSpPr>
          <p:cNvPr id="107" name="Shin et al. 2018 • dataset A"/>
          <p:cNvSpPr txBox="1"/>
          <p:nvPr/>
        </p:nvSpPr>
        <p:spPr>
          <a:xfrm>
            <a:off x="1377750" y="3600000"/>
            <a:ext cx="10001650" cy="359664"/>
          </a:xfrm>
          <a:prstGeom prst="rect">
            <a:avLst/>
          </a:prstGeom>
          <a:noFill/>
          <a:ln>
            <a:noFill/>
          </a:ln>
        </p:spPr>
        <p:txBody>
          <a:bodyPr wrap="square" lIns="0" tIns="0" rIns="0" bIns="0" rtlCol="0" anchor="t">
            <a:noAutofit/>
          </a:bodyPr>
          <a:lstStyle/>
          <a:p>
            <a:pPr algn="l">
              <a:lnSpc>
                <a:spcPct val="118000"/>
              </a:lnSpc>
            </a:pPr>
            <a:r>
              <a:rPr lang="en-US" sz="2400" b="1" dirty="0">
                <a:solidFill>
                  <a:srgbClr val="191A18"/>
                </a:solidFill>
                <a:latin typeface="Poppins"/>
                <a:ea typeface="Poppins"/>
                <a:cs typeface="Poppins"/>
              </a:rPr>
              <a:t>Shin et al. 2018 • dataset A</a:t>
            </a:r>
          </a:p>
        </p:txBody>
      </p:sp>
      <p:sp>
        <p:nvSpPr>
          <p:cNvPr id="108" name="28 channels • 5 people • 15 sessio"/>
          <p:cNvSpPr txBox="1"/>
          <p:nvPr/>
        </p:nvSpPr>
        <p:spPr>
          <a:xfrm>
            <a:off x="1377750" y="4054664"/>
            <a:ext cx="10001650" cy="295275"/>
          </a:xfrm>
          <a:prstGeom prst="rect">
            <a:avLst/>
          </a:prstGeom>
          <a:noFill/>
          <a:ln>
            <a:noFill/>
          </a:ln>
        </p:spPr>
        <p:txBody>
          <a:bodyPr wrap="square" lIns="0" tIns="0" rIns="0" bIns="0" rtlCol="0" anchor="t">
            <a:noAutofit/>
          </a:bodyPr>
          <a:lstStyle/>
          <a:p>
            <a:pPr algn="l">
              <a:lnSpc>
                <a:spcPct val="124000"/>
              </a:lnSpc>
            </a:pPr>
            <a:r>
              <a:rPr lang="en-US" sz="1875" b="0" dirty="0">
                <a:solidFill>
                  <a:srgbClr val="9B712B"/>
                </a:solidFill>
                <a:latin typeface="Poppins"/>
                <a:ea typeface="Poppins"/>
                <a:cs typeface="Poppins"/>
              </a:rPr>
              <a:t>28 channels • 5 people • 15 sessions • labels unmodified</a:t>
            </a:r>
          </a:p>
        </p:txBody>
      </p:sp>
      <p:sp>
        <p:nvSpPr>
          <p:cNvPr id="109" name="Task versus rest during n-back. Th"/>
          <p:cNvSpPr txBox="1"/>
          <p:nvPr/>
        </p:nvSpPr>
        <p:spPr>
          <a:xfrm>
            <a:off x="1377750" y="4509939"/>
            <a:ext cx="10001650" cy="648081"/>
          </a:xfrm>
          <a:prstGeom prst="rect">
            <a:avLst/>
          </a:prstGeom>
          <a:noFill/>
          <a:ln>
            <a:noFill/>
          </a:ln>
        </p:spPr>
        <p:txBody>
          <a:bodyPr wrap="square" lIns="0" tIns="0" rIns="0" bIns="0" rtlCol="0" anchor="t">
            <a:noAutofit/>
          </a:bodyPr>
          <a:lstStyle/>
          <a:p>
            <a:pPr algn="l">
              <a:lnSpc>
                <a:spcPct val="126000"/>
              </a:lnSpc>
            </a:pPr>
            <a:r>
              <a:rPr lang="en-US" sz="2025" b="0" dirty="0">
                <a:solidFill>
                  <a:srgbClr val="5A5D59"/>
                </a:solidFill>
                <a:latin typeface="Poppins"/>
                <a:ea typeface="Poppins"/>
                <a:cs typeface="Poppins"/>
              </a:rPr>
              <a:t>Task versus rest during n-back. This is the model we ship: 79% mean AUC, and 8 of 15 sessions beat their own time-shift null.</a:t>
            </a:r>
          </a:p>
        </p:txBody>
      </p:sp>
      <p:sp>
        <p:nvSpPr>
          <p:cNvPr id="110" name="card"/>
          <p:cNvSpPr/>
          <p:nvPr/>
        </p:nvSpPr>
        <p:spPr>
          <a:xfrm>
            <a:off x="12109450" y="3270000"/>
            <a:ext cx="5130800" cy="2700000"/>
          </a:xfrm>
          <a:prstGeom prst="roundRect">
            <a:avLst>
              <a:gd name="adj" fmla="val 4467"/>
            </a:avLst>
          </a:prstGeom>
          <a:solidFill>
            <a:srgbClr val="FBF9F3"/>
          </a:solidFill>
          <a:ln w="12700">
            <a:solidFill>
              <a:srgbClr val="DFD8C6"/>
            </a:solidFill>
            <a:prstDash val="solid"/>
          </a:ln>
          <a:effectLst>
            <a:outerShdw blurRad="114300" dist="25400" dir="5400000" algn="bl" rotWithShape="0">
              <a:srgbClr val="BFB49A">
                <a:alpha val="30000"/>
              </a:srgbClr>
            </a:outerShdw>
          </a:effectLst>
        </p:spPr>
        <p:txBody>
          <a:bodyPr/>
          <a:lstStyle/>
          <a:p>
            <a:endParaRPr lang="en-US"/>
          </a:p>
        </p:txBody>
      </p:sp>
      <p:sp>
        <p:nvSpPr>
          <p:cNvPr id="111" name="bar"/>
          <p:cNvSpPr/>
          <p:nvPr/>
        </p:nvSpPr>
        <p:spPr>
          <a:xfrm>
            <a:off x="12109450" y="3570000"/>
            <a:ext cx="47625" cy="600000"/>
          </a:xfrm>
          <a:prstGeom prst="rect">
            <a:avLst/>
          </a:prstGeom>
          <a:solidFill>
            <a:srgbClr val="9B712B"/>
          </a:solidFill>
          <a:ln>
            <a:noFill/>
          </a:ln>
          <a:effectLst/>
        </p:spPr>
        <p:txBody>
          <a:bodyPr/>
          <a:lstStyle/>
          <a:p>
            <a:endParaRPr lang="en-US"/>
          </a:p>
        </p:txBody>
      </p:sp>
      <p:sp>
        <p:nvSpPr>
          <p:cNvPr id="112" name="OpenNeuro ds006394"/>
          <p:cNvSpPr txBox="1"/>
          <p:nvPr/>
        </p:nvSpPr>
        <p:spPr>
          <a:xfrm>
            <a:off x="12439450" y="3600000"/>
            <a:ext cx="4470800" cy="314706"/>
          </a:xfrm>
          <a:prstGeom prst="rect">
            <a:avLst/>
          </a:prstGeom>
          <a:noFill/>
          <a:ln>
            <a:noFill/>
          </a:ln>
        </p:spPr>
        <p:txBody>
          <a:bodyPr wrap="square" lIns="0" tIns="0" rIns="0" bIns="0" rtlCol="0" anchor="t">
            <a:noAutofit/>
          </a:bodyPr>
          <a:lstStyle/>
          <a:p>
            <a:pPr algn="l">
              <a:lnSpc>
                <a:spcPct val="118000"/>
              </a:lnSpc>
            </a:pPr>
            <a:r>
              <a:rPr lang="en-US" sz="2100" b="1" dirty="0">
                <a:solidFill>
                  <a:srgbClr val="191A18"/>
                </a:solidFill>
                <a:latin typeface="Poppins"/>
                <a:ea typeface="Poppins"/>
                <a:cs typeface="Poppins"/>
              </a:rPr>
              <a:t>OpenNeuro ds006394</a:t>
            </a:r>
          </a:p>
        </p:txBody>
      </p:sp>
      <p:sp>
        <p:nvSpPr>
          <p:cNvPr id="113" name="16 channels • 33 people • 51 recor"/>
          <p:cNvSpPr txBox="1"/>
          <p:nvPr/>
        </p:nvSpPr>
        <p:spPr>
          <a:xfrm>
            <a:off x="12439450" y="4009706"/>
            <a:ext cx="4470800" cy="566928"/>
          </a:xfrm>
          <a:prstGeom prst="rect">
            <a:avLst/>
          </a:prstGeom>
          <a:noFill/>
          <a:ln>
            <a:noFill/>
          </a:ln>
        </p:spPr>
        <p:txBody>
          <a:bodyPr wrap="square" lIns="0" tIns="0" rIns="0" bIns="0" rtlCol="0" anchor="t">
            <a:noAutofit/>
          </a:bodyPr>
          <a:lstStyle/>
          <a:p>
            <a:pPr algn="l">
              <a:lnSpc>
                <a:spcPct val="124000"/>
              </a:lnSpc>
            </a:pPr>
            <a:r>
              <a:rPr lang="en-US" sz="1800" b="0" dirty="0">
                <a:solidFill>
                  <a:srgbClr val="9B712B"/>
                </a:solidFill>
                <a:latin typeface="Poppins"/>
                <a:ea typeface="Poppins"/>
                <a:cs typeface="Poppins"/>
              </a:rPr>
              <a:t>16 channels • 33 people • 51 recordings</a:t>
            </a:r>
          </a:p>
        </p:txBody>
      </p:sp>
      <p:sp>
        <p:nvSpPr>
          <p:cNvPr id="114" name="Surprise versus dummy surprise. Th"/>
          <p:cNvSpPr txBox="1"/>
          <p:nvPr/>
        </p:nvSpPr>
        <p:spPr>
          <a:xfrm>
            <a:off x="12439450" y="4736634"/>
            <a:ext cx="4470800" cy="600075"/>
          </a:xfrm>
          <a:prstGeom prst="rect">
            <a:avLst/>
          </a:prstGeom>
          <a:noFill/>
          <a:ln>
            <a:noFill/>
          </a:ln>
        </p:spPr>
        <p:txBody>
          <a:bodyPr wrap="square" lIns="0" tIns="0" rIns="0" bIns="0" rtlCol="0" anchor="t">
            <a:noAutofit/>
          </a:bodyPr>
          <a:lstStyle/>
          <a:p>
            <a:pPr algn="l">
              <a:lnSpc>
                <a:spcPct val="126000"/>
              </a:lnSpc>
            </a:pPr>
            <a:r>
              <a:rPr lang="en-US" sz="1875" b="0" dirty="0">
                <a:solidFill>
                  <a:srgbClr val="5A5D59"/>
                </a:solidFill>
                <a:latin typeface="Poppins"/>
                <a:ea typeface="Poppins"/>
                <a:cs typeface="Poppins"/>
              </a:rPr>
              <a:t>Surprise versus dummy surprise. This chose our hardware.</a:t>
            </a:r>
          </a:p>
        </p:txBody>
      </p:sp>
      <p:sp>
        <p:nvSpPr>
          <p:cNvPr id="115" name="card"/>
          <p:cNvSpPr/>
          <p:nvPr/>
        </p:nvSpPr>
        <p:spPr>
          <a:xfrm>
            <a:off x="1047750" y="6350000"/>
            <a:ext cx="5130800" cy="2700000"/>
          </a:xfrm>
          <a:prstGeom prst="roundRect">
            <a:avLst>
              <a:gd name="adj" fmla="val 4467"/>
            </a:avLst>
          </a:prstGeom>
          <a:solidFill>
            <a:srgbClr val="FBF9F3"/>
          </a:solidFill>
          <a:ln w="12700">
            <a:solidFill>
              <a:srgbClr val="DFD8C6"/>
            </a:solidFill>
            <a:prstDash val="solid"/>
          </a:ln>
          <a:effectLst>
            <a:outerShdw blurRad="114300" dist="25400" dir="5400000" algn="bl" rotWithShape="0">
              <a:srgbClr val="BFB49A">
                <a:alpha val="30000"/>
              </a:srgbClr>
            </a:outerShdw>
          </a:effectLst>
        </p:spPr>
        <p:txBody>
          <a:bodyPr/>
          <a:lstStyle/>
          <a:p>
            <a:endParaRPr lang="en-US"/>
          </a:p>
        </p:txBody>
      </p:sp>
      <p:sp>
        <p:nvSpPr>
          <p:cNvPr id="116" name="bar"/>
          <p:cNvSpPr/>
          <p:nvPr/>
        </p:nvSpPr>
        <p:spPr>
          <a:xfrm>
            <a:off x="1047750" y="6650000"/>
            <a:ext cx="47625" cy="600000"/>
          </a:xfrm>
          <a:prstGeom prst="rect">
            <a:avLst/>
          </a:prstGeom>
          <a:solidFill>
            <a:srgbClr val="326B8C"/>
          </a:solidFill>
          <a:ln>
            <a:noFill/>
          </a:ln>
          <a:effectLst/>
        </p:spPr>
        <p:txBody>
          <a:bodyPr/>
          <a:lstStyle/>
          <a:p>
            <a:endParaRPr lang="en-US"/>
          </a:p>
        </p:txBody>
      </p:sp>
      <p:sp>
        <p:nvSpPr>
          <p:cNvPr id="117" name="PhysioNet EEGMMIDB"/>
          <p:cNvSpPr txBox="1"/>
          <p:nvPr/>
        </p:nvSpPr>
        <p:spPr>
          <a:xfrm>
            <a:off x="1377750" y="6680000"/>
            <a:ext cx="4470800" cy="314706"/>
          </a:xfrm>
          <a:prstGeom prst="rect">
            <a:avLst/>
          </a:prstGeom>
          <a:noFill/>
          <a:ln>
            <a:noFill/>
          </a:ln>
        </p:spPr>
        <p:txBody>
          <a:bodyPr wrap="square" lIns="0" tIns="0" rIns="0" bIns="0" rtlCol="0" anchor="t">
            <a:noAutofit/>
          </a:bodyPr>
          <a:lstStyle/>
          <a:p>
            <a:pPr algn="l">
              <a:lnSpc>
                <a:spcPct val="118000"/>
              </a:lnSpc>
            </a:pPr>
            <a:r>
              <a:rPr lang="en-US" sz="2100" b="1" dirty="0">
                <a:solidFill>
                  <a:srgbClr val="191A18"/>
                </a:solidFill>
                <a:latin typeface="Poppins"/>
                <a:ea typeface="Poppins"/>
                <a:cs typeface="Poppins"/>
              </a:rPr>
              <a:t>PhysioNet EEGMMIDB</a:t>
            </a:r>
          </a:p>
        </p:txBody>
      </p:sp>
      <p:sp>
        <p:nvSpPr>
          <p:cNvPr id="118" name="64 channels • 109 people • 278 MB"/>
          <p:cNvSpPr txBox="1"/>
          <p:nvPr/>
        </p:nvSpPr>
        <p:spPr>
          <a:xfrm>
            <a:off x="1377750" y="7089706"/>
            <a:ext cx="4470800" cy="283464"/>
          </a:xfrm>
          <a:prstGeom prst="rect">
            <a:avLst/>
          </a:prstGeom>
          <a:noFill/>
          <a:ln>
            <a:noFill/>
          </a:ln>
        </p:spPr>
        <p:txBody>
          <a:bodyPr wrap="square" lIns="0" tIns="0" rIns="0" bIns="0" rtlCol="0" anchor="t">
            <a:noAutofit/>
          </a:bodyPr>
          <a:lstStyle/>
          <a:p>
            <a:pPr algn="l">
              <a:lnSpc>
                <a:spcPct val="124000"/>
              </a:lnSpc>
            </a:pPr>
            <a:r>
              <a:rPr lang="en-US" sz="1800" b="0" dirty="0">
                <a:solidFill>
                  <a:srgbClr val="326B8C"/>
                </a:solidFill>
                <a:latin typeface="Poppins"/>
                <a:ea typeface="Poppins"/>
                <a:cs typeface="Poppins"/>
              </a:rPr>
              <a:t>64 channels • 109 people • 278 MB</a:t>
            </a:r>
          </a:p>
        </p:txBody>
      </p:sp>
      <p:sp>
        <p:nvSpPr>
          <p:cNvPr id="119" name="Crown's exact eight channel names,"/>
          <p:cNvSpPr txBox="1"/>
          <p:nvPr/>
        </p:nvSpPr>
        <p:spPr>
          <a:xfrm>
            <a:off x="1377750" y="7533170"/>
            <a:ext cx="4470800" cy="600075"/>
          </a:xfrm>
          <a:prstGeom prst="rect">
            <a:avLst/>
          </a:prstGeom>
          <a:noFill/>
          <a:ln>
            <a:noFill/>
          </a:ln>
        </p:spPr>
        <p:txBody>
          <a:bodyPr wrap="square" lIns="0" tIns="0" rIns="0" bIns="0" rtlCol="0" anchor="t">
            <a:noAutofit/>
          </a:bodyPr>
          <a:lstStyle/>
          <a:p>
            <a:pPr algn="l">
              <a:lnSpc>
                <a:spcPct val="126000"/>
              </a:lnSpc>
            </a:pPr>
            <a:r>
              <a:rPr lang="en-US" sz="1875" b="0" dirty="0">
                <a:solidFill>
                  <a:srgbClr val="5A5D59"/>
                </a:solidFill>
                <a:latin typeface="Poppins"/>
                <a:ea typeface="Poppins"/>
                <a:cs typeface="Poppins"/>
              </a:rPr>
              <a:t>Crown's exact eight channel names, no substitution.</a:t>
            </a:r>
          </a:p>
        </p:txBody>
      </p:sp>
      <p:sp>
        <p:nvSpPr>
          <p:cNvPr id="120" name="card"/>
          <p:cNvSpPr/>
          <p:nvPr/>
        </p:nvSpPr>
        <p:spPr>
          <a:xfrm>
            <a:off x="6578600" y="6350000"/>
            <a:ext cx="5130800" cy="2700000"/>
          </a:xfrm>
          <a:prstGeom prst="roundRect">
            <a:avLst>
              <a:gd name="adj" fmla="val 4467"/>
            </a:avLst>
          </a:prstGeom>
          <a:solidFill>
            <a:srgbClr val="FBF9F3"/>
          </a:solidFill>
          <a:ln w="12700">
            <a:solidFill>
              <a:srgbClr val="DFD8C6"/>
            </a:solidFill>
            <a:prstDash val="solid"/>
          </a:ln>
          <a:effectLst>
            <a:outerShdw blurRad="114300" dist="25400" dir="5400000" algn="bl" rotWithShape="0">
              <a:srgbClr val="BFB49A">
                <a:alpha val="30000"/>
              </a:srgbClr>
            </a:outerShdw>
          </a:effectLst>
        </p:spPr>
        <p:txBody>
          <a:bodyPr/>
          <a:lstStyle/>
          <a:p>
            <a:endParaRPr lang="en-US"/>
          </a:p>
        </p:txBody>
      </p:sp>
      <p:sp>
        <p:nvSpPr>
          <p:cNvPr id="121" name="bar"/>
          <p:cNvSpPr/>
          <p:nvPr/>
        </p:nvSpPr>
        <p:spPr>
          <a:xfrm>
            <a:off x="6578600" y="6650000"/>
            <a:ext cx="47625" cy="600000"/>
          </a:xfrm>
          <a:prstGeom prst="rect">
            <a:avLst/>
          </a:prstGeom>
          <a:solidFill>
            <a:srgbClr val="326B8C"/>
          </a:solidFill>
          <a:ln>
            <a:noFill/>
          </a:ln>
          <a:effectLst/>
        </p:spPr>
        <p:txBody>
          <a:bodyPr/>
          <a:lstStyle/>
          <a:p>
            <a:endParaRPr lang="en-US"/>
          </a:p>
        </p:txBody>
      </p:sp>
      <p:sp>
        <p:nvSpPr>
          <p:cNvPr id="122" name="PhysioNet Auditory EEG"/>
          <p:cNvSpPr txBox="1"/>
          <p:nvPr/>
        </p:nvSpPr>
        <p:spPr>
          <a:xfrm>
            <a:off x="6908600" y="6680000"/>
            <a:ext cx="4470800" cy="314706"/>
          </a:xfrm>
          <a:prstGeom prst="rect">
            <a:avLst/>
          </a:prstGeom>
          <a:noFill/>
          <a:ln>
            <a:noFill/>
          </a:ln>
        </p:spPr>
        <p:txBody>
          <a:bodyPr wrap="square" lIns="0" tIns="0" rIns="0" bIns="0" rtlCol="0" anchor="t">
            <a:noAutofit/>
          </a:bodyPr>
          <a:lstStyle/>
          <a:p>
            <a:pPr algn="l">
              <a:lnSpc>
                <a:spcPct val="118000"/>
              </a:lnSpc>
            </a:pPr>
            <a:r>
              <a:rPr lang="en-US" sz="2100" b="1" dirty="0">
                <a:solidFill>
                  <a:srgbClr val="191A18"/>
                </a:solidFill>
                <a:latin typeface="Poppins"/>
                <a:ea typeface="Poppins"/>
                <a:cs typeface="Poppins"/>
              </a:rPr>
              <a:t>PhysioNet Auditory EEG</a:t>
            </a:r>
          </a:p>
        </p:txBody>
      </p:sp>
      <p:sp>
        <p:nvSpPr>
          <p:cNvPr id="123" name="4 channels • 20 people • 476 MB"/>
          <p:cNvSpPr txBox="1"/>
          <p:nvPr/>
        </p:nvSpPr>
        <p:spPr>
          <a:xfrm>
            <a:off x="6908600" y="7089706"/>
            <a:ext cx="4470800" cy="283464"/>
          </a:xfrm>
          <a:prstGeom prst="rect">
            <a:avLst/>
          </a:prstGeom>
          <a:noFill/>
          <a:ln>
            <a:noFill/>
          </a:ln>
        </p:spPr>
        <p:txBody>
          <a:bodyPr wrap="square" lIns="0" tIns="0" rIns="0" bIns="0" rtlCol="0" anchor="t">
            <a:noAutofit/>
          </a:bodyPr>
          <a:lstStyle/>
          <a:p>
            <a:pPr algn="l">
              <a:lnSpc>
                <a:spcPct val="124000"/>
              </a:lnSpc>
            </a:pPr>
            <a:r>
              <a:rPr lang="en-US" sz="1800" b="0" dirty="0">
                <a:solidFill>
                  <a:srgbClr val="326B8C"/>
                </a:solidFill>
                <a:latin typeface="Poppins"/>
                <a:ea typeface="Poppins"/>
                <a:cs typeface="Poppins"/>
              </a:rPr>
              <a:t>4 channels • 20 people • 476 MB</a:t>
            </a:r>
          </a:p>
        </p:txBody>
      </p:sp>
      <p:sp>
        <p:nvSpPr>
          <p:cNvPr id="124" name="A real four electrode montage. Spl"/>
          <p:cNvSpPr txBox="1"/>
          <p:nvPr/>
        </p:nvSpPr>
        <p:spPr>
          <a:xfrm>
            <a:off x="6908600" y="7533170"/>
            <a:ext cx="4470800" cy="900112"/>
          </a:xfrm>
          <a:prstGeom prst="rect">
            <a:avLst/>
          </a:prstGeom>
          <a:noFill/>
          <a:ln>
            <a:noFill/>
          </a:ln>
        </p:spPr>
        <p:txBody>
          <a:bodyPr wrap="square" lIns="0" tIns="0" rIns="0" bIns="0" rtlCol="0" anchor="t">
            <a:noAutofit/>
          </a:bodyPr>
          <a:lstStyle/>
          <a:p>
            <a:pPr algn="l">
              <a:lnSpc>
                <a:spcPct val="126000"/>
              </a:lnSpc>
            </a:pPr>
            <a:r>
              <a:rPr lang="en-US" sz="1875" b="0" dirty="0">
                <a:solidFill>
                  <a:srgbClr val="5A5D59"/>
                </a:solidFill>
                <a:latin typeface="Poppins"/>
                <a:ea typeface="Poppins"/>
                <a:cs typeface="Poppins"/>
              </a:rPr>
              <a:t>A real four electrode montage. Split by recording, never at random.</a:t>
            </a:r>
          </a:p>
        </p:txBody>
      </p:sp>
      <p:sp>
        <p:nvSpPr>
          <p:cNvPr id="125" name="card"/>
          <p:cNvSpPr/>
          <p:nvPr/>
        </p:nvSpPr>
        <p:spPr>
          <a:xfrm>
            <a:off x="12109450" y="6350000"/>
            <a:ext cx="5130800" cy="2700000"/>
          </a:xfrm>
          <a:prstGeom prst="roundRect">
            <a:avLst>
              <a:gd name="adj" fmla="val 4467"/>
            </a:avLst>
          </a:prstGeom>
          <a:solidFill>
            <a:srgbClr val="FBF9F3"/>
          </a:solidFill>
          <a:ln w="12700">
            <a:solidFill>
              <a:srgbClr val="DFD8C6"/>
            </a:solidFill>
            <a:prstDash val="solid"/>
          </a:ln>
          <a:effectLst>
            <a:outerShdw blurRad="114300" dist="25400" dir="5400000" algn="bl" rotWithShape="0">
              <a:srgbClr val="BFB49A">
                <a:alpha val="30000"/>
              </a:srgbClr>
            </a:outerShdw>
          </a:effectLst>
        </p:spPr>
        <p:txBody>
          <a:bodyPr/>
          <a:lstStyle/>
          <a:p>
            <a:endParaRPr lang="en-US"/>
          </a:p>
        </p:txBody>
      </p:sp>
      <p:sp>
        <p:nvSpPr>
          <p:cNvPr id="126" name="bar"/>
          <p:cNvSpPr/>
          <p:nvPr/>
        </p:nvSpPr>
        <p:spPr>
          <a:xfrm>
            <a:off x="12109450" y="6650000"/>
            <a:ext cx="47625" cy="600000"/>
          </a:xfrm>
          <a:prstGeom prst="rect">
            <a:avLst/>
          </a:prstGeom>
          <a:solidFill>
            <a:srgbClr val="46683F"/>
          </a:solidFill>
          <a:ln>
            <a:noFill/>
          </a:ln>
          <a:effectLst/>
        </p:spPr>
        <p:txBody>
          <a:bodyPr/>
          <a:lstStyle/>
          <a:p>
            <a:endParaRPr lang="en-US"/>
          </a:p>
        </p:txBody>
      </p:sp>
      <p:sp>
        <p:nvSpPr>
          <p:cNvPr id="127" name="Our own Emotiv EPOC X"/>
          <p:cNvSpPr txBox="1"/>
          <p:nvPr/>
        </p:nvSpPr>
        <p:spPr>
          <a:xfrm>
            <a:off x="12439450" y="6680000"/>
            <a:ext cx="4470800" cy="314706"/>
          </a:xfrm>
          <a:prstGeom prst="rect">
            <a:avLst/>
          </a:prstGeom>
          <a:noFill/>
          <a:ln>
            <a:noFill/>
          </a:ln>
        </p:spPr>
        <p:txBody>
          <a:bodyPr wrap="square" lIns="0" tIns="0" rIns="0" bIns="0" rtlCol="0" anchor="t">
            <a:noAutofit/>
          </a:bodyPr>
          <a:lstStyle/>
          <a:p>
            <a:pPr algn="l">
              <a:lnSpc>
                <a:spcPct val="118000"/>
              </a:lnSpc>
            </a:pPr>
            <a:r>
              <a:rPr lang="en-US" sz="2100" b="1" dirty="0">
                <a:solidFill>
                  <a:srgbClr val="191A18"/>
                </a:solidFill>
                <a:latin typeface="Poppins"/>
                <a:ea typeface="Poppins"/>
                <a:cs typeface="Poppins"/>
              </a:rPr>
              <a:t>Our own Emotiv EPOC X</a:t>
            </a:r>
          </a:p>
        </p:txBody>
      </p:sp>
      <p:sp>
        <p:nvSpPr>
          <p:cNvPr id="128" name="14 channels • 192 trials • committ"/>
          <p:cNvSpPr txBox="1"/>
          <p:nvPr/>
        </p:nvSpPr>
        <p:spPr>
          <a:xfrm>
            <a:off x="12439450" y="7089706"/>
            <a:ext cx="4470800" cy="566928"/>
          </a:xfrm>
          <a:prstGeom prst="rect">
            <a:avLst/>
          </a:prstGeom>
          <a:noFill/>
          <a:ln>
            <a:noFill/>
          </a:ln>
        </p:spPr>
        <p:txBody>
          <a:bodyPr wrap="square" lIns="0" tIns="0" rIns="0" bIns="0" rtlCol="0" anchor="t">
            <a:noAutofit/>
          </a:bodyPr>
          <a:lstStyle/>
          <a:p>
            <a:pPr algn="l">
              <a:lnSpc>
                <a:spcPct val="124000"/>
              </a:lnSpc>
            </a:pPr>
            <a:r>
              <a:rPr lang="en-US" sz="1800" b="0" dirty="0">
                <a:solidFill>
                  <a:srgbClr val="46683F"/>
                </a:solidFill>
                <a:latin typeface="Poppins"/>
                <a:ea typeface="Poppins"/>
                <a:cs typeface="Poppins"/>
              </a:rPr>
              <a:t>14 channels • 192 trials • committed</a:t>
            </a:r>
          </a:p>
        </p:txBody>
      </p:sp>
      <p:sp>
        <p:nvSpPr>
          <p:cNvPr id="129" name="Three class imagery 65.8%, chance "/>
          <p:cNvSpPr txBox="1"/>
          <p:nvPr/>
        </p:nvSpPr>
        <p:spPr>
          <a:xfrm>
            <a:off x="12439450" y="7816634"/>
            <a:ext cx="4470800" cy="900112"/>
          </a:xfrm>
          <a:prstGeom prst="rect">
            <a:avLst/>
          </a:prstGeom>
          <a:noFill/>
          <a:ln>
            <a:noFill/>
          </a:ln>
        </p:spPr>
        <p:txBody>
          <a:bodyPr wrap="square" lIns="0" tIns="0" rIns="0" bIns="0" rtlCol="0" anchor="t">
            <a:noAutofit/>
          </a:bodyPr>
          <a:lstStyle/>
          <a:p>
            <a:pPr algn="l">
              <a:lnSpc>
                <a:spcPct val="126000"/>
              </a:lnSpc>
            </a:pPr>
            <a:r>
              <a:rPr lang="en-US" sz="1875" b="0" dirty="0">
                <a:solidFill>
                  <a:srgbClr val="5A5D59"/>
                </a:solidFill>
                <a:latin typeface="Poppins"/>
                <a:ea typeface="Poppins"/>
                <a:cs typeface="Poppins"/>
              </a:rPr>
              <a:t>Three class imagery 65.8%, chance 33.3%, shuffled control 34.8%.</a:t>
            </a:r>
          </a:p>
        </p:txBody>
      </p:sp>
      <p:sp>
        <p:nvSpPr>
          <p:cNvPr id="130" name="footnote"/>
          <p:cNvSpPr txBox="1"/>
          <p:nvPr/>
        </p:nvSpPr>
        <p:spPr>
          <a:xfrm>
            <a:off x="1047750" y="9486900"/>
            <a:ext cx="16192500" cy="476250"/>
          </a:xfrm>
          <a:prstGeom prst="rect">
            <a:avLst/>
          </a:prstGeom>
          <a:noFill/>
          <a:ln>
            <a:noFill/>
          </a:ln>
        </p:spPr>
        <p:txBody>
          <a:bodyPr wrap="square" lIns="0" tIns="0" rIns="0" bIns="0" rtlCol="0" anchor="t">
            <a:noAutofit/>
          </a:bodyPr>
          <a:lstStyle/>
          <a:p>
            <a:pPr algn="l">
              <a:lnSpc>
                <a:spcPct val="118000"/>
              </a:lnSpc>
            </a:pPr>
            <a:r>
              <a:rPr lang="en-US" sz="1875" b="0" dirty="0">
                <a:solidFill>
                  <a:srgbClr val="5A5D59"/>
                </a:solidFill>
                <a:latin typeface="Poppins"/>
                <a:ea typeface="Poppins"/>
                <a:cs typeface="Poppins"/>
              </a:rPr>
              <a:t>167 people, 1.3 GB, labels untouched • public data validates the machinery, it never supplies the deployed weights • dataset/README.md</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4EC"/>
        </a:solidFill>
        <a:effectLst/>
      </p:bgPr>
    </p:bg>
    <p:spTree>
      <p:nvGrpSpPr>
        <p:cNvPr id="1" name=""/>
        <p:cNvGrpSpPr/>
        <p:nvPr/>
      </p:nvGrpSpPr>
      <p:grpSpPr>
        <a:xfrm>
          <a:off x="0" y="0"/>
          <a:ext cx="0" cy="0"/>
          <a:chOff x="0" y="0"/>
          <a:chExt cx="0" cy="0"/>
        </a:xfrm>
      </p:grpSpPr>
      <p:sp>
        <p:nvSpPr>
          <p:cNvPr id="133" name="84 numbers. Eight electrodes."/>
          <p:cNvSpPr txBox="1"/>
          <p:nvPr/>
        </p:nvSpPr>
        <p:spPr>
          <a:xfrm>
            <a:off x="1000125" y="742950"/>
            <a:ext cx="16287750" cy="1238250"/>
          </a:xfrm>
          <a:prstGeom prst="rect">
            <a:avLst/>
          </a:prstGeom>
          <a:noFill/>
          <a:ln>
            <a:noFill/>
          </a:ln>
        </p:spPr>
        <p:txBody>
          <a:bodyPr wrap="square" lIns="0" tIns="0" rIns="0" bIns="0" rtlCol="0" anchor="t">
            <a:noAutofit/>
          </a:bodyPr>
          <a:lstStyle/>
          <a:p>
            <a:pPr algn="l">
              <a:lnSpc>
                <a:spcPct val="118000"/>
              </a:lnSpc>
            </a:pPr>
            <a:r>
              <a:rPr lang="en-US" sz="5400" b="1" dirty="0">
                <a:solidFill>
                  <a:srgbClr val="191A18"/>
                </a:solidFill>
                <a:latin typeface="Poppins"/>
                <a:ea typeface="Poppins"/>
                <a:cs typeface="Poppins"/>
              </a:rPr>
              <a:t>84 numbers. Eight electrodes.</a:t>
            </a:r>
          </a:p>
        </p:txBody>
      </p:sp>
      <p:sp>
        <p:nvSpPr>
          <p:cNvPr id="134" name="Voloridge • the simplest model that won,"/>
          <p:cNvSpPr txBox="1"/>
          <p:nvPr/>
        </p:nvSpPr>
        <p:spPr>
          <a:xfrm>
            <a:off x="1047750" y="2028825"/>
            <a:ext cx="16192500" cy="1000125"/>
          </a:xfrm>
          <a:prstGeom prst="rect">
            <a:avLst/>
          </a:prstGeom>
          <a:noFill/>
          <a:ln>
            <a:noFill/>
          </a:ln>
        </p:spPr>
        <p:txBody>
          <a:bodyPr wrap="square" lIns="0" tIns="0" rIns="0" bIns="0" rtlCol="0" anchor="t">
            <a:noAutofit/>
          </a:bodyPr>
          <a:lstStyle/>
          <a:p>
            <a:pPr algn="l">
              <a:lnSpc>
                <a:spcPct val="118000"/>
              </a:lnSpc>
            </a:pPr>
            <a:r>
              <a:rPr lang="en-US" sz="2625" b="0" dirty="0">
                <a:solidFill>
                  <a:srgbClr val="5A5D59"/>
                </a:solidFill>
                <a:latin typeface="Poppins"/>
                <a:ea typeface="Poppins"/>
                <a:cs typeface="Poppins"/>
              </a:rPr>
              <a:t>The simplest model that won, and the smallest montage that keeps it.</a:t>
            </a:r>
          </a:p>
        </p:txBody>
      </p:sp>
      <p:sp>
        <p:nvSpPr>
          <p:cNvPr id="135" name="card"/>
          <p:cNvSpPr/>
          <p:nvPr/>
        </p:nvSpPr>
        <p:spPr>
          <a:xfrm>
            <a:off x="1047750" y="3270000"/>
            <a:ext cx="7315200" cy="5900000"/>
          </a:xfrm>
          <a:prstGeom prst="roundRect">
            <a:avLst>
              <a:gd name="adj" fmla="val 4467"/>
            </a:avLst>
          </a:prstGeom>
          <a:solidFill>
            <a:srgbClr val="FBF9F3"/>
          </a:solidFill>
          <a:ln w="12700">
            <a:solidFill>
              <a:srgbClr val="DFD8C6"/>
            </a:solidFill>
            <a:prstDash val="solid"/>
          </a:ln>
          <a:effectLst>
            <a:outerShdw blurRad="114300" dist="25400" dir="5400000" algn="bl" rotWithShape="0">
              <a:srgbClr val="BFB49A">
                <a:alpha val="30000"/>
              </a:srgbClr>
            </a:outerShdw>
          </a:effectLst>
        </p:spPr>
        <p:txBody>
          <a:bodyPr/>
          <a:lstStyle/>
          <a:p>
            <a:endParaRPr lang="en-US"/>
          </a:p>
        </p:txBody>
      </p:sp>
      <p:sp>
        <p:nvSpPr>
          <p:cNvPr id="136" name="What survived"/>
          <p:cNvSpPr txBox="1"/>
          <p:nvPr/>
        </p:nvSpPr>
        <p:spPr>
          <a:xfrm>
            <a:off x="1377750" y="3600000"/>
            <a:ext cx="6655200" cy="500000"/>
          </a:xfrm>
          <a:prstGeom prst="rect">
            <a:avLst/>
          </a:prstGeom>
          <a:noFill/>
          <a:ln>
            <a:noFill/>
          </a:ln>
        </p:spPr>
        <p:txBody>
          <a:bodyPr wrap="square" lIns="0" tIns="0" rIns="0" bIns="0" rtlCol="0" anchor="t">
            <a:noAutofit/>
          </a:bodyPr>
          <a:lstStyle/>
          <a:p>
            <a:pPr algn="l">
              <a:lnSpc>
                <a:spcPct val="118000"/>
              </a:lnSpc>
            </a:pPr>
            <a:r>
              <a:rPr lang="en-US" sz="2700" b="1" dirty="0">
                <a:solidFill>
                  <a:srgbClr val="326B8C"/>
                </a:solidFill>
                <a:latin typeface="Poppins"/>
                <a:ea typeface="Poppins"/>
                <a:cs typeface="Poppins"/>
              </a:rPr>
              <a:t>What survived</a:t>
            </a:r>
          </a:p>
        </p:txBody>
      </p:sp>
      <p:sp>
        <p:nvSpPr>
          <p:cNvPr id="137" name="28 EEG channels, 200 Hz"/>
          <p:cNvSpPr txBox="1"/>
          <p:nvPr/>
        </p:nvSpPr>
        <p:spPr>
          <a:xfrm>
            <a:off x="1377750" y="4140000"/>
            <a:ext cx="6655200" cy="292227"/>
          </a:xfrm>
          <a:prstGeom prst="rect">
            <a:avLst/>
          </a:prstGeom>
          <a:noFill/>
          <a:ln>
            <a:noFill/>
          </a:ln>
        </p:spPr>
        <p:txBody>
          <a:bodyPr wrap="square" lIns="0" tIns="0" rIns="0" bIns="0" rtlCol="0" anchor="t">
            <a:noAutofit/>
          </a:bodyPr>
          <a:lstStyle/>
          <a:p>
            <a:pPr algn="l">
              <a:lnSpc>
                <a:spcPct val="118000"/>
              </a:lnSpc>
            </a:pPr>
            <a:r>
              <a:rPr lang="en-US" sz="1950" b="1" dirty="0">
                <a:solidFill>
                  <a:srgbClr val="191A18"/>
                </a:solidFill>
                <a:latin typeface="Poppins"/>
                <a:ea typeface="Poppins"/>
                <a:cs typeface="Poppins"/>
              </a:rPr>
              <a:t>28 EEG channels, 200 Hz</a:t>
            </a:r>
          </a:p>
        </p:txBody>
      </p:sp>
      <p:sp>
        <p:nvSpPr>
          <p:cNvPr id="138" name="Shin et al. 2018, unmodified label"/>
          <p:cNvSpPr txBox="1"/>
          <p:nvPr/>
        </p:nvSpPr>
        <p:spPr>
          <a:xfrm>
            <a:off x="1377750" y="4527227"/>
            <a:ext cx="6655200" cy="271653"/>
          </a:xfrm>
          <a:prstGeom prst="rect">
            <a:avLst/>
          </a:prstGeom>
          <a:noFill/>
          <a:ln>
            <a:noFill/>
          </a:ln>
        </p:spPr>
        <p:txBody>
          <a:bodyPr wrap="square" lIns="0" tIns="0" rIns="0" bIns="0" rtlCol="0" anchor="t">
            <a:noAutofit/>
          </a:bodyPr>
          <a:lstStyle/>
          <a:p>
            <a:pPr algn="l">
              <a:lnSpc>
                <a:spcPct val="124000"/>
              </a:lnSpc>
            </a:pPr>
            <a:r>
              <a:rPr lang="en-US" sz="1725" b="0" dirty="0">
                <a:solidFill>
                  <a:srgbClr val="5A5D59"/>
                </a:solidFill>
                <a:latin typeface="Poppins"/>
                <a:ea typeface="Poppins"/>
                <a:cs typeface="Poppins"/>
              </a:rPr>
              <a:t>Shin et al. 2018, unmodified labels</a:t>
            </a:r>
          </a:p>
        </p:txBody>
      </p:sp>
      <p:sp>
        <p:nvSpPr>
          <p:cNvPr id="139" name="Regress out the eye channels"/>
          <p:cNvSpPr txBox="1"/>
          <p:nvPr/>
        </p:nvSpPr>
        <p:spPr>
          <a:xfrm>
            <a:off x="1377750" y="4928880"/>
            <a:ext cx="6655200" cy="292227"/>
          </a:xfrm>
          <a:prstGeom prst="rect">
            <a:avLst/>
          </a:prstGeom>
          <a:noFill/>
          <a:ln>
            <a:noFill/>
          </a:ln>
        </p:spPr>
        <p:txBody>
          <a:bodyPr wrap="square" lIns="0" tIns="0" rIns="0" bIns="0" rtlCol="0" anchor="t">
            <a:noAutofit/>
          </a:bodyPr>
          <a:lstStyle/>
          <a:p>
            <a:pPr algn="l">
              <a:lnSpc>
                <a:spcPct val="118000"/>
              </a:lnSpc>
            </a:pPr>
            <a:r>
              <a:rPr lang="en-US" sz="1950" b="1" dirty="0">
                <a:solidFill>
                  <a:srgbClr val="191A18"/>
                </a:solidFill>
                <a:latin typeface="Poppins"/>
                <a:ea typeface="Poppins"/>
                <a:cs typeface="Poppins"/>
              </a:rPr>
              <a:t>Regress out the eye channels</a:t>
            </a:r>
          </a:p>
        </p:txBody>
      </p:sp>
      <p:sp>
        <p:nvSpPr>
          <p:cNvPr id="140" name="Fit before the task, frozen before"/>
          <p:cNvSpPr txBox="1"/>
          <p:nvPr/>
        </p:nvSpPr>
        <p:spPr>
          <a:xfrm>
            <a:off x="1377750" y="5316107"/>
            <a:ext cx="6655200" cy="271653"/>
          </a:xfrm>
          <a:prstGeom prst="rect">
            <a:avLst/>
          </a:prstGeom>
          <a:noFill/>
          <a:ln>
            <a:noFill/>
          </a:ln>
        </p:spPr>
        <p:txBody>
          <a:bodyPr wrap="square" lIns="0" tIns="0" rIns="0" bIns="0" rtlCol="0" anchor="t">
            <a:noAutofit/>
          </a:bodyPr>
          <a:lstStyle/>
          <a:p>
            <a:pPr algn="l">
              <a:lnSpc>
                <a:spcPct val="124000"/>
              </a:lnSpc>
            </a:pPr>
            <a:r>
              <a:rPr lang="en-US" sz="1725" b="0" dirty="0">
                <a:solidFill>
                  <a:srgbClr val="5A5D59"/>
                </a:solidFill>
                <a:latin typeface="Poppins"/>
                <a:ea typeface="Poppins"/>
                <a:cs typeface="Poppins"/>
              </a:rPr>
              <a:t>Fit before the task, frozen before scoring</a:t>
            </a:r>
          </a:p>
        </p:txBody>
      </p:sp>
      <p:sp>
        <p:nvSpPr>
          <p:cNvPr id="141" name="Theta / alpha / beta log power"/>
          <p:cNvSpPr txBox="1"/>
          <p:nvPr/>
        </p:nvSpPr>
        <p:spPr>
          <a:xfrm>
            <a:off x="1377750" y="5717760"/>
            <a:ext cx="6655200" cy="292227"/>
          </a:xfrm>
          <a:prstGeom prst="rect">
            <a:avLst/>
          </a:prstGeom>
          <a:noFill/>
          <a:ln>
            <a:noFill/>
          </a:ln>
        </p:spPr>
        <p:txBody>
          <a:bodyPr wrap="square" lIns="0" tIns="0" rIns="0" bIns="0" rtlCol="0" anchor="t">
            <a:noAutofit/>
          </a:bodyPr>
          <a:lstStyle/>
          <a:p>
            <a:pPr algn="l">
              <a:lnSpc>
                <a:spcPct val="118000"/>
              </a:lnSpc>
            </a:pPr>
            <a:r>
              <a:rPr lang="en-US" sz="1950" b="1" dirty="0">
                <a:solidFill>
                  <a:srgbClr val="191A18"/>
                </a:solidFill>
                <a:latin typeface="Poppins"/>
                <a:ea typeface="Poppins"/>
                <a:cs typeface="Poppins"/>
              </a:rPr>
              <a:t>Theta / alpha / beta log power</a:t>
            </a:r>
          </a:p>
        </p:txBody>
      </p:sp>
      <p:sp>
        <p:nvSpPr>
          <p:cNvPr id="142" name="84 features • 2 s windows, every 0"/>
          <p:cNvSpPr txBox="1"/>
          <p:nvPr/>
        </p:nvSpPr>
        <p:spPr>
          <a:xfrm>
            <a:off x="1377750" y="6104987"/>
            <a:ext cx="6655200" cy="271653"/>
          </a:xfrm>
          <a:prstGeom prst="rect">
            <a:avLst/>
          </a:prstGeom>
          <a:noFill/>
          <a:ln>
            <a:noFill/>
          </a:ln>
        </p:spPr>
        <p:txBody>
          <a:bodyPr wrap="square" lIns="0" tIns="0" rIns="0" bIns="0" rtlCol="0" anchor="t">
            <a:noAutofit/>
          </a:bodyPr>
          <a:lstStyle/>
          <a:p>
            <a:pPr algn="l">
              <a:lnSpc>
                <a:spcPct val="124000"/>
              </a:lnSpc>
            </a:pPr>
            <a:r>
              <a:rPr lang="en-US" sz="1725" b="0" dirty="0">
                <a:solidFill>
                  <a:srgbClr val="5A5D59"/>
                </a:solidFill>
                <a:latin typeface="Poppins"/>
                <a:ea typeface="Poppins"/>
                <a:cs typeface="Poppins"/>
              </a:rPr>
              <a:t>84 features • 2 s windows, every 0.25 s</a:t>
            </a:r>
          </a:p>
        </p:txBody>
      </p:sp>
      <p:sp>
        <p:nvSpPr>
          <p:cNvPr id="143" name="Logistic regression, then one movi"/>
          <p:cNvSpPr txBox="1"/>
          <p:nvPr/>
        </p:nvSpPr>
        <p:spPr>
          <a:xfrm>
            <a:off x="1377750" y="6506640"/>
            <a:ext cx="6655200" cy="292227"/>
          </a:xfrm>
          <a:prstGeom prst="rect">
            <a:avLst/>
          </a:prstGeom>
          <a:noFill/>
          <a:ln>
            <a:noFill/>
          </a:ln>
        </p:spPr>
        <p:txBody>
          <a:bodyPr wrap="square" lIns="0" tIns="0" rIns="0" bIns="0" rtlCol="0" anchor="t">
            <a:noAutofit/>
          </a:bodyPr>
          <a:lstStyle/>
          <a:p>
            <a:pPr algn="l">
              <a:lnSpc>
                <a:spcPct val="118000"/>
              </a:lnSpc>
            </a:pPr>
            <a:r>
              <a:rPr lang="en-US" sz="1950" b="1" dirty="0">
                <a:solidFill>
                  <a:srgbClr val="191A18"/>
                </a:solidFill>
                <a:latin typeface="Poppins"/>
                <a:ea typeface="Poppins"/>
                <a:cs typeface="Poppins"/>
              </a:rPr>
              <a:t>Logistic regression, then one moving average</a:t>
            </a:r>
          </a:p>
        </p:txBody>
      </p:sp>
      <p:sp>
        <p:nvSpPr>
          <p:cNvPr id="144" name="Task versus rest • one smoothing p"/>
          <p:cNvSpPr txBox="1"/>
          <p:nvPr/>
        </p:nvSpPr>
        <p:spPr>
          <a:xfrm>
            <a:off x="1377750" y="6893867"/>
            <a:ext cx="6655200" cy="271653"/>
          </a:xfrm>
          <a:prstGeom prst="rect">
            <a:avLst/>
          </a:prstGeom>
          <a:noFill/>
          <a:ln>
            <a:noFill/>
          </a:ln>
        </p:spPr>
        <p:txBody>
          <a:bodyPr wrap="square" lIns="0" tIns="0" rIns="0" bIns="0" rtlCol="0" anchor="t">
            <a:noAutofit/>
          </a:bodyPr>
          <a:lstStyle/>
          <a:p>
            <a:pPr algn="l">
              <a:lnSpc>
                <a:spcPct val="124000"/>
              </a:lnSpc>
            </a:pPr>
            <a:r>
              <a:rPr lang="en-US" sz="1725" b="0" dirty="0">
                <a:solidFill>
                  <a:srgbClr val="5A5D59"/>
                </a:solidFill>
                <a:latin typeface="Poppins"/>
                <a:ea typeface="Poppins"/>
                <a:cs typeface="Poppins"/>
              </a:rPr>
              <a:t>Task versus rest • one smoothing parameter</a:t>
            </a:r>
          </a:p>
        </p:txBody>
      </p:sp>
      <p:sp>
        <p:nvSpPr>
          <p:cNvPr id="145" name="bar"/>
          <p:cNvSpPr/>
          <p:nvPr/>
        </p:nvSpPr>
        <p:spPr>
          <a:xfrm>
            <a:off x="1377750" y="7295520"/>
            <a:ext cx="6655200" cy="12700"/>
          </a:xfrm>
          <a:prstGeom prst="rect">
            <a:avLst/>
          </a:prstGeom>
          <a:solidFill>
            <a:srgbClr val="DFD8C6"/>
          </a:solidFill>
          <a:ln>
            <a:noFill/>
          </a:ln>
          <a:effectLst/>
        </p:spPr>
        <p:txBody>
          <a:bodyPr/>
          <a:lstStyle/>
          <a:p>
            <a:endParaRPr lang="en-US"/>
          </a:p>
        </p:txBody>
      </p:sp>
      <p:sp>
        <p:nvSpPr>
          <p:cNvPr id="146" name="Seven richer"/>
          <p:cNvSpPr txBox="1"/>
          <p:nvPr/>
        </p:nvSpPr>
        <p:spPr>
          <a:xfrm>
            <a:off x="1377750" y="7475520"/>
            <a:ext cx="6655200" cy="460000"/>
          </a:xfrm>
          <a:prstGeom prst="rect">
            <a:avLst/>
          </a:prstGeom>
          <a:noFill/>
          <a:ln>
            <a:noFill/>
          </a:ln>
        </p:spPr>
        <p:txBody>
          <a:bodyPr wrap="square" lIns="0" tIns="0" rIns="0" bIns="0" rtlCol="0" anchor="t">
            <a:noAutofit/>
          </a:bodyPr>
          <a:lstStyle/>
          <a:p>
            <a:pPr algn="l">
              <a:lnSpc>
                <a:spcPct val="118000"/>
              </a:lnSpc>
            </a:pPr>
            <a:r>
              <a:rPr lang="en-US" sz="2100" b="1" dirty="0">
                <a:solidFill>
                  <a:srgbClr val="9B712B"/>
                </a:solidFill>
                <a:latin typeface="Poppins"/>
                <a:ea typeface="Poppins"/>
                <a:cs typeface="Poppins"/>
              </a:rPr>
              <a:t>Seven richer alternatives lost or tied</a:t>
            </a:r>
          </a:p>
        </p:txBody>
      </p:sp>
      <p:sp>
        <p:nvSpPr>
          <p:cNvPr id="147" name="tail"/>
          <p:cNvSpPr txBox="1"/>
          <p:nvPr/>
        </p:nvSpPr>
        <p:spPr>
          <a:xfrm>
            <a:off x="1377750" y="7905520"/>
            <a:ext cx="6655200" cy="576072"/>
          </a:xfrm>
          <a:prstGeom prst="rect">
            <a:avLst/>
          </a:prstGeom>
          <a:noFill/>
          <a:ln>
            <a:noFill/>
          </a:ln>
        </p:spPr>
        <p:txBody>
          <a:bodyPr wrap="square" lIns="0" tIns="0" rIns="0" bIns="0" rtlCol="0" anchor="t">
            <a:noAutofit/>
          </a:bodyPr>
          <a:lstStyle/>
          <a:p>
            <a:pPr algn="l">
              <a:lnSpc>
                <a:spcPct val="126000"/>
              </a:lnSpc>
            </a:pPr>
            <a:r>
              <a:rPr lang="en-US" sz="1800" b="0" dirty="0">
                <a:solidFill>
                  <a:srgbClr val="5A5D59"/>
                </a:solidFill>
                <a:latin typeface="Poppins"/>
                <a:ea typeface="Poppins"/>
                <a:cs typeface="Poppins"/>
              </a:rPr>
              <a:t>Riemannian 1,218 features • Fourier 728 • zigzag topology 108 • Bayesian state space</a:t>
            </a:r>
          </a:p>
        </p:txBody>
      </p:sp>
      <p:sp>
        <p:nvSpPr>
          <p:cNvPr id="148" name="card"/>
          <p:cNvSpPr/>
          <p:nvPr/>
        </p:nvSpPr>
        <p:spPr>
          <a:xfrm>
            <a:off x="8839200" y="3270000"/>
            <a:ext cx="8401050" cy="5900000"/>
          </a:xfrm>
          <a:prstGeom prst="roundRect">
            <a:avLst>
              <a:gd name="adj" fmla="val 4467"/>
            </a:avLst>
          </a:prstGeom>
          <a:solidFill>
            <a:srgbClr val="FBF9F3"/>
          </a:solidFill>
          <a:ln w="12700">
            <a:solidFill>
              <a:srgbClr val="DFD8C6"/>
            </a:solidFill>
            <a:prstDash val="solid"/>
          </a:ln>
          <a:effectLst>
            <a:outerShdw blurRad="114300" dist="25400" dir="5400000" algn="bl" rotWithShape="0">
              <a:srgbClr val="BFB49A">
                <a:alpha val="30000"/>
              </a:srgbClr>
            </a:outerShdw>
          </a:effectLst>
        </p:spPr>
        <p:txBody>
          <a:bodyPr/>
          <a:lstStyle/>
          <a:p>
            <a:endParaRPr lang="en-US"/>
          </a:p>
        </p:txBody>
      </p:sp>
      <p:sp>
        <p:nvSpPr>
          <p:cNvPr id="149" name="How few"/>
          <p:cNvSpPr txBox="1"/>
          <p:nvPr/>
        </p:nvSpPr>
        <p:spPr>
          <a:xfrm>
            <a:off x="9169200" y="3600000"/>
            <a:ext cx="7741050" cy="500000"/>
          </a:xfrm>
          <a:prstGeom prst="rect">
            <a:avLst/>
          </a:prstGeom>
          <a:noFill/>
          <a:ln>
            <a:noFill/>
          </a:ln>
        </p:spPr>
        <p:txBody>
          <a:bodyPr wrap="square" lIns="0" tIns="0" rIns="0" bIns="0" rtlCol="0" anchor="t">
            <a:noAutofit/>
          </a:bodyPr>
          <a:lstStyle/>
          <a:p>
            <a:pPr algn="l">
              <a:lnSpc>
                <a:spcPct val="118000"/>
              </a:lnSpc>
            </a:pPr>
            <a:r>
              <a:rPr lang="en-US" sz="2700" b="1" dirty="0">
                <a:solidFill>
                  <a:srgbClr val="326B8C"/>
                </a:solidFill>
                <a:latin typeface="Poppins"/>
                <a:ea typeface="Poppins"/>
                <a:cs typeface="Poppins"/>
              </a:rPr>
              <a:t>How few electrodes, and where</a:t>
            </a:r>
          </a:p>
        </p:txBody>
      </p:sp>
      <p:sp>
        <p:nvSpPr>
          <p:cNvPr id="150" name="axis note"/>
          <p:cNvSpPr txBox="1"/>
          <p:nvPr/>
        </p:nvSpPr>
        <p:spPr>
          <a:xfrm>
            <a:off x="9169200" y="4100000"/>
            <a:ext cx="7741050" cy="380000"/>
          </a:xfrm>
          <a:prstGeom prst="rect">
            <a:avLst/>
          </a:prstGeom>
          <a:noFill/>
          <a:ln>
            <a:noFill/>
          </a:ln>
        </p:spPr>
        <p:txBody>
          <a:bodyPr wrap="square" lIns="0" tIns="0" rIns="0" bIns="0" rtlCol="0" anchor="t">
            <a:noAutofit/>
          </a:bodyPr>
          <a:lstStyle/>
          <a:p>
            <a:pPr algn="l">
              <a:lnSpc>
                <a:spcPct val="118000"/>
              </a:lnSpc>
            </a:pPr>
            <a:r>
              <a:rPr lang="en-US" sz="1725" b="0" dirty="0">
                <a:solidFill>
                  <a:srgbClr val="8B8378"/>
                </a:solidFill>
                <a:latin typeface="Poppins"/>
                <a:ea typeface="Poppins"/>
                <a:cs typeface="Poppins"/>
              </a:rPr>
              <a:t>Mean AUC on ds006394 • n = 38 recordings • chance 50%</a:t>
            </a:r>
          </a:p>
        </p:txBody>
      </p:sp>
      <p:sp>
        <p:nvSpPr>
          <p:cNvPr id="151" name="16 electrodes"/>
          <p:cNvSpPr txBox="1"/>
          <p:nvPr/>
        </p:nvSpPr>
        <p:spPr>
          <a:xfrm>
            <a:off x="9169200" y="4520000"/>
            <a:ext cx="2630000" cy="330000"/>
          </a:xfrm>
          <a:prstGeom prst="rect">
            <a:avLst/>
          </a:prstGeom>
          <a:noFill/>
          <a:ln>
            <a:noFill/>
          </a:ln>
        </p:spPr>
        <p:txBody>
          <a:bodyPr wrap="square" lIns="0" tIns="0" rIns="0" bIns="0" rtlCol="0" anchor="t">
            <a:noAutofit/>
          </a:bodyPr>
          <a:lstStyle/>
          <a:p>
            <a:pPr algn="l">
              <a:lnSpc>
                <a:spcPct val="118000"/>
              </a:lnSpc>
            </a:pPr>
            <a:r>
              <a:rPr lang="en-US" sz="1950" b="1" dirty="0">
                <a:solidFill>
                  <a:srgbClr val="191A18"/>
                </a:solidFill>
                <a:latin typeface="Poppins"/>
                <a:ea typeface="Poppins"/>
                <a:cs typeface="Poppins"/>
              </a:rPr>
              <a:t>16 electrodes</a:t>
            </a:r>
          </a:p>
        </p:txBody>
      </p:sp>
      <p:sp>
        <p:nvSpPr>
          <p:cNvPr id="152" name="m"/>
          <p:cNvSpPr txBox="1"/>
          <p:nvPr/>
        </p:nvSpPr>
        <p:spPr>
          <a:xfrm>
            <a:off x="9169200" y="4850000"/>
            <a:ext cx="2630000" cy="300000"/>
          </a:xfrm>
          <a:prstGeom prst="rect">
            <a:avLst/>
          </a:prstGeom>
          <a:noFill/>
          <a:ln>
            <a:noFill/>
          </a:ln>
        </p:spPr>
        <p:txBody>
          <a:bodyPr wrap="square" lIns="0" tIns="0" rIns="0" bIns="0" rtlCol="0" anchor="t">
            <a:noAutofit/>
          </a:bodyPr>
          <a:lstStyle/>
          <a:p>
            <a:pPr algn="l">
              <a:lnSpc>
                <a:spcPct val="118000"/>
              </a:lnSpc>
            </a:pPr>
            <a:r>
              <a:rPr lang="en-US" sz="1575" b="0" dirty="0">
                <a:solidFill>
                  <a:srgbClr val="8B8378"/>
                </a:solidFill>
                <a:latin typeface="Poppins"/>
                <a:ea typeface="Poppins"/>
                <a:cs typeface="Poppins"/>
              </a:rPr>
              <a:t>full scalp</a:t>
            </a:r>
          </a:p>
        </p:txBody>
      </p:sp>
      <p:sp>
        <p:nvSpPr>
          <p:cNvPr id="153" name="bar"/>
          <p:cNvSpPr/>
          <p:nvPr/>
        </p:nvSpPr>
        <p:spPr>
          <a:xfrm>
            <a:off x="11919200" y="4640000"/>
            <a:ext cx="4041050" cy="300000"/>
          </a:xfrm>
          <a:prstGeom prst="roundRect">
            <a:avLst>
              <a:gd name="adj" fmla="val 50000"/>
            </a:avLst>
          </a:prstGeom>
          <a:solidFill>
            <a:srgbClr val="EDE7D9"/>
          </a:solidFill>
          <a:ln>
            <a:noFill/>
          </a:ln>
          <a:effectLst/>
        </p:spPr>
        <p:txBody>
          <a:bodyPr/>
          <a:lstStyle/>
          <a:p>
            <a:endParaRPr lang="en-US"/>
          </a:p>
        </p:txBody>
      </p:sp>
      <p:sp>
        <p:nvSpPr>
          <p:cNvPr id="154" name="bar"/>
          <p:cNvSpPr/>
          <p:nvPr/>
        </p:nvSpPr>
        <p:spPr>
          <a:xfrm>
            <a:off x="11919200" y="4640000"/>
            <a:ext cx="3615676" cy="300000"/>
          </a:xfrm>
          <a:prstGeom prst="roundRect">
            <a:avLst>
              <a:gd name="adj" fmla="val 50000"/>
            </a:avLst>
          </a:prstGeom>
          <a:solidFill>
            <a:srgbClr val="8B8378"/>
          </a:solidFill>
          <a:ln>
            <a:noFill/>
          </a:ln>
          <a:effectLst/>
        </p:spPr>
        <p:txBody>
          <a:bodyPr/>
          <a:lstStyle/>
          <a:p>
            <a:endParaRPr lang="en-US"/>
          </a:p>
        </p:txBody>
      </p:sp>
      <p:sp>
        <p:nvSpPr>
          <p:cNvPr id="155" name="auc"/>
          <p:cNvSpPr txBox="1"/>
          <p:nvPr/>
        </p:nvSpPr>
        <p:spPr>
          <a:xfrm>
            <a:off x="16050250" y="4615000"/>
            <a:ext cx="860000" cy="340000"/>
          </a:xfrm>
          <a:prstGeom prst="rect">
            <a:avLst/>
          </a:prstGeom>
          <a:noFill/>
          <a:ln>
            <a:noFill/>
          </a:ln>
        </p:spPr>
        <p:txBody>
          <a:bodyPr wrap="square" lIns="0" tIns="0" rIns="0" bIns="0" rtlCol="0" anchor="t">
            <a:noAutofit/>
          </a:bodyPr>
          <a:lstStyle/>
          <a:p>
            <a:pPr algn="l">
              <a:lnSpc>
                <a:spcPct val="118000"/>
              </a:lnSpc>
            </a:pPr>
            <a:r>
              <a:rPr lang="en-US" sz="1950" b="1" dirty="0">
                <a:solidFill>
                  <a:srgbClr val="8B8378"/>
                </a:solidFill>
                <a:latin typeface="Poppins"/>
                <a:ea typeface="Poppins"/>
                <a:cs typeface="Poppins"/>
              </a:rPr>
              <a:t>84%</a:t>
            </a:r>
          </a:p>
        </p:txBody>
      </p:sp>
      <p:sp>
        <p:nvSpPr>
          <p:cNvPr id="156" name="8 electrodes"/>
          <p:cNvSpPr txBox="1"/>
          <p:nvPr/>
        </p:nvSpPr>
        <p:spPr>
          <a:xfrm>
            <a:off x="9169200" y="5160000"/>
            <a:ext cx="2630000" cy="330000"/>
          </a:xfrm>
          <a:prstGeom prst="rect">
            <a:avLst/>
          </a:prstGeom>
          <a:noFill/>
          <a:ln>
            <a:noFill/>
          </a:ln>
        </p:spPr>
        <p:txBody>
          <a:bodyPr wrap="square" lIns="0" tIns="0" rIns="0" bIns="0" rtlCol="0" anchor="t">
            <a:noAutofit/>
          </a:bodyPr>
          <a:lstStyle/>
          <a:p>
            <a:pPr algn="l">
              <a:lnSpc>
                <a:spcPct val="118000"/>
              </a:lnSpc>
            </a:pPr>
            <a:r>
              <a:rPr lang="en-US" sz="1950" b="1" dirty="0">
                <a:solidFill>
                  <a:srgbClr val="191A18"/>
                </a:solidFill>
                <a:latin typeface="Poppins"/>
                <a:ea typeface="Poppins"/>
                <a:cs typeface="Poppins"/>
              </a:rPr>
              <a:t>8 electrodes</a:t>
            </a:r>
          </a:p>
        </p:txBody>
      </p:sp>
      <p:sp>
        <p:nvSpPr>
          <p:cNvPr id="157" name="m"/>
          <p:cNvSpPr txBox="1"/>
          <p:nvPr/>
        </p:nvSpPr>
        <p:spPr>
          <a:xfrm>
            <a:off x="9169200" y="5490000"/>
            <a:ext cx="2630000" cy="300000"/>
          </a:xfrm>
          <a:prstGeom prst="rect">
            <a:avLst/>
          </a:prstGeom>
          <a:noFill/>
          <a:ln>
            <a:noFill/>
          </a:ln>
        </p:spPr>
        <p:txBody>
          <a:bodyPr wrap="square" lIns="0" tIns="0" rIns="0" bIns="0" rtlCol="0" anchor="t">
            <a:noAutofit/>
          </a:bodyPr>
          <a:lstStyle/>
          <a:p>
            <a:pPr algn="l">
              <a:lnSpc>
                <a:spcPct val="118000"/>
              </a:lnSpc>
            </a:pPr>
            <a:r>
              <a:rPr lang="en-US" sz="1575" b="0" dirty="0">
                <a:solidFill>
                  <a:srgbClr val="8B8378"/>
                </a:solidFill>
                <a:latin typeface="Poppins"/>
                <a:ea typeface="Poppins"/>
                <a:cs typeface="Poppins"/>
              </a:rPr>
              <a:t>Crown-like headband</a:t>
            </a:r>
          </a:p>
        </p:txBody>
      </p:sp>
      <p:sp>
        <p:nvSpPr>
          <p:cNvPr id="158" name="bar"/>
          <p:cNvSpPr/>
          <p:nvPr/>
        </p:nvSpPr>
        <p:spPr>
          <a:xfrm>
            <a:off x="11919200" y="5280000"/>
            <a:ext cx="4041050" cy="300000"/>
          </a:xfrm>
          <a:prstGeom prst="roundRect">
            <a:avLst>
              <a:gd name="adj" fmla="val 50000"/>
            </a:avLst>
          </a:prstGeom>
          <a:solidFill>
            <a:srgbClr val="EDE7D9"/>
          </a:solidFill>
          <a:ln>
            <a:noFill/>
          </a:ln>
          <a:effectLst/>
        </p:spPr>
        <p:txBody>
          <a:bodyPr/>
          <a:lstStyle/>
          <a:p>
            <a:endParaRPr lang="en-US"/>
          </a:p>
        </p:txBody>
      </p:sp>
      <p:sp>
        <p:nvSpPr>
          <p:cNvPr id="159" name="bar"/>
          <p:cNvSpPr/>
          <p:nvPr/>
        </p:nvSpPr>
        <p:spPr>
          <a:xfrm>
            <a:off x="11919200" y="5280000"/>
            <a:ext cx="3402989" cy="300000"/>
          </a:xfrm>
          <a:prstGeom prst="roundRect">
            <a:avLst>
              <a:gd name="adj" fmla="val 50000"/>
            </a:avLst>
          </a:prstGeom>
          <a:solidFill>
            <a:srgbClr val="9B712B"/>
          </a:solidFill>
          <a:ln>
            <a:noFill/>
          </a:ln>
          <a:effectLst/>
        </p:spPr>
        <p:txBody>
          <a:bodyPr/>
          <a:lstStyle/>
          <a:p>
            <a:endParaRPr lang="en-US"/>
          </a:p>
        </p:txBody>
      </p:sp>
      <p:sp>
        <p:nvSpPr>
          <p:cNvPr id="160" name="auc"/>
          <p:cNvSpPr txBox="1"/>
          <p:nvPr/>
        </p:nvSpPr>
        <p:spPr>
          <a:xfrm>
            <a:off x="16050250" y="5255000"/>
            <a:ext cx="860000" cy="340000"/>
          </a:xfrm>
          <a:prstGeom prst="rect">
            <a:avLst/>
          </a:prstGeom>
          <a:noFill/>
          <a:ln>
            <a:noFill/>
          </a:ln>
        </p:spPr>
        <p:txBody>
          <a:bodyPr wrap="square" lIns="0" tIns="0" rIns="0" bIns="0" rtlCol="0" anchor="t">
            <a:noAutofit/>
          </a:bodyPr>
          <a:lstStyle/>
          <a:p>
            <a:pPr algn="l">
              <a:lnSpc>
                <a:spcPct val="118000"/>
              </a:lnSpc>
            </a:pPr>
            <a:r>
              <a:rPr lang="en-US" sz="1950" b="1" dirty="0">
                <a:solidFill>
                  <a:srgbClr val="9B712B"/>
                </a:solidFill>
                <a:latin typeface="Poppins"/>
                <a:ea typeface="Poppins"/>
                <a:cs typeface="Poppins"/>
              </a:rPr>
              <a:t>82%</a:t>
            </a:r>
          </a:p>
        </p:txBody>
      </p:sp>
      <p:sp>
        <p:nvSpPr>
          <p:cNvPr id="161" name="tag"/>
          <p:cNvSpPr txBox="1"/>
          <p:nvPr/>
        </p:nvSpPr>
        <p:spPr>
          <a:xfrm>
            <a:off x="9169200" y="5780000"/>
            <a:ext cx="6791050" cy="280000"/>
          </a:xfrm>
          <a:prstGeom prst="rect">
            <a:avLst/>
          </a:prstGeom>
          <a:noFill/>
          <a:ln>
            <a:noFill/>
          </a:ln>
        </p:spPr>
        <p:txBody>
          <a:bodyPr wrap="square" lIns="0" tIns="0" rIns="0" bIns="0" rtlCol="0" anchor="t">
            <a:noAutofit/>
          </a:bodyPr>
          <a:lstStyle/>
          <a:p>
            <a:pPr algn="l">
              <a:lnSpc>
                <a:spcPct val="118000"/>
              </a:lnSpc>
            </a:pPr>
            <a:r>
              <a:rPr lang="en-US" sz="1500" b="1" dirty="0">
                <a:solidFill>
                  <a:srgbClr val="9B712B"/>
                </a:solidFill>
                <a:latin typeface="Poppins"/>
                <a:ea typeface="Poppins"/>
                <a:cs typeface="Poppins"/>
              </a:rPr>
              <a:t>WE SHIP THIS · 98% OF 16</a:t>
            </a:r>
          </a:p>
        </p:txBody>
      </p:sp>
      <p:sp>
        <p:nvSpPr>
          <p:cNvPr id="162" name="4 electrodes"/>
          <p:cNvSpPr txBox="1"/>
          <p:nvPr/>
        </p:nvSpPr>
        <p:spPr>
          <a:xfrm>
            <a:off x="9169200" y="6080000"/>
            <a:ext cx="2630000" cy="330000"/>
          </a:xfrm>
          <a:prstGeom prst="rect">
            <a:avLst/>
          </a:prstGeom>
          <a:noFill/>
          <a:ln>
            <a:noFill/>
          </a:ln>
        </p:spPr>
        <p:txBody>
          <a:bodyPr wrap="square" lIns="0" tIns="0" rIns="0" bIns="0" rtlCol="0" anchor="t">
            <a:noAutofit/>
          </a:bodyPr>
          <a:lstStyle/>
          <a:p>
            <a:pPr algn="l">
              <a:lnSpc>
                <a:spcPct val="118000"/>
              </a:lnSpc>
            </a:pPr>
            <a:r>
              <a:rPr lang="en-US" sz="1950" b="1" dirty="0">
                <a:solidFill>
                  <a:srgbClr val="191A18"/>
                </a:solidFill>
                <a:latin typeface="Poppins"/>
                <a:ea typeface="Poppins"/>
                <a:cs typeface="Poppins"/>
              </a:rPr>
              <a:t>4 electrodes</a:t>
            </a:r>
          </a:p>
        </p:txBody>
      </p:sp>
      <p:sp>
        <p:nvSpPr>
          <p:cNvPr id="163" name="m"/>
          <p:cNvSpPr txBox="1"/>
          <p:nvPr/>
        </p:nvSpPr>
        <p:spPr>
          <a:xfrm>
            <a:off x="9169200" y="6410000"/>
            <a:ext cx="2630000" cy="300000"/>
          </a:xfrm>
          <a:prstGeom prst="rect">
            <a:avLst/>
          </a:prstGeom>
          <a:noFill/>
          <a:ln>
            <a:noFill/>
          </a:ln>
        </p:spPr>
        <p:txBody>
          <a:bodyPr wrap="square" lIns="0" tIns="0" rIns="0" bIns="0" rtlCol="0" anchor="t">
            <a:noAutofit/>
          </a:bodyPr>
          <a:lstStyle/>
          <a:p>
            <a:pPr algn="l">
              <a:lnSpc>
                <a:spcPct val="118000"/>
              </a:lnSpc>
            </a:pPr>
            <a:r>
              <a:rPr lang="en-US" sz="1575" b="0" dirty="0">
                <a:solidFill>
                  <a:srgbClr val="8B8378"/>
                </a:solidFill>
                <a:latin typeface="Poppins"/>
                <a:ea typeface="Poppins"/>
                <a:cs typeface="Poppins"/>
              </a:rPr>
              <a:t>Fz Cz F7 F8</a:t>
            </a:r>
          </a:p>
        </p:txBody>
      </p:sp>
      <p:sp>
        <p:nvSpPr>
          <p:cNvPr id="164" name="bar"/>
          <p:cNvSpPr/>
          <p:nvPr/>
        </p:nvSpPr>
        <p:spPr>
          <a:xfrm>
            <a:off x="11919200" y="6200000"/>
            <a:ext cx="4041050" cy="300000"/>
          </a:xfrm>
          <a:prstGeom prst="roundRect">
            <a:avLst>
              <a:gd name="adj" fmla="val 50000"/>
            </a:avLst>
          </a:prstGeom>
          <a:solidFill>
            <a:srgbClr val="EDE7D9"/>
          </a:solidFill>
          <a:ln>
            <a:noFill/>
          </a:ln>
          <a:effectLst/>
        </p:spPr>
        <p:txBody>
          <a:bodyPr/>
          <a:lstStyle/>
          <a:p>
            <a:endParaRPr lang="en-US"/>
          </a:p>
        </p:txBody>
      </p:sp>
      <p:sp>
        <p:nvSpPr>
          <p:cNvPr id="165" name="bar"/>
          <p:cNvSpPr/>
          <p:nvPr/>
        </p:nvSpPr>
        <p:spPr>
          <a:xfrm>
            <a:off x="11919200" y="6200000"/>
            <a:ext cx="2764928" cy="300000"/>
          </a:xfrm>
          <a:prstGeom prst="roundRect">
            <a:avLst>
              <a:gd name="adj" fmla="val 50000"/>
            </a:avLst>
          </a:prstGeom>
          <a:solidFill>
            <a:srgbClr val="326B8C"/>
          </a:solidFill>
          <a:ln>
            <a:noFill/>
          </a:ln>
          <a:effectLst/>
        </p:spPr>
        <p:txBody>
          <a:bodyPr/>
          <a:lstStyle/>
          <a:p>
            <a:endParaRPr lang="en-US"/>
          </a:p>
        </p:txBody>
      </p:sp>
      <p:sp>
        <p:nvSpPr>
          <p:cNvPr id="166" name="auc"/>
          <p:cNvSpPr txBox="1"/>
          <p:nvPr/>
        </p:nvSpPr>
        <p:spPr>
          <a:xfrm>
            <a:off x="16050250" y="6175000"/>
            <a:ext cx="860000" cy="340000"/>
          </a:xfrm>
          <a:prstGeom prst="rect">
            <a:avLst/>
          </a:prstGeom>
          <a:noFill/>
          <a:ln>
            <a:noFill/>
          </a:ln>
        </p:spPr>
        <p:txBody>
          <a:bodyPr wrap="square" lIns="0" tIns="0" rIns="0" bIns="0" rtlCol="0" anchor="t">
            <a:noAutofit/>
          </a:bodyPr>
          <a:lstStyle/>
          <a:p>
            <a:pPr algn="l">
              <a:lnSpc>
                <a:spcPct val="118000"/>
              </a:lnSpc>
            </a:pPr>
            <a:r>
              <a:rPr lang="en-US" sz="1950" b="1" dirty="0">
                <a:solidFill>
                  <a:srgbClr val="326B8C"/>
                </a:solidFill>
                <a:latin typeface="Poppins"/>
                <a:ea typeface="Poppins"/>
                <a:cs typeface="Poppins"/>
              </a:rPr>
              <a:t>76%</a:t>
            </a:r>
          </a:p>
        </p:txBody>
      </p:sp>
      <p:sp>
        <p:nvSpPr>
          <p:cNvPr id="167" name="2 electrodes"/>
          <p:cNvSpPr txBox="1"/>
          <p:nvPr/>
        </p:nvSpPr>
        <p:spPr>
          <a:xfrm>
            <a:off x="9169200" y="6720000"/>
            <a:ext cx="2630000" cy="330000"/>
          </a:xfrm>
          <a:prstGeom prst="rect">
            <a:avLst/>
          </a:prstGeom>
          <a:noFill/>
          <a:ln>
            <a:noFill/>
          </a:ln>
        </p:spPr>
        <p:txBody>
          <a:bodyPr wrap="square" lIns="0" tIns="0" rIns="0" bIns="0" rtlCol="0" anchor="t">
            <a:noAutofit/>
          </a:bodyPr>
          <a:lstStyle/>
          <a:p>
            <a:pPr algn="l">
              <a:lnSpc>
                <a:spcPct val="118000"/>
              </a:lnSpc>
            </a:pPr>
            <a:r>
              <a:rPr lang="en-US" sz="1950" b="1" dirty="0">
                <a:solidFill>
                  <a:srgbClr val="191A18"/>
                </a:solidFill>
                <a:latin typeface="Poppins"/>
                <a:ea typeface="Poppins"/>
                <a:cs typeface="Poppins"/>
              </a:rPr>
              <a:t>2 electrodes</a:t>
            </a:r>
          </a:p>
        </p:txBody>
      </p:sp>
      <p:sp>
        <p:nvSpPr>
          <p:cNvPr id="168" name="m"/>
          <p:cNvSpPr txBox="1"/>
          <p:nvPr/>
        </p:nvSpPr>
        <p:spPr>
          <a:xfrm>
            <a:off x="9169200" y="7050000"/>
            <a:ext cx="2630000" cy="300000"/>
          </a:xfrm>
          <a:prstGeom prst="rect">
            <a:avLst/>
          </a:prstGeom>
          <a:noFill/>
          <a:ln>
            <a:noFill/>
          </a:ln>
        </p:spPr>
        <p:txBody>
          <a:bodyPr wrap="square" lIns="0" tIns="0" rIns="0" bIns="0" rtlCol="0" anchor="t">
            <a:noAutofit/>
          </a:bodyPr>
          <a:lstStyle/>
          <a:p>
            <a:pPr algn="l">
              <a:lnSpc>
                <a:spcPct val="118000"/>
              </a:lnSpc>
            </a:pPr>
            <a:r>
              <a:rPr lang="en-US" sz="1575" b="0" dirty="0">
                <a:solidFill>
                  <a:srgbClr val="8B8378"/>
                </a:solidFill>
                <a:latin typeface="Poppins"/>
                <a:ea typeface="Poppins"/>
                <a:cs typeface="Poppins"/>
              </a:rPr>
              <a:t>midline • Fz Cz</a:t>
            </a:r>
          </a:p>
        </p:txBody>
      </p:sp>
      <p:sp>
        <p:nvSpPr>
          <p:cNvPr id="169" name="bar"/>
          <p:cNvSpPr/>
          <p:nvPr/>
        </p:nvSpPr>
        <p:spPr>
          <a:xfrm>
            <a:off x="11919200" y="6840000"/>
            <a:ext cx="4041050" cy="300000"/>
          </a:xfrm>
          <a:prstGeom prst="roundRect">
            <a:avLst>
              <a:gd name="adj" fmla="val 50000"/>
            </a:avLst>
          </a:prstGeom>
          <a:solidFill>
            <a:srgbClr val="EDE7D9"/>
          </a:solidFill>
          <a:ln>
            <a:noFill/>
          </a:ln>
          <a:effectLst/>
        </p:spPr>
        <p:txBody>
          <a:bodyPr/>
          <a:lstStyle/>
          <a:p>
            <a:endParaRPr lang="en-US"/>
          </a:p>
        </p:txBody>
      </p:sp>
      <p:sp>
        <p:nvSpPr>
          <p:cNvPr id="170" name="bar"/>
          <p:cNvSpPr/>
          <p:nvPr/>
        </p:nvSpPr>
        <p:spPr>
          <a:xfrm>
            <a:off x="11919200" y="6840000"/>
            <a:ext cx="2764928" cy="300000"/>
          </a:xfrm>
          <a:prstGeom prst="roundRect">
            <a:avLst>
              <a:gd name="adj" fmla="val 50000"/>
            </a:avLst>
          </a:prstGeom>
          <a:solidFill>
            <a:srgbClr val="326B8C"/>
          </a:solidFill>
          <a:ln>
            <a:noFill/>
          </a:ln>
          <a:effectLst/>
        </p:spPr>
        <p:txBody>
          <a:bodyPr/>
          <a:lstStyle/>
          <a:p>
            <a:endParaRPr lang="en-US"/>
          </a:p>
        </p:txBody>
      </p:sp>
      <p:sp>
        <p:nvSpPr>
          <p:cNvPr id="171" name="auc"/>
          <p:cNvSpPr txBox="1"/>
          <p:nvPr/>
        </p:nvSpPr>
        <p:spPr>
          <a:xfrm>
            <a:off x="16050250" y="6815000"/>
            <a:ext cx="860000" cy="340000"/>
          </a:xfrm>
          <a:prstGeom prst="rect">
            <a:avLst/>
          </a:prstGeom>
          <a:noFill/>
          <a:ln>
            <a:noFill/>
          </a:ln>
        </p:spPr>
        <p:txBody>
          <a:bodyPr wrap="square" lIns="0" tIns="0" rIns="0" bIns="0" rtlCol="0" anchor="t">
            <a:noAutofit/>
          </a:bodyPr>
          <a:lstStyle/>
          <a:p>
            <a:pPr algn="l">
              <a:lnSpc>
                <a:spcPct val="118000"/>
              </a:lnSpc>
            </a:pPr>
            <a:r>
              <a:rPr lang="en-US" sz="1950" b="1" dirty="0">
                <a:solidFill>
                  <a:srgbClr val="326B8C"/>
                </a:solidFill>
                <a:latin typeface="Poppins"/>
                <a:ea typeface="Poppins"/>
                <a:cs typeface="Poppins"/>
              </a:rPr>
              <a:t>76%</a:t>
            </a:r>
          </a:p>
        </p:txBody>
      </p:sp>
      <p:sp>
        <p:nvSpPr>
          <p:cNvPr id="172" name="2 electrodes"/>
          <p:cNvSpPr txBox="1"/>
          <p:nvPr/>
        </p:nvSpPr>
        <p:spPr>
          <a:xfrm>
            <a:off x="9169200" y="7360000"/>
            <a:ext cx="2630000" cy="330000"/>
          </a:xfrm>
          <a:prstGeom prst="rect">
            <a:avLst/>
          </a:prstGeom>
          <a:noFill/>
          <a:ln>
            <a:noFill/>
          </a:ln>
        </p:spPr>
        <p:txBody>
          <a:bodyPr wrap="square" lIns="0" tIns="0" rIns="0" bIns="0" rtlCol="0" anchor="t">
            <a:noAutofit/>
          </a:bodyPr>
          <a:lstStyle/>
          <a:p>
            <a:pPr algn="l">
              <a:lnSpc>
                <a:spcPct val="118000"/>
              </a:lnSpc>
            </a:pPr>
            <a:r>
              <a:rPr lang="en-US" sz="1950" b="1" dirty="0">
                <a:solidFill>
                  <a:srgbClr val="191A18"/>
                </a:solidFill>
                <a:latin typeface="Poppins"/>
                <a:ea typeface="Poppins"/>
                <a:cs typeface="Poppins"/>
              </a:rPr>
              <a:t>2 electrodes</a:t>
            </a:r>
          </a:p>
        </p:txBody>
      </p:sp>
      <p:sp>
        <p:nvSpPr>
          <p:cNvPr id="173" name="m"/>
          <p:cNvSpPr txBox="1"/>
          <p:nvPr/>
        </p:nvSpPr>
        <p:spPr>
          <a:xfrm>
            <a:off x="9169200" y="7690000"/>
            <a:ext cx="2630000" cy="300000"/>
          </a:xfrm>
          <a:prstGeom prst="rect">
            <a:avLst/>
          </a:prstGeom>
          <a:noFill/>
          <a:ln>
            <a:noFill/>
          </a:ln>
        </p:spPr>
        <p:txBody>
          <a:bodyPr wrap="square" lIns="0" tIns="0" rIns="0" bIns="0" rtlCol="0" anchor="t">
            <a:noAutofit/>
          </a:bodyPr>
          <a:lstStyle/>
          <a:p>
            <a:pPr algn="l">
              <a:lnSpc>
                <a:spcPct val="118000"/>
              </a:lnSpc>
            </a:pPr>
            <a:r>
              <a:rPr lang="en-US" sz="1575" b="0" dirty="0">
                <a:solidFill>
                  <a:srgbClr val="8B8378"/>
                </a:solidFill>
                <a:latin typeface="Poppins"/>
                <a:ea typeface="Poppins"/>
                <a:cs typeface="Poppins"/>
              </a:rPr>
              <a:t>glasses brow • Fp1 Fp2</a:t>
            </a:r>
          </a:p>
        </p:txBody>
      </p:sp>
      <p:sp>
        <p:nvSpPr>
          <p:cNvPr id="174" name="bar"/>
          <p:cNvSpPr/>
          <p:nvPr/>
        </p:nvSpPr>
        <p:spPr>
          <a:xfrm>
            <a:off x="11919200" y="7480000"/>
            <a:ext cx="4041050" cy="300000"/>
          </a:xfrm>
          <a:prstGeom prst="roundRect">
            <a:avLst>
              <a:gd name="adj" fmla="val 50000"/>
            </a:avLst>
          </a:prstGeom>
          <a:solidFill>
            <a:srgbClr val="EDE7D9"/>
          </a:solidFill>
          <a:ln>
            <a:noFill/>
          </a:ln>
          <a:effectLst/>
        </p:spPr>
        <p:txBody>
          <a:bodyPr/>
          <a:lstStyle/>
          <a:p>
            <a:endParaRPr lang="en-US"/>
          </a:p>
        </p:txBody>
      </p:sp>
      <p:sp>
        <p:nvSpPr>
          <p:cNvPr id="175" name="bar"/>
          <p:cNvSpPr/>
          <p:nvPr/>
        </p:nvSpPr>
        <p:spPr>
          <a:xfrm>
            <a:off x="11919200" y="7480000"/>
            <a:ext cx="1382464" cy="300000"/>
          </a:xfrm>
          <a:prstGeom prst="roundRect">
            <a:avLst>
              <a:gd name="adj" fmla="val 50000"/>
            </a:avLst>
          </a:prstGeom>
          <a:solidFill>
            <a:srgbClr val="A44B3C"/>
          </a:solidFill>
          <a:ln>
            <a:noFill/>
          </a:ln>
          <a:effectLst/>
        </p:spPr>
        <p:txBody>
          <a:bodyPr/>
          <a:lstStyle/>
          <a:p>
            <a:endParaRPr lang="en-US"/>
          </a:p>
        </p:txBody>
      </p:sp>
      <p:sp>
        <p:nvSpPr>
          <p:cNvPr id="176" name="auc"/>
          <p:cNvSpPr txBox="1"/>
          <p:nvPr/>
        </p:nvSpPr>
        <p:spPr>
          <a:xfrm>
            <a:off x="16050250" y="7455000"/>
            <a:ext cx="860000" cy="340000"/>
          </a:xfrm>
          <a:prstGeom prst="rect">
            <a:avLst/>
          </a:prstGeom>
          <a:noFill/>
          <a:ln>
            <a:noFill/>
          </a:ln>
        </p:spPr>
        <p:txBody>
          <a:bodyPr wrap="square" lIns="0" tIns="0" rIns="0" bIns="0" rtlCol="0" anchor="t">
            <a:noAutofit/>
          </a:bodyPr>
          <a:lstStyle/>
          <a:p>
            <a:pPr algn="l">
              <a:lnSpc>
                <a:spcPct val="118000"/>
              </a:lnSpc>
            </a:pPr>
            <a:r>
              <a:rPr lang="en-US" sz="1950" b="1" dirty="0">
                <a:solidFill>
                  <a:srgbClr val="A44B3C"/>
                </a:solidFill>
                <a:latin typeface="Poppins"/>
                <a:ea typeface="Poppins"/>
                <a:cs typeface="Poppins"/>
              </a:rPr>
              <a:t>63%</a:t>
            </a:r>
          </a:p>
        </p:txBody>
      </p:sp>
      <p:sp>
        <p:nvSpPr>
          <p:cNvPr id="177" name="bar"/>
          <p:cNvSpPr/>
          <p:nvPr/>
        </p:nvSpPr>
        <p:spPr>
          <a:xfrm>
            <a:off x="9169200" y="8060000"/>
            <a:ext cx="7741050" cy="12700"/>
          </a:xfrm>
          <a:prstGeom prst="rect">
            <a:avLst/>
          </a:prstGeom>
          <a:solidFill>
            <a:srgbClr val="DFD8C6"/>
          </a:solidFill>
          <a:ln>
            <a:noFill/>
          </a:ln>
          <a:effectLst/>
        </p:spPr>
        <p:txBody>
          <a:bodyPr/>
          <a:lstStyle/>
          <a:p>
            <a:endParaRPr lang="en-US"/>
          </a:p>
        </p:txBody>
      </p:sp>
      <p:sp>
        <p:nvSpPr>
          <p:cNvPr id="178" name="punch"/>
          <p:cNvSpPr txBox="1"/>
          <p:nvPr/>
        </p:nvSpPr>
        <p:spPr>
          <a:xfrm>
            <a:off x="9169200" y="8230000"/>
            <a:ext cx="7741050" cy="600075"/>
          </a:xfrm>
          <a:prstGeom prst="rect">
            <a:avLst/>
          </a:prstGeom>
          <a:noFill/>
          <a:ln>
            <a:noFill/>
          </a:ln>
        </p:spPr>
        <p:txBody>
          <a:bodyPr wrap="square" lIns="0" tIns="0" rIns="0" bIns="0" rtlCol="0" anchor="t">
            <a:noAutofit/>
          </a:bodyPr>
          <a:lstStyle/>
          <a:p>
            <a:pPr algn="l">
              <a:lnSpc>
                <a:spcPct val="126000"/>
              </a:lnSpc>
            </a:pPr>
            <a:r>
              <a:rPr lang="en-US" sz="1875" b="0" dirty="0">
                <a:solidFill>
                  <a:srgbClr val="5A5D59"/>
                </a:solidFill>
                <a:latin typeface="Poppins"/>
                <a:ea typeface="Poppins"/>
                <a:cs typeface="Poppins"/>
              </a:rPr>
              <a:t>Every one of the top 12 pairs of 120 contains Cz or Fz. One well placed pair beats four badly placed ones.</a:t>
            </a:r>
          </a:p>
        </p:txBody>
      </p:sp>
      <p:sp>
        <p:nvSpPr>
          <p:cNvPr id="179" name="footnote"/>
          <p:cNvSpPr txBox="1"/>
          <p:nvPr/>
        </p:nvSpPr>
        <p:spPr>
          <a:xfrm>
            <a:off x="1047750" y="9486900"/>
            <a:ext cx="16192500" cy="476250"/>
          </a:xfrm>
          <a:prstGeom prst="rect">
            <a:avLst/>
          </a:prstGeom>
          <a:noFill/>
          <a:ln>
            <a:noFill/>
          </a:ln>
        </p:spPr>
        <p:txBody>
          <a:bodyPr wrap="square" lIns="0" tIns="0" rIns="0" bIns="0" rtlCol="0" anchor="t">
            <a:noAutofit/>
          </a:bodyPr>
          <a:lstStyle/>
          <a:p>
            <a:pPr algn="l">
              <a:lnSpc>
                <a:spcPct val="118000"/>
              </a:lnSpc>
            </a:pPr>
            <a:r>
              <a:rPr lang="en-US" sz="1875" b="0" dirty="0">
                <a:solidFill>
                  <a:srgbClr val="5A5D59"/>
                </a:solidFill>
                <a:latin typeface="Poppins"/>
                <a:ea typeface="Poppins"/>
                <a:cs typeface="Poppins"/>
              </a:rPr>
              <a:t>Not a 128 channel pipeline • 8 dry electrodes hold 98% of the full montage • Final Presentation/README.md</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84 numbers and a logistic regression">
            <a:extLst>
              <a:ext uri="{FF2B5EF4-FFF2-40B4-BE49-F238E27FC236}">
                <a16:creationId xmlns:a16="http://schemas.microsoft.com/office/drawing/2014/main" id="{374EB94F-25EB-429C-A42C-1D424C233D97}"/>
              </a:ext>
            </a:extLst>
          </p:cNvPr>
          <p:cNvSpPr>
            <a:spLocks noGrp="1"/>
          </p:cNvSpPr>
          <p:nvPr/>
        </p:nvSpPr>
        <p:spPr>
          <a:xfrm>
            <a:off x="1000125" y="742950"/>
            <a:ext cx="16287750" cy="1238250"/>
          </a:xfrm>
          <a:prstGeom prst="rect">
            <a:avLst/>
          </a:prstGeom>
          <a:noFill/>
          <a:ln w="0">
            <a:noFill/>
          </a:ln>
        </p:spPr>
        <p:txBody>
          <a:bodyPr lIns="0" tIns="0" rIns="0" bIns="0" anchor="t">
            <a:noAutofit/>
          </a:bodyPr>
          <a:lstStyle/>
          <a:p>
            <a:pPr algn="l">
              <a:defRPr sz="5400" b="1">
                <a:solidFill>
                  <a:srgbClr val="191A18"/>
                </a:solidFill>
                <a:latin typeface="Poppins"/>
                <a:ea typeface="Poppins"/>
                <a:cs typeface="Poppins"/>
              </a:defRPr>
            </a:pPr>
            <a:r>
              <a:rPr sz="5400" b="1">
                <a:solidFill>
                  <a:srgbClr val="191A18"/>
                </a:solidFill>
                <a:latin typeface="Poppins"/>
                <a:ea typeface="Poppins"/>
                <a:cs typeface="Poppins"/>
              </a:rPr>
              <a:t>More complexity did not win</a:t>
            </a:r>
          </a:p>
        </p:txBody>
      </p:sp>
      <p:sp>
        <p:nvSpPr>
          <p:cNvPr id="2" name="Voloridge • extracting sustained state changes fro">
            <a:extLst>
              <a:ext uri="{FF2B5EF4-FFF2-40B4-BE49-F238E27FC236}">
                <a16:creationId xmlns:a16="http://schemas.microsoft.com/office/drawing/2014/main" id="{10E48AB4-FDEC-4090-A5AA-CE822287929E}"/>
              </a:ext>
            </a:extLst>
          </p:cNvPr>
          <p:cNvSpPr>
            <a:spLocks noGrp="1"/>
          </p:cNvSpPr>
          <p:nvPr/>
        </p:nvSpPr>
        <p:spPr>
          <a:xfrm>
            <a:off x="1047750" y="2028825"/>
            <a:ext cx="16192500" cy="1000125"/>
          </a:xfrm>
          <a:prstGeom prst="rect">
            <a:avLst/>
          </a:prstGeom>
          <a:noFill/>
          <a:ln w="0">
            <a:noFill/>
          </a:ln>
        </p:spPr>
        <p:txBody>
          <a:bodyPr lIns="0" tIns="0" rIns="0" bIns="0" anchor="t">
            <a:noAutofit/>
          </a:bodyPr>
          <a:lstStyle/>
          <a:p>
            <a:pPr algn="l">
              <a:defRPr sz="2625" b="0">
                <a:solidFill>
                  <a:srgbClr val="5A5D59"/>
                </a:solidFill>
                <a:latin typeface="Poppins"/>
                <a:ea typeface="Poppins"/>
                <a:cs typeface="Poppins"/>
              </a:defRPr>
            </a:pPr>
            <a:r>
              <a:rPr sz="2625" b="0">
                <a:solidFill>
                  <a:srgbClr val="5A5D59"/>
                </a:solidFill>
                <a:latin typeface="Poppins"/>
                <a:ea typeface="Poppins"/>
                <a:cs typeface="Poppins"/>
              </a:rPr>
              <a:t>Seven alternatives, each paired against its own baseline</a:t>
            </a:r>
          </a:p>
        </p:txBody>
      </p:sp>
      <p:sp>
        <p:nvSpPr>
          <p:cNvPr id="5" name="The pipeline">
            <a:extLst>
              <a:ext uri="{FF2B5EF4-FFF2-40B4-BE49-F238E27FC236}">
                <a16:creationId xmlns:a16="http://schemas.microsoft.com/office/drawing/2014/main" id="{652FD0AF-56DA-413E-89F2-6E3B680E0B1C}"/>
              </a:ext>
            </a:extLst>
          </p:cNvPr>
          <p:cNvSpPr>
            <a:spLocks noGrp="1"/>
          </p:cNvSpPr>
          <p:nvPr/>
        </p:nvSpPr>
        <p:spPr>
          <a:xfrm>
            <a:off x="1047750" y="3228975"/>
            <a:ext cx="7048500" cy="619125"/>
          </a:xfrm>
          <a:prstGeom prst="rect">
            <a:avLst/>
          </a:prstGeom>
          <a:noFill/>
          <a:ln w="0">
            <a:noFill/>
          </a:ln>
        </p:spPr>
        <p:txBody>
          <a:bodyPr lIns="0" tIns="0" rIns="0" bIns="0" anchor="t">
            <a:noAutofit/>
          </a:bodyPr>
          <a:lstStyle/>
          <a:p>
            <a:pPr algn="l">
              <a:defRPr sz="3150" b="1">
                <a:solidFill>
                  <a:srgbClr val="326B8C"/>
                </a:solidFill>
                <a:latin typeface="Poppins"/>
                <a:ea typeface="Poppins"/>
                <a:cs typeface="Poppins"/>
              </a:defRPr>
            </a:pPr>
            <a:r>
              <a:rPr sz="3150" b="1">
                <a:solidFill>
                  <a:srgbClr val="326B8C"/>
                </a:solidFill>
                <a:latin typeface="Poppins"/>
                <a:ea typeface="Poppins"/>
                <a:cs typeface="Poppins"/>
              </a:rPr>
              <a:t>What we tried</a:t>
            </a:r>
          </a:p>
        </p:txBody>
      </p:sp>
      <p:sp>
        <p:nvSpPr>
          <p:cNvPr id="6" name="28 EEG channels, 200 Hz">
            <a:extLst>
              <a:ext uri="{FF2B5EF4-FFF2-40B4-BE49-F238E27FC236}">
                <a16:creationId xmlns:a16="http://schemas.microsoft.com/office/drawing/2014/main" id="{74706DF2-8082-4C48-9FAF-F0928AF9AB44}"/>
              </a:ext>
            </a:extLst>
          </p:cNvPr>
          <p:cNvSpPr>
            <a:spLocks noGrp="1"/>
          </p:cNvSpPr>
          <p:nvPr/>
        </p:nvSpPr>
        <p:spPr>
          <a:xfrm>
            <a:off x="1047750" y="4114800"/>
            <a:ext cx="7905750" cy="590550"/>
          </a:xfrm>
          <a:prstGeom prst="rect">
            <a:avLst/>
          </a:prstGeom>
          <a:noFill/>
          <a:ln w="0">
            <a:noFill/>
          </a:ln>
        </p:spPr>
        <p:txBody>
          <a:bodyPr lIns="0" tIns="0" rIns="0" bIns="0" anchor="t">
            <a:noAutofit/>
          </a:bodyPr>
          <a:lstStyle/>
          <a:p>
            <a:pPr algn="l">
              <a:defRPr sz="2550" b="1">
                <a:solidFill>
                  <a:srgbClr val="191A18"/>
                </a:solidFill>
                <a:latin typeface="Poppins"/>
                <a:ea typeface="Poppins"/>
                <a:cs typeface="Poppins"/>
              </a:defRPr>
            </a:pPr>
            <a:r>
              <a:rPr sz="2550" b="1">
                <a:solidFill>
                  <a:srgbClr val="191A18"/>
                </a:solidFill>
                <a:latin typeface="Poppins"/>
                <a:ea typeface="Poppins"/>
                <a:cs typeface="Poppins"/>
              </a:rPr>
              <a:t>Riemannian tangent space</a:t>
            </a:r>
          </a:p>
        </p:txBody>
      </p:sp>
      <p:sp>
        <p:nvSpPr>
          <p:cNvPr id="7" name="Shin et al. 2018 • five people, 15 sessions">
            <a:extLst>
              <a:ext uri="{FF2B5EF4-FFF2-40B4-BE49-F238E27FC236}">
                <a16:creationId xmlns:a16="http://schemas.microsoft.com/office/drawing/2014/main" id="{F2300589-BA43-4CAA-A288-A32191A40B14}"/>
              </a:ext>
            </a:extLst>
          </p:cNvPr>
          <p:cNvSpPr>
            <a:spLocks noGrp="1"/>
          </p:cNvSpPr>
          <p:nvPr/>
        </p:nvSpPr>
        <p:spPr>
          <a:xfrm>
            <a:off x="1047750" y="4657725"/>
            <a:ext cx="7905750" cy="628650"/>
          </a:xfrm>
          <a:prstGeom prst="rect">
            <a:avLst/>
          </a:prstGeom>
          <a:noFill/>
          <a:ln w="0">
            <a:noFill/>
          </a:ln>
        </p:spPr>
        <p:txBody>
          <a:bodyPr lIns="0" tIns="0" rIns="0" bIns="0" anchor="t">
            <a:noAutofit/>
          </a:bodyPr>
          <a:lstStyle/>
          <a:p>
            <a:pPr algn="l">
              <a:defRPr sz="2100" b="0">
                <a:solidFill>
                  <a:srgbClr val="5A5D59"/>
                </a:solidFill>
                <a:latin typeface="Poppins"/>
                <a:ea typeface="Poppins"/>
                <a:cs typeface="Poppins"/>
              </a:defRPr>
            </a:pPr>
            <a:r>
              <a:rPr sz="2100" b="0">
                <a:solidFill>
                  <a:srgbClr val="5A5D59"/>
                </a:solidFill>
                <a:latin typeface="Poppins"/>
                <a:ea typeface="Poppins"/>
                <a:cs typeface="Poppins"/>
              </a:rPr>
              <a:t>1,218 features • 22.2 s of rest against 2.0 s</a:t>
            </a:r>
          </a:p>
        </p:txBody>
      </p:sp>
      <p:sp>
        <p:nvSpPr>
          <p:cNvPr id="8" name="Regress out eye channels">
            <a:extLst>
              <a:ext uri="{FF2B5EF4-FFF2-40B4-BE49-F238E27FC236}">
                <a16:creationId xmlns:a16="http://schemas.microsoft.com/office/drawing/2014/main" id="{95A7EE58-3E4D-429F-AB9F-E729EA6D4B4C}"/>
              </a:ext>
            </a:extLst>
          </p:cNvPr>
          <p:cNvSpPr>
            <a:spLocks noGrp="1"/>
          </p:cNvSpPr>
          <p:nvPr/>
        </p:nvSpPr>
        <p:spPr>
          <a:xfrm>
            <a:off x="1047750" y="5429250"/>
            <a:ext cx="7905750" cy="590550"/>
          </a:xfrm>
          <a:prstGeom prst="rect">
            <a:avLst/>
          </a:prstGeom>
          <a:noFill/>
          <a:ln w="0">
            <a:noFill/>
          </a:ln>
        </p:spPr>
        <p:txBody>
          <a:bodyPr lIns="0" tIns="0" rIns="0" bIns="0" anchor="t">
            <a:noAutofit/>
          </a:bodyPr>
          <a:lstStyle/>
          <a:p>
            <a:pPr algn="l">
              <a:defRPr sz="2550" b="1">
                <a:solidFill>
                  <a:srgbClr val="191A18"/>
                </a:solidFill>
                <a:latin typeface="Poppins"/>
                <a:ea typeface="Poppins"/>
                <a:cs typeface="Poppins"/>
              </a:defRPr>
            </a:pPr>
            <a:r>
              <a:rPr sz="2550" b="1">
                <a:solidFill>
                  <a:srgbClr val="191A18"/>
                </a:solidFill>
                <a:latin typeface="Poppins"/>
                <a:ea typeface="Poppins"/>
                <a:cs typeface="Poppins"/>
              </a:rPr>
              <a:t>26-bin Fourier spectrum</a:t>
            </a:r>
          </a:p>
        </p:txBody>
      </p:sp>
      <p:sp>
        <p:nvSpPr>
          <p:cNvPr id="9" name="Fit before task; freeze before scoring">
            <a:extLst>
              <a:ext uri="{FF2B5EF4-FFF2-40B4-BE49-F238E27FC236}">
                <a16:creationId xmlns:a16="http://schemas.microsoft.com/office/drawing/2014/main" id="{7378B410-C336-4636-AA4F-2E5E83DB2769}"/>
              </a:ext>
            </a:extLst>
          </p:cNvPr>
          <p:cNvSpPr>
            <a:spLocks noGrp="1"/>
          </p:cNvSpPr>
          <p:nvPr/>
        </p:nvSpPr>
        <p:spPr>
          <a:xfrm>
            <a:off x="1047750" y="5972175"/>
            <a:ext cx="7905750" cy="628650"/>
          </a:xfrm>
          <a:prstGeom prst="rect">
            <a:avLst/>
          </a:prstGeom>
          <a:noFill/>
          <a:ln w="0">
            <a:noFill/>
          </a:ln>
        </p:spPr>
        <p:txBody>
          <a:bodyPr lIns="0" tIns="0" rIns="0" bIns="0" anchor="t">
            <a:noAutofit/>
          </a:bodyPr>
          <a:lstStyle/>
          <a:p>
            <a:pPr algn="l">
              <a:defRPr sz="2100" b="0">
                <a:solidFill>
                  <a:srgbClr val="5A5D59"/>
                </a:solidFill>
                <a:latin typeface="Poppins"/>
                <a:ea typeface="Poppins"/>
                <a:cs typeface="Poppins"/>
              </a:defRPr>
            </a:pPr>
            <a:r>
              <a:rPr sz="2100" b="0">
                <a:solidFill>
                  <a:srgbClr val="5A5D59"/>
                </a:solidFill>
                <a:latin typeface="Poppins"/>
                <a:ea typeface="Poppins"/>
                <a:cs typeface="Poppins"/>
              </a:rPr>
              <a:t>728 features • accuracy 0.541 against 0.635</a:t>
            </a:r>
          </a:p>
        </p:txBody>
      </p:sp>
      <p:sp>
        <p:nvSpPr>
          <p:cNvPr id="10" name="Theta / alpha / beta log power">
            <a:extLst>
              <a:ext uri="{FF2B5EF4-FFF2-40B4-BE49-F238E27FC236}">
                <a16:creationId xmlns:a16="http://schemas.microsoft.com/office/drawing/2014/main" id="{E48DE085-DCFC-43E4-9AD6-BF2B1C0AF3F0}"/>
              </a:ext>
            </a:extLst>
          </p:cNvPr>
          <p:cNvSpPr>
            <a:spLocks noGrp="1"/>
          </p:cNvSpPr>
          <p:nvPr/>
        </p:nvSpPr>
        <p:spPr>
          <a:xfrm>
            <a:off x="1047750" y="6743700"/>
            <a:ext cx="7905750" cy="590550"/>
          </a:xfrm>
          <a:prstGeom prst="rect">
            <a:avLst/>
          </a:prstGeom>
          <a:noFill/>
          <a:ln w="0">
            <a:noFill/>
          </a:ln>
        </p:spPr>
        <p:txBody>
          <a:bodyPr lIns="0" tIns="0" rIns="0" bIns="0" anchor="t">
            <a:noAutofit/>
          </a:bodyPr>
          <a:lstStyle/>
          <a:p>
            <a:pPr algn="l">
              <a:defRPr sz="2550" b="1">
                <a:solidFill>
                  <a:srgbClr val="191A18"/>
                </a:solidFill>
                <a:latin typeface="Poppins"/>
                <a:ea typeface="Poppins"/>
                <a:cs typeface="Poppins"/>
              </a:defRPr>
            </a:pPr>
            <a:r>
              <a:rPr sz="2550" b="1">
                <a:solidFill>
                  <a:srgbClr val="191A18"/>
                </a:solidFill>
                <a:latin typeface="Poppins"/>
                <a:ea typeface="Poppins"/>
                <a:cs typeface="Poppins"/>
              </a:rPr>
              <a:t>Zigzag persistent homology</a:t>
            </a:r>
          </a:p>
        </p:txBody>
      </p:sp>
      <p:sp>
        <p:nvSpPr>
          <p:cNvPr id="11" name="84 features • 2-second windows, every 0.25 s">
            <a:extLst>
              <a:ext uri="{FF2B5EF4-FFF2-40B4-BE49-F238E27FC236}">
                <a16:creationId xmlns:a16="http://schemas.microsoft.com/office/drawing/2014/main" id="{3E0C7BCB-76DA-4210-A422-5F384D475595}"/>
              </a:ext>
            </a:extLst>
          </p:cNvPr>
          <p:cNvSpPr>
            <a:spLocks noGrp="1"/>
          </p:cNvSpPr>
          <p:nvPr/>
        </p:nvSpPr>
        <p:spPr>
          <a:xfrm>
            <a:off x="1047750" y="7286625"/>
            <a:ext cx="7905750" cy="628650"/>
          </a:xfrm>
          <a:prstGeom prst="rect">
            <a:avLst/>
          </a:prstGeom>
          <a:noFill/>
          <a:ln w="0">
            <a:noFill/>
          </a:ln>
        </p:spPr>
        <p:txBody>
          <a:bodyPr lIns="0" tIns="0" rIns="0" bIns="0" anchor="t">
            <a:noAutofit/>
          </a:bodyPr>
          <a:lstStyle/>
          <a:p>
            <a:pPr algn="l">
              <a:defRPr sz="2100" b="0">
                <a:solidFill>
                  <a:srgbClr val="5A5D59"/>
                </a:solidFill>
                <a:latin typeface="Poppins"/>
                <a:ea typeface="Poppins"/>
                <a:cs typeface="Poppins"/>
              </a:defRPr>
            </a:pPr>
            <a:r>
              <a:rPr sz="2100" b="0">
                <a:solidFill>
                  <a:srgbClr val="5A5D59"/>
                </a:solidFill>
                <a:latin typeface="Poppins"/>
                <a:ea typeface="Poppins"/>
                <a:cs typeface="Poppins"/>
              </a:rPr>
              <a:t>108 features • p = 0.13 against random flags</a:t>
            </a:r>
          </a:p>
        </p:txBody>
      </p:sp>
      <p:sp>
        <p:nvSpPr>
          <p:cNvPr id="12" name="Logistic regression → moving average">
            <a:extLst>
              <a:ext uri="{FF2B5EF4-FFF2-40B4-BE49-F238E27FC236}">
                <a16:creationId xmlns:a16="http://schemas.microsoft.com/office/drawing/2014/main" id="{A5E9551E-AE22-4940-9914-A0258EBF4B3F}"/>
              </a:ext>
            </a:extLst>
          </p:cNvPr>
          <p:cNvSpPr>
            <a:spLocks noGrp="1"/>
          </p:cNvSpPr>
          <p:nvPr/>
        </p:nvSpPr>
        <p:spPr>
          <a:xfrm>
            <a:off x="1047750" y="8058150"/>
            <a:ext cx="7905750" cy="590550"/>
          </a:xfrm>
          <a:prstGeom prst="rect">
            <a:avLst/>
          </a:prstGeom>
          <a:noFill/>
          <a:ln w="0">
            <a:noFill/>
          </a:ln>
        </p:spPr>
        <p:txBody>
          <a:bodyPr lIns="0" tIns="0" rIns="0" bIns="0" anchor="t">
            <a:noAutofit/>
          </a:bodyPr>
          <a:lstStyle/>
          <a:p>
            <a:pPr algn="l">
              <a:defRPr sz="2550" b="1">
                <a:solidFill>
                  <a:srgbClr val="191A18"/>
                </a:solidFill>
                <a:latin typeface="Poppins"/>
                <a:ea typeface="Poppins"/>
                <a:cs typeface="Poppins"/>
              </a:defRPr>
            </a:pPr>
            <a:r>
              <a:rPr sz="2550" b="1">
                <a:solidFill>
                  <a:srgbClr val="191A18"/>
                </a:solidFill>
                <a:latin typeface="Poppins"/>
                <a:ea typeface="Poppins"/>
                <a:cs typeface="Poppins"/>
              </a:rPr>
              <a:t>Bayesian state-space model</a:t>
            </a:r>
          </a:p>
        </p:txBody>
      </p:sp>
      <p:sp>
        <p:nvSpPr>
          <p:cNvPr id="13" name="Task versus rest • one smoothing parameter">
            <a:extLst>
              <a:ext uri="{FF2B5EF4-FFF2-40B4-BE49-F238E27FC236}">
                <a16:creationId xmlns:a16="http://schemas.microsoft.com/office/drawing/2014/main" id="{91D928DF-9FD8-494F-8701-834F106B2872}"/>
              </a:ext>
            </a:extLst>
          </p:cNvPr>
          <p:cNvSpPr>
            <a:spLocks noGrp="1"/>
          </p:cNvSpPr>
          <p:nvPr/>
        </p:nvSpPr>
        <p:spPr>
          <a:xfrm>
            <a:off x="1047750" y="8601075"/>
            <a:ext cx="7905750" cy="628650"/>
          </a:xfrm>
          <a:prstGeom prst="rect">
            <a:avLst/>
          </a:prstGeom>
          <a:noFill/>
          <a:ln w="0">
            <a:noFill/>
          </a:ln>
        </p:spPr>
        <p:txBody>
          <a:bodyPr lIns="0" tIns="0" rIns="0" bIns="0" anchor="t">
            <a:noAutofit/>
          </a:bodyPr>
          <a:lstStyle/>
          <a:p>
            <a:pPr algn="l">
              <a:defRPr sz="2100" b="0">
                <a:solidFill>
                  <a:srgbClr val="5A5D59"/>
                </a:solidFill>
                <a:latin typeface="Poppins"/>
                <a:ea typeface="Poppins"/>
                <a:cs typeface="Poppins"/>
              </a:defRPr>
            </a:pPr>
            <a:r>
              <a:rPr sz="2100" b="0">
                <a:solidFill>
                  <a:srgbClr val="5A5D59"/>
                </a:solidFill>
                <a:latin typeface="Poppins"/>
                <a:ea typeface="Poppins"/>
                <a:cs typeface="Poppins"/>
              </a:rPr>
              <a:t>Latent state + AR(1) noise • 0.739 against 0.791</a:t>
            </a:r>
          </a:p>
        </p:txBody>
      </p:sp>
      <p:sp>
        <p:nvSpPr>
          <p:cNvPr id="14" name="More complexity did not win">
            <a:extLst>
              <a:ext uri="{FF2B5EF4-FFF2-40B4-BE49-F238E27FC236}">
                <a16:creationId xmlns:a16="http://schemas.microsoft.com/office/drawing/2014/main" id="{002B13A6-2F06-430A-AB58-8AA358CC1615}"/>
              </a:ext>
            </a:extLst>
          </p:cNvPr>
          <p:cNvSpPr>
            <a:spLocks noGrp="1"/>
          </p:cNvSpPr>
          <p:nvPr/>
        </p:nvSpPr>
        <p:spPr>
          <a:xfrm>
            <a:off x="9620250" y="3228975"/>
            <a:ext cx="7620000" cy="666750"/>
          </a:xfrm>
          <a:prstGeom prst="rect">
            <a:avLst/>
          </a:prstGeom>
          <a:noFill/>
          <a:ln w="0">
            <a:noFill/>
          </a:ln>
        </p:spPr>
        <p:txBody>
          <a:bodyPr lIns="0" tIns="0" rIns="0" bIns="0" anchor="t">
            <a:noAutofit/>
          </a:bodyPr>
          <a:lstStyle/>
          <a:p>
            <a:pPr algn="l">
              <a:defRPr sz="3075" b="1">
                <a:solidFill>
                  <a:srgbClr val="191A18"/>
                </a:solidFill>
                <a:latin typeface="Poppins"/>
                <a:ea typeface="Poppins"/>
                <a:cs typeface="Poppins"/>
              </a:defRPr>
            </a:pPr>
            <a:r>
              <a:rPr sz="3075" b="1">
                <a:solidFill>
                  <a:srgbClr val="191A18"/>
                </a:solidFill>
                <a:latin typeface="Poppins"/>
                <a:ea typeface="Poppins"/>
                <a:cs typeface="Poppins"/>
              </a:rPr>
              <a:t>And three more</a:t>
            </a:r>
          </a:p>
        </p:txBody>
      </p:sp>
      <p:sp>
        <p:nvSpPr>
          <p:cNvPr id="15" name="Riemannian tangent space">
            <a:extLst>
              <a:ext uri="{FF2B5EF4-FFF2-40B4-BE49-F238E27FC236}">
                <a16:creationId xmlns:a16="http://schemas.microsoft.com/office/drawing/2014/main" id="{88C1B9B1-0C2D-4A43-8622-CE0A38476518}"/>
              </a:ext>
            </a:extLst>
          </p:cNvPr>
          <p:cNvSpPr>
            <a:spLocks noGrp="1"/>
          </p:cNvSpPr>
          <p:nvPr/>
        </p:nvSpPr>
        <p:spPr>
          <a:xfrm>
            <a:off x="9620250" y="4143375"/>
            <a:ext cx="4572000" cy="590550"/>
          </a:xfrm>
          <a:prstGeom prst="rect">
            <a:avLst/>
          </a:prstGeom>
          <a:noFill/>
          <a:ln w="0">
            <a:noFill/>
          </a:ln>
        </p:spPr>
        <p:txBody>
          <a:bodyPr lIns="0" tIns="0" rIns="0" bIns="0" anchor="t">
            <a:noAutofit/>
          </a:bodyPr>
          <a:lstStyle/>
          <a:p>
            <a:pPr algn="l">
              <a:defRPr sz="2100" b="0">
                <a:solidFill>
                  <a:srgbClr val="5A5D59"/>
                </a:solidFill>
                <a:latin typeface="Poppins"/>
                <a:ea typeface="Poppins"/>
                <a:cs typeface="Poppins"/>
              </a:defRPr>
            </a:pPr>
            <a:r>
              <a:rPr sz="2100" b="0">
                <a:solidFill>
                  <a:srgbClr val="5A5D59"/>
                </a:solidFill>
                <a:latin typeface="Poppins"/>
                <a:ea typeface="Poppins"/>
                <a:cs typeface="Poppins"/>
              </a:rPr>
              <a:t>Adaptive switching model</a:t>
            </a:r>
          </a:p>
        </p:txBody>
      </p:sp>
      <p:sp>
        <p:nvSpPr>
          <p:cNvPr id="16" name="1,218 features">
            <a:extLst>
              <a:ext uri="{FF2B5EF4-FFF2-40B4-BE49-F238E27FC236}">
                <a16:creationId xmlns:a16="http://schemas.microsoft.com/office/drawing/2014/main" id="{7D23510F-BCF7-417E-B6D7-571819ECD6C7}"/>
              </a:ext>
            </a:extLst>
          </p:cNvPr>
          <p:cNvSpPr>
            <a:spLocks noGrp="1"/>
          </p:cNvSpPr>
          <p:nvPr/>
        </p:nvSpPr>
        <p:spPr>
          <a:xfrm>
            <a:off x="14430375" y="4143375"/>
            <a:ext cx="2762250" cy="590550"/>
          </a:xfrm>
          <a:prstGeom prst="rect">
            <a:avLst/>
          </a:prstGeom>
          <a:noFill/>
          <a:ln w="0">
            <a:noFill/>
          </a:ln>
        </p:spPr>
        <p:txBody>
          <a:bodyPr lIns="0" tIns="0" rIns="0" bIns="0" anchor="t">
            <a:noAutofit/>
          </a:bodyPr>
          <a:lstStyle/>
          <a:p>
            <a:pPr algn="l">
              <a:defRPr sz="2025" b="0">
                <a:solidFill>
                  <a:srgbClr val="5A5D59"/>
                </a:solidFill>
                <a:latin typeface="Poppins"/>
                <a:ea typeface="Poppins"/>
                <a:cs typeface="Poppins"/>
              </a:defRPr>
            </a:pPr>
            <a:r>
              <a:rPr sz="2025" b="0">
                <a:solidFill>
                  <a:srgbClr val="5A5D59"/>
                </a:solidFill>
                <a:latin typeface="Poppins"/>
                <a:ea typeface="Poppins"/>
                <a:cs typeface="Poppins"/>
              </a:rPr>
              <a:t>0.781 vs 0.791</a:t>
            </a:r>
          </a:p>
        </p:txBody>
      </p:sp>
      <p:sp>
        <p:nvSpPr>
          <p:cNvPr id="17" name="26-bin Fourier spectrum">
            <a:extLst>
              <a:ext uri="{FF2B5EF4-FFF2-40B4-BE49-F238E27FC236}">
                <a16:creationId xmlns:a16="http://schemas.microsoft.com/office/drawing/2014/main" id="{C7600D65-5D3C-45F3-9340-F9C511040396}"/>
              </a:ext>
            </a:extLst>
          </p:cNvPr>
          <p:cNvSpPr>
            <a:spLocks noGrp="1"/>
          </p:cNvSpPr>
          <p:nvPr/>
        </p:nvSpPr>
        <p:spPr>
          <a:xfrm>
            <a:off x="9620250" y="4838700"/>
            <a:ext cx="4572000" cy="590550"/>
          </a:xfrm>
          <a:prstGeom prst="rect">
            <a:avLst/>
          </a:prstGeom>
          <a:noFill/>
          <a:ln w="0">
            <a:noFill/>
          </a:ln>
        </p:spPr>
        <p:txBody>
          <a:bodyPr lIns="0" tIns="0" rIns="0" bIns="0" anchor="t">
            <a:noAutofit/>
          </a:bodyPr>
          <a:lstStyle/>
          <a:p>
            <a:pPr algn="l">
              <a:defRPr sz="2100" b="0">
                <a:solidFill>
                  <a:srgbClr val="5A5D59"/>
                </a:solidFill>
                <a:latin typeface="Poppins"/>
                <a:ea typeface="Poppins"/>
                <a:cs typeface="Poppins"/>
              </a:defRPr>
            </a:pPr>
            <a:r>
              <a:rPr sz="2100" b="0">
                <a:solidFill>
                  <a:srgbClr val="5A5D59"/>
                </a:solidFill>
                <a:latin typeface="Poppins"/>
                <a:ea typeface="Poppins"/>
                <a:cs typeface="Poppins"/>
              </a:rPr>
              <a:t>EWMA volatility features</a:t>
            </a:r>
          </a:p>
        </p:txBody>
      </p:sp>
      <p:sp>
        <p:nvSpPr>
          <p:cNvPr id="18" name="728 features">
            <a:extLst>
              <a:ext uri="{FF2B5EF4-FFF2-40B4-BE49-F238E27FC236}">
                <a16:creationId xmlns:a16="http://schemas.microsoft.com/office/drawing/2014/main" id="{6C226304-F8F1-453F-A9DD-C1B32C486888}"/>
              </a:ext>
            </a:extLst>
          </p:cNvPr>
          <p:cNvSpPr>
            <a:spLocks noGrp="1"/>
          </p:cNvSpPr>
          <p:nvPr/>
        </p:nvSpPr>
        <p:spPr>
          <a:xfrm>
            <a:off x="14430375" y="4838700"/>
            <a:ext cx="2762250" cy="590550"/>
          </a:xfrm>
          <a:prstGeom prst="rect">
            <a:avLst/>
          </a:prstGeom>
          <a:noFill/>
          <a:ln w="0">
            <a:noFill/>
          </a:ln>
        </p:spPr>
        <p:txBody>
          <a:bodyPr lIns="0" tIns="0" rIns="0" bIns="0" anchor="t">
            <a:noAutofit/>
          </a:bodyPr>
          <a:lstStyle/>
          <a:p>
            <a:pPr algn="l">
              <a:defRPr sz="2025" b="0">
                <a:solidFill>
                  <a:srgbClr val="5A5D59"/>
                </a:solidFill>
                <a:latin typeface="Poppins"/>
                <a:ea typeface="Poppins"/>
                <a:cs typeface="Poppins"/>
              </a:defRPr>
            </a:pPr>
            <a:r>
              <a:rPr sz="2025" b="0">
                <a:solidFill>
                  <a:srgbClr val="5A5D59"/>
                </a:solidFill>
                <a:latin typeface="Poppins"/>
                <a:ea typeface="Poppins"/>
                <a:cs typeface="Poppins"/>
              </a:rPr>
              <a:t>Worse accuracy</a:t>
            </a:r>
          </a:p>
        </p:txBody>
      </p:sp>
      <p:sp>
        <p:nvSpPr>
          <p:cNvPr id="19" name="Zigzag topology">
            <a:extLst>
              <a:ext uri="{FF2B5EF4-FFF2-40B4-BE49-F238E27FC236}">
                <a16:creationId xmlns:a16="http://schemas.microsoft.com/office/drawing/2014/main" id="{03C9C905-064C-4D6D-B4A2-17908F742DD6}"/>
              </a:ext>
            </a:extLst>
          </p:cNvPr>
          <p:cNvSpPr>
            <a:spLocks noGrp="1"/>
          </p:cNvSpPr>
          <p:nvPr/>
        </p:nvSpPr>
        <p:spPr>
          <a:xfrm>
            <a:off x="9620250" y="5534025"/>
            <a:ext cx="4572000" cy="590550"/>
          </a:xfrm>
          <a:prstGeom prst="rect">
            <a:avLst/>
          </a:prstGeom>
          <a:noFill/>
          <a:ln w="0">
            <a:noFill/>
          </a:ln>
        </p:spPr>
        <p:txBody>
          <a:bodyPr lIns="0" tIns="0" rIns="0" bIns="0" anchor="t">
            <a:noAutofit/>
          </a:bodyPr>
          <a:lstStyle/>
          <a:p>
            <a:pPr algn="l">
              <a:defRPr sz="2100" b="0">
                <a:solidFill>
                  <a:srgbClr val="5A5D59"/>
                </a:solidFill>
                <a:latin typeface="Poppins"/>
                <a:ea typeface="Poppins"/>
                <a:cs typeface="Poppins"/>
              </a:defRPr>
            </a:pPr>
            <a:r>
              <a:rPr sz="2100" b="0">
                <a:solidFill>
                  <a:srgbClr val="5A5D59"/>
                </a:solidFill>
                <a:latin typeface="Poppins"/>
                <a:ea typeface="Poppins"/>
                <a:cs typeface="Poppins"/>
              </a:rPr>
              <a:t>Broad-band Fourier power</a:t>
            </a:r>
          </a:p>
        </p:txBody>
      </p:sp>
      <p:sp>
        <p:nvSpPr>
          <p:cNvPr id="20" name="108 features">
            <a:extLst>
              <a:ext uri="{FF2B5EF4-FFF2-40B4-BE49-F238E27FC236}">
                <a16:creationId xmlns:a16="http://schemas.microsoft.com/office/drawing/2014/main" id="{8530C71B-13FA-4777-9059-2612D30398C6}"/>
              </a:ext>
            </a:extLst>
          </p:cNvPr>
          <p:cNvSpPr>
            <a:spLocks noGrp="1"/>
          </p:cNvSpPr>
          <p:nvPr/>
        </p:nvSpPr>
        <p:spPr>
          <a:xfrm>
            <a:off x="14430375" y="5534025"/>
            <a:ext cx="2762250" cy="590550"/>
          </a:xfrm>
          <a:prstGeom prst="rect">
            <a:avLst/>
          </a:prstGeom>
          <a:noFill/>
          <a:ln w="0">
            <a:noFill/>
          </a:ln>
        </p:spPr>
        <p:txBody>
          <a:bodyPr lIns="0" tIns="0" rIns="0" bIns="0" anchor="t">
            <a:noAutofit/>
          </a:bodyPr>
          <a:lstStyle/>
          <a:p>
            <a:pPr algn="l">
              <a:defRPr sz="2025" b="0">
                <a:solidFill>
                  <a:srgbClr val="5A5D59"/>
                </a:solidFill>
                <a:latin typeface="Poppins"/>
                <a:ea typeface="Poppins"/>
                <a:cs typeface="Poppins"/>
              </a:defRPr>
            </a:pPr>
            <a:r>
              <a:rPr sz="2025" b="0">
                <a:solidFill>
                  <a:srgbClr val="5A5D59"/>
                </a:solidFill>
                <a:latin typeface="Poppins"/>
                <a:ea typeface="Poppins"/>
                <a:cs typeface="Poppins"/>
              </a:rPr>
              <a:t>A tie</a:t>
            </a:r>
          </a:p>
        </p:txBody>
      </p:sp>
      <p:sp>
        <p:nvSpPr>
          <p:cNvPr id="25" name="diagram">
            <a:extLst>
              <a:ext uri="{FF2B5EF4-FFF2-40B4-BE49-F238E27FC236}">
                <a16:creationId xmlns:a16="http://schemas.microsoft.com/office/drawing/2014/main" id="{82CF1A1D-9DFC-4CCE-A2E0-026B3CE63C39}"/>
              </a:ext>
            </a:extLst>
          </p:cNvPr>
          <p:cNvSpPr>
            <a:spLocks noGrp="1"/>
          </p:cNvSpPr>
          <p:nvPr/>
        </p:nvSpPr>
        <p:spPr>
          <a:xfrm>
            <a:off x="9619488" y="6492240"/>
            <a:ext cx="7525512" cy="27432"/>
          </a:xfrm>
          <a:prstGeom prst="rect">
            <a:avLst/>
          </a:prstGeom>
          <a:solidFill>
            <a:srgbClr val="9B712B"/>
          </a:solidFill>
          <a:ln w="0">
            <a:noFill/>
          </a:ln>
        </p:spPr>
        <p:txBody>
          <a:bodyPr/>
          <a:lstStyle/>
          <a:p>
            <a:endParaRPr lang="en-US"/>
          </a:p>
        </p:txBody>
      </p:sp>
      <p:sp>
        <p:nvSpPr>
          <p:cNvPr id="26" name="Band power + logistic">
            <a:extLst>
              <a:ext uri="{FF2B5EF4-FFF2-40B4-BE49-F238E27FC236}">
                <a16:creationId xmlns:a16="http://schemas.microsoft.com/office/drawing/2014/main" id="{A5984EE4-6C60-4B44-914B-A1020D76EE19}"/>
              </a:ext>
            </a:extLst>
          </p:cNvPr>
          <p:cNvSpPr>
            <a:spLocks noGrp="1"/>
          </p:cNvSpPr>
          <p:nvPr/>
        </p:nvSpPr>
        <p:spPr>
          <a:xfrm>
            <a:off x="9619488" y="6793992"/>
            <a:ext cx="7479792" cy="640080"/>
          </a:xfrm>
          <a:prstGeom prst="rect">
            <a:avLst/>
          </a:prstGeom>
          <a:noFill/>
          <a:ln w="0">
            <a:noFill/>
          </a:ln>
        </p:spPr>
        <p:txBody>
          <a:bodyPr lIns="0" tIns="0" rIns="0" bIns="0" anchor="t">
            <a:noAutofit/>
          </a:bodyPr>
          <a:lstStyle/>
          <a:p>
            <a:pPr algn="l">
              <a:defRPr sz="3000" b="1">
                <a:solidFill>
                  <a:srgbClr val="191A18"/>
                </a:solidFill>
                <a:latin typeface="Poppins"/>
                <a:ea typeface="Poppins"/>
                <a:cs typeface="Poppins"/>
              </a:defRPr>
            </a:pPr>
            <a:r>
              <a:rPr sz="3000" b="1">
                <a:solidFill>
                  <a:srgbClr val="191A18"/>
                </a:solidFill>
                <a:latin typeface="Poppins"/>
                <a:ea typeface="Poppins"/>
                <a:cs typeface="Poppins"/>
              </a:rPr>
              <a:t>Band power + logistic regression</a:t>
            </a:r>
          </a:p>
        </p:txBody>
      </p:sp>
      <p:sp>
        <p:nvSpPr>
          <p:cNvPr id="27" name="84 features + one smoothing parameter">
            <a:extLst>
              <a:ext uri="{FF2B5EF4-FFF2-40B4-BE49-F238E27FC236}">
                <a16:creationId xmlns:a16="http://schemas.microsoft.com/office/drawing/2014/main" id="{AEA42D65-ED25-4EFE-A1FF-71EB0DD8B440}"/>
              </a:ext>
            </a:extLst>
          </p:cNvPr>
          <p:cNvSpPr>
            <a:spLocks noGrp="1"/>
          </p:cNvSpPr>
          <p:nvPr/>
        </p:nvSpPr>
        <p:spPr>
          <a:xfrm>
            <a:off x="9619488" y="7498079"/>
            <a:ext cx="7525512" cy="649224"/>
          </a:xfrm>
          <a:prstGeom prst="rect">
            <a:avLst/>
          </a:prstGeom>
          <a:noFill/>
          <a:ln w="0">
            <a:noFill/>
          </a:ln>
        </p:spPr>
        <p:txBody>
          <a:bodyPr lIns="0" tIns="0" rIns="0" bIns="0" anchor="t">
            <a:noAutofit/>
          </a:bodyPr>
          <a:lstStyle/>
          <a:p>
            <a:pPr algn="l">
              <a:defRPr sz="2250" b="1">
                <a:solidFill>
                  <a:srgbClr val="9B712B"/>
                </a:solidFill>
                <a:latin typeface="Poppins"/>
                <a:ea typeface="Poppins"/>
                <a:cs typeface="Poppins"/>
              </a:defRPr>
            </a:pPr>
            <a:r>
              <a:rPr sz="2250" b="1">
                <a:solidFill>
                  <a:srgbClr val="9B712B"/>
                </a:solidFill>
                <a:latin typeface="Poppins"/>
                <a:ea typeface="Poppins"/>
                <a:cs typeface="Poppins"/>
              </a:rPr>
              <a:t>84 features • the only addition we kept</a:t>
            </a:r>
          </a:p>
        </p:txBody>
      </p:sp>
      <p:sp>
        <p:nvSpPr>
          <p:cNvPr id="28" name="Paired comparisons against each method’s own basel">
            <a:extLst>
              <a:ext uri="{FF2B5EF4-FFF2-40B4-BE49-F238E27FC236}">
                <a16:creationId xmlns:a16="http://schemas.microsoft.com/office/drawing/2014/main" id="{8ADCFBD8-C1FC-46BB-A20E-EE19462E479F}"/>
              </a:ext>
            </a:extLst>
          </p:cNvPr>
          <p:cNvSpPr>
            <a:spLocks noGrp="1"/>
          </p:cNvSpPr>
          <p:nvPr/>
        </p:nvSpPr>
        <p:spPr>
          <a:xfrm>
            <a:off x="1047750" y="9486900"/>
            <a:ext cx="16097250" cy="476250"/>
          </a:xfrm>
          <a:prstGeom prst="rect">
            <a:avLst/>
          </a:prstGeom>
          <a:noFill/>
          <a:ln w="0">
            <a:noFill/>
          </a:ln>
        </p:spPr>
        <p:txBody>
          <a:bodyPr lIns="0" tIns="0" rIns="0" bIns="0" anchor="t">
            <a:noAutofit/>
          </a:bodyPr>
          <a:lstStyle/>
          <a:p>
            <a:pPr algn="l">
              <a:defRPr sz="1875" b="0">
                <a:solidFill>
                  <a:srgbClr val="5A5D59"/>
                </a:solidFill>
                <a:latin typeface="Poppins"/>
                <a:ea typeface="Poppins"/>
                <a:cs typeface="Poppins"/>
              </a:defRPr>
            </a:pPr>
            <a:r>
              <a:rPr sz="1875" b="0">
                <a:solidFill>
                  <a:srgbClr val="5A5D59"/>
                </a:solidFill>
                <a:latin typeface="Poppins"/>
                <a:ea typeface="Poppins"/>
                <a:cs typeface="Poppins"/>
              </a:rPr>
              <a:t>Rows are different participants • each valid only against its own baseline, never as a leaderboard</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7F4EC"/>
        </a:solidFill>
        <a:effectLst/>
      </p:bgPr>
    </p:bg>
    <p:spTree>
      <p:nvGrpSpPr>
        <p:cNvPr id="1" name=""/>
        <p:cNvGrpSpPr/>
        <p:nvPr/>
      </p:nvGrpSpPr>
      <p:grpSpPr>
        <a:xfrm>
          <a:off x="0" y="0"/>
          <a:ext cx="0" cy="0"/>
          <a:chOff x="0" y="0"/>
          <a:chExt cx="0" cy="0"/>
        </a:xfrm>
      </p:grpSpPr>
      <p:sp>
        <p:nvSpPr>
          <p:cNvPr id="159" name="Two questions. Two datasets."/>
          <p:cNvSpPr txBox="1"/>
          <p:nvPr/>
        </p:nvSpPr>
        <p:spPr>
          <a:xfrm>
            <a:off x="1000125" y="742950"/>
            <a:ext cx="16287750" cy="1238250"/>
          </a:xfrm>
          <a:prstGeom prst="rect">
            <a:avLst/>
          </a:prstGeom>
          <a:noFill/>
          <a:ln>
            <a:noFill/>
          </a:ln>
        </p:spPr>
        <p:txBody>
          <a:bodyPr wrap="square" lIns="0" tIns="0" rIns="0" bIns="0" rtlCol="0" anchor="t">
            <a:noAutofit/>
          </a:bodyPr>
          <a:lstStyle/>
          <a:p>
            <a:pPr algn="l">
              <a:lnSpc>
                <a:spcPct val="118000"/>
              </a:lnSpc>
            </a:pPr>
            <a:r>
              <a:rPr lang="en-US" sz="5400" b="1" dirty="0">
                <a:solidFill>
                  <a:srgbClr val="191A18"/>
                </a:solidFill>
                <a:latin typeface="Poppins"/>
                <a:ea typeface="Poppins"/>
                <a:cs typeface="Poppins"/>
              </a:rPr>
              <a:t>Two questions. Two datasets.</a:t>
            </a:r>
          </a:p>
        </p:txBody>
      </p:sp>
      <p:sp>
        <p:nvSpPr>
          <p:cNvPr id="160" name="Voloridge • public corpora, the authors'"/>
          <p:cNvSpPr txBox="1"/>
          <p:nvPr/>
        </p:nvSpPr>
        <p:spPr>
          <a:xfrm>
            <a:off x="1047750" y="2028825"/>
            <a:ext cx="16192500" cy="1000125"/>
          </a:xfrm>
          <a:prstGeom prst="rect">
            <a:avLst/>
          </a:prstGeom>
          <a:noFill/>
          <a:ln>
            <a:noFill/>
          </a:ln>
        </p:spPr>
        <p:txBody>
          <a:bodyPr wrap="square" lIns="0" tIns="0" rIns="0" bIns="0" rtlCol="0" anchor="t">
            <a:noAutofit/>
          </a:bodyPr>
          <a:lstStyle/>
          <a:p>
            <a:pPr algn="l">
              <a:lnSpc>
                <a:spcPct val="118000"/>
              </a:lnSpc>
            </a:pPr>
            <a:r>
              <a:rPr lang="en-US" sz="2625" b="0" dirty="0">
                <a:solidFill>
                  <a:srgbClr val="5A5D59"/>
                </a:solidFill>
                <a:latin typeface="Poppins"/>
                <a:ea typeface="Poppins"/>
                <a:cs typeface="Poppins"/>
              </a:rPr>
              <a:t>Voloridge • public corpora, the authors' own labels, models frozen before scoring.</a:t>
            </a:r>
          </a:p>
        </p:txBody>
      </p:sp>
      <p:sp>
        <p:nvSpPr>
          <p:cNvPr id="161" name="card"/>
          <p:cNvSpPr/>
          <p:nvPr/>
        </p:nvSpPr>
        <p:spPr>
          <a:xfrm>
            <a:off x="1047750" y="3100000"/>
            <a:ext cx="6858000" cy="6100000"/>
          </a:xfrm>
          <a:prstGeom prst="roundRect">
            <a:avLst>
              <a:gd name="adj" fmla="val 4467"/>
            </a:avLst>
          </a:prstGeom>
          <a:solidFill>
            <a:srgbClr val="FBF9F3"/>
          </a:solidFill>
          <a:ln w="12700">
            <a:solidFill>
              <a:srgbClr val="DFD8C6"/>
            </a:solidFill>
            <a:prstDash val="solid"/>
          </a:ln>
          <a:effectLst>
            <a:outerShdw blurRad="114300" dist="25400" dir="5400000" algn="bl" rotWithShape="0">
              <a:srgbClr val="BFB49A">
                <a:alpha val="30000"/>
              </a:srgbClr>
            </a:outerShdw>
          </a:effectLst>
        </p:spPr>
        <p:txBody>
          <a:bodyPr/>
          <a:lstStyle/>
          <a:p>
            <a:endParaRPr lang="en-US"/>
          </a:p>
        </p:txBody>
      </p:sp>
      <p:sp>
        <p:nvSpPr>
          <p:cNvPr id="162" name="q1"/>
          <p:cNvSpPr txBox="1"/>
          <p:nvPr/>
        </p:nvSpPr>
        <p:spPr>
          <a:xfrm>
            <a:off x="1427750" y="3480000"/>
            <a:ext cx="6098000" cy="420000"/>
          </a:xfrm>
          <a:prstGeom prst="rect">
            <a:avLst/>
          </a:prstGeom>
          <a:noFill/>
          <a:ln>
            <a:noFill/>
          </a:ln>
        </p:spPr>
        <p:txBody>
          <a:bodyPr wrap="square" lIns="0" tIns="0" rIns="0" bIns="0" rtlCol="0" anchor="t">
            <a:noAutofit/>
          </a:bodyPr>
          <a:lstStyle/>
          <a:p>
            <a:pPr algn="l">
              <a:lnSpc>
                <a:spcPct val="118000"/>
              </a:lnSpc>
            </a:pPr>
            <a:r>
              <a:rPr lang="en-US" sz="2550" b="1" dirty="0">
                <a:solidFill>
                  <a:srgbClr val="326B8C"/>
                </a:solidFill>
                <a:latin typeface="Poppins"/>
                <a:ea typeface="Poppins"/>
                <a:cs typeface="Poppins"/>
              </a:rPr>
              <a:t>Does it work across people?</a:t>
            </a:r>
          </a:p>
        </p:txBody>
      </p:sp>
      <p:sp>
        <p:nvSpPr>
          <p:cNvPr id="163" name="q1sub"/>
          <p:cNvSpPr txBox="1"/>
          <p:nvPr/>
        </p:nvSpPr>
        <p:spPr>
          <a:xfrm>
            <a:off x="1427750" y="3960000"/>
            <a:ext cx="6098000" cy="360000"/>
          </a:xfrm>
          <a:prstGeom prst="rect">
            <a:avLst/>
          </a:prstGeom>
          <a:noFill/>
          <a:ln>
            <a:noFill/>
          </a:ln>
        </p:spPr>
        <p:txBody>
          <a:bodyPr wrap="square" lIns="0" tIns="0" rIns="0" bIns="0" rtlCol="0" anchor="t">
            <a:noAutofit/>
          </a:bodyPr>
          <a:lstStyle/>
          <a:p>
            <a:pPr algn="l">
              <a:lnSpc>
                <a:spcPct val="118000"/>
              </a:lnSpc>
            </a:pPr>
            <a:r>
              <a:rPr lang="en-US" sz="1650" b="0" dirty="0">
                <a:solidFill>
                  <a:srgbClr val="8B8378"/>
                </a:solidFill>
                <a:latin typeface="Poppins"/>
                <a:ea typeface="Poppins"/>
                <a:cs typeface="Poppins"/>
              </a:rPr>
              <a:t>Shin 2018 • 28 channels • 5 people • 3 sessions each</a:t>
            </a:r>
          </a:p>
        </p:txBody>
      </p:sp>
      <p:sp>
        <p:nvSpPr>
          <p:cNvPr id="164" name="th"/>
          <p:cNvSpPr txBox="1"/>
          <p:nvPr/>
        </p:nvSpPr>
        <p:spPr>
          <a:xfrm>
            <a:off x="1427750" y="4380000"/>
            <a:ext cx="2100000" cy="340000"/>
          </a:xfrm>
          <a:prstGeom prst="rect">
            <a:avLst/>
          </a:prstGeom>
          <a:noFill/>
          <a:ln>
            <a:noFill/>
          </a:ln>
        </p:spPr>
        <p:txBody>
          <a:bodyPr wrap="square" lIns="0" tIns="0" rIns="0" bIns="0" rtlCol="0" anchor="t">
            <a:noAutofit/>
          </a:bodyPr>
          <a:lstStyle/>
          <a:p>
            <a:pPr algn="l">
              <a:lnSpc>
                <a:spcPct val="118000"/>
              </a:lnSpc>
            </a:pPr>
            <a:r>
              <a:rPr lang="en-US" sz="1575" b="1" dirty="0">
                <a:solidFill>
                  <a:srgbClr val="8B8378"/>
                </a:solidFill>
                <a:latin typeface="Poppins"/>
                <a:ea typeface="Poppins"/>
                <a:cs typeface="Poppins"/>
              </a:rPr>
              <a:t>PARTICIPANT</a:t>
            </a:r>
          </a:p>
        </p:txBody>
      </p:sp>
      <p:sp>
        <p:nvSpPr>
          <p:cNvPr id="165" name="th"/>
          <p:cNvSpPr txBox="1"/>
          <p:nvPr/>
        </p:nvSpPr>
        <p:spPr>
          <a:xfrm>
            <a:off x="3527750" y="4380000"/>
            <a:ext cx="1900000" cy="340000"/>
          </a:xfrm>
          <a:prstGeom prst="rect">
            <a:avLst/>
          </a:prstGeom>
          <a:noFill/>
          <a:ln>
            <a:noFill/>
          </a:ln>
        </p:spPr>
        <p:txBody>
          <a:bodyPr wrap="square" lIns="0" tIns="0" rIns="0" bIns="0" rtlCol="0" anchor="t">
            <a:noAutofit/>
          </a:bodyPr>
          <a:lstStyle/>
          <a:p>
            <a:pPr algn="r">
              <a:lnSpc>
                <a:spcPct val="118000"/>
              </a:lnSpc>
            </a:pPr>
            <a:r>
              <a:rPr lang="en-US" sz="1575" b="1" dirty="0">
                <a:solidFill>
                  <a:srgbClr val="8B8378"/>
                </a:solidFill>
                <a:latin typeface="Poppins"/>
                <a:ea typeface="Poppins"/>
                <a:cs typeface="Poppins"/>
              </a:rPr>
              <a:t>MEAN AUC</a:t>
            </a:r>
          </a:p>
        </p:txBody>
      </p:sp>
      <p:sp>
        <p:nvSpPr>
          <p:cNvPr id="166" name="th"/>
          <p:cNvSpPr txBox="1"/>
          <p:nvPr/>
        </p:nvSpPr>
        <p:spPr>
          <a:xfrm>
            <a:off x="5427750" y="4380000"/>
            <a:ext cx="2098000" cy="340000"/>
          </a:xfrm>
          <a:prstGeom prst="rect">
            <a:avLst/>
          </a:prstGeom>
          <a:noFill/>
          <a:ln>
            <a:noFill/>
          </a:ln>
        </p:spPr>
        <p:txBody>
          <a:bodyPr wrap="square" lIns="0" tIns="0" rIns="0" bIns="0" rtlCol="0" anchor="t">
            <a:noAutofit/>
          </a:bodyPr>
          <a:lstStyle/>
          <a:p>
            <a:pPr algn="r">
              <a:lnSpc>
                <a:spcPct val="118000"/>
              </a:lnSpc>
            </a:pPr>
            <a:r>
              <a:rPr lang="en-US" sz="1575" b="1" dirty="0">
                <a:solidFill>
                  <a:srgbClr val="8B8378"/>
                </a:solidFill>
                <a:latin typeface="Poppins"/>
                <a:ea typeface="Poppins"/>
                <a:cs typeface="Poppins"/>
              </a:rPr>
              <a:t>BEAT THEIR NULL</a:t>
            </a:r>
          </a:p>
        </p:txBody>
      </p:sp>
      <p:sp>
        <p:nvSpPr>
          <p:cNvPr id="167" name="bar"/>
          <p:cNvSpPr/>
          <p:nvPr/>
        </p:nvSpPr>
        <p:spPr>
          <a:xfrm>
            <a:off x="1427750" y="4780000"/>
            <a:ext cx="6098000" cy="12700"/>
          </a:xfrm>
          <a:prstGeom prst="rect">
            <a:avLst/>
          </a:prstGeom>
          <a:solidFill>
            <a:srgbClr val="DFD8C6"/>
          </a:solidFill>
          <a:ln>
            <a:noFill/>
          </a:ln>
          <a:effectLst/>
        </p:spPr>
        <p:txBody>
          <a:bodyPr/>
          <a:lstStyle/>
          <a:p>
            <a:endParaRPr lang="en-US"/>
          </a:p>
        </p:txBody>
      </p:sp>
      <p:sp>
        <p:nvSpPr>
          <p:cNvPr id="168" name="td"/>
          <p:cNvSpPr txBox="1"/>
          <p:nvPr/>
        </p:nvSpPr>
        <p:spPr>
          <a:xfrm>
            <a:off x="1427750" y="4930000"/>
            <a:ext cx="2100000" cy="350000"/>
          </a:xfrm>
          <a:prstGeom prst="rect">
            <a:avLst/>
          </a:prstGeom>
          <a:noFill/>
          <a:ln>
            <a:noFill/>
          </a:ln>
        </p:spPr>
        <p:txBody>
          <a:bodyPr wrap="square" lIns="0" tIns="0" rIns="0" bIns="0" rtlCol="0" anchor="t">
            <a:noAutofit/>
          </a:bodyPr>
          <a:lstStyle/>
          <a:p>
            <a:pPr algn="l">
              <a:lnSpc>
                <a:spcPct val="118000"/>
              </a:lnSpc>
            </a:pPr>
            <a:r>
              <a:rPr lang="en-US" sz="1875" b="0" dirty="0">
                <a:solidFill>
                  <a:srgbClr val="191A18"/>
                </a:solidFill>
                <a:latin typeface="Poppins"/>
                <a:ea typeface="Poppins"/>
                <a:cs typeface="Poppins"/>
              </a:rPr>
              <a:t>VP002</a:t>
            </a:r>
          </a:p>
        </p:txBody>
      </p:sp>
      <p:sp>
        <p:nvSpPr>
          <p:cNvPr id="169" name="td"/>
          <p:cNvSpPr txBox="1"/>
          <p:nvPr/>
        </p:nvSpPr>
        <p:spPr>
          <a:xfrm>
            <a:off x="3527750" y="4930000"/>
            <a:ext cx="1900000" cy="350000"/>
          </a:xfrm>
          <a:prstGeom prst="rect">
            <a:avLst/>
          </a:prstGeom>
          <a:noFill/>
          <a:ln>
            <a:noFill/>
          </a:ln>
        </p:spPr>
        <p:txBody>
          <a:bodyPr wrap="square" lIns="0" tIns="0" rIns="0" bIns="0" rtlCol="0" anchor="t">
            <a:noAutofit/>
          </a:bodyPr>
          <a:lstStyle/>
          <a:p>
            <a:pPr algn="r">
              <a:lnSpc>
                <a:spcPct val="118000"/>
              </a:lnSpc>
            </a:pPr>
            <a:r>
              <a:rPr lang="en-US" sz="1875" b="1" dirty="0">
                <a:solidFill>
                  <a:srgbClr val="9B712B"/>
                </a:solidFill>
                <a:latin typeface="Poppins"/>
                <a:ea typeface="Poppins"/>
                <a:cs typeface="Poppins"/>
              </a:rPr>
              <a:t>93%</a:t>
            </a:r>
          </a:p>
        </p:txBody>
      </p:sp>
      <p:sp>
        <p:nvSpPr>
          <p:cNvPr id="170" name="td"/>
          <p:cNvSpPr txBox="1"/>
          <p:nvPr/>
        </p:nvSpPr>
        <p:spPr>
          <a:xfrm>
            <a:off x="5427750" y="4930000"/>
            <a:ext cx="2098000" cy="350000"/>
          </a:xfrm>
          <a:prstGeom prst="rect">
            <a:avLst/>
          </a:prstGeom>
          <a:noFill/>
          <a:ln>
            <a:noFill/>
          </a:ln>
        </p:spPr>
        <p:txBody>
          <a:bodyPr wrap="square" lIns="0" tIns="0" rIns="0" bIns="0" rtlCol="0" anchor="t">
            <a:noAutofit/>
          </a:bodyPr>
          <a:lstStyle/>
          <a:p>
            <a:pPr algn="r">
              <a:lnSpc>
                <a:spcPct val="118000"/>
              </a:lnSpc>
            </a:pPr>
            <a:r>
              <a:rPr lang="en-US" sz="1875" b="0" dirty="0">
                <a:solidFill>
                  <a:srgbClr val="5A5D59"/>
                </a:solidFill>
                <a:latin typeface="Poppins"/>
                <a:ea typeface="Poppins"/>
                <a:cs typeface="Poppins"/>
              </a:rPr>
              <a:t>3 of 3</a:t>
            </a:r>
          </a:p>
        </p:txBody>
      </p:sp>
      <p:sp>
        <p:nvSpPr>
          <p:cNvPr id="171" name="bar"/>
          <p:cNvSpPr/>
          <p:nvPr/>
        </p:nvSpPr>
        <p:spPr>
          <a:xfrm>
            <a:off x="1427750" y="5290000"/>
            <a:ext cx="6098000" cy="12700"/>
          </a:xfrm>
          <a:prstGeom prst="rect">
            <a:avLst/>
          </a:prstGeom>
          <a:solidFill>
            <a:srgbClr val="EAE4D6"/>
          </a:solidFill>
          <a:ln>
            <a:noFill/>
          </a:ln>
          <a:effectLst/>
        </p:spPr>
        <p:txBody>
          <a:bodyPr/>
          <a:lstStyle/>
          <a:p>
            <a:endParaRPr lang="en-US"/>
          </a:p>
        </p:txBody>
      </p:sp>
      <p:sp>
        <p:nvSpPr>
          <p:cNvPr id="172" name="td"/>
          <p:cNvSpPr txBox="1"/>
          <p:nvPr/>
        </p:nvSpPr>
        <p:spPr>
          <a:xfrm>
            <a:off x="1427750" y="5360000"/>
            <a:ext cx="2100000" cy="350000"/>
          </a:xfrm>
          <a:prstGeom prst="rect">
            <a:avLst/>
          </a:prstGeom>
          <a:noFill/>
          <a:ln>
            <a:noFill/>
          </a:ln>
        </p:spPr>
        <p:txBody>
          <a:bodyPr wrap="square" lIns="0" tIns="0" rIns="0" bIns="0" rtlCol="0" anchor="t">
            <a:noAutofit/>
          </a:bodyPr>
          <a:lstStyle/>
          <a:p>
            <a:pPr algn="l">
              <a:lnSpc>
                <a:spcPct val="118000"/>
              </a:lnSpc>
            </a:pPr>
            <a:r>
              <a:rPr lang="en-US" sz="1875" b="0" dirty="0">
                <a:solidFill>
                  <a:srgbClr val="191A18"/>
                </a:solidFill>
                <a:latin typeface="Poppins"/>
                <a:ea typeface="Poppins"/>
                <a:cs typeface="Poppins"/>
              </a:rPr>
              <a:t>VP005</a:t>
            </a:r>
          </a:p>
        </p:txBody>
      </p:sp>
      <p:sp>
        <p:nvSpPr>
          <p:cNvPr id="173" name="td"/>
          <p:cNvSpPr txBox="1"/>
          <p:nvPr/>
        </p:nvSpPr>
        <p:spPr>
          <a:xfrm>
            <a:off x="3527750" y="5360000"/>
            <a:ext cx="1900000" cy="350000"/>
          </a:xfrm>
          <a:prstGeom prst="rect">
            <a:avLst/>
          </a:prstGeom>
          <a:noFill/>
          <a:ln>
            <a:noFill/>
          </a:ln>
        </p:spPr>
        <p:txBody>
          <a:bodyPr wrap="square" lIns="0" tIns="0" rIns="0" bIns="0" rtlCol="0" anchor="t">
            <a:noAutofit/>
          </a:bodyPr>
          <a:lstStyle/>
          <a:p>
            <a:pPr algn="r">
              <a:lnSpc>
                <a:spcPct val="118000"/>
              </a:lnSpc>
            </a:pPr>
            <a:r>
              <a:rPr lang="en-US" sz="1875" b="1" dirty="0">
                <a:solidFill>
                  <a:srgbClr val="9B712B"/>
                </a:solidFill>
                <a:latin typeface="Poppins"/>
                <a:ea typeface="Poppins"/>
                <a:cs typeface="Poppins"/>
              </a:rPr>
              <a:t>89%</a:t>
            </a:r>
          </a:p>
        </p:txBody>
      </p:sp>
      <p:sp>
        <p:nvSpPr>
          <p:cNvPr id="174" name="td"/>
          <p:cNvSpPr txBox="1"/>
          <p:nvPr/>
        </p:nvSpPr>
        <p:spPr>
          <a:xfrm>
            <a:off x="5427750" y="5360000"/>
            <a:ext cx="2098000" cy="350000"/>
          </a:xfrm>
          <a:prstGeom prst="rect">
            <a:avLst/>
          </a:prstGeom>
          <a:noFill/>
          <a:ln>
            <a:noFill/>
          </a:ln>
        </p:spPr>
        <p:txBody>
          <a:bodyPr wrap="square" lIns="0" tIns="0" rIns="0" bIns="0" rtlCol="0" anchor="t">
            <a:noAutofit/>
          </a:bodyPr>
          <a:lstStyle/>
          <a:p>
            <a:pPr algn="r">
              <a:lnSpc>
                <a:spcPct val="118000"/>
              </a:lnSpc>
            </a:pPr>
            <a:r>
              <a:rPr lang="en-US" sz="1875" b="0" dirty="0">
                <a:solidFill>
                  <a:srgbClr val="5A5D59"/>
                </a:solidFill>
                <a:latin typeface="Poppins"/>
                <a:ea typeface="Poppins"/>
                <a:cs typeface="Poppins"/>
              </a:rPr>
              <a:t>2 of 3</a:t>
            </a:r>
          </a:p>
        </p:txBody>
      </p:sp>
      <p:sp>
        <p:nvSpPr>
          <p:cNvPr id="175" name="bar"/>
          <p:cNvSpPr/>
          <p:nvPr/>
        </p:nvSpPr>
        <p:spPr>
          <a:xfrm>
            <a:off x="1427750" y="5720000"/>
            <a:ext cx="6098000" cy="12700"/>
          </a:xfrm>
          <a:prstGeom prst="rect">
            <a:avLst/>
          </a:prstGeom>
          <a:solidFill>
            <a:srgbClr val="EAE4D6"/>
          </a:solidFill>
          <a:ln>
            <a:noFill/>
          </a:ln>
          <a:effectLst/>
        </p:spPr>
        <p:txBody>
          <a:bodyPr/>
          <a:lstStyle/>
          <a:p>
            <a:endParaRPr lang="en-US"/>
          </a:p>
        </p:txBody>
      </p:sp>
      <p:sp>
        <p:nvSpPr>
          <p:cNvPr id="176" name="td"/>
          <p:cNvSpPr txBox="1"/>
          <p:nvPr/>
        </p:nvSpPr>
        <p:spPr>
          <a:xfrm>
            <a:off x="1427750" y="5790000"/>
            <a:ext cx="2100000" cy="350000"/>
          </a:xfrm>
          <a:prstGeom prst="rect">
            <a:avLst/>
          </a:prstGeom>
          <a:noFill/>
          <a:ln>
            <a:noFill/>
          </a:ln>
        </p:spPr>
        <p:txBody>
          <a:bodyPr wrap="square" lIns="0" tIns="0" rIns="0" bIns="0" rtlCol="0" anchor="t">
            <a:noAutofit/>
          </a:bodyPr>
          <a:lstStyle/>
          <a:p>
            <a:pPr algn="l">
              <a:lnSpc>
                <a:spcPct val="118000"/>
              </a:lnSpc>
            </a:pPr>
            <a:r>
              <a:rPr lang="en-US" sz="1875" b="0" dirty="0">
                <a:solidFill>
                  <a:srgbClr val="191A18"/>
                </a:solidFill>
                <a:latin typeface="Poppins"/>
                <a:ea typeface="Poppins"/>
                <a:cs typeface="Poppins"/>
              </a:rPr>
              <a:t>VP003</a:t>
            </a:r>
          </a:p>
        </p:txBody>
      </p:sp>
      <p:sp>
        <p:nvSpPr>
          <p:cNvPr id="177" name="td"/>
          <p:cNvSpPr txBox="1"/>
          <p:nvPr/>
        </p:nvSpPr>
        <p:spPr>
          <a:xfrm>
            <a:off x="3527750" y="5790000"/>
            <a:ext cx="1900000" cy="350000"/>
          </a:xfrm>
          <a:prstGeom prst="rect">
            <a:avLst/>
          </a:prstGeom>
          <a:noFill/>
          <a:ln>
            <a:noFill/>
          </a:ln>
        </p:spPr>
        <p:txBody>
          <a:bodyPr wrap="square" lIns="0" tIns="0" rIns="0" bIns="0" rtlCol="0" anchor="t">
            <a:noAutofit/>
          </a:bodyPr>
          <a:lstStyle/>
          <a:p>
            <a:pPr algn="r">
              <a:lnSpc>
                <a:spcPct val="118000"/>
              </a:lnSpc>
            </a:pPr>
            <a:r>
              <a:rPr lang="en-US" sz="1875" b="1" dirty="0">
                <a:solidFill>
                  <a:srgbClr val="9B712B"/>
                </a:solidFill>
                <a:latin typeface="Poppins"/>
                <a:ea typeface="Poppins"/>
                <a:cs typeface="Poppins"/>
              </a:rPr>
              <a:t>80%</a:t>
            </a:r>
          </a:p>
        </p:txBody>
      </p:sp>
      <p:sp>
        <p:nvSpPr>
          <p:cNvPr id="178" name="td"/>
          <p:cNvSpPr txBox="1"/>
          <p:nvPr/>
        </p:nvSpPr>
        <p:spPr>
          <a:xfrm>
            <a:off x="5427750" y="5790000"/>
            <a:ext cx="2098000" cy="350000"/>
          </a:xfrm>
          <a:prstGeom prst="rect">
            <a:avLst/>
          </a:prstGeom>
          <a:noFill/>
          <a:ln>
            <a:noFill/>
          </a:ln>
        </p:spPr>
        <p:txBody>
          <a:bodyPr wrap="square" lIns="0" tIns="0" rIns="0" bIns="0" rtlCol="0" anchor="t">
            <a:noAutofit/>
          </a:bodyPr>
          <a:lstStyle/>
          <a:p>
            <a:pPr algn="r">
              <a:lnSpc>
                <a:spcPct val="118000"/>
              </a:lnSpc>
            </a:pPr>
            <a:r>
              <a:rPr lang="en-US" sz="1875" b="0" dirty="0">
                <a:solidFill>
                  <a:srgbClr val="5A5D59"/>
                </a:solidFill>
                <a:latin typeface="Poppins"/>
                <a:ea typeface="Poppins"/>
                <a:cs typeface="Poppins"/>
              </a:rPr>
              <a:t>1 of 3</a:t>
            </a:r>
          </a:p>
        </p:txBody>
      </p:sp>
      <p:sp>
        <p:nvSpPr>
          <p:cNvPr id="179" name="bar"/>
          <p:cNvSpPr/>
          <p:nvPr/>
        </p:nvSpPr>
        <p:spPr>
          <a:xfrm>
            <a:off x="1427750" y="6150000"/>
            <a:ext cx="6098000" cy="12700"/>
          </a:xfrm>
          <a:prstGeom prst="rect">
            <a:avLst/>
          </a:prstGeom>
          <a:solidFill>
            <a:srgbClr val="EAE4D6"/>
          </a:solidFill>
          <a:ln>
            <a:noFill/>
          </a:ln>
          <a:effectLst/>
        </p:spPr>
        <p:txBody>
          <a:bodyPr/>
          <a:lstStyle/>
          <a:p>
            <a:endParaRPr lang="en-US"/>
          </a:p>
        </p:txBody>
      </p:sp>
      <p:sp>
        <p:nvSpPr>
          <p:cNvPr id="180" name="td"/>
          <p:cNvSpPr txBox="1"/>
          <p:nvPr/>
        </p:nvSpPr>
        <p:spPr>
          <a:xfrm>
            <a:off x="1427750" y="6220000"/>
            <a:ext cx="2100000" cy="350000"/>
          </a:xfrm>
          <a:prstGeom prst="rect">
            <a:avLst/>
          </a:prstGeom>
          <a:noFill/>
          <a:ln>
            <a:noFill/>
          </a:ln>
        </p:spPr>
        <p:txBody>
          <a:bodyPr wrap="square" lIns="0" tIns="0" rIns="0" bIns="0" rtlCol="0" anchor="t">
            <a:noAutofit/>
          </a:bodyPr>
          <a:lstStyle/>
          <a:p>
            <a:pPr algn="l">
              <a:lnSpc>
                <a:spcPct val="118000"/>
              </a:lnSpc>
            </a:pPr>
            <a:r>
              <a:rPr lang="en-US" sz="1875" b="0" dirty="0">
                <a:solidFill>
                  <a:srgbClr val="191A18"/>
                </a:solidFill>
                <a:latin typeface="Poppins"/>
                <a:ea typeface="Poppins"/>
                <a:cs typeface="Poppins"/>
              </a:rPr>
              <a:t>VP006</a:t>
            </a:r>
          </a:p>
        </p:txBody>
      </p:sp>
      <p:sp>
        <p:nvSpPr>
          <p:cNvPr id="181" name="td"/>
          <p:cNvSpPr txBox="1"/>
          <p:nvPr/>
        </p:nvSpPr>
        <p:spPr>
          <a:xfrm>
            <a:off x="3527750" y="6220000"/>
            <a:ext cx="1900000" cy="350000"/>
          </a:xfrm>
          <a:prstGeom prst="rect">
            <a:avLst/>
          </a:prstGeom>
          <a:noFill/>
          <a:ln>
            <a:noFill/>
          </a:ln>
        </p:spPr>
        <p:txBody>
          <a:bodyPr wrap="square" lIns="0" tIns="0" rIns="0" bIns="0" rtlCol="0" anchor="t">
            <a:noAutofit/>
          </a:bodyPr>
          <a:lstStyle/>
          <a:p>
            <a:pPr algn="r">
              <a:lnSpc>
                <a:spcPct val="118000"/>
              </a:lnSpc>
            </a:pPr>
            <a:r>
              <a:rPr lang="en-US" sz="1875" b="1" dirty="0">
                <a:solidFill>
                  <a:srgbClr val="9B712B"/>
                </a:solidFill>
                <a:latin typeface="Poppins"/>
                <a:ea typeface="Poppins"/>
                <a:cs typeface="Poppins"/>
              </a:rPr>
              <a:t>67%</a:t>
            </a:r>
          </a:p>
        </p:txBody>
      </p:sp>
      <p:sp>
        <p:nvSpPr>
          <p:cNvPr id="182" name="td"/>
          <p:cNvSpPr txBox="1"/>
          <p:nvPr/>
        </p:nvSpPr>
        <p:spPr>
          <a:xfrm>
            <a:off x="5427750" y="6220000"/>
            <a:ext cx="2098000" cy="350000"/>
          </a:xfrm>
          <a:prstGeom prst="rect">
            <a:avLst/>
          </a:prstGeom>
          <a:noFill/>
          <a:ln>
            <a:noFill/>
          </a:ln>
        </p:spPr>
        <p:txBody>
          <a:bodyPr wrap="square" lIns="0" tIns="0" rIns="0" bIns="0" rtlCol="0" anchor="t">
            <a:noAutofit/>
          </a:bodyPr>
          <a:lstStyle/>
          <a:p>
            <a:pPr algn="r">
              <a:lnSpc>
                <a:spcPct val="118000"/>
              </a:lnSpc>
            </a:pPr>
            <a:r>
              <a:rPr lang="en-US" sz="1875" b="0" dirty="0">
                <a:solidFill>
                  <a:srgbClr val="5A5D59"/>
                </a:solidFill>
                <a:latin typeface="Poppins"/>
                <a:ea typeface="Poppins"/>
                <a:cs typeface="Poppins"/>
              </a:rPr>
              <a:t>1 of 3</a:t>
            </a:r>
          </a:p>
        </p:txBody>
      </p:sp>
      <p:sp>
        <p:nvSpPr>
          <p:cNvPr id="183" name="bar"/>
          <p:cNvSpPr/>
          <p:nvPr/>
        </p:nvSpPr>
        <p:spPr>
          <a:xfrm>
            <a:off x="1427750" y="6580000"/>
            <a:ext cx="6098000" cy="12700"/>
          </a:xfrm>
          <a:prstGeom prst="rect">
            <a:avLst/>
          </a:prstGeom>
          <a:solidFill>
            <a:srgbClr val="EAE4D6"/>
          </a:solidFill>
          <a:ln>
            <a:noFill/>
          </a:ln>
          <a:effectLst/>
        </p:spPr>
        <p:txBody>
          <a:bodyPr/>
          <a:lstStyle/>
          <a:p>
            <a:endParaRPr lang="en-US"/>
          </a:p>
        </p:txBody>
      </p:sp>
      <p:sp>
        <p:nvSpPr>
          <p:cNvPr id="187" name="bar"/>
          <p:cNvSpPr/>
          <p:nvPr/>
        </p:nvSpPr>
        <p:spPr>
          <a:xfrm>
            <a:off x="1427750" y="7260000"/>
            <a:ext cx="6098000" cy="12700"/>
          </a:xfrm>
          <a:prstGeom prst="rect">
            <a:avLst/>
          </a:prstGeom>
          <a:solidFill>
            <a:srgbClr val="DFD8C6"/>
          </a:solidFill>
          <a:ln>
            <a:noFill/>
          </a:ln>
          <a:effectLst/>
        </p:spPr>
        <p:txBody>
          <a:bodyPr/>
          <a:lstStyle/>
          <a:p>
            <a:endParaRPr lang="en-US"/>
          </a:p>
        </p:txBody>
      </p:sp>
      <p:sp>
        <p:nvSpPr>
          <p:cNvPr id="188" name="take1"/>
          <p:cNvSpPr txBox="1"/>
          <p:nvPr/>
        </p:nvSpPr>
        <p:spPr>
          <a:xfrm>
            <a:off x="1427750" y="7430000"/>
            <a:ext cx="6098000" cy="877824"/>
          </a:xfrm>
          <a:prstGeom prst="rect">
            <a:avLst/>
          </a:prstGeom>
          <a:noFill/>
          <a:ln>
            <a:noFill/>
          </a:ln>
        </p:spPr>
        <p:txBody>
          <a:bodyPr wrap="square" lIns="0" tIns="0" rIns="0" bIns="0" rtlCol="0" anchor="t">
            <a:noAutofit/>
          </a:bodyPr>
          <a:lstStyle/>
          <a:p>
            <a:pPr algn="l">
              <a:lnSpc>
                <a:spcPct val="128000"/>
              </a:lnSpc>
            </a:pPr>
            <a:r>
              <a:rPr lang="en-US" sz="1800" b="0" dirty="0">
                <a:solidFill>
                  <a:srgbClr val="5A5D59"/>
                </a:solidFill>
                <a:latin typeface="Poppins"/>
                <a:ea typeface="Poppins"/>
                <a:cs typeface="Poppins"/>
              </a:rPr>
              <a:t>79% mean AUC across 15 sessions. 14 of 15 above chance. The spread is why the model is trained per person.</a:t>
            </a:r>
          </a:p>
        </p:txBody>
      </p:sp>
      <p:sp>
        <p:nvSpPr>
          <p:cNvPr id="189" name="card"/>
          <p:cNvSpPr/>
          <p:nvPr/>
        </p:nvSpPr>
        <p:spPr>
          <a:xfrm>
            <a:off x="8382000" y="3100000"/>
            <a:ext cx="8858250" cy="6100000"/>
          </a:xfrm>
          <a:prstGeom prst="roundRect">
            <a:avLst>
              <a:gd name="adj" fmla="val 4467"/>
            </a:avLst>
          </a:prstGeom>
          <a:solidFill>
            <a:srgbClr val="FBF9F3"/>
          </a:solidFill>
          <a:ln w="12700">
            <a:solidFill>
              <a:srgbClr val="DFD8C6"/>
            </a:solidFill>
            <a:prstDash val="solid"/>
          </a:ln>
          <a:effectLst>
            <a:outerShdw blurRad="114300" dist="25400" dir="5400000" algn="bl" rotWithShape="0">
              <a:srgbClr val="BFB49A">
                <a:alpha val="30000"/>
              </a:srgbClr>
            </a:outerShdw>
          </a:effectLst>
        </p:spPr>
        <p:txBody>
          <a:bodyPr/>
          <a:lstStyle/>
          <a:p>
            <a:endParaRPr lang="en-US"/>
          </a:p>
        </p:txBody>
      </p:sp>
      <p:sp>
        <p:nvSpPr>
          <p:cNvPr id="190" name="q2"/>
          <p:cNvSpPr txBox="1"/>
          <p:nvPr/>
        </p:nvSpPr>
        <p:spPr>
          <a:xfrm>
            <a:off x="8762000" y="3480000"/>
            <a:ext cx="8098250" cy="420000"/>
          </a:xfrm>
          <a:prstGeom prst="rect">
            <a:avLst/>
          </a:prstGeom>
          <a:noFill/>
          <a:ln>
            <a:noFill/>
          </a:ln>
        </p:spPr>
        <p:txBody>
          <a:bodyPr wrap="square" lIns="0" tIns="0" rIns="0" bIns="0" rtlCol="0" anchor="t">
            <a:noAutofit/>
          </a:bodyPr>
          <a:lstStyle/>
          <a:p>
            <a:pPr algn="l">
              <a:lnSpc>
                <a:spcPct val="118000"/>
              </a:lnSpc>
            </a:pPr>
            <a:r>
              <a:rPr lang="en-US" sz="2550" b="1" dirty="0">
                <a:solidFill>
                  <a:srgbClr val="326B8C"/>
                </a:solidFill>
                <a:latin typeface="Poppins"/>
                <a:ea typeface="Poppins"/>
                <a:cs typeface="Poppins"/>
              </a:rPr>
              <a:t>How many electrodes, and where?</a:t>
            </a:r>
          </a:p>
        </p:txBody>
      </p:sp>
      <p:sp>
        <p:nvSpPr>
          <p:cNvPr id="191" name="q2sub"/>
          <p:cNvSpPr txBox="1"/>
          <p:nvPr/>
        </p:nvSpPr>
        <p:spPr>
          <a:xfrm>
            <a:off x="8762000" y="3960000"/>
            <a:ext cx="8098250" cy="360000"/>
          </a:xfrm>
          <a:prstGeom prst="rect">
            <a:avLst/>
          </a:prstGeom>
          <a:noFill/>
          <a:ln>
            <a:noFill/>
          </a:ln>
        </p:spPr>
        <p:txBody>
          <a:bodyPr wrap="square" lIns="0" tIns="0" rIns="0" bIns="0" rtlCol="0" anchor="t">
            <a:noAutofit/>
          </a:bodyPr>
          <a:lstStyle/>
          <a:p>
            <a:pPr algn="l">
              <a:lnSpc>
                <a:spcPct val="118000"/>
              </a:lnSpc>
            </a:pPr>
            <a:r>
              <a:rPr lang="en-US" sz="1650" b="0" dirty="0">
                <a:solidFill>
                  <a:srgbClr val="8B8378"/>
                </a:solidFill>
                <a:latin typeface="Poppins"/>
                <a:ea typeface="Poppins"/>
                <a:cs typeface="Poppins"/>
              </a:rPr>
              <a:t>OpenNeuro ds006394 • 16-channel OpenBCI • n = 38 recordings</a:t>
            </a:r>
          </a:p>
        </p:txBody>
      </p:sp>
      <p:sp>
        <p:nvSpPr>
          <p:cNvPr id="192" name="th"/>
          <p:cNvSpPr txBox="1"/>
          <p:nvPr/>
        </p:nvSpPr>
        <p:spPr>
          <a:xfrm>
            <a:off x="8762000" y="4380000"/>
            <a:ext cx="1800000" cy="340000"/>
          </a:xfrm>
          <a:prstGeom prst="rect">
            <a:avLst/>
          </a:prstGeom>
          <a:noFill/>
          <a:ln>
            <a:noFill/>
          </a:ln>
        </p:spPr>
        <p:txBody>
          <a:bodyPr wrap="square" lIns="0" tIns="0" rIns="0" bIns="0" rtlCol="0" anchor="t">
            <a:noAutofit/>
          </a:bodyPr>
          <a:lstStyle/>
          <a:p>
            <a:pPr algn="l">
              <a:lnSpc>
                <a:spcPct val="118000"/>
              </a:lnSpc>
            </a:pPr>
            <a:r>
              <a:rPr lang="en-US" sz="1575" b="1" dirty="0">
                <a:solidFill>
                  <a:srgbClr val="8B8378"/>
                </a:solidFill>
                <a:latin typeface="Poppins"/>
                <a:ea typeface="Poppins"/>
                <a:cs typeface="Poppins"/>
              </a:rPr>
              <a:t>ELECTRODES</a:t>
            </a:r>
          </a:p>
        </p:txBody>
      </p:sp>
      <p:sp>
        <p:nvSpPr>
          <p:cNvPr id="193" name="th"/>
          <p:cNvSpPr txBox="1"/>
          <p:nvPr/>
        </p:nvSpPr>
        <p:spPr>
          <a:xfrm>
            <a:off x="10562000" y="4380000"/>
            <a:ext cx="4200000" cy="340000"/>
          </a:xfrm>
          <a:prstGeom prst="rect">
            <a:avLst/>
          </a:prstGeom>
          <a:noFill/>
          <a:ln>
            <a:noFill/>
          </a:ln>
        </p:spPr>
        <p:txBody>
          <a:bodyPr wrap="square" lIns="0" tIns="0" rIns="0" bIns="0" rtlCol="0" anchor="t">
            <a:noAutofit/>
          </a:bodyPr>
          <a:lstStyle/>
          <a:p>
            <a:pPr algn="l">
              <a:lnSpc>
                <a:spcPct val="118000"/>
              </a:lnSpc>
            </a:pPr>
            <a:r>
              <a:rPr lang="en-US" sz="1575" b="1" dirty="0">
                <a:solidFill>
                  <a:srgbClr val="8B8378"/>
                </a:solidFill>
                <a:latin typeface="Poppins"/>
                <a:ea typeface="Poppins"/>
                <a:cs typeface="Poppins"/>
              </a:rPr>
              <a:t>WHERE</a:t>
            </a:r>
          </a:p>
        </p:txBody>
      </p:sp>
      <p:sp>
        <p:nvSpPr>
          <p:cNvPr id="194" name="th"/>
          <p:cNvSpPr txBox="1"/>
          <p:nvPr/>
        </p:nvSpPr>
        <p:spPr>
          <a:xfrm>
            <a:off x="14762000" y="4380000"/>
            <a:ext cx="2100000" cy="340000"/>
          </a:xfrm>
          <a:prstGeom prst="rect">
            <a:avLst/>
          </a:prstGeom>
          <a:noFill/>
          <a:ln>
            <a:noFill/>
          </a:ln>
        </p:spPr>
        <p:txBody>
          <a:bodyPr wrap="square" lIns="0" tIns="0" rIns="0" bIns="0" rtlCol="0" anchor="t">
            <a:noAutofit/>
          </a:bodyPr>
          <a:lstStyle/>
          <a:p>
            <a:pPr algn="r">
              <a:lnSpc>
                <a:spcPct val="118000"/>
              </a:lnSpc>
            </a:pPr>
            <a:r>
              <a:rPr lang="en-US" sz="1575" b="1" dirty="0">
                <a:solidFill>
                  <a:srgbClr val="8B8378"/>
                </a:solidFill>
                <a:latin typeface="Poppins"/>
                <a:ea typeface="Poppins"/>
                <a:cs typeface="Poppins"/>
              </a:rPr>
              <a:t>MEAN AUC</a:t>
            </a:r>
          </a:p>
        </p:txBody>
      </p:sp>
      <p:sp>
        <p:nvSpPr>
          <p:cNvPr id="195" name="bar"/>
          <p:cNvSpPr/>
          <p:nvPr/>
        </p:nvSpPr>
        <p:spPr>
          <a:xfrm>
            <a:off x="8762000" y="4780000"/>
            <a:ext cx="8098250" cy="12700"/>
          </a:xfrm>
          <a:prstGeom prst="rect">
            <a:avLst/>
          </a:prstGeom>
          <a:solidFill>
            <a:srgbClr val="DFD8C6"/>
          </a:solidFill>
          <a:ln>
            <a:noFill/>
          </a:ln>
          <a:effectLst/>
        </p:spPr>
        <p:txBody>
          <a:bodyPr/>
          <a:lstStyle/>
          <a:p>
            <a:endParaRPr lang="en-US"/>
          </a:p>
        </p:txBody>
      </p:sp>
      <p:sp>
        <p:nvSpPr>
          <p:cNvPr id="196" name="td"/>
          <p:cNvSpPr txBox="1"/>
          <p:nvPr/>
        </p:nvSpPr>
        <p:spPr>
          <a:xfrm>
            <a:off x="8762000" y="4930000"/>
            <a:ext cx="1800000" cy="300000"/>
          </a:xfrm>
          <a:prstGeom prst="rect">
            <a:avLst/>
          </a:prstGeom>
          <a:noFill/>
          <a:ln>
            <a:noFill/>
          </a:ln>
        </p:spPr>
        <p:txBody>
          <a:bodyPr wrap="square" lIns="0" tIns="0" rIns="0" bIns="0" rtlCol="0" anchor="t">
            <a:noAutofit/>
          </a:bodyPr>
          <a:lstStyle/>
          <a:p>
            <a:pPr algn="l">
              <a:lnSpc>
                <a:spcPct val="118000"/>
              </a:lnSpc>
            </a:pPr>
            <a:r>
              <a:rPr lang="en-US" sz="1875" b="0" dirty="0">
                <a:solidFill>
                  <a:srgbClr val="191A18"/>
                </a:solidFill>
                <a:latin typeface="Poppins"/>
                <a:ea typeface="Poppins"/>
                <a:cs typeface="Poppins"/>
              </a:rPr>
              <a:t>16</a:t>
            </a:r>
          </a:p>
        </p:txBody>
      </p:sp>
      <p:sp>
        <p:nvSpPr>
          <p:cNvPr id="197" name="td"/>
          <p:cNvSpPr txBox="1"/>
          <p:nvPr/>
        </p:nvSpPr>
        <p:spPr>
          <a:xfrm>
            <a:off x="10562000" y="4930000"/>
            <a:ext cx="4200000" cy="300000"/>
          </a:xfrm>
          <a:prstGeom prst="rect">
            <a:avLst/>
          </a:prstGeom>
          <a:noFill/>
          <a:ln>
            <a:noFill/>
          </a:ln>
        </p:spPr>
        <p:txBody>
          <a:bodyPr wrap="square" lIns="0" tIns="0" rIns="0" bIns="0" rtlCol="0" anchor="t">
            <a:noAutofit/>
          </a:bodyPr>
          <a:lstStyle/>
          <a:p>
            <a:pPr algn="l">
              <a:lnSpc>
                <a:spcPct val="118000"/>
              </a:lnSpc>
            </a:pPr>
            <a:r>
              <a:rPr lang="en-US" sz="1875" b="0" dirty="0">
                <a:solidFill>
                  <a:srgbClr val="5A5D59"/>
                </a:solidFill>
                <a:latin typeface="Poppins"/>
                <a:ea typeface="Poppins"/>
                <a:cs typeface="Poppins"/>
              </a:rPr>
              <a:t>Full scalp</a:t>
            </a:r>
          </a:p>
        </p:txBody>
      </p:sp>
      <p:sp>
        <p:nvSpPr>
          <p:cNvPr id="198" name="td"/>
          <p:cNvSpPr txBox="1"/>
          <p:nvPr/>
        </p:nvSpPr>
        <p:spPr>
          <a:xfrm>
            <a:off x="14762000" y="4930000"/>
            <a:ext cx="2100000" cy="300000"/>
          </a:xfrm>
          <a:prstGeom prst="rect">
            <a:avLst/>
          </a:prstGeom>
          <a:noFill/>
          <a:ln>
            <a:noFill/>
          </a:ln>
        </p:spPr>
        <p:txBody>
          <a:bodyPr wrap="square" lIns="0" tIns="0" rIns="0" bIns="0" rtlCol="0" anchor="t">
            <a:noAutofit/>
          </a:bodyPr>
          <a:lstStyle/>
          <a:p>
            <a:pPr algn="r">
              <a:lnSpc>
                <a:spcPct val="118000"/>
              </a:lnSpc>
            </a:pPr>
            <a:r>
              <a:rPr lang="en-US" sz="1875" b="1" dirty="0">
                <a:solidFill>
                  <a:srgbClr val="9B712B"/>
                </a:solidFill>
                <a:latin typeface="Poppins"/>
                <a:ea typeface="Poppins"/>
                <a:cs typeface="Poppins"/>
              </a:rPr>
              <a:t>84%</a:t>
            </a:r>
          </a:p>
        </p:txBody>
      </p:sp>
      <p:sp>
        <p:nvSpPr>
          <p:cNvPr id="199" name="bar"/>
          <p:cNvSpPr/>
          <p:nvPr/>
        </p:nvSpPr>
        <p:spPr>
          <a:xfrm>
            <a:off x="8642000" y="5301440"/>
            <a:ext cx="8338250" cy="340000"/>
          </a:xfrm>
          <a:prstGeom prst="roundRect">
            <a:avLst>
              <a:gd name="adj" fmla="val 30000"/>
            </a:avLst>
          </a:prstGeom>
          <a:solidFill>
            <a:srgbClr val="F1ECE0"/>
          </a:solidFill>
          <a:ln>
            <a:noFill/>
          </a:ln>
          <a:effectLst/>
        </p:spPr>
        <p:txBody>
          <a:bodyPr/>
          <a:lstStyle/>
          <a:p>
            <a:endParaRPr lang="en-US"/>
          </a:p>
        </p:txBody>
      </p:sp>
      <p:sp>
        <p:nvSpPr>
          <p:cNvPr id="200" name="td"/>
          <p:cNvSpPr txBox="1"/>
          <p:nvPr/>
        </p:nvSpPr>
        <p:spPr>
          <a:xfrm>
            <a:off x="8762000" y="5310000"/>
            <a:ext cx="1800000" cy="300000"/>
          </a:xfrm>
          <a:prstGeom prst="rect">
            <a:avLst/>
          </a:prstGeom>
          <a:noFill/>
          <a:ln>
            <a:noFill/>
          </a:ln>
        </p:spPr>
        <p:txBody>
          <a:bodyPr wrap="square" lIns="0" tIns="0" rIns="0" bIns="0" rtlCol="0" anchor="t">
            <a:noAutofit/>
          </a:bodyPr>
          <a:lstStyle/>
          <a:p>
            <a:pPr algn="l">
              <a:lnSpc>
                <a:spcPct val="118000"/>
              </a:lnSpc>
            </a:pPr>
            <a:r>
              <a:rPr lang="en-US" sz="1875" b="1" dirty="0">
                <a:solidFill>
                  <a:srgbClr val="191A18"/>
                </a:solidFill>
                <a:latin typeface="Poppins"/>
                <a:ea typeface="Poppins"/>
                <a:cs typeface="Poppins"/>
              </a:rPr>
              <a:t>8</a:t>
            </a:r>
          </a:p>
        </p:txBody>
      </p:sp>
      <p:sp>
        <p:nvSpPr>
          <p:cNvPr id="201" name="td"/>
          <p:cNvSpPr txBox="1"/>
          <p:nvPr/>
        </p:nvSpPr>
        <p:spPr>
          <a:xfrm>
            <a:off x="10562000" y="5310000"/>
            <a:ext cx="4200000" cy="300000"/>
          </a:xfrm>
          <a:prstGeom prst="rect">
            <a:avLst/>
          </a:prstGeom>
          <a:noFill/>
          <a:ln>
            <a:noFill/>
          </a:ln>
        </p:spPr>
        <p:txBody>
          <a:bodyPr wrap="square" lIns="0" tIns="0" rIns="0" bIns="0" rtlCol="0" anchor="t">
            <a:noAutofit/>
          </a:bodyPr>
          <a:lstStyle/>
          <a:p>
            <a:pPr algn="l">
              <a:lnSpc>
                <a:spcPct val="118000"/>
              </a:lnSpc>
            </a:pPr>
            <a:r>
              <a:rPr lang="en-US" sz="1875" b="0" dirty="0">
                <a:solidFill>
                  <a:srgbClr val="5A5D59"/>
                </a:solidFill>
                <a:latin typeface="Poppins"/>
                <a:ea typeface="Poppins"/>
                <a:cs typeface="Poppins"/>
              </a:rPr>
              <a:t>Scalp, Crown-like</a:t>
            </a:r>
          </a:p>
        </p:txBody>
      </p:sp>
      <p:sp>
        <p:nvSpPr>
          <p:cNvPr id="202" name="td"/>
          <p:cNvSpPr txBox="1"/>
          <p:nvPr/>
        </p:nvSpPr>
        <p:spPr>
          <a:xfrm>
            <a:off x="14762000" y="5310000"/>
            <a:ext cx="2100000" cy="300000"/>
          </a:xfrm>
          <a:prstGeom prst="rect">
            <a:avLst/>
          </a:prstGeom>
          <a:noFill/>
          <a:ln>
            <a:noFill/>
          </a:ln>
        </p:spPr>
        <p:txBody>
          <a:bodyPr wrap="square" lIns="0" tIns="0" rIns="0" bIns="0" rtlCol="0" anchor="t">
            <a:noAutofit/>
          </a:bodyPr>
          <a:lstStyle/>
          <a:p>
            <a:pPr algn="r">
              <a:lnSpc>
                <a:spcPct val="118000"/>
              </a:lnSpc>
            </a:pPr>
            <a:r>
              <a:rPr lang="en-US" sz="1875" b="1" dirty="0">
                <a:solidFill>
                  <a:srgbClr val="9B712B"/>
                </a:solidFill>
                <a:latin typeface="Poppins"/>
                <a:ea typeface="Poppins"/>
                <a:cs typeface="Poppins"/>
              </a:rPr>
              <a:t>82%</a:t>
            </a:r>
          </a:p>
        </p:txBody>
      </p:sp>
      <p:sp>
        <p:nvSpPr>
          <p:cNvPr id="203" name="td"/>
          <p:cNvSpPr txBox="1"/>
          <p:nvPr/>
        </p:nvSpPr>
        <p:spPr>
          <a:xfrm>
            <a:off x="8762000" y="5690000"/>
            <a:ext cx="1800000" cy="300000"/>
          </a:xfrm>
          <a:prstGeom prst="rect">
            <a:avLst/>
          </a:prstGeom>
          <a:noFill/>
          <a:ln>
            <a:noFill/>
          </a:ln>
        </p:spPr>
        <p:txBody>
          <a:bodyPr wrap="square" lIns="0" tIns="0" rIns="0" bIns="0" rtlCol="0" anchor="t">
            <a:noAutofit/>
          </a:bodyPr>
          <a:lstStyle/>
          <a:p>
            <a:pPr algn="l">
              <a:lnSpc>
                <a:spcPct val="118000"/>
              </a:lnSpc>
            </a:pPr>
            <a:r>
              <a:rPr lang="en-US" sz="1875" b="0" dirty="0">
                <a:solidFill>
                  <a:srgbClr val="191A18"/>
                </a:solidFill>
                <a:latin typeface="Poppins"/>
                <a:ea typeface="Poppins"/>
                <a:cs typeface="Poppins"/>
              </a:rPr>
              <a:t>2</a:t>
            </a:r>
          </a:p>
        </p:txBody>
      </p:sp>
      <p:sp>
        <p:nvSpPr>
          <p:cNvPr id="204" name="td"/>
          <p:cNvSpPr txBox="1"/>
          <p:nvPr/>
        </p:nvSpPr>
        <p:spPr>
          <a:xfrm>
            <a:off x="10562000" y="5690000"/>
            <a:ext cx="4200000" cy="300000"/>
          </a:xfrm>
          <a:prstGeom prst="rect">
            <a:avLst/>
          </a:prstGeom>
          <a:noFill/>
          <a:ln>
            <a:noFill/>
          </a:ln>
        </p:spPr>
        <p:txBody>
          <a:bodyPr wrap="square" lIns="0" tIns="0" rIns="0" bIns="0" rtlCol="0" anchor="t">
            <a:noAutofit/>
          </a:bodyPr>
          <a:lstStyle/>
          <a:p>
            <a:pPr algn="l">
              <a:lnSpc>
                <a:spcPct val="118000"/>
              </a:lnSpc>
            </a:pPr>
            <a:r>
              <a:rPr lang="en-US" sz="1875" b="0" dirty="0">
                <a:solidFill>
                  <a:srgbClr val="5A5D59"/>
                </a:solidFill>
                <a:latin typeface="Poppins"/>
                <a:ea typeface="Poppins"/>
                <a:cs typeface="Poppins"/>
              </a:rPr>
              <a:t>Fz, Cz</a:t>
            </a:r>
          </a:p>
        </p:txBody>
      </p:sp>
      <p:sp>
        <p:nvSpPr>
          <p:cNvPr id="205" name="td"/>
          <p:cNvSpPr txBox="1"/>
          <p:nvPr/>
        </p:nvSpPr>
        <p:spPr>
          <a:xfrm>
            <a:off x="14762000" y="5690000"/>
            <a:ext cx="2100000" cy="300000"/>
          </a:xfrm>
          <a:prstGeom prst="rect">
            <a:avLst/>
          </a:prstGeom>
          <a:noFill/>
          <a:ln>
            <a:noFill/>
          </a:ln>
        </p:spPr>
        <p:txBody>
          <a:bodyPr wrap="square" lIns="0" tIns="0" rIns="0" bIns="0" rtlCol="0" anchor="t">
            <a:noAutofit/>
          </a:bodyPr>
          <a:lstStyle/>
          <a:p>
            <a:pPr algn="r">
              <a:lnSpc>
                <a:spcPct val="118000"/>
              </a:lnSpc>
            </a:pPr>
            <a:r>
              <a:rPr lang="en-US" sz="1875" b="1" dirty="0">
                <a:solidFill>
                  <a:srgbClr val="9B712B"/>
                </a:solidFill>
                <a:latin typeface="Poppins"/>
                <a:ea typeface="Poppins"/>
                <a:cs typeface="Poppins"/>
              </a:rPr>
              <a:t>76%</a:t>
            </a:r>
          </a:p>
        </p:txBody>
      </p:sp>
      <p:sp>
        <p:nvSpPr>
          <p:cNvPr id="206" name="td"/>
          <p:cNvSpPr txBox="1"/>
          <p:nvPr/>
        </p:nvSpPr>
        <p:spPr>
          <a:xfrm>
            <a:off x="8762000" y="6070000"/>
            <a:ext cx="1800000" cy="300000"/>
          </a:xfrm>
          <a:prstGeom prst="rect">
            <a:avLst/>
          </a:prstGeom>
          <a:noFill/>
          <a:ln>
            <a:noFill/>
          </a:ln>
        </p:spPr>
        <p:txBody>
          <a:bodyPr wrap="square" lIns="0" tIns="0" rIns="0" bIns="0" rtlCol="0" anchor="t">
            <a:noAutofit/>
          </a:bodyPr>
          <a:lstStyle/>
          <a:p>
            <a:pPr algn="l">
              <a:lnSpc>
                <a:spcPct val="118000"/>
              </a:lnSpc>
            </a:pPr>
            <a:r>
              <a:rPr lang="en-US" sz="1875" b="0" dirty="0">
                <a:solidFill>
                  <a:srgbClr val="191A18"/>
                </a:solidFill>
                <a:latin typeface="Poppins"/>
                <a:ea typeface="Poppins"/>
                <a:cs typeface="Poppins"/>
              </a:rPr>
              <a:t>4</a:t>
            </a:r>
          </a:p>
        </p:txBody>
      </p:sp>
      <p:sp>
        <p:nvSpPr>
          <p:cNvPr id="207" name="td"/>
          <p:cNvSpPr txBox="1"/>
          <p:nvPr/>
        </p:nvSpPr>
        <p:spPr>
          <a:xfrm>
            <a:off x="10562000" y="6070000"/>
            <a:ext cx="4200000" cy="300000"/>
          </a:xfrm>
          <a:prstGeom prst="rect">
            <a:avLst/>
          </a:prstGeom>
          <a:noFill/>
          <a:ln>
            <a:noFill/>
          </a:ln>
        </p:spPr>
        <p:txBody>
          <a:bodyPr wrap="square" lIns="0" tIns="0" rIns="0" bIns="0" rtlCol="0" anchor="t">
            <a:noAutofit/>
          </a:bodyPr>
          <a:lstStyle/>
          <a:p>
            <a:pPr algn="l">
              <a:lnSpc>
                <a:spcPct val="118000"/>
              </a:lnSpc>
            </a:pPr>
            <a:r>
              <a:rPr lang="en-US" sz="1875" b="0" dirty="0">
                <a:solidFill>
                  <a:srgbClr val="5A5D59"/>
                </a:solidFill>
                <a:latin typeface="Poppins"/>
                <a:ea typeface="Poppins"/>
                <a:cs typeface="Poppins"/>
              </a:rPr>
              <a:t>Fz Cz F7 F8</a:t>
            </a:r>
          </a:p>
        </p:txBody>
      </p:sp>
      <p:sp>
        <p:nvSpPr>
          <p:cNvPr id="208" name="td"/>
          <p:cNvSpPr txBox="1"/>
          <p:nvPr/>
        </p:nvSpPr>
        <p:spPr>
          <a:xfrm>
            <a:off x="14762000" y="6070000"/>
            <a:ext cx="2100000" cy="300000"/>
          </a:xfrm>
          <a:prstGeom prst="rect">
            <a:avLst/>
          </a:prstGeom>
          <a:noFill/>
          <a:ln>
            <a:noFill/>
          </a:ln>
        </p:spPr>
        <p:txBody>
          <a:bodyPr wrap="square" lIns="0" tIns="0" rIns="0" bIns="0" rtlCol="0" anchor="t">
            <a:noAutofit/>
          </a:bodyPr>
          <a:lstStyle/>
          <a:p>
            <a:pPr algn="r">
              <a:lnSpc>
                <a:spcPct val="118000"/>
              </a:lnSpc>
            </a:pPr>
            <a:r>
              <a:rPr lang="en-US" sz="1875" b="1" dirty="0">
                <a:solidFill>
                  <a:srgbClr val="9B712B"/>
                </a:solidFill>
                <a:latin typeface="Poppins"/>
                <a:ea typeface="Poppins"/>
                <a:cs typeface="Poppins"/>
              </a:rPr>
              <a:t>76%</a:t>
            </a:r>
          </a:p>
        </p:txBody>
      </p:sp>
      <p:sp>
        <p:nvSpPr>
          <p:cNvPr id="209" name="td"/>
          <p:cNvSpPr txBox="1"/>
          <p:nvPr/>
        </p:nvSpPr>
        <p:spPr>
          <a:xfrm>
            <a:off x="8762000" y="6450000"/>
            <a:ext cx="1800000" cy="300000"/>
          </a:xfrm>
          <a:prstGeom prst="rect">
            <a:avLst/>
          </a:prstGeom>
          <a:noFill/>
          <a:ln>
            <a:noFill/>
          </a:ln>
        </p:spPr>
        <p:txBody>
          <a:bodyPr wrap="square" lIns="0" tIns="0" rIns="0" bIns="0" rtlCol="0" anchor="t">
            <a:noAutofit/>
          </a:bodyPr>
          <a:lstStyle/>
          <a:p>
            <a:pPr algn="l">
              <a:lnSpc>
                <a:spcPct val="118000"/>
              </a:lnSpc>
            </a:pPr>
            <a:r>
              <a:rPr lang="en-US" sz="1875" b="0" dirty="0">
                <a:solidFill>
                  <a:srgbClr val="191A18"/>
                </a:solidFill>
                <a:latin typeface="Poppins"/>
                <a:ea typeface="Poppins"/>
                <a:cs typeface="Poppins"/>
              </a:rPr>
              <a:t>2</a:t>
            </a:r>
          </a:p>
        </p:txBody>
      </p:sp>
      <p:sp>
        <p:nvSpPr>
          <p:cNvPr id="210" name="td"/>
          <p:cNvSpPr txBox="1"/>
          <p:nvPr/>
        </p:nvSpPr>
        <p:spPr>
          <a:xfrm>
            <a:off x="10562000" y="6450000"/>
            <a:ext cx="4200000" cy="300000"/>
          </a:xfrm>
          <a:prstGeom prst="rect">
            <a:avLst/>
          </a:prstGeom>
          <a:noFill/>
          <a:ln>
            <a:noFill/>
          </a:ln>
        </p:spPr>
        <p:txBody>
          <a:bodyPr wrap="square" lIns="0" tIns="0" rIns="0" bIns="0" rtlCol="0" anchor="t">
            <a:noAutofit/>
          </a:bodyPr>
          <a:lstStyle/>
          <a:p>
            <a:pPr algn="l">
              <a:lnSpc>
                <a:spcPct val="118000"/>
              </a:lnSpc>
            </a:pPr>
            <a:r>
              <a:rPr lang="en-US" sz="1875" b="0" dirty="0">
                <a:solidFill>
                  <a:srgbClr val="5A5D59"/>
                </a:solidFill>
                <a:latin typeface="Poppins"/>
                <a:ea typeface="Poppins"/>
                <a:cs typeface="Poppins"/>
              </a:rPr>
              <a:t>F3, F4</a:t>
            </a:r>
          </a:p>
        </p:txBody>
      </p:sp>
      <p:sp>
        <p:nvSpPr>
          <p:cNvPr id="211" name="td"/>
          <p:cNvSpPr txBox="1"/>
          <p:nvPr/>
        </p:nvSpPr>
        <p:spPr>
          <a:xfrm>
            <a:off x="14762000" y="6450000"/>
            <a:ext cx="2100000" cy="300000"/>
          </a:xfrm>
          <a:prstGeom prst="rect">
            <a:avLst/>
          </a:prstGeom>
          <a:noFill/>
          <a:ln>
            <a:noFill/>
          </a:ln>
        </p:spPr>
        <p:txBody>
          <a:bodyPr wrap="square" lIns="0" tIns="0" rIns="0" bIns="0" rtlCol="0" anchor="t">
            <a:noAutofit/>
          </a:bodyPr>
          <a:lstStyle/>
          <a:p>
            <a:pPr algn="r">
              <a:lnSpc>
                <a:spcPct val="118000"/>
              </a:lnSpc>
            </a:pPr>
            <a:r>
              <a:rPr lang="en-US" sz="1875" b="1" dirty="0">
                <a:solidFill>
                  <a:srgbClr val="9B712B"/>
                </a:solidFill>
                <a:latin typeface="Poppins"/>
                <a:ea typeface="Poppins"/>
                <a:cs typeface="Poppins"/>
              </a:rPr>
              <a:t>73%</a:t>
            </a:r>
          </a:p>
        </p:txBody>
      </p:sp>
      <p:sp>
        <p:nvSpPr>
          <p:cNvPr id="212" name="td"/>
          <p:cNvSpPr txBox="1"/>
          <p:nvPr/>
        </p:nvSpPr>
        <p:spPr>
          <a:xfrm>
            <a:off x="8762000" y="6830000"/>
            <a:ext cx="1800000" cy="300000"/>
          </a:xfrm>
          <a:prstGeom prst="rect">
            <a:avLst/>
          </a:prstGeom>
          <a:noFill/>
          <a:ln>
            <a:noFill/>
          </a:ln>
        </p:spPr>
        <p:txBody>
          <a:bodyPr wrap="square" lIns="0" tIns="0" rIns="0" bIns="0" rtlCol="0" anchor="t">
            <a:noAutofit/>
          </a:bodyPr>
          <a:lstStyle/>
          <a:p>
            <a:pPr algn="l">
              <a:lnSpc>
                <a:spcPct val="118000"/>
              </a:lnSpc>
            </a:pPr>
            <a:r>
              <a:rPr lang="en-US" sz="1875" b="0" dirty="0">
                <a:solidFill>
                  <a:srgbClr val="191A18"/>
                </a:solidFill>
                <a:latin typeface="Poppins"/>
                <a:ea typeface="Poppins"/>
                <a:cs typeface="Poppins"/>
              </a:rPr>
              <a:t>4</a:t>
            </a:r>
          </a:p>
        </p:txBody>
      </p:sp>
      <p:sp>
        <p:nvSpPr>
          <p:cNvPr id="213" name="td"/>
          <p:cNvSpPr txBox="1"/>
          <p:nvPr/>
        </p:nvSpPr>
        <p:spPr>
          <a:xfrm>
            <a:off x="10562000" y="6830000"/>
            <a:ext cx="4200000" cy="300000"/>
          </a:xfrm>
          <a:prstGeom prst="rect">
            <a:avLst/>
          </a:prstGeom>
          <a:noFill/>
          <a:ln>
            <a:noFill/>
          </a:ln>
        </p:spPr>
        <p:txBody>
          <a:bodyPr wrap="square" lIns="0" tIns="0" rIns="0" bIns="0" rtlCol="0" anchor="t">
            <a:noAutofit/>
          </a:bodyPr>
          <a:lstStyle/>
          <a:p>
            <a:pPr algn="l">
              <a:lnSpc>
                <a:spcPct val="118000"/>
              </a:lnSpc>
            </a:pPr>
            <a:r>
              <a:rPr lang="en-US" sz="1875" b="0" dirty="0">
                <a:solidFill>
                  <a:srgbClr val="5A5D59"/>
                </a:solidFill>
                <a:latin typeface="Poppins"/>
                <a:ea typeface="Poppins"/>
                <a:cs typeface="Poppins"/>
              </a:rPr>
              <a:t>On glasses</a:t>
            </a:r>
          </a:p>
        </p:txBody>
      </p:sp>
      <p:sp>
        <p:nvSpPr>
          <p:cNvPr id="214" name="td"/>
          <p:cNvSpPr txBox="1"/>
          <p:nvPr/>
        </p:nvSpPr>
        <p:spPr>
          <a:xfrm>
            <a:off x="14762000" y="6830000"/>
            <a:ext cx="2100000" cy="300000"/>
          </a:xfrm>
          <a:prstGeom prst="rect">
            <a:avLst/>
          </a:prstGeom>
          <a:noFill/>
          <a:ln>
            <a:noFill/>
          </a:ln>
        </p:spPr>
        <p:txBody>
          <a:bodyPr wrap="square" lIns="0" tIns="0" rIns="0" bIns="0" rtlCol="0" anchor="t">
            <a:noAutofit/>
          </a:bodyPr>
          <a:lstStyle/>
          <a:p>
            <a:pPr algn="r">
              <a:lnSpc>
                <a:spcPct val="118000"/>
              </a:lnSpc>
            </a:pPr>
            <a:r>
              <a:rPr lang="en-US" sz="1875" b="1" dirty="0">
                <a:solidFill>
                  <a:srgbClr val="9B712B"/>
                </a:solidFill>
                <a:latin typeface="Poppins"/>
                <a:ea typeface="Poppins"/>
                <a:cs typeface="Poppins"/>
              </a:rPr>
              <a:t>65%</a:t>
            </a:r>
          </a:p>
        </p:txBody>
      </p:sp>
      <p:sp>
        <p:nvSpPr>
          <p:cNvPr id="215" name="td"/>
          <p:cNvSpPr txBox="1"/>
          <p:nvPr/>
        </p:nvSpPr>
        <p:spPr>
          <a:xfrm>
            <a:off x="8762000" y="7210000"/>
            <a:ext cx="1800000" cy="300000"/>
          </a:xfrm>
          <a:prstGeom prst="rect">
            <a:avLst/>
          </a:prstGeom>
          <a:noFill/>
          <a:ln>
            <a:noFill/>
          </a:ln>
        </p:spPr>
        <p:txBody>
          <a:bodyPr wrap="square" lIns="0" tIns="0" rIns="0" bIns="0" rtlCol="0" anchor="t">
            <a:noAutofit/>
          </a:bodyPr>
          <a:lstStyle/>
          <a:p>
            <a:pPr algn="l">
              <a:lnSpc>
                <a:spcPct val="118000"/>
              </a:lnSpc>
            </a:pPr>
            <a:r>
              <a:rPr lang="en-US" sz="1875" b="0" dirty="0">
                <a:solidFill>
                  <a:srgbClr val="191A18"/>
                </a:solidFill>
                <a:latin typeface="Poppins"/>
                <a:ea typeface="Poppins"/>
                <a:cs typeface="Poppins"/>
              </a:rPr>
              <a:t>2</a:t>
            </a:r>
          </a:p>
        </p:txBody>
      </p:sp>
      <p:sp>
        <p:nvSpPr>
          <p:cNvPr id="216" name="td"/>
          <p:cNvSpPr txBox="1"/>
          <p:nvPr/>
        </p:nvSpPr>
        <p:spPr>
          <a:xfrm>
            <a:off x="10562000" y="7210000"/>
            <a:ext cx="4200000" cy="300000"/>
          </a:xfrm>
          <a:prstGeom prst="rect">
            <a:avLst/>
          </a:prstGeom>
          <a:noFill/>
          <a:ln>
            <a:noFill/>
          </a:ln>
        </p:spPr>
        <p:txBody>
          <a:bodyPr wrap="square" lIns="0" tIns="0" rIns="0" bIns="0" rtlCol="0" anchor="t">
            <a:noAutofit/>
          </a:bodyPr>
          <a:lstStyle/>
          <a:p>
            <a:pPr algn="l">
              <a:lnSpc>
                <a:spcPct val="118000"/>
              </a:lnSpc>
            </a:pPr>
            <a:r>
              <a:rPr lang="en-US" sz="1875" b="0" dirty="0">
                <a:solidFill>
                  <a:srgbClr val="5A5D59"/>
                </a:solidFill>
                <a:latin typeface="Poppins"/>
                <a:ea typeface="Poppins"/>
                <a:cs typeface="Poppins"/>
              </a:rPr>
              <a:t>Glasses brow</a:t>
            </a:r>
          </a:p>
        </p:txBody>
      </p:sp>
      <p:sp>
        <p:nvSpPr>
          <p:cNvPr id="217" name="td"/>
          <p:cNvSpPr txBox="1"/>
          <p:nvPr/>
        </p:nvSpPr>
        <p:spPr>
          <a:xfrm>
            <a:off x="14762000" y="7210000"/>
            <a:ext cx="2100000" cy="300000"/>
          </a:xfrm>
          <a:prstGeom prst="rect">
            <a:avLst/>
          </a:prstGeom>
          <a:noFill/>
          <a:ln>
            <a:noFill/>
          </a:ln>
        </p:spPr>
        <p:txBody>
          <a:bodyPr wrap="square" lIns="0" tIns="0" rIns="0" bIns="0" rtlCol="0" anchor="t">
            <a:noAutofit/>
          </a:bodyPr>
          <a:lstStyle/>
          <a:p>
            <a:pPr algn="r">
              <a:lnSpc>
                <a:spcPct val="118000"/>
              </a:lnSpc>
            </a:pPr>
            <a:r>
              <a:rPr lang="en-US" sz="1875" b="1" dirty="0">
                <a:solidFill>
                  <a:srgbClr val="9B712B"/>
                </a:solidFill>
                <a:latin typeface="Poppins"/>
                <a:ea typeface="Poppins"/>
                <a:cs typeface="Poppins"/>
              </a:rPr>
              <a:t>63%</a:t>
            </a:r>
          </a:p>
        </p:txBody>
      </p:sp>
      <p:sp>
        <p:nvSpPr>
          <p:cNvPr id="218" name="td"/>
          <p:cNvSpPr txBox="1"/>
          <p:nvPr/>
        </p:nvSpPr>
        <p:spPr>
          <a:xfrm>
            <a:off x="8762000" y="7590000"/>
            <a:ext cx="1800000" cy="300000"/>
          </a:xfrm>
          <a:prstGeom prst="rect">
            <a:avLst/>
          </a:prstGeom>
          <a:noFill/>
          <a:ln>
            <a:noFill/>
          </a:ln>
        </p:spPr>
        <p:txBody>
          <a:bodyPr wrap="square" lIns="0" tIns="0" rIns="0" bIns="0" rtlCol="0" anchor="t">
            <a:noAutofit/>
          </a:bodyPr>
          <a:lstStyle/>
          <a:p>
            <a:pPr algn="l">
              <a:lnSpc>
                <a:spcPct val="118000"/>
              </a:lnSpc>
            </a:pPr>
            <a:r>
              <a:rPr lang="en-US" sz="1875" b="0" dirty="0">
                <a:solidFill>
                  <a:srgbClr val="191A18"/>
                </a:solidFill>
                <a:latin typeface="Poppins"/>
                <a:ea typeface="Poppins"/>
                <a:cs typeface="Poppins"/>
              </a:rPr>
              <a:t>2</a:t>
            </a:r>
          </a:p>
        </p:txBody>
      </p:sp>
      <p:sp>
        <p:nvSpPr>
          <p:cNvPr id="219" name="td"/>
          <p:cNvSpPr txBox="1"/>
          <p:nvPr/>
        </p:nvSpPr>
        <p:spPr>
          <a:xfrm>
            <a:off x="10562000" y="7590000"/>
            <a:ext cx="4200000" cy="300000"/>
          </a:xfrm>
          <a:prstGeom prst="rect">
            <a:avLst/>
          </a:prstGeom>
          <a:noFill/>
          <a:ln>
            <a:noFill/>
          </a:ln>
        </p:spPr>
        <p:txBody>
          <a:bodyPr wrap="square" lIns="0" tIns="0" rIns="0" bIns="0" rtlCol="0" anchor="t">
            <a:noAutofit/>
          </a:bodyPr>
          <a:lstStyle/>
          <a:p>
            <a:pPr algn="l">
              <a:lnSpc>
                <a:spcPct val="118000"/>
              </a:lnSpc>
            </a:pPr>
            <a:r>
              <a:rPr lang="en-US" sz="1875" b="0" dirty="0">
                <a:solidFill>
                  <a:srgbClr val="5A5D59"/>
                </a:solidFill>
                <a:latin typeface="Poppins"/>
                <a:ea typeface="Poppins"/>
                <a:cs typeface="Poppins"/>
              </a:rPr>
              <a:t>Glasses temples</a:t>
            </a:r>
          </a:p>
        </p:txBody>
      </p:sp>
      <p:sp>
        <p:nvSpPr>
          <p:cNvPr id="220" name="td"/>
          <p:cNvSpPr txBox="1"/>
          <p:nvPr/>
        </p:nvSpPr>
        <p:spPr>
          <a:xfrm>
            <a:off x="14762000" y="7590000"/>
            <a:ext cx="2100000" cy="300000"/>
          </a:xfrm>
          <a:prstGeom prst="rect">
            <a:avLst/>
          </a:prstGeom>
          <a:noFill/>
          <a:ln>
            <a:noFill/>
          </a:ln>
        </p:spPr>
        <p:txBody>
          <a:bodyPr wrap="square" lIns="0" tIns="0" rIns="0" bIns="0" rtlCol="0" anchor="t">
            <a:noAutofit/>
          </a:bodyPr>
          <a:lstStyle/>
          <a:p>
            <a:pPr algn="r">
              <a:lnSpc>
                <a:spcPct val="118000"/>
              </a:lnSpc>
            </a:pPr>
            <a:r>
              <a:rPr lang="en-US" sz="1875" b="1" dirty="0">
                <a:solidFill>
                  <a:srgbClr val="9B712B"/>
                </a:solidFill>
                <a:latin typeface="Poppins"/>
                <a:ea typeface="Poppins"/>
                <a:cs typeface="Poppins"/>
              </a:rPr>
              <a:t>61%</a:t>
            </a:r>
          </a:p>
        </p:txBody>
      </p:sp>
      <p:sp>
        <p:nvSpPr>
          <p:cNvPr id="221" name="bar"/>
          <p:cNvSpPr/>
          <p:nvPr/>
        </p:nvSpPr>
        <p:spPr>
          <a:xfrm>
            <a:off x="8762000" y="8150000"/>
            <a:ext cx="8098250" cy="12700"/>
          </a:xfrm>
          <a:prstGeom prst="rect">
            <a:avLst/>
          </a:prstGeom>
          <a:solidFill>
            <a:srgbClr val="DFD8C6"/>
          </a:solidFill>
          <a:ln>
            <a:noFill/>
          </a:ln>
          <a:effectLst/>
        </p:spPr>
        <p:txBody>
          <a:bodyPr/>
          <a:lstStyle/>
          <a:p>
            <a:endParaRPr lang="en-US"/>
          </a:p>
        </p:txBody>
      </p:sp>
      <p:sp>
        <p:nvSpPr>
          <p:cNvPr id="222" name="take2"/>
          <p:cNvSpPr txBox="1"/>
          <p:nvPr/>
        </p:nvSpPr>
        <p:spPr>
          <a:xfrm>
            <a:off x="8762000" y="8320000"/>
            <a:ext cx="8098250" cy="585216"/>
          </a:xfrm>
          <a:prstGeom prst="rect">
            <a:avLst/>
          </a:prstGeom>
          <a:noFill/>
          <a:ln>
            <a:noFill/>
          </a:ln>
        </p:spPr>
        <p:txBody>
          <a:bodyPr wrap="square" lIns="0" tIns="0" rIns="0" bIns="0" rtlCol="0" anchor="t">
            <a:noAutofit/>
          </a:bodyPr>
          <a:lstStyle/>
          <a:p>
            <a:pPr algn="l">
              <a:lnSpc>
                <a:spcPct val="128000"/>
              </a:lnSpc>
            </a:pPr>
            <a:r>
              <a:rPr lang="en-US" sz="1800" b="1" dirty="0">
                <a:solidFill>
                  <a:srgbClr val="9B712B"/>
                </a:solidFill>
                <a:latin typeface="Poppins"/>
                <a:ea typeface="Poppins"/>
                <a:cs typeface="Poppins"/>
              </a:rPr>
              <a:t>Halving the electrodes costs 2 points. Moving them to the temples costs 21.</a:t>
            </a:r>
          </a:p>
        </p:txBody>
      </p:sp>
      <p:sp>
        <p:nvSpPr>
          <p:cNvPr id="223" name="footnote"/>
          <p:cNvSpPr txBox="1"/>
          <p:nvPr/>
        </p:nvSpPr>
        <p:spPr>
          <a:xfrm>
            <a:off x="1047750" y="9486900"/>
            <a:ext cx="16192500" cy="476250"/>
          </a:xfrm>
          <a:prstGeom prst="rect">
            <a:avLst/>
          </a:prstGeom>
          <a:noFill/>
          <a:ln>
            <a:noFill/>
          </a:ln>
        </p:spPr>
        <p:txBody>
          <a:bodyPr wrap="square" lIns="0" tIns="0" rIns="0" bIns="0" rtlCol="0" anchor="t">
            <a:noAutofit/>
          </a:bodyPr>
          <a:lstStyle/>
          <a:p>
            <a:pPr algn="l">
              <a:lnSpc>
                <a:spcPct val="118000"/>
              </a:lnSpc>
            </a:pPr>
            <a:r>
              <a:rPr lang="en-US" sz="1875" b="0" dirty="0">
                <a:solidFill>
                  <a:srgbClr val="5A5D59"/>
                </a:solidFill>
                <a:latin typeface="Poppins"/>
                <a:ea typeface="Poppins"/>
                <a:cs typeface="Poppins"/>
              </a:rPr>
              <a:t>Chance = 50% • n = 38 of 51 recordings, those where the full montage cleared 0.70 AUC • Final Presentation/README.md</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Does the signal survive a harder test?">
            <a:extLst>
              <a:ext uri="{FF2B5EF4-FFF2-40B4-BE49-F238E27FC236}">
                <a16:creationId xmlns:a16="http://schemas.microsoft.com/office/drawing/2014/main" id="{BC11C2E6-5491-4B58-B82E-DE176F2ECC4E}"/>
              </a:ext>
            </a:extLst>
          </p:cNvPr>
          <p:cNvSpPr>
            <a:spLocks noGrp="1"/>
          </p:cNvSpPr>
          <p:nvPr/>
        </p:nvSpPr>
        <p:spPr>
          <a:xfrm>
            <a:off x="1000125" y="742950"/>
            <a:ext cx="16287750" cy="1238250"/>
          </a:xfrm>
          <a:prstGeom prst="rect">
            <a:avLst/>
          </a:prstGeom>
          <a:noFill/>
          <a:ln w="0">
            <a:noFill/>
          </a:ln>
        </p:spPr>
        <p:txBody>
          <a:bodyPr lIns="0" tIns="0" rIns="0" bIns="0" anchor="t">
            <a:noAutofit/>
          </a:bodyPr>
          <a:lstStyle/>
          <a:p>
            <a:pPr algn="l">
              <a:defRPr sz="5400" b="1">
                <a:solidFill>
                  <a:srgbClr val="191A18"/>
                </a:solidFill>
                <a:latin typeface="Poppins"/>
                <a:ea typeface="Poppins"/>
                <a:cs typeface="Poppins"/>
              </a:defRPr>
            </a:pPr>
            <a:r>
              <a:rPr sz="5400" b="1">
                <a:solidFill>
                  <a:srgbClr val="191A18"/>
                </a:solidFill>
                <a:latin typeface="Poppins"/>
                <a:ea typeface="Poppins"/>
                <a:cs typeface="Poppins"/>
              </a:rPr>
              <a:t>What the detector actually does</a:t>
            </a:r>
          </a:p>
        </p:txBody>
      </p:sp>
      <p:sp>
        <p:nvSpPr>
          <p:cNvPr id="2" name="Voloridge • models frozen before scoring held-out ">
            <a:extLst>
              <a:ext uri="{FF2B5EF4-FFF2-40B4-BE49-F238E27FC236}">
                <a16:creationId xmlns:a16="http://schemas.microsoft.com/office/drawing/2014/main" id="{45D56410-D2F5-47C3-B20B-F1CFEAD1F4E6}"/>
              </a:ext>
            </a:extLst>
          </p:cNvPr>
          <p:cNvSpPr>
            <a:spLocks noGrp="1"/>
          </p:cNvSpPr>
          <p:nvPr/>
        </p:nvSpPr>
        <p:spPr>
          <a:xfrm>
            <a:off x="1047750" y="2028825"/>
            <a:ext cx="16192500" cy="1000125"/>
          </a:xfrm>
          <a:prstGeom prst="rect">
            <a:avLst/>
          </a:prstGeom>
          <a:noFill/>
          <a:ln w="0">
            <a:noFill/>
          </a:ln>
        </p:spPr>
        <p:txBody>
          <a:bodyPr lIns="0" tIns="0" rIns="0" bIns="0" anchor="t">
            <a:noAutofit/>
          </a:bodyPr>
          <a:lstStyle/>
          <a:p>
            <a:pPr algn="l">
              <a:defRPr sz="2625" b="0">
                <a:solidFill>
                  <a:srgbClr val="5A5D59"/>
                </a:solidFill>
                <a:latin typeface="Poppins"/>
                <a:ea typeface="Poppins"/>
                <a:cs typeface="Poppins"/>
              </a:defRPr>
            </a:pPr>
            <a:r>
              <a:rPr sz="2625" b="0" dirty="0">
                <a:solidFill>
                  <a:srgbClr val="5A5D59"/>
                </a:solidFill>
                <a:latin typeface="Poppins"/>
                <a:ea typeface="Poppins"/>
                <a:cs typeface="Poppins"/>
              </a:rPr>
              <a:t>VP002, session 3</a:t>
            </a:r>
            <a:r>
              <a:rPr lang="en-US" sz="2625" b="0" dirty="0">
                <a:solidFill>
                  <a:srgbClr val="5A5D59"/>
                </a:solidFill>
                <a:latin typeface="Poppins"/>
                <a:ea typeface="Poppins"/>
                <a:cs typeface="Poppins"/>
              </a:rPr>
              <a:t> -</a:t>
            </a:r>
            <a:r>
              <a:rPr sz="2625" b="0" dirty="0">
                <a:solidFill>
                  <a:srgbClr val="5A5D59"/>
                </a:solidFill>
                <a:latin typeface="Poppins"/>
                <a:ea typeface="Poppins"/>
                <a:cs typeface="Poppins"/>
              </a:rPr>
              <a:t> six blocks calibrate, the last three are scored</a:t>
            </a:r>
          </a:p>
        </p:txBody>
      </p:sp>
      <p:sp>
        <p:nvSpPr>
          <p:cNvPr id="6" name="Grey: random alignment of the same signal. 8 of 15">
            <a:extLst>
              <a:ext uri="{FF2B5EF4-FFF2-40B4-BE49-F238E27FC236}">
                <a16:creationId xmlns:a16="http://schemas.microsoft.com/office/drawing/2014/main" id="{2ED76732-AD10-46B7-B5CD-97A263C7B204}"/>
              </a:ext>
            </a:extLst>
          </p:cNvPr>
          <p:cNvSpPr>
            <a:spLocks noGrp="1"/>
          </p:cNvSpPr>
          <p:nvPr/>
        </p:nvSpPr>
        <p:spPr>
          <a:xfrm>
            <a:off x="1051560" y="8833104"/>
            <a:ext cx="16093440" cy="621792"/>
          </a:xfrm>
          <a:prstGeom prst="rect">
            <a:avLst/>
          </a:prstGeom>
          <a:noFill/>
          <a:ln w="0">
            <a:noFill/>
          </a:ln>
        </p:spPr>
        <p:txBody>
          <a:bodyPr lIns="0" tIns="0" rIns="0" bIns="0" anchor="t">
            <a:noAutofit/>
          </a:bodyPr>
          <a:lstStyle/>
          <a:p>
            <a:pPr algn="ctr">
              <a:defRPr sz="2175" b="1">
                <a:solidFill>
                  <a:srgbClr val="191A18"/>
                </a:solidFill>
                <a:latin typeface="Poppins"/>
                <a:ea typeface="Poppins"/>
                <a:cs typeface="Poppins"/>
              </a:defRPr>
            </a:pPr>
            <a:r>
              <a:rPr sz="2175" b="1" dirty="0">
                <a:solidFill>
                  <a:srgbClr val="191A18"/>
                </a:solidFill>
                <a:latin typeface="Poppins"/>
                <a:ea typeface="Poppins"/>
                <a:cs typeface="Poppins"/>
              </a:rPr>
              <a:t>Margin rises during the task, falls during rest. Blue is out of sample: never seen while fitting.</a:t>
            </a:r>
          </a:p>
        </p:txBody>
      </p:sp>
      <p:pic>
        <p:nvPicPr>
          <p:cNvPr id="10" name="Picture 9" descr="hero_VP002_session3.png"/>
          <p:cNvPicPr>
            <a:picLocks noChangeAspect="1"/>
          </p:cNvPicPr>
          <p:nvPr/>
        </p:nvPicPr>
        <p:blipFill>
          <a:blip r:embed="rId3"/>
          <a:stretch>
            <a:fillRect/>
          </a:stretch>
        </p:blipFill>
        <p:spPr>
          <a:xfrm>
            <a:off x="25299" y="3028950"/>
            <a:ext cx="18237401" cy="5428309"/>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7F4EC"/>
        </a:solidFill>
        <a:effectLst/>
      </p:bgPr>
    </p:bg>
    <p:spTree>
      <p:nvGrpSpPr>
        <p:cNvPr id="1" name=""/>
        <p:cNvGrpSpPr/>
        <p:nvPr/>
      </p:nvGrpSpPr>
      <p:grpSpPr>
        <a:xfrm>
          <a:off x="0" y="0"/>
          <a:ext cx="0" cy="0"/>
          <a:chOff x="0" y="0"/>
          <a:chExt cx="0" cy="0"/>
        </a:xfrm>
      </p:grpSpPr>
      <p:pic>
        <p:nvPicPr>
          <p:cNvPr id="185" name="elastic"/>
          <p:cNvPicPr/>
          <p:nvPr/>
        </p:nvPicPr>
        <p:blipFill>
          <a:blip r:embed="rId3"/>
          <a:stretch>
            <a:fillRect/>
          </a:stretch>
        </p:blipFill>
        <p:spPr>
          <a:xfrm>
            <a:off x="13124685" y="619125"/>
            <a:ext cx="3754380" cy="1285875"/>
          </a:xfrm>
          <a:prstGeom prst="rect">
            <a:avLst/>
          </a:prstGeom>
        </p:spPr>
      </p:pic>
      <p:sp>
        <p:nvSpPr>
          <p:cNvPr id="186" name="Elasticsearch is the memory."/>
          <p:cNvSpPr txBox="1"/>
          <p:nvPr/>
        </p:nvSpPr>
        <p:spPr>
          <a:xfrm>
            <a:off x="1000125" y="742950"/>
            <a:ext cx="16287750" cy="1238250"/>
          </a:xfrm>
          <a:prstGeom prst="rect">
            <a:avLst/>
          </a:prstGeom>
          <a:noFill/>
          <a:ln>
            <a:noFill/>
          </a:ln>
        </p:spPr>
        <p:txBody>
          <a:bodyPr wrap="square" lIns="0" tIns="0" rIns="0" bIns="0" rtlCol="0" anchor="t">
            <a:noAutofit/>
          </a:bodyPr>
          <a:lstStyle/>
          <a:p>
            <a:pPr algn="l">
              <a:lnSpc>
                <a:spcPct val="118000"/>
              </a:lnSpc>
            </a:pPr>
            <a:r>
              <a:rPr lang="en-US" sz="5400" b="1" dirty="0">
                <a:solidFill>
                  <a:srgbClr val="191A18"/>
                </a:solidFill>
                <a:latin typeface="Poppins"/>
                <a:ea typeface="Poppins"/>
                <a:cs typeface="Poppins"/>
              </a:rPr>
              <a:t>Elasticsearch is the memory.</a:t>
            </a:r>
          </a:p>
        </p:txBody>
      </p:sp>
      <p:sp>
        <p:nvSpPr>
          <p:cNvPr id="187" name="Sponsor challenge: turn complex, messy d"/>
          <p:cNvSpPr txBox="1"/>
          <p:nvPr/>
        </p:nvSpPr>
        <p:spPr>
          <a:xfrm>
            <a:off x="1047750" y="2028825"/>
            <a:ext cx="16192500" cy="1000125"/>
          </a:xfrm>
          <a:prstGeom prst="rect">
            <a:avLst/>
          </a:prstGeom>
          <a:noFill/>
          <a:ln>
            <a:noFill/>
          </a:ln>
        </p:spPr>
        <p:txBody>
          <a:bodyPr wrap="square" lIns="0" tIns="0" rIns="0" bIns="0" rtlCol="0" anchor="t">
            <a:noAutofit/>
          </a:bodyPr>
          <a:lstStyle/>
          <a:p>
            <a:pPr algn="l">
              <a:lnSpc>
                <a:spcPct val="118000"/>
              </a:lnSpc>
            </a:pPr>
            <a:r>
              <a:rPr lang="en-US" sz="2625" b="0" dirty="0">
                <a:solidFill>
                  <a:srgbClr val="5A5D59"/>
                </a:solidFill>
                <a:latin typeface="Poppins"/>
                <a:ea typeface="Poppins"/>
                <a:cs typeface="Poppins"/>
              </a:rPr>
              <a:t>Sponsor challenge: turn complex, messy data into insights, answers or actions.</a:t>
            </a:r>
          </a:p>
        </p:txBody>
      </p:sp>
      <p:sp>
        <p:nvSpPr>
          <p:cNvPr id="188" name="card"/>
          <p:cNvSpPr/>
          <p:nvPr/>
        </p:nvSpPr>
        <p:spPr>
          <a:xfrm>
            <a:off x="1047750" y="3230000"/>
            <a:ext cx="2998500" cy="2420000"/>
          </a:xfrm>
          <a:prstGeom prst="roundRect">
            <a:avLst>
              <a:gd name="adj" fmla="val 4467"/>
            </a:avLst>
          </a:prstGeom>
          <a:solidFill>
            <a:srgbClr val="FBF9F3"/>
          </a:solidFill>
          <a:ln w="12700">
            <a:solidFill>
              <a:srgbClr val="DFD8C6"/>
            </a:solidFill>
            <a:prstDash val="solid"/>
          </a:ln>
          <a:effectLst>
            <a:outerShdw blurRad="114300" dist="25400" dir="5400000" algn="bl" rotWithShape="0">
              <a:srgbClr val="BFB49A">
                <a:alpha val="30000"/>
              </a:srgbClr>
            </a:outerShdw>
          </a:effectLst>
        </p:spPr>
        <p:txBody>
          <a:bodyPr/>
          <a:lstStyle/>
          <a:p>
            <a:endParaRPr lang="en-US"/>
          </a:p>
        </p:txBody>
      </p:sp>
      <p:sp>
        <p:nvSpPr>
          <p:cNvPr id="189" name="Moment"/>
          <p:cNvSpPr txBox="1"/>
          <p:nvPr/>
        </p:nvSpPr>
        <p:spPr>
          <a:xfrm>
            <a:off x="1377750" y="3560000"/>
            <a:ext cx="2338500" cy="420000"/>
          </a:xfrm>
          <a:prstGeom prst="rect">
            <a:avLst/>
          </a:prstGeom>
          <a:noFill/>
          <a:ln>
            <a:noFill/>
          </a:ln>
        </p:spPr>
        <p:txBody>
          <a:bodyPr wrap="square" lIns="0" tIns="0" rIns="0" bIns="0" rtlCol="0" anchor="t">
            <a:noAutofit/>
          </a:bodyPr>
          <a:lstStyle/>
          <a:p>
            <a:pPr algn="l">
              <a:lnSpc>
                <a:spcPct val="118000"/>
              </a:lnSpc>
            </a:pPr>
            <a:r>
              <a:rPr lang="en-US" sz="2100" b="1" dirty="0">
                <a:solidFill>
                  <a:srgbClr val="191A18"/>
                </a:solidFill>
                <a:latin typeface="Poppins"/>
                <a:ea typeface="Poppins"/>
                <a:cs typeface="Poppins"/>
              </a:rPr>
              <a:t>Moment</a:t>
            </a:r>
          </a:p>
        </p:txBody>
      </p:sp>
      <p:sp>
        <p:nvSpPr>
          <p:cNvPr id="190" name="10 s clip, 8 channel band powe"/>
          <p:cNvSpPr txBox="1"/>
          <p:nvPr/>
        </p:nvSpPr>
        <p:spPr>
          <a:xfrm>
            <a:off x="1377750" y="4060000"/>
            <a:ext cx="2338500" cy="1139190"/>
          </a:xfrm>
          <a:prstGeom prst="rect">
            <a:avLst/>
          </a:prstGeom>
          <a:noFill/>
          <a:ln>
            <a:noFill/>
          </a:ln>
        </p:spPr>
        <p:txBody>
          <a:bodyPr wrap="square" lIns="0" tIns="0" rIns="0" bIns="0" rtlCol="0" anchor="t">
            <a:noAutofit/>
          </a:bodyPr>
          <a:lstStyle/>
          <a:p>
            <a:pPr algn="l">
              <a:lnSpc>
                <a:spcPct val="130000"/>
              </a:lnSpc>
            </a:pPr>
            <a:r>
              <a:rPr lang="en-US" sz="1725" b="0" dirty="0">
                <a:solidFill>
                  <a:srgbClr val="5A5D59"/>
                </a:solidFill>
                <a:latin typeface="Poppins"/>
                <a:ea typeface="Poppins"/>
                <a:cs typeface="Poppins"/>
              </a:rPr>
              <a:t>10 s clip, 8 channel band powers, IMU and timestamp</a:t>
            </a:r>
          </a:p>
        </p:txBody>
      </p:sp>
      <p:cxnSp>
        <p:nvCxnSpPr>
          <p:cNvPr id="191" name="arrow"/>
          <p:cNvCxnSpPr/>
          <p:nvPr/>
        </p:nvCxnSpPr>
        <p:spPr>
          <a:xfrm>
            <a:off x="4106250" y="4440000"/>
            <a:ext cx="180000" cy="0"/>
          </a:xfrm>
          <a:prstGeom prst="straightConnector1">
            <a:avLst/>
          </a:prstGeom>
          <a:ln w="19050">
            <a:solidFill>
              <a:srgbClr val="9B712B"/>
            </a:solidFill>
            <a:tailEnd type="triangle" w="med" len="med"/>
          </a:ln>
        </p:spPr>
      </p:cxnSp>
      <p:sp>
        <p:nvSpPr>
          <p:cNvPr id="192" name="card"/>
          <p:cNvSpPr/>
          <p:nvPr/>
        </p:nvSpPr>
        <p:spPr>
          <a:xfrm>
            <a:off x="4346250" y="3230000"/>
            <a:ext cx="2998500" cy="2420000"/>
          </a:xfrm>
          <a:prstGeom prst="roundRect">
            <a:avLst>
              <a:gd name="adj" fmla="val 4467"/>
            </a:avLst>
          </a:prstGeom>
          <a:solidFill>
            <a:srgbClr val="FBF9F3"/>
          </a:solidFill>
          <a:ln w="12700">
            <a:solidFill>
              <a:srgbClr val="DFD8C6"/>
            </a:solidFill>
            <a:prstDash val="solid"/>
          </a:ln>
          <a:effectLst>
            <a:outerShdw blurRad="114300" dist="25400" dir="5400000" algn="bl" rotWithShape="0">
              <a:srgbClr val="BFB49A">
                <a:alpha val="30000"/>
              </a:srgbClr>
            </a:outerShdw>
          </a:effectLst>
        </p:spPr>
        <p:txBody>
          <a:bodyPr/>
          <a:lstStyle/>
          <a:p>
            <a:endParaRPr lang="en-US"/>
          </a:p>
        </p:txBody>
      </p:sp>
      <p:sp>
        <p:nvSpPr>
          <p:cNvPr id="193" name="Elastic Inference"/>
          <p:cNvSpPr txBox="1"/>
          <p:nvPr/>
        </p:nvSpPr>
        <p:spPr>
          <a:xfrm>
            <a:off x="4676250" y="3560000"/>
            <a:ext cx="2338500" cy="420000"/>
          </a:xfrm>
          <a:prstGeom prst="rect">
            <a:avLst/>
          </a:prstGeom>
          <a:noFill/>
          <a:ln>
            <a:noFill/>
          </a:ln>
        </p:spPr>
        <p:txBody>
          <a:bodyPr wrap="square" lIns="0" tIns="0" rIns="0" bIns="0" rtlCol="0" anchor="t">
            <a:noAutofit/>
          </a:bodyPr>
          <a:lstStyle/>
          <a:p>
            <a:pPr algn="l">
              <a:lnSpc>
                <a:spcPct val="118000"/>
              </a:lnSpc>
            </a:pPr>
            <a:r>
              <a:rPr lang="en-US" sz="2100" b="1" dirty="0">
                <a:solidFill>
                  <a:srgbClr val="9B712B"/>
                </a:solidFill>
                <a:latin typeface="Poppins"/>
                <a:ea typeface="Poppins"/>
                <a:cs typeface="Poppins"/>
              </a:rPr>
              <a:t>Elastic Inference</a:t>
            </a:r>
          </a:p>
        </p:txBody>
      </p:sp>
      <p:sp>
        <p:nvSpPr>
          <p:cNvPr id="194" name="Jina v5 Omni embeds the video "/>
          <p:cNvSpPr txBox="1"/>
          <p:nvPr/>
        </p:nvSpPr>
        <p:spPr>
          <a:xfrm>
            <a:off x="4676250" y="4060000"/>
            <a:ext cx="2338500" cy="1139190"/>
          </a:xfrm>
          <a:prstGeom prst="rect">
            <a:avLst/>
          </a:prstGeom>
          <a:noFill/>
          <a:ln>
            <a:noFill/>
          </a:ln>
        </p:spPr>
        <p:txBody>
          <a:bodyPr wrap="square" lIns="0" tIns="0" rIns="0" bIns="0" rtlCol="0" anchor="t">
            <a:noAutofit/>
          </a:bodyPr>
          <a:lstStyle/>
          <a:p>
            <a:pPr algn="l">
              <a:lnSpc>
                <a:spcPct val="130000"/>
              </a:lnSpc>
            </a:pPr>
            <a:r>
              <a:rPr lang="en-US" sz="1725" b="0" dirty="0">
                <a:solidFill>
                  <a:srgbClr val="5A5D59"/>
                </a:solidFill>
                <a:latin typeface="Poppins"/>
                <a:ea typeface="Poppins"/>
                <a:cs typeface="Poppins"/>
              </a:rPr>
              <a:t>Jina v5 Omni embeds the video itself, no transcript</a:t>
            </a:r>
          </a:p>
        </p:txBody>
      </p:sp>
      <p:cxnSp>
        <p:nvCxnSpPr>
          <p:cNvPr id="195" name="arrow"/>
          <p:cNvCxnSpPr/>
          <p:nvPr/>
        </p:nvCxnSpPr>
        <p:spPr>
          <a:xfrm>
            <a:off x="7404750" y="4440000"/>
            <a:ext cx="180000" cy="0"/>
          </a:xfrm>
          <a:prstGeom prst="straightConnector1">
            <a:avLst/>
          </a:prstGeom>
          <a:ln w="19050">
            <a:solidFill>
              <a:srgbClr val="9B712B"/>
            </a:solidFill>
            <a:tailEnd type="triangle" w="med" len="med"/>
          </a:ln>
        </p:spPr>
      </p:cxnSp>
      <p:sp>
        <p:nvSpPr>
          <p:cNvPr id="196" name="card"/>
          <p:cNvSpPr/>
          <p:nvPr/>
        </p:nvSpPr>
        <p:spPr>
          <a:xfrm>
            <a:off x="7644750" y="3230000"/>
            <a:ext cx="2998500" cy="2420000"/>
          </a:xfrm>
          <a:prstGeom prst="roundRect">
            <a:avLst>
              <a:gd name="adj" fmla="val 4467"/>
            </a:avLst>
          </a:prstGeom>
          <a:solidFill>
            <a:srgbClr val="FBF9F3"/>
          </a:solidFill>
          <a:ln w="12700">
            <a:solidFill>
              <a:srgbClr val="DFD8C6"/>
            </a:solidFill>
            <a:prstDash val="solid"/>
          </a:ln>
          <a:effectLst>
            <a:outerShdw blurRad="114300" dist="25400" dir="5400000" algn="bl" rotWithShape="0">
              <a:srgbClr val="BFB49A">
                <a:alpha val="30000"/>
              </a:srgbClr>
            </a:outerShdw>
          </a:effectLst>
        </p:spPr>
        <p:txBody>
          <a:bodyPr/>
          <a:lstStyle/>
          <a:p>
            <a:endParaRPr lang="en-US"/>
          </a:p>
        </p:txBody>
      </p:sp>
      <p:sp>
        <p:nvSpPr>
          <p:cNvPr id="197" name="One index"/>
          <p:cNvSpPr txBox="1"/>
          <p:nvPr/>
        </p:nvSpPr>
        <p:spPr>
          <a:xfrm>
            <a:off x="7974750" y="3560000"/>
            <a:ext cx="2338500" cy="420000"/>
          </a:xfrm>
          <a:prstGeom prst="rect">
            <a:avLst/>
          </a:prstGeom>
          <a:noFill/>
          <a:ln>
            <a:noFill/>
          </a:ln>
        </p:spPr>
        <p:txBody>
          <a:bodyPr wrap="square" lIns="0" tIns="0" rIns="0" bIns="0" rtlCol="0" anchor="t">
            <a:noAutofit/>
          </a:bodyPr>
          <a:lstStyle/>
          <a:p>
            <a:pPr algn="l">
              <a:lnSpc>
                <a:spcPct val="118000"/>
              </a:lnSpc>
            </a:pPr>
            <a:r>
              <a:rPr lang="en-US" sz="2100" b="1" dirty="0">
                <a:solidFill>
                  <a:srgbClr val="191A18"/>
                </a:solidFill>
                <a:latin typeface="Poppins"/>
                <a:ea typeface="Poppins"/>
                <a:cs typeface="Poppins"/>
              </a:rPr>
              <a:t>One index</a:t>
            </a:r>
          </a:p>
        </p:txBody>
      </p:sp>
      <p:sp>
        <p:nvSpPr>
          <p:cNvPr id="198" name="1,024 dim cosine vector beside"/>
          <p:cNvSpPr txBox="1"/>
          <p:nvPr/>
        </p:nvSpPr>
        <p:spPr>
          <a:xfrm>
            <a:off x="7974750" y="4060000"/>
            <a:ext cx="2338500" cy="854392"/>
          </a:xfrm>
          <a:prstGeom prst="rect">
            <a:avLst/>
          </a:prstGeom>
          <a:noFill/>
          <a:ln>
            <a:noFill/>
          </a:ln>
        </p:spPr>
        <p:txBody>
          <a:bodyPr wrap="square" lIns="0" tIns="0" rIns="0" bIns="0" rtlCol="0" anchor="t">
            <a:noAutofit/>
          </a:bodyPr>
          <a:lstStyle/>
          <a:p>
            <a:pPr algn="l">
              <a:lnSpc>
                <a:spcPct val="130000"/>
              </a:lnSpc>
            </a:pPr>
            <a:r>
              <a:rPr lang="en-US" sz="1725" b="0" dirty="0">
                <a:solidFill>
                  <a:srgbClr val="5A5D59"/>
                </a:solidFill>
                <a:latin typeface="Poppins"/>
                <a:ea typeface="Poppins"/>
                <a:cs typeface="Poppins"/>
              </a:rPr>
              <a:t>1,024 dim cosine vector beside BM25 text</a:t>
            </a:r>
          </a:p>
        </p:txBody>
      </p:sp>
      <p:cxnSp>
        <p:nvCxnSpPr>
          <p:cNvPr id="199" name="arrow"/>
          <p:cNvCxnSpPr/>
          <p:nvPr/>
        </p:nvCxnSpPr>
        <p:spPr>
          <a:xfrm>
            <a:off x="10703250" y="4440000"/>
            <a:ext cx="180000" cy="0"/>
          </a:xfrm>
          <a:prstGeom prst="straightConnector1">
            <a:avLst/>
          </a:prstGeom>
          <a:ln w="19050">
            <a:solidFill>
              <a:srgbClr val="9B712B"/>
            </a:solidFill>
            <a:tailEnd type="triangle" w="med" len="med"/>
          </a:ln>
        </p:spPr>
      </p:cxnSp>
      <p:sp>
        <p:nvSpPr>
          <p:cNvPr id="200" name="card"/>
          <p:cNvSpPr/>
          <p:nvPr/>
        </p:nvSpPr>
        <p:spPr>
          <a:xfrm>
            <a:off x="10943250" y="3230000"/>
            <a:ext cx="2998500" cy="2420000"/>
          </a:xfrm>
          <a:prstGeom prst="roundRect">
            <a:avLst>
              <a:gd name="adj" fmla="val 4467"/>
            </a:avLst>
          </a:prstGeom>
          <a:solidFill>
            <a:srgbClr val="FBF9F3"/>
          </a:solidFill>
          <a:ln w="12700">
            <a:solidFill>
              <a:srgbClr val="DFD8C6"/>
            </a:solidFill>
            <a:prstDash val="solid"/>
          </a:ln>
          <a:effectLst>
            <a:outerShdw blurRad="114300" dist="25400" dir="5400000" algn="bl" rotWithShape="0">
              <a:srgbClr val="BFB49A">
                <a:alpha val="30000"/>
              </a:srgbClr>
            </a:outerShdw>
          </a:effectLst>
        </p:spPr>
        <p:txBody>
          <a:bodyPr/>
          <a:lstStyle/>
          <a:p>
            <a:endParaRPr lang="en-US"/>
          </a:p>
        </p:txBody>
      </p:sp>
      <p:sp>
        <p:nvSpPr>
          <p:cNvPr id="201" name="Hybrid retrieval"/>
          <p:cNvSpPr txBox="1"/>
          <p:nvPr/>
        </p:nvSpPr>
        <p:spPr>
          <a:xfrm>
            <a:off x="11273250" y="3560000"/>
            <a:ext cx="2338500" cy="420000"/>
          </a:xfrm>
          <a:prstGeom prst="rect">
            <a:avLst/>
          </a:prstGeom>
          <a:noFill/>
          <a:ln>
            <a:noFill/>
          </a:ln>
        </p:spPr>
        <p:txBody>
          <a:bodyPr wrap="square" lIns="0" tIns="0" rIns="0" bIns="0" rtlCol="0" anchor="t">
            <a:noAutofit/>
          </a:bodyPr>
          <a:lstStyle/>
          <a:p>
            <a:pPr algn="l">
              <a:lnSpc>
                <a:spcPct val="118000"/>
              </a:lnSpc>
            </a:pPr>
            <a:r>
              <a:rPr lang="en-US" sz="2100" b="1" dirty="0">
                <a:solidFill>
                  <a:srgbClr val="9B712B"/>
                </a:solidFill>
                <a:latin typeface="Poppins"/>
                <a:ea typeface="Poppins"/>
                <a:cs typeface="Poppins"/>
              </a:rPr>
              <a:t>Hybrid retrieval</a:t>
            </a:r>
          </a:p>
        </p:txBody>
      </p:sp>
      <p:sp>
        <p:nvSpPr>
          <p:cNvPr id="202" name="BM25 and dense kNN fused by RR"/>
          <p:cNvSpPr txBox="1"/>
          <p:nvPr/>
        </p:nvSpPr>
        <p:spPr>
          <a:xfrm>
            <a:off x="11273250" y="4060000"/>
            <a:ext cx="2338500" cy="569595"/>
          </a:xfrm>
          <a:prstGeom prst="rect">
            <a:avLst/>
          </a:prstGeom>
          <a:noFill/>
          <a:ln>
            <a:noFill/>
          </a:ln>
        </p:spPr>
        <p:txBody>
          <a:bodyPr wrap="square" lIns="0" tIns="0" rIns="0" bIns="0" rtlCol="0" anchor="t">
            <a:noAutofit/>
          </a:bodyPr>
          <a:lstStyle/>
          <a:p>
            <a:pPr algn="l">
              <a:lnSpc>
                <a:spcPct val="130000"/>
              </a:lnSpc>
            </a:pPr>
            <a:r>
              <a:rPr lang="en-US" sz="1725" b="0" dirty="0">
                <a:solidFill>
                  <a:srgbClr val="5A5D59"/>
                </a:solidFill>
                <a:latin typeface="Poppins"/>
                <a:ea typeface="Poppins"/>
                <a:cs typeface="Poppins"/>
              </a:rPr>
              <a:t>BM25 and dense kNN fused by RRF</a:t>
            </a:r>
          </a:p>
        </p:txBody>
      </p:sp>
      <p:cxnSp>
        <p:nvCxnSpPr>
          <p:cNvPr id="203" name="arrow"/>
          <p:cNvCxnSpPr/>
          <p:nvPr/>
        </p:nvCxnSpPr>
        <p:spPr>
          <a:xfrm>
            <a:off x="14001750" y="4440000"/>
            <a:ext cx="180000" cy="0"/>
          </a:xfrm>
          <a:prstGeom prst="straightConnector1">
            <a:avLst/>
          </a:prstGeom>
          <a:ln w="19050">
            <a:solidFill>
              <a:srgbClr val="9B712B"/>
            </a:solidFill>
            <a:tailEnd type="triangle" w="med" len="med"/>
          </a:ln>
        </p:spPr>
      </p:cxnSp>
      <p:sp>
        <p:nvSpPr>
          <p:cNvPr id="204" name="card"/>
          <p:cNvSpPr/>
          <p:nvPr/>
        </p:nvSpPr>
        <p:spPr>
          <a:xfrm>
            <a:off x="14241750" y="3230000"/>
            <a:ext cx="2998500" cy="2420000"/>
          </a:xfrm>
          <a:prstGeom prst="roundRect">
            <a:avLst>
              <a:gd name="adj" fmla="val 4467"/>
            </a:avLst>
          </a:prstGeom>
          <a:solidFill>
            <a:srgbClr val="FBF9F3"/>
          </a:solidFill>
          <a:ln w="12700">
            <a:solidFill>
              <a:srgbClr val="DFD8C6"/>
            </a:solidFill>
            <a:prstDash val="solid"/>
          </a:ln>
          <a:effectLst>
            <a:outerShdw blurRad="114300" dist="25400" dir="5400000" algn="bl" rotWithShape="0">
              <a:srgbClr val="BFB49A">
                <a:alpha val="30000"/>
              </a:srgbClr>
            </a:outerShdw>
          </a:effectLst>
        </p:spPr>
        <p:txBody>
          <a:bodyPr/>
          <a:lstStyle/>
          <a:p>
            <a:endParaRPr lang="en-US"/>
          </a:p>
        </p:txBody>
      </p:sp>
      <p:sp>
        <p:nvSpPr>
          <p:cNvPr id="205" name="Filters"/>
          <p:cNvSpPr txBox="1"/>
          <p:nvPr/>
        </p:nvSpPr>
        <p:spPr>
          <a:xfrm>
            <a:off x="14571750" y="3560000"/>
            <a:ext cx="2338500" cy="420000"/>
          </a:xfrm>
          <a:prstGeom prst="rect">
            <a:avLst/>
          </a:prstGeom>
          <a:noFill/>
          <a:ln>
            <a:noFill/>
          </a:ln>
        </p:spPr>
        <p:txBody>
          <a:bodyPr wrap="square" lIns="0" tIns="0" rIns="0" bIns="0" rtlCol="0" anchor="t">
            <a:noAutofit/>
          </a:bodyPr>
          <a:lstStyle/>
          <a:p>
            <a:pPr algn="l">
              <a:lnSpc>
                <a:spcPct val="118000"/>
              </a:lnSpc>
            </a:pPr>
            <a:r>
              <a:rPr lang="en-US" sz="2100" b="1" dirty="0">
                <a:solidFill>
                  <a:srgbClr val="191A18"/>
                </a:solidFill>
                <a:latin typeface="Poppins"/>
                <a:ea typeface="Poppins"/>
                <a:cs typeface="Poppins"/>
              </a:rPr>
              <a:t>Filters</a:t>
            </a:r>
          </a:p>
        </p:txBody>
      </p:sp>
      <p:sp>
        <p:nvSpPr>
          <p:cNvPr id="206" name="Confidence band, event type, t"/>
          <p:cNvSpPr txBox="1"/>
          <p:nvPr/>
        </p:nvSpPr>
        <p:spPr>
          <a:xfrm>
            <a:off x="14571750" y="4060000"/>
            <a:ext cx="2338500" cy="854392"/>
          </a:xfrm>
          <a:prstGeom prst="rect">
            <a:avLst/>
          </a:prstGeom>
          <a:noFill/>
          <a:ln>
            <a:noFill/>
          </a:ln>
        </p:spPr>
        <p:txBody>
          <a:bodyPr wrap="square" lIns="0" tIns="0" rIns="0" bIns="0" rtlCol="0" anchor="t">
            <a:noAutofit/>
          </a:bodyPr>
          <a:lstStyle/>
          <a:p>
            <a:pPr algn="l">
              <a:lnSpc>
                <a:spcPct val="130000"/>
              </a:lnSpc>
            </a:pPr>
            <a:r>
              <a:rPr lang="en-US" sz="1725" b="0" dirty="0">
                <a:solidFill>
                  <a:srgbClr val="5A5D59"/>
                </a:solidFill>
                <a:latin typeface="Poppins"/>
                <a:ea typeface="Poppins"/>
                <a:cs typeface="Poppins"/>
              </a:rPr>
              <a:t>Confidence band, event type, time range</a:t>
            </a:r>
          </a:p>
        </p:txBody>
      </p:sp>
      <p:sp>
        <p:nvSpPr>
          <p:cNvPr id="207" name="card"/>
          <p:cNvSpPr/>
          <p:nvPr/>
        </p:nvSpPr>
        <p:spPr>
          <a:xfrm>
            <a:off x="1047750" y="5830000"/>
            <a:ext cx="16192500" cy="2790000"/>
          </a:xfrm>
          <a:prstGeom prst="roundRect">
            <a:avLst>
              <a:gd name="adj" fmla="val 4467"/>
            </a:avLst>
          </a:prstGeom>
          <a:solidFill>
            <a:srgbClr val="F1ECE0"/>
          </a:solidFill>
          <a:ln w="12700">
            <a:solidFill>
              <a:srgbClr val="DFD8C6"/>
            </a:solidFill>
            <a:prstDash val="solid"/>
          </a:ln>
          <a:effectLst/>
        </p:spPr>
        <p:txBody>
          <a:bodyPr/>
          <a:lstStyle/>
          <a:p>
            <a:endParaRPr lang="en-US"/>
          </a:p>
        </p:txBody>
      </p:sp>
      <p:sp>
        <p:nvSpPr>
          <p:cNvPr id="208" name="bar"/>
          <p:cNvSpPr/>
          <p:nvPr/>
        </p:nvSpPr>
        <p:spPr>
          <a:xfrm>
            <a:off x="1377750" y="6180000"/>
            <a:ext cx="1400000" cy="330000"/>
          </a:xfrm>
          <a:prstGeom prst="roundRect">
            <a:avLst>
              <a:gd name="adj" fmla="val 50000"/>
            </a:avLst>
          </a:prstGeom>
          <a:solidFill>
            <a:srgbClr val="46683F"/>
          </a:solidFill>
          <a:ln>
            <a:noFill/>
          </a:ln>
          <a:effectLst/>
        </p:spPr>
        <p:txBody>
          <a:bodyPr/>
          <a:lstStyle/>
          <a:p>
            <a:endParaRPr lang="en-US"/>
          </a:p>
        </p:txBody>
      </p:sp>
      <p:sp>
        <p:nvSpPr>
          <p:cNvPr id="209" name="pill"/>
          <p:cNvSpPr txBox="1"/>
          <p:nvPr/>
        </p:nvSpPr>
        <p:spPr>
          <a:xfrm>
            <a:off x="1377750" y="6180000"/>
            <a:ext cx="1400000" cy="330000"/>
          </a:xfrm>
          <a:prstGeom prst="rect">
            <a:avLst/>
          </a:prstGeom>
          <a:noFill/>
          <a:ln>
            <a:noFill/>
          </a:ln>
        </p:spPr>
        <p:txBody>
          <a:bodyPr wrap="square" lIns="0" tIns="0" rIns="0" bIns="0" rtlCol="0" anchor="ctr">
            <a:noAutofit/>
          </a:bodyPr>
          <a:lstStyle/>
          <a:p>
            <a:pPr algn="ctr">
              <a:lnSpc>
                <a:spcPct val="100000"/>
              </a:lnSpc>
            </a:pPr>
            <a:r>
              <a:rPr lang="en-US" sz="1425" b="1" dirty="0">
                <a:solidFill>
                  <a:srgbClr val="FFFFFF"/>
                </a:solidFill>
                <a:latin typeface="Poppins"/>
                <a:ea typeface="Poppins"/>
                <a:cs typeface="Poppins"/>
              </a:rPr>
              <a:t>LIVE</a:t>
            </a:r>
          </a:p>
        </p:txBody>
      </p:sp>
      <p:sp>
        <p:nvSpPr>
          <p:cNvPr id="210" name="Elastic Cloud Serverless"/>
          <p:cNvSpPr txBox="1"/>
          <p:nvPr/>
        </p:nvSpPr>
        <p:spPr>
          <a:xfrm>
            <a:off x="2937750" y="6160000"/>
            <a:ext cx="4400000" cy="380000"/>
          </a:xfrm>
          <a:prstGeom prst="rect">
            <a:avLst/>
          </a:prstGeom>
          <a:noFill/>
          <a:ln>
            <a:noFill/>
          </a:ln>
        </p:spPr>
        <p:txBody>
          <a:bodyPr wrap="square" lIns="0" tIns="0" rIns="0" bIns="0" rtlCol="0" anchor="t">
            <a:noAutofit/>
          </a:bodyPr>
          <a:lstStyle/>
          <a:p>
            <a:pPr algn="l">
              <a:lnSpc>
                <a:spcPct val="118000"/>
              </a:lnSpc>
            </a:pPr>
            <a:r>
              <a:rPr lang="en-US" sz="1950" b="1" dirty="0">
                <a:solidFill>
                  <a:srgbClr val="191A18"/>
                </a:solidFill>
                <a:latin typeface="Poppins"/>
                <a:ea typeface="Poppins"/>
                <a:cs typeface="Poppins"/>
              </a:rPr>
              <a:t>Elastic Cloud Serverless</a:t>
            </a:r>
          </a:p>
        </p:txBody>
      </p:sp>
      <p:sp>
        <p:nvSpPr>
          <p:cNvPr id="211" name="The whole index runs there. 12"/>
          <p:cNvSpPr txBox="1"/>
          <p:nvPr/>
        </p:nvSpPr>
        <p:spPr>
          <a:xfrm>
            <a:off x="7637750" y="6180000"/>
            <a:ext cx="9272500" cy="340000"/>
          </a:xfrm>
          <a:prstGeom prst="rect">
            <a:avLst/>
          </a:prstGeom>
          <a:noFill/>
          <a:ln>
            <a:noFill/>
          </a:ln>
        </p:spPr>
        <p:txBody>
          <a:bodyPr wrap="square" lIns="0" tIns="0" rIns="0" bIns="0" rtlCol="0" anchor="t">
            <a:noAutofit/>
          </a:bodyPr>
          <a:lstStyle/>
          <a:p>
            <a:pPr algn="l">
              <a:lnSpc>
                <a:spcPct val="118000"/>
              </a:lnSpc>
            </a:pPr>
            <a:r>
              <a:rPr lang="en-US" sz="1800" b="0" dirty="0">
                <a:solidFill>
                  <a:srgbClr val="5A5D59"/>
                </a:solidFill>
                <a:latin typeface="Poppins"/>
                <a:ea typeface="Poppins"/>
                <a:cs typeface="Poppins"/>
              </a:rPr>
              <a:t>The whole index runs there. 12 moments live and complete.</a:t>
            </a:r>
          </a:p>
        </p:txBody>
      </p:sp>
      <p:sp>
        <p:nvSpPr>
          <p:cNvPr id="212" name="bar"/>
          <p:cNvSpPr/>
          <p:nvPr/>
        </p:nvSpPr>
        <p:spPr>
          <a:xfrm>
            <a:off x="1377750" y="6612500"/>
            <a:ext cx="15532500" cy="12700"/>
          </a:xfrm>
          <a:prstGeom prst="rect">
            <a:avLst/>
          </a:prstGeom>
          <a:solidFill>
            <a:srgbClr val="DFD8C6"/>
          </a:solidFill>
          <a:ln>
            <a:noFill/>
          </a:ln>
          <a:effectLst/>
        </p:spPr>
        <p:txBody>
          <a:bodyPr/>
          <a:lstStyle/>
          <a:p>
            <a:endParaRPr lang="en-US"/>
          </a:p>
        </p:txBody>
      </p:sp>
      <p:sp>
        <p:nvSpPr>
          <p:cNvPr id="213" name="bar"/>
          <p:cNvSpPr/>
          <p:nvPr/>
        </p:nvSpPr>
        <p:spPr>
          <a:xfrm>
            <a:off x="1377750" y="6712500"/>
            <a:ext cx="1400000" cy="330000"/>
          </a:xfrm>
          <a:prstGeom prst="roundRect">
            <a:avLst>
              <a:gd name="adj" fmla="val 50000"/>
            </a:avLst>
          </a:prstGeom>
          <a:solidFill>
            <a:srgbClr val="46683F"/>
          </a:solidFill>
          <a:ln>
            <a:noFill/>
          </a:ln>
          <a:effectLst/>
        </p:spPr>
        <p:txBody>
          <a:bodyPr/>
          <a:lstStyle/>
          <a:p>
            <a:endParaRPr lang="en-US"/>
          </a:p>
        </p:txBody>
      </p:sp>
      <p:sp>
        <p:nvSpPr>
          <p:cNvPr id="214" name="pill"/>
          <p:cNvSpPr txBox="1"/>
          <p:nvPr/>
        </p:nvSpPr>
        <p:spPr>
          <a:xfrm>
            <a:off x="1377750" y="6712500"/>
            <a:ext cx="1400000" cy="330000"/>
          </a:xfrm>
          <a:prstGeom prst="rect">
            <a:avLst/>
          </a:prstGeom>
          <a:noFill/>
          <a:ln>
            <a:noFill/>
          </a:ln>
        </p:spPr>
        <p:txBody>
          <a:bodyPr wrap="square" lIns="0" tIns="0" rIns="0" bIns="0" rtlCol="0" anchor="ctr">
            <a:noAutofit/>
          </a:bodyPr>
          <a:lstStyle/>
          <a:p>
            <a:pPr algn="ctr">
              <a:lnSpc>
                <a:spcPct val="100000"/>
              </a:lnSpc>
            </a:pPr>
            <a:r>
              <a:rPr lang="en-US" sz="1425" b="1" dirty="0">
                <a:solidFill>
                  <a:srgbClr val="FFFFFF"/>
                </a:solidFill>
                <a:latin typeface="Poppins"/>
                <a:ea typeface="Poppins"/>
                <a:cs typeface="Poppins"/>
              </a:rPr>
              <a:t>LIVE</a:t>
            </a:r>
          </a:p>
        </p:txBody>
      </p:sp>
      <p:sp>
        <p:nvSpPr>
          <p:cNvPr id="215" name="Jina v5 Omni embeddings"/>
          <p:cNvSpPr txBox="1"/>
          <p:nvPr/>
        </p:nvSpPr>
        <p:spPr>
          <a:xfrm>
            <a:off x="2937750" y="6692500"/>
            <a:ext cx="4400000" cy="380000"/>
          </a:xfrm>
          <a:prstGeom prst="rect">
            <a:avLst/>
          </a:prstGeom>
          <a:noFill/>
          <a:ln>
            <a:noFill/>
          </a:ln>
        </p:spPr>
        <p:txBody>
          <a:bodyPr wrap="square" lIns="0" tIns="0" rIns="0" bIns="0" rtlCol="0" anchor="t">
            <a:noAutofit/>
          </a:bodyPr>
          <a:lstStyle/>
          <a:p>
            <a:pPr algn="l">
              <a:lnSpc>
                <a:spcPct val="118000"/>
              </a:lnSpc>
            </a:pPr>
            <a:r>
              <a:rPr lang="en-US" sz="1950" b="1" dirty="0">
                <a:solidFill>
                  <a:srgbClr val="191A18"/>
                </a:solidFill>
                <a:latin typeface="Poppins"/>
                <a:ea typeface="Poppins"/>
                <a:cs typeface="Poppins"/>
              </a:rPr>
              <a:t>Jina v5 Omni embeddings</a:t>
            </a:r>
          </a:p>
        </p:txBody>
      </p:sp>
      <p:sp>
        <p:nvSpPr>
          <p:cNvPr id="216" name="Video embedded directly. A tex"/>
          <p:cNvSpPr txBox="1"/>
          <p:nvPr/>
        </p:nvSpPr>
        <p:spPr>
          <a:xfrm>
            <a:off x="7637750" y="6712500"/>
            <a:ext cx="9272500" cy="340000"/>
          </a:xfrm>
          <a:prstGeom prst="rect">
            <a:avLst/>
          </a:prstGeom>
          <a:noFill/>
          <a:ln>
            <a:noFill/>
          </a:ln>
        </p:spPr>
        <p:txBody>
          <a:bodyPr wrap="square" lIns="0" tIns="0" rIns="0" bIns="0" rtlCol="0" anchor="t">
            <a:noAutofit/>
          </a:bodyPr>
          <a:lstStyle/>
          <a:p>
            <a:pPr algn="l">
              <a:lnSpc>
                <a:spcPct val="118000"/>
              </a:lnSpc>
            </a:pPr>
            <a:r>
              <a:rPr lang="en-US" sz="1800" b="0" dirty="0">
                <a:solidFill>
                  <a:srgbClr val="5A5D59"/>
                </a:solidFill>
                <a:latin typeface="Poppins"/>
                <a:ea typeface="Poppins"/>
                <a:cs typeface="Poppins"/>
              </a:rPr>
              <a:t>Video embedded directly. A text fallback is recorded, never hidden.</a:t>
            </a:r>
          </a:p>
        </p:txBody>
      </p:sp>
      <p:sp>
        <p:nvSpPr>
          <p:cNvPr id="217" name="bar"/>
          <p:cNvSpPr/>
          <p:nvPr/>
        </p:nvSpPr>
        <p:spPr>
          <a:xfrm>
            <a:off x="1377750" y="7145000"/>
            <a:ext cx="15532500" cy="12700"/>
          </a:xfrm>
          <a:prstGeom prst="rect">
            <a:avLst/>
          </a:prstGeom>
          <a:solidFill>
            <a:srgbClr val="DFD8C6"/>
          </a:solidFill>
          <a:ln>
            <a:noFill/>
          </a:ln>
          <a:effectLst/>
        </p:spPr>
        <p:txBody>
          <a:bodyPr/>
          <a:lstStyle/>
          <a:p>
            <a:endParaRPr lang="en-US"/>
          </a:p>
        </p:txBody>
      </p:sp>
      <p:sp>
        <p:nvSpPr>
          <p:cNvPr id="218" name="bar"/>
          <p:cNvSpPr/>
          <p:nvPr/>
        </p:nvSpPr>
        <p:spPr>
          <a:xfrm>
            <a:off x="1377750" y="7245000"/>
            <a:ext cx="1400000" cy="330000"/>
          </a:xfrm>
          <a:prstGeom prst="roundRect">
            <a:avLst>
              <a:gd name="adj" fmla="val 50000"/>
            </a:avLst>
          </a:prstGeom>
          <a:solidFill>
            <a:srgbClr val="46683F"/>
          </a:solidFill>
          <a:ln>
            <a:noFill/>
          </a:ln>
          <a:effectLst/>
        </p:spPr>
        <p:txBody>
          <a:bodyPr/>
          <a:lstStyle/>
          <a:p>
            <a:endParaRPr lang="en-US"/>
          </a:p>
        </p:txBody>
      </p:sp>
      <p:sp>
        <p:nvSpPr>
          <p:cNvPr id="219" name="pill"/>
          <p:cNvSpPr txBox="1"/>
          <p:nvPr/>
        </p:nvSpPr>
        <p:spPr>
          <a:xfrm>
            <a:off x="1377750" y="7245000"/>
            <a:ext cx="1400000" cy="330000"/>
          </a:xfrm>
          <a:prstGeom prst="rect">
            <a:avLst/>
          </a:prstGeom>
          <a:noFill/>
          <a:ln>
            <a:noFill/>
          </a:ln>
        </p:spPr>
        <p:txBody>
          <a:bodyPr wrap="square" lIns="0" tIns="0" rIns="0" bIns="0" rtlCol="0" anchor="ctr">
            <a:noAutofit/>
          </a:bodyPr>
          <a:lstStyle/>
          <a:p>
            <a:pPr algn="ctr">
              <a:lnSpc>
                <a:spcPct val="100000"/>
              </a:lnSpc>
            </a:pPr>
            <a:r>
              <a:rPr lang="en-US" sz="1425" b="1" dirty="0">
                <a:solidFill>
                  <a:srgbClr val="FFFFFF"/>
                </a:solidFill>
                <a:latin typeface="Poppins"/>
                <a:ea typeface="Poppins"/>
                <a:cs typeface="Poppins"/>
              </a:rPr>
              <a:t>LIVE</a:t>
            </a:r>
          </a:p>
        </p:txBody>
      </p:sp>
      <p:sp>
        <p:nvSpPr>
          <p:cNvPr id="220" name="Hybrid semantic search"/>
          <p:cNvSpPr txBox="1"/>
          <p:nvPr/>
        </p:nvSpPr>
        <p:spPr>
          <a:xfrm>
            <a:off x="2937750" y="7225000"/>
            <a:ext cx="4400000" cy="380000"/>
          </a:xfrm>
          <a:prstGeom prst="rect">
            <a:avLst/>
          </a:prstGeom>
          <a:noFill/>
          <a:ln>
            <a:noFill/>
          </a:ln>
        </p:spPr>
        <p:txBody>
          <a:bodyPr wrap="square" lIns="0" tIns="0" rIns="0" bIns="0" rtlCol="0" anchor="t">
            <a:noAutofit/>
          </a:bodyPr>
          <a:lstStyle/>
          <a:p>
            <a:pPr algn="l">
              <a:lnSpc>
                <a:spcPct val="118000"/>
              </a:lnSpc>
            </a:pPr>
            <a:r>
              <a:rPr lang="en-US" sz="1950" b="1" dirty="0">
                <a:solidFill>
                  <a:srgbClr val="191A18"/>
                </a:solidFill>
                <a:latin typeface="Poppins"/>
                <a:ea typeface="Poppins"/>
                <a:cs typeface="Poppins"/>
              </a:rPr>
              <a:t>Hybrid semantic search</a:t>
            </a:r>
          </a:p>
        </p:txBody>
      </p:sp>
      <p:sp>
        <p:nvSpPr>
          <p:cNvPr id="221" name="A live 'laptop keyboard' query"/>
          <p:cNvSpPr txBox="1"/>
          <p:nvPr/>
        </p:nvSpPr>
        <p:spPr>
          <a:xfrm>
            <a:off x="7637750" y="7245000"/>
            <a:ext cx="9272500" cy="340000"/>
          </a:xfrm>
          <a:prstGeom prst="rect">
            <a:avLst/>
          </a:prstGeom>
          <a:noFill/>
          <a:ln>
            <a:noFill/>
          </a:ln>
        </p:spPr>
        <p:txBody>
          <a:bodyPr wrap="square" lIns="0" tIns="0" rIns="0" bIns="0" rtlCol="0" anchor="t">
            <a:noAutofit/>
          </a:bodyPr>
          <a:lstStyle/>
          <a:p>
            <a:pPr algn="l">
              <a:lnSpc>
                <a:spcPct val="118000"/>
              </a:lnSpc>
            </a:pPr>
            <a:r>
              <a:rPr lang="en-US" sz="1800" b="0" dirty="0">
                <a:solidFill>
                  <a:srgbClr val="5A5D59"/>
                </a:solidFill>
                <a:latin typeface="Poppins"/>
                <a:ea typeface="Poppins"/>
                <a:cs typeface="Poppins"/>
              </a:rPr>
              <a:t>A live 'laptop keyboard' query returned the keyboard moment first.</a:t>
            </a:r>
          </a:p>
        </p:txBody>
      </p:sp>
      <p:sp>
        <p:nvSpPr>
          <p:cNvPr id="222" name="bar"/>
          <p:cNvSpPr/>
          <p:nvPr/>
        </p:nvSpPr>
        <p:spPr>
          <a:xfrm>
            <a:off x="1377750" y="7677500"/>
            <a:ext cx="15532500" cy="12700"/>
          </a:xfrm>
          <a:prstGeom prst="rect">
            <a:avLst/>
          </a:prstGeom>
          <a:solidFill>
            <a:srgbClr val="DFD8C6"/>
          </a:solidFill>
          <a:ln>
            <a:noFill/>
          </a:ln>
          <a:effectLst/>
        </p:spPr>
        <p:txBody>
          <a:bodyPr/>
          <a:lstStyle/>
          <a:p>
            <a:endParaRPr lang="en-US"/>
          </a:p>
        </p:txBody>
      </p:sp>
      <p:sp>
        <p:nvSpPr>
          <p:cNvPr id="223" name="bar"/>
          <p:cNvSpPr/>
          <p:nvPr/>
        </p:nvSpPr>
        <p:spPr>
          <a:xfrm>
            <a:off x="1377750" y="7777500"/>
            <a:ext cx="1400000" cy="330000"/>
          </a:xfrm>
          <a:prstGeom prst="roundRect">
            <a:avLst>
              <a:gd name="adj" fmla="val 50000"/>
            </a:avLst>
          </a:prstGeom>
          <a:solidFill>
            <a:srgbClr val="9B712B"/>
          </a:solidFill>
          <a:ln>
            <a:noFill/>
          </a:ln>
          <a:effectLst/>
        </p:spPr>
        <p:txBody>
          <a:bodyPr/>
          <a:lstStyle/>
          <a:p>
            <a:endParaRPr lang="en-US"/>
          </a:p>
        </p:txBody>
      </p:sp>
      <p:sp>
        <p:nvSpPr>
          <p:cNvPr id="224" name="pill"/>
          <p:cNvSpPr txBox="1"/>
          <p:nvPr/>
        </p:nvSpPr>
        <p:spPr>
          <a:xfrm>
            <a:off x="1377750" y="7777500"/>
            <a:ext cx="1400000" cy="330000"/>
          </a:xfrm>
          <a:prstGeom prst="rect">
            <a:avLst/>
          </a:prstGeom>
          <a:noFill/>
          <a:ln>
            <a:noFill/>
          </a:ln>
        </p:spPr>
        <p:txBody>
          <a:bodyPr wrap="square" lIns="0" tIns="0" rIns="0" bIns="0" rtlCol="0" anchor="ctr">
            <a:noAutofit/>
          </a:bodyPr>
          <a:lstStyle/>
          <a:p>
            <a:pPr algn="ctr">
              <a:lnSpc>
                <a:spcPct val="100000"/>
              </a:lnSpc>
            </a:pPr>
            <a:r>
              <a:rPr lang="en-US" sz="1425" b="1" dirty="0">
                <a:solidFill>
                  <a:srgbClr val="FFFFFF"/>
                </a:solidFill>
                <a:latin typeface="Poppins"/>
                <a:ea typeface="Poppins"/>
                <a:cs typeface="Poppins"/>
              </a:rPr>
              <a:t>NEXT</a:t>
            </a:r>
          </a:p>
        </p:txBody>
      </p:sp>
      <p:sp>
        <p:nvSpPr>
          <p:cNvPr id="225" name="Workflows and Agent Builder"/>
          <p:cNvSpPr txBox="1"/>
          <p:nvPr/>
        </p:nvSpPr>
        <p:spPr>
          <a:xfrm>
            <a:off x="2937750" y="7757500"/>
            <a:ext cx="4400000" cy="380000"/>
          </a:xfrm>
          <a:prstGeom prst="rect">
            <a:avLst/>
          </a:prstGeom>
          <a:noFill/>
          <a:ln>
            <a:noFill/>
          </a:ln>
        </p:spPr>
        <p:txBody>
          <a:bodyPr wrap="square" lIns="0" tIns="0" rIns="0" bIns="0" rtlCol="0" anchor="t">
            <a:noAutofit/>
          </a:bodyPr>
          <a:lstStyle/>
          <a:p>
            <a:pPr algn="l">
              <a:lnSpc>
                <a:spcPct val="118000"/>
              </a:lnSpc>
            </a:pPr>
            <a:r>
              <a:rPr lang="en-US" sz="1950" b="1" dirty="0">
                <a:solidFill>
                  <a:srgbClr val="191A18"/>
                </a:solidFill>
                <a:latin typeface="Poppins"/>
                <a:ea typeface="Poppins"/>
                <a:cs typeface="Poppins"/>
              </a:rPr>
              <a:t>Workflows and Agent Builder</a:t>
            </a:r>
          </a:p>
        </p:txBody>
      </p:sp>
      <p:sp>
        <p:nvSpPr>
          <p:cNvPr id="226" name="Baseline normalisation and a r"/>
          <p:cNvSpPr txBox="1"/>
          <p:nvPr/>
        </p:nvSpPr>
        <p:spPr>
          <a:xfrm>
            <a:off x="7637750" y="7777500"/>
            <a:ext cx="9272500" cy="340000"/>
          </a:xfrm>
          <a:prstGeom prst="rect">
            <a:avLst/>
          </a:prstGeom>
          <a:noFill/>
          <a:ln>
            <a:noFill/>
          </a:ln>
        </p:spPr>
        <p:txBody>
          <a:bodyPr wrap="square" lIns="0" tIns="0" rIns="0" bIns="0" rtlCol="0" anchor="t">
            <a:noAutofit/>
          </a:bodyPr>
          <a:lstStyle/>
          <a:p>
            <a:pPr algn="l">
              <a:lnSpc>
                <a:spcPct val="118000"/>
              </a:lnSpc>
            </a:pPr>
            <a:r>
              <a:rPr lang="en-US" sz="1800" b="0" dirty="0">
                <a:solidFill>
                  <a:srgbClr val="5A5D59"/>
                </a:solidFill>
                <a:latin typeface="Poppins"/>
                <a:ea typeface="Poppins"/>
                <a:cs typeface="Poppins"/>
              </a:rPr>
              <a:t>Baseline normalisation and a recall agent. Designed, not yet built.</a:t>
            </a:r>
          </a:p>
        </p:txBody>
      </p:sp>
      <p:sp>
        <p:nvSpPr>
          <p:cNvPr id="227" name="kicker"/>
          <p:cNvSpPr txBox="1"/>
          <p:nvPr/>
        </p:nvSpPr>
        <p:spPr>
          <a:xfrm>
            <a:off x="1047750" y="8760000"/>
            <a:ext cx="16192500" cy="560000"/>
          </a:xfrm>
          <a:prstGeom prst="rect">
            <a:avLst/>
          </a:prstGeom>
          <a:noFill/>
          <a:ln>
            <a:noFill/>
          </a:ln>
        </p:spPr>
        <p:txBody>
          <a:bodyPr wrap="square" lIns="0" tIns="0" rIns="0" bIns="0" rtlCol="0" anchor="t">
            <a:noAutofit/>
          </a:bodyPr>
          <a:lstStyle/>
          <a:p>
            <a:pPr algn="l">
              <a:lnSpc>
                <a:spcPct val="118000"/>
              </a:lnSpc>
            </a:pPr>
            <a:r>
              <a:rPr lang="en-US" sz="3000" b="1" dirty="0">
                <a:solidFill>
                  <a:srgbClr val="191A18"/>
                </a:solidFill>
                <a:latin typeface="Poppins"/>
                <a:ea typeface="Poppins"/>
                <a:cs typeface="Poppins"/>
              </a:rPr>
              <a:t>Semantic and vector indexing is the backbone, not a bolt-on.</a:t>
            </a:r>
          </a:p>
        </p:txBody>
      </p:sp>
      <p:sp>
        <p:nvSpPr>
          <p:cNvPr id="228" name="footnote"/>
          <p:cNvSpPr txBox="1"/>
          <p:nvPr/>
        </p:nvSpPr>
        <p:spPr>
          <a:xfrm>
            <a:off x="1047750" y="9486900"/>
            <a:ext cx="16192500" cy="476250"/>
          </a:xfrm>
          <a:prstGeom prst="rect">
            <a:avLst/>
          </a:prstGeom>
          <a:noFill/>
          <a:ln>
            <a:noFill/>
          </a:ln>
        </p:spPr>
        <p:txBody>
          <a:bodyPr wrap="square" lIns="0" tIns="0" rIns="0" bIns="0" rtlCol="0" anchor="t">
            <a:noAutofit/>
          </a:bodyPr>
          <a:lstStyle/>
          <a:p>
            <a:pPr algn="l">
              <a:lnSpc>
                <a:spcPct val="118000"/>
              </a:lnSpc>
            </a:pPr>
            <a:r>
              <a:rPr lang="en-US" sz="1875" b="0" dirty="0">
                <a:solidFill>
                  <a:srgbClr val="5A5D59"/>
                </a:solidFill>
                <a:latin typeface="Poppins"/>
                <a:ea typeface="Poppins"/>
                <a:cs typeface="Poppins"/>
              </a:rPr>
              <a:t>Index memorypalace-multimodal-moments • .jina-embeddings-v5-omni-small • eegdemo/elastic_store.py</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7F4EC"/>
        </a:solidFill>
        <a:effectLst/>
      </p:bgPr>
    </p:bg>
    <p:spTree>
      <p:nvGrpSpPr>
        <p:cNvPr id="1" name=""/>
        <p:cNvGrpSpPr/>
        <p:nvPr/>
      </p:nvGrpSpPr>
      <p:grpSpPr>
        <a:xfrm>
          <a:off x="0" y="0"/>
          <a:ext cx="0" cy="0"/>
          <a:chOff x="0" y="0"/>
          <a:chExt cx="0" cy="0"/>
        </a:xfrm>
      </p:grpSpPr>
      <p:pic>
        <p:nvPicPr>
          <p:cNvPr id="228" name="Meta"/>
          <p:cNvPicPr/>
          <p:nvPr/>
        </p:nvPicPr>
        <p:blipFill>
          <a:blip r:embed="rId3"/>
          <a:stretch>
            <a:fillRect/>
          </a:stretch>
        </p:blipFill>
        <p:spPr>
          <a:xfrm>
            <a:off x="14229292" y="666750"/>
            <a:ext cx="2116667" cy="1190625"/>
          </a:xfrm>
          <a:prstGeom prst="rect">
            <a:avLst/>
          </a:prstGeom>
        </p:spPr>
      </p:pic>
      <p:sp>
        <p:nvSpPr>
          <p:cNvPr id="229" name="Meta sees it, hears you, answers."/>
          <p:cNvSpPr txBox="1"/>
          <p:nvPr/>
        </p:nvSpPr>
        <p:spPr>
          <a:xfrm>
            <a:off x="1000125" y="742950"/>
            <a:ext cx="16287750" cy="1238250"/>
          </a:xfrm>
          <a:prstGeom prst="rect">
            <a:avLst/>
          </a:prstGeom>
          <a:noFill/>
          <a:ln>
            <a:noFill/>
          </a:ln>
        </p:spPr>
        <p:txBody>
          <a:bodyPr wrap="square" lIns="0" tIns="0" rIns="0" bIns="0" rtlCol="0" anchor="t">
            <a:noAutofit/>
          </a:bodyPr>
          <a:lstStyle/>
          <a:p>
            <a:pPr algn="l">
              <a:lnSpc>
                <a:spcPct val="118000"/>
              </a:lnSpc>
            </a:pPr>
            <a:r>
              <a:rPr lang="en-US" sz="5400" b="1" dirty="0">
                <a:solidFill>
                  <a:srgbClr val="191A18"/>
                </a:solidFill>
                <a:latin typeface="Poppins"/>
                <a:ea typeface="Poppins"/>
                <a:cs typeface="Poppins"/>
              </a:rPr>
              <a:t>Meta sees it, hears you, answers.</a:t>
            </a:r>
          </a:p>
        </p:txBody>
      </p:sp>
      <p:sp>
        <p:nvSpPr>
          <p:cNvPr id="230" name="Sponsor challenge: bring people closer t"/>
          <p:cNvSpPr txBox="1"/>
          <p:nvPr/>
        </p:nvSpPr>
        <p:spPr>
          <a:xfrm>
            <a:off x="1047750" y="2028825"/>
            <a:ext cx="16192500" cy="1000125"/>
          </a:xfrm>
          <a:prstGeom prst="rect">
            <a:avLst/>
          </a:prstGeom>
          <a:noFill/>
          <a:ln>
            <a:noFill/>
          </a:ln>
        </p:spPr>
        <p:txBody>
          <a:bodyPr wrap="square" lIns="0" tIns="0" rIns="0" bIns="0" rtlCol="0" anchor="t">
            <a:noAutofit/>
          </a:bodyPr>
          <a:lstStyle/>
          <a:p>
            <a:pPr algn="l">
              <a:lnSpc>
                <a:spcPct val="118000"/>
              </a:lnSpc>
            </a:pPr>
            <a:r>
              <a:rPr lang="en-US" sz="2625" b="0" dirty="0">
                <a:solidFill>
                  <a:srgbClr val="5A5D59"/>
                </a:solidFill>
                <a:latin typeface="Poppins"/>
                <a:ea typeface="Poppins"/>
                <a:cs typeface="Poppins"/>
              </a:rPr>
              <a:t>Sponsor challenge: bring people closer together, with AI doing real work.</a:t>
            </a:r>
          </a:p>
        </p:txBody>
      </p:sp>
      <p:sp>
        <p:nvSpPr>
          <p:cNvPr id="231" name="card"/>
          <p:cNvSpPr/>
          <p:nvPr/>
        </p:nvSpPr>
        <p:spPr>
          <a:xfrm>
            <a:off x="1047750" y="3230000"/>
            <a:ext cx="5130800" cy="2400000"/>
          </a:xfrm>
          <a:prstGeom prst="roundRect">
            <a:avLst>
              <a:gd name="adj" fmla="val 4467"/>
            </a:avLst>
          </a:prstGeom>
          <a:solidFill>
            <a:srgbClr val="FBF9F3"/>
          </a:solidFill>
          <a:ln w="12700">
            <a:solidFill>
              <a:srgbClr val="DFD8C6"/>
            </a:solidFill>
            <a:prstDash val="solid"/>
          </a:ln>
          <a:effectLst>
            <a:outerShdw blurRad="114300" dist="25400" dir="5400000" algn="bl" rotWithShape="0">
              <a:srgbClr val="BFB49A">
                <a:alpha val="30000"/>
              </a:srgbClr>
            </a:outerShdw>
          </a:effectLst>
        </p:spPr>
        <p:txBody>
          <a:bodyPr/>
          <a:lstStyle/>
          <a:p>
            <a:endParaRPr lang="en-US"/>
          </a:p>
        </p:txBody>
      </p:sp>
      <p:sp>
        <p:nvSpPr>
          <p:cNvPr id="232" name="SEE"/>
          <p:cNvSpPr txBox="1"/>
          <p:nvPr/>
        </p:nvSpPr>
        <p:spPr>
          <a:xfrm>
            <a:off x="1377750" y="3560000"/>
            <a:ext cx="2570800" cy="340000"/>
          </a:xfrm>
          <a:prstGeom prst="rect">
            <a:avLst/>
          </a:prstGeom>
          <a:noFill/>
          <a:ln>
            <a:noFill/>
          </a:ln>
        </p:spPr>
        <p:txBody>
          <a:bodyPr wrap="square" lIns="0" tIns="0" rIns="0" bIns="0" rtlCol="0" anchor="t">
            <a:noAutofit/>
          </a:bodyPr>
          <a:lstStyle/>
          <a:p>
            <a:pPr algn="l">
              <a:lnSpc>
                <a:spcPct val="118000"/>
              </a:lnSpc>
            </a:pPr>
            <a:r>
              <a:rPr lang="en-US" sz="1800" b="1" dirty="0">
                <a:solidFill>
                  <a:srgbClr val="46683F"/>
                </a:solidFill>
                <a:latin typeface="Poppins"/>
                <a:ea typeface="Poppins"/>
                <a:cs typeface="Poppins"/>
              </a:rPr>
              <a:t>SEE</a:t>
            </a:r>
          </a:p>
        </p:txBody>
      </p:sp>
      <p:sp>
        <p:nvSpPr>
          <p:cNvPr id="235" name="bar"/>
          <p:cNvSpPr/>
          <p:nvPr/>
        </p:nvSpPr>
        <p:spPr>
          <a:xfrm>
            <a:off x="5130776" y="3520000"/>
            <a:ext cx="717774" cy="340000"/>
          </a:xfrm>
          <a:prstGeom prst="roundRect">
            <a:avLst>
              <a:gd name="adj" fmla="val 50000"/>
            </a:avLst>
          </a:prstGeom>
          <a:solidFill>
            <a:srgbClr val="46683F"/>
          </a:solidFill>
          <a:ln>
            <a:noFill/>
          </a:ln>
          <a:effectLst/>
        </p:spPr>
        <p:txBody>
          <a:bodyPr/>
          <a:lstStyle/>
          <a:p>
            <a:endParaRPr lang="en-US"/>
          </a:p>
        </p:txBody>
      </p:sp>
      <p:sp>
        <p:nvSpPr>
          <p:cNvPr id="236" name="pill"/>
          <p:cNvSpPr txBox="1"/>
          <p:nvPr/>
        </p:nvSpPr>
        <p:spPr>
          <a:xfrm>
            <a:off x="5130776" y="3520000"/>
            <a:ext cx="717774" cy="340000"/>
          </a:xfrm>
          <a:prstGeom prst="rect">
            <a:avLst/>
          </a:prstGeom>
          <a:noFill/>
          <a:ln>
            <a:noFill/>
          </a:ln>
        </p:spPr>
        <p:txBody>
          <a:bodyPr wrap="square" lIns="0" tIns="0" rIns="0" bIns="0" rtlCol="0" anchor="ctr">
            <a:noAutofit/>
          </a:bodyPr>
          <a:lstStyle/>
          <a:p>
            <a:pPr algn="ctr">
              <a:lnSpc>
                <a:spcPct val="100000"/>
              </a:lnSpc>
            </a:pPr>
            <a:r>
              <a:rPr lang="en-US" sz="1425" b="1" dirty="0">
                <a:solidFill>
                  <a:srgbClr val="FFFFFF"/>
                </a:solidFill>
                <a:latin typeface="Poppins"/>
                <a:ea typeface="Poppins"/>
                <a:cs typeface="Poppins"/>
              </a:rPr>
              <a:t>LIVE</a:t>
            </a:r>
          </a:p>
        </p:txBody>
      </p:sp>
      <p:sp>
        <p:nvSpPr>
          <p:cNvPr id="237" name="Muse Spark 1.3"/>
          <p:cNvSpPr txBox="1"/>
          <p:nvPr/>
        </p:nvSpPr>
        <p:spPr>
          <a:xfrm>
            <a:off x="1377750" y="3960000"/>
            <a:ext cx="4470800" cy="314706"/>
          </a:xfrm>
          <a:prstGeom prst="rect">
            <a:avLst/>
          </a:prstGeom>
          <a:noFill/>
          <a:ln>
            <a:noFill/>
          </a:ln>
        </p:spPr>
        <p:txBody>
          <a:bodyPr wrap="square" lIns="0" tIns="0" rIns="0" bIns="0" rtlCol="0" anchor="t">
            <a:noAutofit/>
          </a:bodyPr>
          <a:lstStyle/>
          <a:p>
            <a:pPr algn="l">
              <a:lnSpc>
                <a:spcPct val="118000"/>
              </a:lnSpc>
            </a:pPr>
            <a:r>
              <a:rPr lang="en-US" sz="2100" b="1" dirty="0">
                <a:solidFill>
                  <a:srgbClr val="191A18"/>
                </a:solidFill>
                <a:latin typeface="Poppins"/>
                <a:ea typeface="Poppins"/>
                <a:cs typeface="Poppins"/>
              </a:rPr>
              <a:t>Muse Spark 1.3</a:t>
            </a:r>
          </a:p>
        </p:txBody>
      </p:sp>
      <p:sp>
        <p:nvSpPr>
          <p:cNvPr id="238" name="Sent as input_video. Returns t"/>
          <p:cNvSpPr txBox="1"/>
          <p:nvPr/>
        </p:nvSpPr>
        <p:spPr>
          <a:xfrm>
            <a:off x="1377750" y="4404706"/>
            <a:ext cx="4470800" cy="569595"/>
          </a:xfrm>
          <a:prstGeom prst="rect">
            <a:avLst/>
          </a:prstGeom>
          <a:noFill/>
          <a:ln>
            <a:noFill/>
          </a:ln>
        </p:spPr>
        <p:txBody>
          <a:bodyPr wrap="square" lIns="0" tIns="0" rIns="0" bIns="0" rtlCol="0" anchor="t">
            <a:noAutofit/>
          </a:bodyPr>
          <a:lstStyle/>
          <a:p>
            <a:pPr algn="l">
              <a:lnSpc>
                <a:spcPct val="130000"/>
              </a:lnSpc>
            </a:pPr>
            <a:r>
              <a:rPr lang="en-US" sz="1725" b="0" dirty="0">
                <a:solidFill>
                  <a:srgbClr val="5A5D59"/>
                </a:solidFill>
                <a:latin typeface="Poppins"/>
                <a:ea typeface="Poppins"/>
                <a:cs typeface="Poppins"/>
              </a:rPr>
              <a:t>Sent as input_video. Returns title, description, keywords, topics.</a:t>
            </a:r>
          </a:p>
        </p:txBody>
      </p:sp>
      <p:sp>
        <p:nvSpPr>
          <p:cNvPr id="239" name="card"/>
          <p:cNvSpPr/>
          <p:nvPr/>
        </p:nvSpPr>
        <p:spPr>
          <a:xfrm>
            <a:off x="6578600" y="3230000"/>
            <a:ext cx="5130800" cy="2400000"/>
          </a:xfrm>
          <a:prstGeom prst="roundRect">
            <a:avLst>
              <a:gd name="adj" fmla="val 4467"/>
            </a:avLst>
          </a:prstGeom>
          <a:solidFill>
            <a:srgbClr val="FBF9F3"/>
          </a:solidFill>
          <a:ln w="12700">
            <a:solidFill>
              <a:srgbClr val="DFD8C6"/>
            </a:solidFill>
            <a:prstDash val="solid"/>
          </a:ln>
          <a:effectLst>
            <a:outerShdw blurRad="114300" dist="25400" dir="5400000" algn="bl" rotWithShape="0">
              <a:srgbClr val="BFB49A">
                <a:alpha val="30000"/>
              </a:srgbClr>
            </a:outerShdw>
          </a:effectLst>
        </p:spPr>
        <p:txBody>
          <a:bodyPr/>
          <a:lstStyle/>
          <a:p>
            <a:endParaRPr lang="en-US"/>
          </a:p>
        </p:txBody>
      </p:sp>
      <p:sp>
        <p:nvSpPr>
          <p:cNvPr id="240" name="GROUND"/>
          <p:cNvSpPr txBox="1"/>
          <p:nvPr/>
        </p:nvSpPr>
        <p:spPr>
          <a:xfrm>
            <a:off x="6908600" y="3560000"/>
            <a:ext cx="2570800" cy="340000"/>
          </a:xfrm>
          <a:prstGeom prst="rect">
            <a:avLst/>
          </a:prstGeom>
          <a:noFill/>
          <a:ln>
            <a:noFill/>
          </a:ln>
        </p:spPr>
        <p:txBody>
          <a:bodyPr wrap="square" lIns="0" tIns="0" rIns="0" bIns="0" rtlCol="0" anchor="t">
            <a:noAutofit/>
          </a:bodyPr>
          <a:lstStyle/>
          <a:p>
            <a:pPr algn="l">
              <a:lnSpc>
                <a:spcPct val="118000"/>
              </a:lnSpc>
            </a:pPr>
            <a:r>
              <a:rPr lang="en-US" sz="1800" b="1" dirty="0">
                <a:solidFill>
                  <a:srgbClr val="46683F"/>
                </a:solidFill>
                <a:latin typeface="Poppins"/>
                <a:ea typeface="Poppins"/>
                <a:cs typeface="Poppins"/>
              </a:rPr>
              <a:t>GROUND</a:t>
            </a:r>
          </a:p>
        </p:txBody>
      </p:sp>
      <p:sp>
        <p:nvSpPr>
          <p:cNvPr id="243" name="bar"/>
          <p:cNvSpPr/>
          <p:nvPr/>
        </p:nvSpPr>
        <p:spPr>
          <a:xfrm>
            <a:off x="10661626" y="3520000"/>
            <a:ext cx="717774" cy="340000"/>
          </a:xfrm>
          <a:prstGeom prst="roundRect">
            <a:avLst>
              <a:gd name="adj" fmla="val 50000"/>
            </a:avLst>
          </a:prstGeom>
          <a:solidFill>
            <a:srgbClr val="46683F"/>
          </a:solidFill>
          <a:ln>
            <a:noFill/>
          </a:ln>
          <a:effectLst/>
        </p:spPr>
        <p:txBody>
          <a:bodyPr/>
          <a:lstStyle/>
          <a:p>
            <a:endParaRPr lang="en-US"/>
          </a:p>
        </p:txBody>
      </p:sp>
      <p:sp>
        <p:nvSpPr>
          <p:cNvPr id="244" name="pill"/>
          <p:cNvSpPr txBox="1"/>
          <p:nvPr/>
        </p:nvSpPr>
        <p:spPr>
          <a:xfrm>
            <a:off x="10661626" y="3520000"/>
            <a:ext cx="717774" cy="340000"/>
          </a:xfrm>
          <a:prstGeom prst="rect">
            <a:avLst/>
          </a:prstGeom>
          <a:noFill/>
          <a:ln>
            <a:noFill/>
          </a:ln>
        </p:spPr>
        <p:txBody>
          <a:bodyPr wrap="square" lIns="0" tIns="0" rIns="0" bIns="0" rtlCol="0" anchor="ctr">
            <a:noAutofit/>
          </a:bodyPr>
          <a:lstStyle/>
          <a:p>
            <a:pPr algn="ctr">
              <a:lnSpc>
                <a:spcPct val="100000"/>
              </a:lnSpc>
            </a:pPr>
            <a:r>
              <a:rPr lang="en-US" sz="1425" b="1" dirty="0">
                <a:solidFill>
                  <a:srgbClr val="FFFFFF"/>
                </a:solidFill>
                <a:latin typeface="Poppins"/>
                <a:ea typeface="Poppins"/>
                <a:cs typeface="Poppins"/>
              </a:rPr>
              <a:t>LIVE</a:t>
            </a:r>
          </a:p>
        </p:txBody>
      </p:sp>
      <p:sp>
        <p:nvSpPr>
          <p:cNvPr id="245" name="Muse Spark web search"/>
          <p:cNvSpPr txBox="1"/>
          <p:nvPr/>
        </p:nvSpPr>
        <p:spPr>
          <a:xfrm>
            <a:off x="6908600" y="3960000"/>
            <a:ext cx="4470800" cy="314706"/>
          </a:xfrm>
          <a:prstGeom prst="rect">
            <a:avLst/>
          </a:prstGeom>
          <a:noFill/>
          <a:ln>
            <a:noFill/>
          </a:ln>
        </p:spPr>
        <p:txBody>
          <a:bodyPr wrap="square" lIns="0" tIns="0" rIns="0" bIns="0" rtlCol="0" anchor="t">
            <a:noAutofit/>
          </a:bodyPr>
          <a:lstStyle/>
          <a:p>
            <a:pPr algn="l">
              <a:lnSpc>
                <a:spcPct val="118000"/>
              </a:lnSpc>
            </a:pPr>
            <a:r>
              <a:rPr lang="en-US" sz="2100" b="1" dirty="0">
                <a:solidFill>
                  <a:srgbClr val="191A18"/>
                </a:solidFill>
                <a:latin typeface="Poppins"/>
                <a:ea typeface="Poppins"/>
                <a:cs typeface="Poppins"/>
              </a:rPr>
              <a:t>Muse Spark web search</a:t>
            </a:r>
          </a:p>
        </p:txBody>
      </p:sp>
      <p:sp>
        <p:nvSpPr>
          <p:cNvPr id="246" name="Public names verified before i"/>
          <p:cNvSpPr txBox="1"/>
          <p:nvPr/>
        </p:nvSpPr>
        <p:spPr>
          <a:xfrm>
            <a:off x="6908600" y="4404706"/>
            <a:ext cx="4470800" cy="569595"/>
          </a:xfrm>
          <a:prstGeom prst="rect">
            <a:avLst/>
          </a:prstGeom>
          <a:noFill/>
          <a:ln>
            <a:noFill/>
          </a:ln>
        </p:spPr>
        <p:txBody>
          <a:bodyPr wrap="square" lIns="0" tIns="0" rIns="0" bIns="0" rtlCol="0" anchor="t">
            <a:noAutofit/>
          </a:bodyPr>
          <a:lstStyle/>
          <a:p>
            <a:pPr algn="l">
              <a:lnSpc>
                <a:spcPct val="130000"/>
              </a:lnSpc>
            </a:pPr>
            <a:r>
              <a:rPr lang="en-US" sz="1725" b="0" dirty="0">
                <a:solidFill>
                  <a:srgbClr val="5A5D59"/>
                </a:solidFill>
                <a:latin typeface="Poppins"/>
                <a:ea typeface="Poppins"/>
                <a:cs typeface="Poppins"/>
              </a:rPr>
              <a:t>Public names verified before indexing. A hint is never proof.</a:t>
            </a:r>
          </a:p>
        </p:txBody>
      </p:sp>
      <p:sp>
        <p:nvSpPr>
          <p:cNvPr id="247" name="card"/>
          <p:cNvSpPr/>
          <p:nvPr/>
        </p:nvSpPr>
        <p:spPr>
          <a:xfrm>
            <a:off x="12109450" y="3230000"/>
            <a:ext cx="5130800" cy="2400000"/>
          </a:xfrm>
          <a:prstGeom prst="roundRect">
            <a:avLst>
              <a:gd name="adj" fmla="val 4467"/>
            </a:avLst>
          </a:prstGeom>
          <a:solidFill>
            <a:srgbClr val="FBF9F3"/>
          </a:solidFill>
          <a:ln w="12700">
            <a:solidFill>
              <a:srgbClr val="DFD8C6"/>
            </a:solidFill>
            <a:prstDash val="solid"/>
          </a:ln>
          <a:effectLst>
            <a:outerShdw blurRad="114300" dist="25400" dir="5400000" algn="bl" rotWithShape="0">
              <a:srgbClr val="BFB49A">
                <a:alpha val="30000"/>
              </a:srgbClr>
            </a:outerShdw>
          </a:effectLst>
        </p:spPr>
        <p:txBody>
          <a:bodyPr/>
          <a:lstStyle/>
          <a:p>
            <a:endParaRPr lang="en-US"/>
          </a:p>
        </p:txBody>
      </p:sp>
      <p:sp>
        <p:nvSpPr>
          <p:cNvPr id="248" name="HEAR"/>
          <p:cNvSpPr txBox="1"/>
          <p:nvPr/>
        </p:nvSpPr>
        <p:spPr>
          <a:xfrm>
            <a:off x="12439450" y="3560000"/>
            <a:ext cx="2570800" cy="340000"/>
          </a:xfrm>
          <a:prstGeom prst="rect">
            <a:avLst/>
          </a:prstGeom>
          <a:noFill/>
          <a:ln>
            <a:noFill/>
          </a:ln>
        </p:spPr>
        <p:txBody>
          <a:bodyPr wrap="square" lIns="0" tIns="0" rIns="0" bIns="0" rtlCol="0" anchor="t">
            <a:noAutofit/>
          </a:bodyPr>
          <a:lstStyle/>
          <a:p>
            <a:pPr algn="l">
              <a:lnSpc>
                <a:spcPct val="118000"/>
              </a:lnSpc>
            </a:pPr>
            <a:r>
              <a:rPr lang="en-US" sz="1800" b="1" dirty="0">
                <a:solidFill>
                  <a:srgbClr val="46683F"/>
                </a:solidFill>
                <a:latin typeface="Poppins"/>
                <a:ea typeface="Poppins"/>
                <a:cs typeface="Poppins"/>
              </a:rPr>
              <a:t>HEAR</a:t>
            </a:r>
          </a:p>
        </p:txBody>
      </p:sp>
      <p:sp>
        <p:nvSpPr>
          <p:cNvPr id="251" name="bar"/>
          <p:cNvSpPr/>
          <p:nvPr/>
        </p:nvSpPr>
        <p:spPr>
          <a:xfrm>
            <a:off x="16192476" y="3520000"/>
            <a:ext cx="717774" cy="340000"/>
          </a:xfrm>
          <a:prstGeom prst="roundRect">
            <a:avLst>
              <a:gd name="adj" fmla="val 50000"/>
            </a:avLst>
          </a:prstGeom>
          <a:solidFill>
            <a:srgbClr val="46683F"/>
          </a:solidFill>
          <a:ln>
            <a:noFill/>
          </a:ln>
          <a:effectLst/>
        </p:spPr>
        <p:txBody>
          <a:bodyPr/>
          <a:lstStyle/>
          <a:p>
            <a:endParaRPr lang="en-US"/>
          </a:p>
        </p:txBody>
      </p:sp>
      <p:sp>
        <p:nvSpPr>
          <p:cNvPr id="252" name="pill"/>
          <p:cNvSpPr txBox="1"/>
          <p:nvPr/>
        </p:nvSpPr>
        <p:spPr>
          <a:xfrm>
            <a:off x="16192476" y="3520000"/>
            <a:ext cx="717774" cy="340000"/>
          </a:xfrm>
          <a:prstGeom prst="rect">
            <a:avLst/>
          </a:prstGeom>
          <a:noFill/>
          <a:ln>
            <a:noFill/>
          </a:ln>
        </p:spPr>
        <p:txBody>
          <a:bodyPr wrap="square" lIns="0" tIns="0" rIns="0" bIns="0" rtlCol="0" anchor="ctr">
            <a:noAutofit/>
          </a:bodyPr>
          <a:lstStyle/>
          <a:p>
            <a:pPr algn="ctr">
              <a:lnSpc>
                <a:spcPct val="100000"/>
              </a:lnSpc>
            </a:pPr>
            <a:r>
              <a:rPr lang="en-US" sz="1425" b="1" dirty="0">
                <a:solidFill>
                  <a:srgbClr val="FFFFFF"/>
                </a:solidFill>
                <a:latin typeface="Poppins"/>
                <a:ea typeface="Poppins"/>
                <a:cs typeface="Poppins"/>
              </a:rPr>
              <a:t>LIVE</a:t>
            </a:r>
          </a:p>
        </p:txBody>
      </p:sp>
      <p:sp>
        <p:nvSpPr>
          <p:cNvPr id="253" name="Muse Voice Transcribe"/>
          <p:cNvSpPr txBox="1"/>
          <p:nvPr/>
        </p:nvSpPr>
        <p:spPr>
          <a:xfrm>
            <a:off x="12439450" y="3960000"/>
            <a:ext cx="4470800" cy="314706"/>
          </a:xfrm>
          <a:prstGeom prst="rect">
            <a:avLst/>
          </a:prstGeom>
          <a:noFill/>
          <a:ln>
            <a:noFill/>
          </a:ln>
        </p:spPr>
        <p:txBody>
          <a:bodyPr wrap="square" lIns="0" tIns="0" rIns="0" bIns="0" rtlCol="0" anchor="t">
            <a:noAutofit/>
          </a:bodyPr>
          <a:lstStyle/>
          <a:p>
            <a:pPr algn="l">
              <a:lnSpc>
                <a:spcPct val="118000"/>
              </a:lnSpc>
            </a:pPr>
            <a:r>
              <a:rPr lang="en-US" sz="2100" b="1" dirty="0">
                <a:solidFill>
                  <a:srgbClr val="191A18"/>
                </a:solidFill>
                <a:latin typeface="Poppins"/>
                <a:ea typeface="Poppins"/>
                <a:cs typeface="Poppins"/>
              </a:rPr>
              <a:t>Muse Voice Transcribe</a:t>
            </a:r>
          </a:p>
        </p:txBody>
      </p:sp>
      <p:sp>
        <p:nvSpPr>
          <p:cNvPr id="254" name="Push to talk, 24 kHz mono, 30 "/>
          <p:cNvSpPr txBox="1"/>
          <p:nvPr/>
        </p:nvSpPr>
        <p:spPr>
          <a:xfrm>
            <a:off x="12439450" y="4404706"/>
            <a:ext cx="4470800" cy="569595"/>
          </a:xfrm>
          <a:prstGeom prst="rect">
            <a:avLst/>
          </a:prstGeom>
          <a:noFill/>
          <a:ln>
            <a:noFill/>
          </a:ln>
        </p:spPr>
        <p:txBody>
          <a:bodyPr wrap="square" lIns="0" tIns="0" rIns="0" bIns="0" rtlCol="0" anchor="t">
            <a:noAutofit/>
          </a:bodyPr>
          <a:lstStyle/>
          <a:p>
            <a:pPr algn="l">
              <a:lnSpc>
                <a:spcPct val="130000"/>
              </a:lnSpc>
            </a:pPr>
            <a:r>
              <a:rPr lang="en-US" sz="1725" b="0" dirty="0">
                <a:solidFill>
                  <a:srgbClr val="5A5D59"/>
                </a:solidFill>
                <a:latin typeface="Poppins"/>
                <a:ea typeface="Poppins"/>
                <a:cs typeface="Poppins"/>
              </a:rPr>
              <a:t>Push to talk, 24 kHz mono, 30 s. Transcribed, then dropped.</a:t>
            </a:r>
          </a:p>
        </p:txBody>
      </p:sp>
      <p:sp>
        <p:nvSpPr>
          <p:cNvPr id="255" name="card"/>
          <p:cNvSpPr/>
          <p:nvPr/>
        </p:nvSpPr>
        <p:spPr>
          <a:xfrm>
            <a:off x="1047750" y="5970000"/>
            <a:ext cx="5130800" cy="2400000"/>
          </a:xfrm>
          <a:prstGeom prst="roundRect">
            <a:avLst>
              <a:gd name="adj" fmla="val 4467"/>
            </a:avLst>
          </a:prstGeom>
          <a:solidFill>
            <a:srgbClr val="FBF9F3"/>
          </a:solidFill>
          <a:ln w="12700">
            <a:solidFill>
              <a:srgbClr val="DFD8C6"/>
            </a:solidFill>
            <a:prstDash val="solid"/>
          </a:ln>
          <a:effectLst>
            <a:outerShdw blurRad="114300" dist="25400" dir="5400000" algn="bl" rotWithShape="0">
              <a:srgbClr val="BFB49A">
                <a:alpha val="30000"/>
              </a:srgbClr>
            </a:outerShdw>
          </a:effectLst>
        </p:spPr>
        <p:txBody>
          <a:bodyPr/>
          <a:lstStyle/>
          <a:p>
            <a:endParaRPr lang="en-US"/>
          </a:p>
        </p:txBody>
      </p:sp>
      <p:sp>
        <p:nvSpPr>
          <p:cNvPr id="256" name="ANSWER"/>
          <p:cNvSpPr txBox="1"/>
          <p:nvPr/>
        </p:nvSpPr>
        <p:spPr>
          <a:xfrm>
            <a:off x="1377750" y="6300000"/>
            <a:ext cx="2570800" cy="340000"/>
          </a:xfrm>
          <a:prstGeom prst="rect">
            <a:avLst/>
          </a:prstGeom>
          <a:noFill/>
          <a:ln>
            <a:noFill/>
          </a:ln>
        </p:spPr>
        <p:txBody>
          <a:bodyPr wrap="square" lIns="0" tIns="0" rIns="0" bIns="0" rtlCol="0" anchor="t">
            <a:noAutofit/>
          </a:bodyPr>
          <a:lstStyle/>
          <a:p>
            <a:pPr algn="l">
              <a:lnSpc>
                <a:spcPct val="118000"/>
              </a:lnSpc>
            </a:pPr>
            <a:r>
              <a:rPr lang="en-US" sz="1800" b="1" dirty="0">
                <a:solidFill>
                  <a:srgbClr val="46683F"/>
                </a:solidFill>
                <a:latin typeface="Poppins"/>
                <a:ea typeface="Poppins"/>
                <a:cs typeface="Poppins"/>
              </a:rPr>
              <a:t>ANSWER</a:t>
            </a:r>
          </a:p>
        </p:txBody>
      </p:sp>
      <p:sp>
        <p:nvSpPr>
          <p:cNvPr id="259" name="bar"/>
          <p:cNvSpPr/>
          <p:nvPr/>
        </p:nvSpPr>
        <p:spPr>
          <a:xfrm>
            <a:off x="5130776" y="6260000"/>
            <a:ext cx="717774" cy="340000"/>
          </a:xfrm>
          <a:prstGeom prst="roundRect">
            <a:avLst>
              <a:gd name="adj" fmla="val 50000"/>
            </a:avLst>
          </a:prstGeom>
          <a:solidFill>
            <a:srgbClr val="46683F"/>
          </a:solidFill>
          <a:ln>
            <a:noFill/>
          </a:ln>
          <a:effectLst/>
        </p:spPr>
        <p:txBody>
          <a:bodyPr/>
          <a:lstStyle/>
          <a:p>
            <a:endParaRPr lang="en-US"/>
          </a:p>
        </p:txBody>
      </p:sp>
      <p:sp>
        <p:nvSpPr>
          <p:cNvPr id="260" name="pill"/>
          <p:cNvSpPr txBox="1"/>
          <p:nvPr/>
        </p:nvSpPr>
        <p:spPr>
          <a:xfrm>
            <a:off x="5130776" y="6260000"/>
            <a:ext cx="717774" cy="340000"/>
          </a:xfrm>
          <a:prstGeom prst="rect">
            <a:avLst/>
          </a:prstGeom>
          <a:noFill/>
          <a:ln>
            <a:noFill/>
          </a:ln>
        </p:spPr>
        <p:txBody>
          <a:bodyPr wrap="square" lIns="0" tIns="0" rIns="0" bIns="0" rtlCol="0" anchor="ctr">
            <a:noAutofit/>
          </a:bodyPr>
          <a:lstStyle/>
          <a:p>
            <a:pPr algn="ctr">
              <a:lnSpc>
                <a:spcPct val="100000"/>
              </a:lnSpc>
            </a:pPr>
            <a:r>
              <a:rPr lang="en-US" sz="1425" b="1" dirty="0">
                <a:solidFill>
                  <a:srgbClr val="FFFFFF"/>
                </a:solidFill>
                <a:latin typeface="Poppins"/>
                <a:ea typeface="Poppins"/>
                <a:cs typeface="Poppins"/>
              </a:rPr>
              <a:t>LIVE</a:t>
            </a:r>
          </a:p>
        </p:txBody>
      </p:sp>
      <p:sp>
        <p:nvSpPr>
          <p:cNvPr id="261" name="Memory Guard, Muse Spark"/>
          <p:cNvSpPr txBox="1"/>
          <p:nvPr/>
        </p:nvSpPr>
        <p:spPr>
          <a:xfrm>
            <a:off x="1377750" y="6700000"/>
            <a:ext cx="4470800" cy="314706"/>
          </a:xfrm>
          <a:prstGeom prst="rect">
            <a:avLst/>
          </a:prstGeom>
          <a:noFill/>
          <a:ln>
            <a:noFill/>
          </a:ln>
        </p:spPr>
        <p:txBody>
          <a:bodyPr wrap="square" lIns="0" tIns="0" rIns="0" bIns="0" rtlCol="0" anchor="t">
            <a:noAutofit/>
          </a:bodyPr>
          <a:lstStyle/>
          <a:p>
            <a:pPr algn="l">
              <a:lnSpc>
                <a:spcPct val="118000"/>
              </a:lnSpc>
            </a:pPr>
            <a:r>
              <a:rPr lang="en-US" sz="2100" b="1" dirty="0">
                <a:solidFill>
                  <a:srgbClr val="191A18"/>
                </a:solidFill>
                <a:latin typeface="Poppins"/>
                <a:ea typeface="Poppins"/>
                <a:cs typeface="Poppins"/>
              </a:rPr>
              <a:t>Memory Guard, Muse Spark</a:t>
            </a:r>
          </a:p>
        </p:txBody>
      </p:sp>
      <p:sp>
        <p:nvSpPr>
          <p:cNvPr id="262" name="Reasons over what Elastic retu"/>
          <p:cNvSpPr txBox="1"/>
          <p:nvPr/>
        </p:nvSpPr>
        <p:spPr>
          <a:xfrm>
            <a:off x="1377750" y="7144706"/>
            <a:ext cx="4470800" cy="569595"/>
          </a:xfrm>
          <a:prstGeom prst="rect">
            <a:avLst/>
          </a:prstGeom>
          <a:noFill/>
          <a:ln>
            <a:noFill/>
          </a:ln>
        </p:spPr>
        <p:txBody>
          <a:bodyPr wrap="square" lIns="0" tIns="0" rIns="0" bIns="0" rtlCol="0" anchor="t">
            <a:noAutofit/>
          </a:bodyPr>
          <a:lstStyle/>
          <a:p>
            <a:pPr algn="l">
              <a:lnSpc>
                <a:spcPct val="130000"/>
              </a:lnSpc>
            </a:pPr>
            <a:r>
              <a:rPr lang="en-US" sz="1725" b="0" dirty="0">
                <a:solidFill>
                  <a:srgbClr val="5A5D59"/>
                </a:solidFill>
                <a:latin typeface="Poppins"/>
                <a:ea typeface="Poppins"/>
                <a:cs typeface="Poppins"/>
              </a:rPr>
              <a:t>Reasons over what Elastic returned, and cites the clip to replay.</a:t>
            </a:r>
          </a:p>
        </p:txBody>
      </p:sp>
      <p:sp>
        <p:nvSpPr>
          <p:cNvPr id="263" name="card"/>
          <p:cNvSpPr/>
          <p:nvPr/>
        </p:nvSpPr>
        <p:spPr>
          <a:xfrm>
            <a:off x="6578600" y="5970000"/>
            <a:ext cx="5130800" cy="2400000"/>
          </a:xfrm>
          <a:prstGeom prst="roundRect">
            <a:avLst>
              <a:gd name="adj" fmla="val 4467"/>
            </a:avLst>
          </a:prstGeom>
          <a:solidFill>
            <a:srgbClr val="FBF9F3"/>
          </a:solidFill>
          <a:ln w="12700">
            <a:solidFill>
              <a:srgbClr val="DFD8C6"/>
            </a:solidFill>
            <a:prstDash val="solid"/>
          </a:ln>
          <a:effectLst>
            <a:outerShdw blurRad="114300" dist="25400" dir="5400000" algn="bl" rotWithShape="0">
              <a:srgbClr val="BFB49A">
                <a:alpha val="30000"/>
              </a:srgbClr>
            </a:outerShdw>
          </a:effectLst>
        </p:spPr>
        <p:txBody>
          <a:bodyPr/>
          <a:lstStyle/>
          <a:p>
            <a:endParaRPr lang="en-US"/>
          </a:p>
        </p:txBody>
      </p:sp>
      <p:sp>
        <p:nvSpPr>
          <p:cNvPr id="264" name="CAPTURE"/>
          <p:cNvSpPr txBox="1"/>
          <p:nvPr/>
        </p:nvSpPr>
        <p:spPr>
          <a:xfrm>
            <a:off x="6908600" y="6300000"/>
            <a:ext cx="2570800" cy="340000"/>
          </a:xfrm>
          <a:prstGeom prst="rect">
            <a:avLst/>
          </a:prstGeom>
          <a:noFill/>
          <a:ln>
            <a:noFill/>
          </a:ln>
        </p:spPr>
        <p:txBody>
          <a:bodyPr wrap="square" lIns="0" tIns="0" rIns="0" bIns="0" rtlCol="0" anchor="t">
            <a:noAutofit/>
          </a:bodyPr>
          <a:lstStyle/>
          <a:p>
            <a:pPr algn="l">
              <a:lnSpc>
                <a:spcPct val="118000"/>
              </a:lnSpc>
            </a:pPr>
            <a:r>
              <a:rPr lang="en-US" sz="1800" b="1" dirty="0">
                <a:solidFill>
                  <a:srgbClr val="326B8C"/>
                </a:solidFill>
                <a:latin typeface="Poppins"/>
                <a:ea typeface="Poppins"/>
                <a:cs typeface="Poppins"/>
              </a:rPr>
              <a:t>CAPTURE</a:t>
            </a:r>
          </a:p>
        </p:txBody>
      </p:sp>
      <p:sp>
        <p:nvSpPr>
          <p:cNvPr id="267" name="bar"/>
          <p:cNvSpPr/>
          <p:nvPr/>
        </p:nvSpPr>
        <p:spPr>
          <a:xfrm>
            <a:off x="10661626" y="6260000"/>
            <a:ext cx="717774" cy="340000"/>
          </a:xfrm>
          <a:prstGeom prst="roundRect">
            <a:avLst>
              <a:gd name="adj" fmla="val 50000"/>
            </a:avLst>
          </a:prstGeom>
          <a:solidFill>
            <a:srgbClr val="326B8C"/>
          </a:solidFill>
          <a:ln>
            <a:noFill/>
          </a:ln>
          <a:effectLst/>
        </p:spPr>
        <p:txBody>
          <a:bodyPr/>
          <a:lstStyle/>
          <a:p>
            <a:endParaRPr lang="en-US"/>
          </a:p>
        </p:txBody>
      </p:sp>
      <p:sp>
        <p:nvSpPr>
          <p:cNvPr id="268" name="pill"/>
          <p:cNvSpPr txBox="1"/>
          <p:nvPr/>
        </p:nvSpPr>
        <p:spPr>
          <a:xfrm>
            <a:off x="10661626" y="6260000"/>
            <a:ext cx="717774" cy="340000"/>
          </a:xfrm>
          <a:prstGeom prst="rect">
            <a:avLst/>
          </a:prstGeom>
          <a:noFill/>
          <a:ln>
            <a:noFill/>
          </a:ln>
        </p:spPr>
        <p:txBody>
          <a:bodyPr wrap="square" lIns="0" tIns="0" rIns="0" bIns="0" rtlCol="0" anchor="ctr">
            <a:noAutofit/>
          </a:bodyPr>
          <a:lstStyle/>
          <a:p>
            <a:pPr algn="ctr">
              <a:lnSpc>
                <a:spcPct val="100000"/>
              </a:lnSpc>
            </a:pPr>
            <a:r>
              <a:rPr lang="en-US" sz="1425" b="1" dirty="0">
                <a:solidFill>
                  <a:srgbClr val="FFFFFF"/>
                </a:solidFill>
                <a:latin typeface="Poppins"/>
                <a:ea typeface="Poppins"/>
                <a:cs typeface="Poppins"/>
              </a:rPr>
              <a:t>DEMO</a:t>
            </a:r>
          </a:p>
        </p:txBody>
      </p:sp>
      <p:sp>
        <p:nvSpPr>
          <p:cNvPr id="269" name="Wearables Toolkit 0.9"/>
          <p:cNvSpPr txBox="1"/>
          <p:nvPr/>
        </p:nvSpPr>
        <p:spPr>
          <a:xfrm>
            <a:off x="6908600" y="6700000"/>
            <a:ext cx="4470800" cy="314706"/>
          </a:xfrm>
          <a:prstGeom prst="rect">
            <a:avLst/>
          </a:prstGeom>
          <a:noFill/>
          <a:ln>
            <a:noFill/>
          </a:ln>
        </p:spPr>
        <p:txBody>
          <a:bodyPr wrap="square" lIns="0" tIns="0" rIns="0" bIns="0" rtlCol="0" anchor="t">
            <a:noAutofit/>
          </a:bodyPr>
          <a:lstStyle/>
          <a:p>
            <a:pPr algn="l">
              <a:lnSpc>
                <a:spcPct val="118000"/>
              </a:lnSpc>
            </a:pPr>
            <a:r>
              <a:rPr lang="en-US" sz="2100" b="1" dirty="0">
                <a:solidFill>
                  <a:srgbClr val="191A18"/>
                </a:solidFill>
                <a:latin typeface="Poppins"/>
                <a:ea typeface="Poppins"/>
                <a:cs typeface="Poppins"/>
              </a:rPr>
              <a:t>Wearables Toolkit 0.9</a:t>
            </a:r>
          </a:p>
        </p:txBody>
      </p:sp>
      <p:sp>
        <p:nvSpPr>
          <p:cNvPr id="270" name="The pairing handoff is real. T"/>
          <p:cNvSpPr txBox="1"/>
          <p:nvPr/>
        </p:nvSpPr>
        <p:spPr>
          <a:xfrm>
            <a:off x="6908600" y="7144706"/>
            <a:ext cx="4470800" cy="569595"/>
          </a:xfrm>
          <a:prstGeom prst="rect">
            <a:avLst/>
          </a:prstGeom>
          <a:noFill/>
          <a:ln>
            <a:noFill/>
          </a:ln>
        </p:spPr>
        <p:txBody>
          <a:bodyPr wrap="square" lIns="0" tIns="0" rIns="0" bIns="0" rtlCol="0" anchor="t">
            <a:noAutofit/>
          </a:bodyPr>
          <a:lstStyle/>
          <a:p>
            <a:pPr algn="l">
              <a:lnSpc>
                <a:spcPct val="130000"/>
              </a:lnSpc>
            </a:pPr>
            <a:r>
              <a:rPr lang="en-US" sz="1725" b="0" dirty="0">
                <a:solidFill>
                  <a:srgbClr val="5A5D59"/>
                </a:solidFill>
                <a:latin typeface="Poppins"/>
                <a:ea typeface="Poppins"/>
                <a:cs typeface="Poppins"/>
              </a:rPr>
              <a:t>The pairing handoff is real. The phone camera records for now.</a:t>
            </a:r>
          </a:p>
        </p:txBody>
      </p:sp>
      <p:sp>
        <p:nvSpPr>
          <p:cNvPr id="271" name="card"/>
          <p:cNvSpPr/>
          <p:nvPr/>
        </p:nvSpPr>
        <p:spPr>
          <a:xfrm>
            <a:off x="12109450" y="5970000"/>
            <a:ext cx="5130800" cy="2400000"/>
          </a:xfrm>
          <a:prstGeom prst="roundRect">
            <a:avLst>
              <a:gd name="adj" fmla="val 4467"/>
            </a:avLst>
          </a:prstGeom>
          <a:solidFill>
            <a:srgbClr val="FBF9F3"/>
          </a:solidFill>
          <a:ln w="12700">
            <a:solidFill>
              <a:srgbClr val="DFD8C6"/>
            </a:solidFill>
            <a:prstDash val="solid"/>
          </a:ln>
          <a:effectLst>
            <a:outerShdw blurRad="114300" dist="25400" dir="5400000" algn="bl" rotWithShape="0">
              <a:srgbClr val="BFB49A">
                <a:alpha val="30000"/>
              </a:srgbClr>
            </a:outerShdw>
          </a:effectLst>
        </p:spPr>
        <p:txBody>
          <a:bodyPr/>
          <a:lstStyle/>
          <a:p>
            <a:endParaRPr lang="en-US"/>
          </a:p>
        </p:txBody>
      </p:sp>
      <p:sp>
        <p:nvSpPr>
          <p:cNvPr id="272" name="CONNECT"/>
          <p:cNvSpPr txBox="1"/>
          <p:nvPr/>
        </p:nvSpPr>
        <p:spPr>
          <a:xfrm>
            <a:off x="12439450" y="6300000"/>
            <a:ext cx="2570800" cy="340000"/>
          </a:xfrm>
          <a:prstGeom prst="rect">
            <a:avLst/>
          </a:prstGeom>
          <a:noFill/>
          <a:ln>
            <a:noFill/>
          </a:ln>
        </p:spPr>
        <p:txBody>
          <a:bodyPr wrap="square" lIns="0" tIns="0" rIns="0" bIns="0" rtlCol="0" anchor="t">
            <a:noAutofit/>
          </a:bodyPr>
          <a:lstStyle/>
          <a:p>
            <a:pPr algn="l">
              <a:lnSpc>
                <a:spcPct val="118000"/>
              </a:lnSpc>
            </a:pPr>
            <a:r>
              <a:rPr lang="en-US" sz="2800" b="1" dirty="0">
                <a:solidFill>
                  <a:srgbClr val="9B712B"/>
                </a:solidFill>
                <a:latin typeface="Poppins"/>
                <a:ea typeface="Poppins"/>
                <a:cs typeface="Poppins"/>
              </a:rPr>
              <a:t>CONNECT</a:t>
            </a:r>
          </a:p>
        </p:txBody>
      </p:sp>
      <p:sp>
        <p:nvSpPr>
          <p:cNvPr id="277" name="Muse Spark"/>
          <p:cNvSpPr txBox="1"/>
          <p:nvPr/>
        </p:nvSpPr>
        <p:spPr>
          <a:xfrm>
            <a:off x="12439450" y="6700000"/>
            <a:ext cx="4470800" cy="314706"/>
          </a:xfrm>
          <a:prstGeom prst="rect">
            <a:avLst/>
          </a:prstGeom>
          <a:noFill/>
          <a:ln>
            <a:noFill/>
          </a:ln>
        </p:spPr>
        <p:txBody>
          <a:bodyPr wrap="square" lIns="0" tIns="0" rIns="0" bIns="0" rtlCol="0" anchor="t">
            <a:noAutofit/>
          </a:bodyPr>
          <a:lstStyle/>
          <a:p>
            <a:pPr algn="l">
              <a:lnSpc>
                <a:spcPct val="118000"/>
              </a:lnSpc>
            </a:pPr>
            <a:r>
              <a:rPr lang="en-US" sz="3200" b="1" dirty="0">
                <a:solidFill>
                  <a:srgbClr val="191A18"/>
                </a:solidFill>
                <a:latin typeface="Poppins"/>
                <a:ea typeface="Poppins"/>
                <a:cs typeface="Poppins"/>
              </a:rPr>
              <a:t>Muse Spark</a:t>
            </a:r>
          </a:p>
        </p:txBody>
      </p:sp>
      <p:sp>
        <p:nvSpPr>
          <p:cNvPr id="278" name="Send a day's highlights to the"/>
          <p:cNvSpPr txBox="1"/>
          <p:nvPr/>
        </p:nvSpPr>
        <p:spPr>
          <a:xfrm>
            <a:off x="12439450" y="7144706"/>
            <a:ext cx="4470800" cy="569595"/>
          </a:xfrm>
          <a:prstGeom prst="rect">
            <a:avLst/>
          </a:prstGeom>
          <a:noFill/>
          <a:ln>
            <a:noFill/>
          </a:ln>
        </p:spPr>
        <p:txBody>
          <a:bodyPr wrap="square" lIns="0" tIns="0" rIns="0" bIns="0" rtlCol="0" anchor="t">
            <a:noAutofit/>
          </a:bodyPr>
          <a:lstStyle/>
          <a:p>
            <a:pPr algn="l">
              <a:lnSpc>
                <a:spcPct val="130000"/>
              </a:lnSpc>
            </a:pPr>
            <a:r>
              <a:rPr lang="en-US" sz="2400" b="0" dirty="0">
                <a:solidFill>
                  <a:srgbClr val="5A5D59"/>
                </a:solidFill>
                <a:latin typeface="Poppins"/>
                <a:ea typeface="Poppins"/>
                <a:cs typeface="Poppins"/>
              </a:rPr>
              <a:t>Send a day's highlights to the few people you choose.</a:t>
            </a:r>
          </a:p>
        </p:txBody>
      </p:sp>
      <p:sp>
        <p:nvSpPr>
          <p:cNvPr id="279" name="kicker"/>
          <p:cNvSpPr txBox="1"/>
          <p:nvPr/>
        </p:nvSpPr>
        <p:spPr>
          <a:xfrm>
            <a:off x="1047750" y="8550000"/>
            <a:ext cx="16192500" cy="560000"/>
          </a:xfrm>
          <a:prstGeom prst="rect">
            <a:avLst/>
          </a:prstGeom>
          <a:noFill/>
          <a:ln>
            <a:noFill/>
          </a:ln>
        </p:spPr>
        <p:txBody>
          <a:bodyPr wrap="square" lIns="0" tIns="0" rIns="0" bIns="0" rtlCol="0" anchor="t">
            <a:noAutofit/>
          </a:bodyPr>
          <a:lstStyle/>
          <a:p>
            <a:pPr algn="l">
              <a:lnSpc>
                <a:spcPct val="118000"/>
              </a:lnSpc>
            </a:pPr>
            <a:r>
              <a:rPr lang="en-US" sz="3000" b="1" dirty="0">
                <a:solidFill>
                  <a:srgbClr val="191A18"/>
                </a:solidFill>
                <a:latin typeface="Poppins"/>
                <a:ea typeface="Poppins"/>
                <a:cs typeface="Poppins"/>
              </a:rPr>
              <a:t>A private day, made shareable with the people who matter.</a:t>
            </a:r>
          </a:p>
        </p:txBody>
      </p:sp>
      <p:sp>
        <p:nvSpPr>
          <p:cNvPr id="280" name="footnote"/>
          <p:cNvSpPr txBox="1"/>
          <p:nvPr/>
        </p:nvSpPr>
        <p:spPr>
          <a:xfrm>
            <a:off x="1047750" y="9281875"/>
            <a:ext cx="16192500" cy="476250"/>
          </a:xfrm>
          <a:prstGeom prst="rect">
            <a:avLst/>
          </a:prstGeom>
          <a:noFill/>
          <a:ln>
            <a:noFill/>
          </a:ln>
        </p:spPr>
        <p:txBody>
          <a:bodyPr wrap="square" lIns="0" tIns="0" rIns="0" bIns="0" rtlCol="0" anchor="t">
            <a:noAutofit/>
          </a:bodyPr>
          <a:lstStyle/>
          <a:p>
            <a:pPr algn="l">
              <a:lnSpc>
                <a:spcPct val="118000"/>
              </a:lnSpc>
            </a:pPr>
            <a:r>
              <a:rPr lang="en-US" sz="1875" b="0" dirty="0">
                <a:solidFill>
                  <a:srgbClr val="5A5D59"/>
                </a:solidFill>
                <a:latin typeface="Poppins"/>
                <a:ea typeface="Poppins"/>
                <a:cs typeface="Poppins"/>
              </a:rPr>
              <a:t>Responses API and Muse Voice Transcribe are live in the build • the spoken answer uses the device speech synthesizer, not a Meta model</a:t>
            </a:r>
          </a:p>
        </p:txBody>
      </p:sp>
      <p:sp>
        <p:nvSpPr>
          <p:cNvPr id="2" name="bar">
            <a:extLst>
              <a:ext uri="{FF2B5EF4-FFF2-40B4-BE49-F238E27FC236}">
                <a16:creationId xmlns:a16="http://schemas.microsoft.com/office/drawing/2014/main" id="{B0D6CFCC-B8D7-E16C-381E-0BD4B42EB239}"/>
              </a:ext>
            </a:extLst>
          </p:cNvPr>
          <p:cNvSpPr/>
          <p:nvPr/>
        </p:nvSpPr>
        <p:spPr>
          <a:xfrm>
            <a:off x="16171578" y="6295000"/>
            <a:ext cx="717774" cy="340000"/>
          </a:xfrm>
          <a:prstGeom prst="roundRect">
            <a:avLst>
              <a:gd name="adj" fmla="val 50000"/>
            </a:avLst>
          </a:prstGeom>
          <a:solidFill>
            <a:srgbClr val="46683F"/>
          </a:solidFill>
          <a:ln>
            <a:noFill/>
          </a:ln>
          <a:effectLst/>
        </p:spPr>
        <p:txBody>
          <a:bodyPr/>
          <a:lstStyle/>
          <a:p>
            <a:endParaRPr lang="en-US"/>
          </a:p>
        </p:txBody>
      </p:sp>
      <p:sp>
        <p:nvSpPr>
          <p:cNvPr id="3" name="pill">
            <a:extLst>
              <a:ext uri="{FF2B5EF4-FFF2-40B4-BE49-F238E27FC236}">
                <a16:creationId xmlns:a16="http://schemas.microsoft.com/office/drawing/2014/main" id="{4D7D48B9-DEBE-84CB-CD53-E25201747105}"/>
              </a:ext>
            </a:extLst>
          </p:cNvPr>
          <p:cNvSpPr txBox="1"/>
          <p:nvPr/>
        </p:nvSpPr>
        <p:spPr>
          <a:xfrm>
            <a:off x="16171578" y="6295000"/>
            <a:ext cx="717774" cy="340000"/>
          </a:xfrm>
          <a:prstGeom prst="rect">
            <a:avLst/>
          </a:prstGeom>
          <a:noFill/>
          <a:ln>
            <a:noFill/>
          </a:ln>
        </p:spPr>
        <p:txBody>
          <a:bodyPr wrap="square" lIns="0" tIns="0" rIns="0" bIns="0" rtlCol="0" anchor="ctr">
            <a:noAutofit/>
          </a:bodyPr>
          <a:lstStyle/>
          <a:p>
            <a:pPr algn="ctr">
              <a:lnSpc>
                <a:spcPct val="100000"/>
              </a:lnSpc>
            </a:pPr>
            <a:r>
              <a:rPr lang="en-US" sz="1425" b="1" dirty="0">
                <a:solidFill>
                  <a:srgbClr val="FFFFFF"/>
                </a:solidFill>
                <a:latin typeface="Poppins"/>
                <a:ea typeface="Poppins"/>
                <a:cs typeface="Poppins"/>
              </a:rPr>
              <a:t>LIVE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7F4EC"/>
        </a:solidFill>
        <a:effectLst/>
      </p:bgPr>
    </p:bg>
    <p:spTree>
      <p:nvGrpSpPr>
        <p:cNvPr id="1" name=""/>
        <p:cNvGrpSpPr/>
        <p:nvPr/>
      </p:nvGrpSpPr>
      <p:grpSpPr>
        <a:xfrm>
          <a:off x="0" y="0"/>
          <a:ext cx="0" cy="0"/>
          <a:chOff x="0" y="0"/>
          <a:chExt cx="0" cy="0"/>
        </a:xfrm>
      </p:grpSpPr>
      <p:sp>
        <p:nvSpPr>
          <p:cNvPr id="232" name="eyebrow"/>
          <p:cNvSpPr txBox="1"/>
          <p:nvPr/>
        </p:nvSpPr>
        <p:spPr>
          <a:xfrm>
            <a:off x="1047750" y="3000000"/>
            <a:ext cx="16192500" cy="800000"/>
          </a:xfrm>
          <a:prstGeom prst="rect">
            <a:avLst/>
          </a:prstGeom>
          <a:noFill/>
          <a:ln>
            <a:noFill/>
          </a:ln>
        </p:spPr>
        <p:txBody>
          <a:bodyPr wrap="square" lIns="0" tIns="0" rIns="0" bIns="0" rtlCol="0" anchor="t">
            <a:noAutofit/>
          </a:bodyPr>
          <a:lstStyle/>
          <a:p>
            <a:pPr algn="l">
              <a:lnSpc>
                <a:spcPct val="118000"/>
              </a:lnSpc>
            </a:pPr>
            <a:r>
              <a:rPr lang="en-US" sz="2700" b="1" dirty="0">
                <a:solidFill>
                  <a:srgbClr val="9B712B"/>
                </a:solidFill>
                <a:latin typeface="Poppins"/>
                <a:ea typeface="Poppins"/>
                <a:cs typeface="Poppins"/>
              </a:rPr>
              <a:t>LIVE</a:t>
            </a:r>
          </a:p>
        </p:txBody>
      </p:sp>
      <p:sp>
        <p:nvSpPr>
          <p:cNvPr id="233" name="Demo time"/>
          <p:cNvSpPr txBox="1"/>
          <p:nvPr/>
        </p:nvSpPr>
        <p:spPr>
          <a:xfrm>
            <a:off x="1047750" y="3750000"/>
            <a:ext cx="16192500" cy="1900000"/>
          </a:xfrm>
          <a:prstGeom prst="rect">
            <a:avLst/>
          </a:prstGeom>
          <a:noFill/>
          <a:ln>
            <a:noFill/>
          </a:ln>
        </p:spPr>
        <p:txBody>
          <a:bodyPr wrap="square" lIns="0" tIns="0" rIns="0" bIns="0" rtlCol="0" anchor="t">
            <a:noAutofit/>
          </a:bodyPr>
          <a:lstStyle/>
          <a:p>
            <a:pPr algn="l">
              <a:lnSpc>
                <a:spcPct val="118000"/>
              </a:lnSpc>
            </a:pPr>
            <a:r>
              <a:rPr lang="en-US" sz="9600" b="1" dirty="0">
                <a:solidFill>
                  <a:srgbClr val="191A18"/>
                </a:solidFill>
                <a:latin typeface="Poppins"/>
                <a:ea typeface="Poppins"/>
                <a:cs typeface="Poppins"/>
              </a:rPr>
              <a:t>Demo time.</a:t>
            </a:r>
          </a:p>
        </p:txBody>
      </p:sp>
      <p:sp>
        <p:nvSpPr>
          <p:cNvPr id="234" name="bar"/>
          <p:cNvSpPr/>
          <p:nvPr/>
        </p:nvSpPr>
        <p:spPr>
          <a:xfrm>
            <a:off x="1047750" y="6050000"/>
            <a:ext cx="4200000" cy="25400"/>
          </a:xfrm>
          <a:prstGeom prst="rect">
            <a:avLst/>
          </a:prstGeom>
          <a:solidFill>
            <a:srgbClr val="9B712B"/>
          </a:solidFill>
          <a:ln>
            <a:noFill/>
          </a:ln>
          <a:effectLst/>
        </p:spPr>
        <p:txBody>
          <a:bodyPr/>
          <a:lstStyle/>
          <a:p>
            <a:endParaRPr lang="en-US"/>
          </a:p>
        </p:txBody>
      </p:sp>
      <p:sp>
        <p:nvSpPr>
          <p:cNvPr id="235" name="num"/>
          <p:cNvSpPr txBox="1"/>
          <p:nvPr/>
        </p:nvSpPr>
        <p:spPr>
          <a:xfrm>
            <a:off x="1047750" y="6600000"/>
            <a:ext cx="5130800" cy="400000"/>
          </a:xfrm>
          <a:prstGeom prst="rect">
            <a:avLst/>
          </a:prstGeom>
          <a:noFill/>
          <a:ln>
            <a:noFill/>
          </a:ln>
        </p:spPr>
        <p:txBody>
          <a:bodyPr wrap="square" lIns="0" tIns="0" rIns="0" bIns="0" rtlCol="0" anchor="t">
            <a:noAutofit/>
          </a:bodyPr>
          <a:lstStyle/>
          <a:p>
            <a:pPr algn="l">
              <a:lnSpc>
                <a:spcPct val="118000"/>
              </a:lnSpc>
            </a:pPr>
            <a:r>
              <a:rPr lang="en-US" sz="1800" b="1" dirty="0">
                <a:solidFill>
                  <a:srgbClr val="9B712B"/>
                </a:solidFill>
                <a:latin typeface="Poppins"/>
                <a:ea typeface="Poppins"/>
                <a:cs typeface="Poppins"/>
              </a:rPr>
              <a:t>01</a:t>
            </a:r>
          </a:p>
        </p:txBody>
      </p:sp>
      <p:sp>
        <p:nvSpPr>
          <p:cNvPr id="236" name="Search a fragment"/>
          <p:cNvSpPr txBox="1"/>
          <p:nvPr/>
        </p:nvSpPr>
        <p:spPr>
          <a:xfrm>
            <a:off x="1047750" y="7030000"/>
            <a:ext cx="5130800" cy="480000"/>
          </a:xfrm>
          <a:prstGeom prst="rect">
            <a:avLst/>
          </a:prstGeom>
          <a:noFill/>
          <a:ln>
            <a:noFill/>
          </a:ln>
        </p:spPr>
        <p:txBody>
          <a:bodyPr wrap="square" lIns="0" tIns="0" rIns="0" bIns="0" rtlCol="0" anchor="t">
            <a:noAutofit/>
          </a:bodyPr>
          <a:lstStyle/>
          <a:p>
            <a:pPr algn="l">
              <a:lnSpc>
                <a:spcPct val="118000"/>
              </a:lnSpc>
            </a:pPr>
            <a:r>
              <a:rPr lang="en-US" sz="2400" b="1" dirty="0">
                <a:solidFill>
                  <a:srgbClr val="191A18"/>
                </a:solidFill>
                <a:latin typeface="Poppins"/>
                <a:ea typeface="Poppins"/>
                <a:cs typeface="Poppins"/>
              </a:rPr>
              <a:t>Search a fragment</a:t>
            </a:r>
          </a:p>
        </p:txBody>
      </p:sp>
      <p:sp>
        <p:nvSpPr>
          <p:cNvPr id="237" name="One detail you remember, typed"/>
          <p:cNvSpPr txBox="1"/>
          <p:nvPr/>
        </p:nvSpPr>
        <p:spPr>
          <a:xfrm>
            <a:off x="1047750" y="7600000"/>
            <a:ext cx="5130800" cy="609600"/>
          </a:xfrm>
          <a:prstGeom prst="rect">
            <a:avLst/>
          </a:prstGeom>
          <a:noFill/>
          <a:ln>
            <a:noFill/>
          </a:ln>
        </p:spPr>
        <p:txBody>
          <a:bodyPr wrap="square" lIns="0" tIns="0" rIns="0" bIns="0" rtlCol="0" anchor="t">
            <a:noAutofit/>
          </a:bodyPr>
          <a:lstStyle/>
          <a:p>
            <a:pPr algn="l">
              <a:lnSpc>
                <a:spcPct val="128000"/>
              </a:lnSpc>
            </a:pPr>
            <a:r>
              <a:rPr lang="en-US" sz="1875" b="0" dirty="0">
                <a:solidFill>
                  <a:srgbClr val="5A5D59"/>
                </a:solidFill>
                <a:latin typeface="Poppins"/>
                <a:ea typeface="Poppins"/>
                <a:cs typeface="Poppins"/>
              </a:rPr>
              <a:t>One detail you remember, typed into the box.</a:t>
            </a:r>
          </a:p>
        </p:txBody>
      </p:sp>
      <p:sp>
        <p:nvSpPr>
          <p:cNvPr id="238" name="num"/>
          <p:cNvSpPr txBox="1"/>
          <p:nvPr/>
        </p:nvSpPr>
        <p:spPr>
          <a:xfrm>
            <a:off x="6578600" y="6600000"/>
            <a:ext cx="5130800" cy="400000"/>
          </a:xfrm>
          <a:prstGeom prst="rect">
            <a:avLst/>
          </a:prstGeom>
          <a:noFill/>
          <a:ln>
            <a:noFill/>
          </a:ln>
        </p:spPr>
        <p:txBody>
          <a:bodyPr wrap="square" lIns="0" tIns="0" rIns="0" bIns="0" rtlCol="0" anchor="t">
            <a:noAutofit/>
          </a:bodyPr>
          <a:lstStyle/>
          <a:p>
            <a:pPr algn="l">
              <a:lnSpc>
                <a:spcPct val="118000"/>
              </a:lnSpc>
            </a:pPr>
            <a:r>
              <a:rPr lang="en-US" sz="1800" b="1" dirty="0">
                <a:solidFill>
                  <a:srgbClr val="9B712B"/>
                </a:solidFill>
                <a:latin typeface="Poppins"/>
                <a:ea typeface="Poppins"/>
                <a:cs typeface="Poppins"/>
              </a:rPr>
              <a:t>02</a:t>
            </a:r>
          </a:p>
        </p:txBody>
      </p:sp>
      <p:sp>
        <p:nvSpPr>
          <p:cNvPr id="239" name="Open the moment"/>
          <p:cNvSpPr txBox="1"/>
          <p:nvPr/>
        </p:nvSpPr>
        <p:spPr>
          <a:xfrm>
            <a:off x="6578600" y="7030000"/>
            <a:ext cx="5130800" cy="480000"/>
          </a:xfrm>
          <a:prstGeom prst="rect">
            <a:avLst/>
          </a:prstGeom>
          <a:noFill/>
          <a:ln>
            <a:noFill/>
          </a:ln>
        </p:spPr>
        <p:txBody>
          <a:bodyPr wrap="square" lIns="0" tIns="0" rIns="0" bIns="0" rtlCol="0" anchor="t">
            <a:noAutofit/>
          </a:bodyPr>
          <a:lstStyle/>
          <a:p>
            <a:pPr algn="l">
              <a:lnSpc>
                <a:spcPct val="118000"/>
              </a:lnSpc>
            </a:pPr>
            <a:r>
              <a:rPr lang="en-US" sz="2400" b="1" dirty="0">
                <a:solidFill>
                  <a:srgbClr val="191A18"/>
                </a:solidFill>
                <a:latin typeface="Poppins"/>
                <a:ea typeface="Poppins"/>
                <a:cs typeface="Poppins"/>
              </a:rPr>
              <a:t>Open the moment</a:t>
            </a:r>
          </a:p>
        </p:txBody>
      </p:sp>
      <p:sp>
        <p:nvSpPr>
          <p:cNvPr id="240" name="The clip plays from where the "/>
          <p:cNvSpPr txBox="1"/>
          <p:nvPr/>
        </p:nvSpPr>
        <p:spPr>
          <a:xfrm>
            <a:off x="6578600" y="7600000"/>
            <a:ext cx="5130800" cy="609600"/>
          </a:xfrm>
          <a:prstGeom prst="rect">
            <a:avLst/>
          </a:prstGeom>
          <a:noFill/>
          <a:ln>
            <a:noFill/>
          </a:ln>
        </p:spPr>
        <p:txBody>
          <a:bodyPr wrap="square" lIns="0" tIns="0" rIns="0" bIns="0" rtlCol="0" anchor="t">
            <a:noAutofit/>
          </a:bodyPr>
          <a:lstStyle/>
          <a:p>
            <a:pPr algn="l">
              <a:lnSpc>
                <a:spcPct val="128000"/>
              </a:lnSpc>
            </a:pPr>
            <a:r>
              <a:rPr lang="en-US" sz="1875" b="0" dirty="0">
                <a:solidFill>
                  <a:srgbClr val="5A5D59"/>
                </a:solidFill>
                <a:latin typeface="Poppins"/>
                <a:ea typeface="Poppins"/>
                <a:cs typeface="Poppins"/>
              </a:rPr>
              <a:t>The clip plays from where the signal fired.</a:t>
            </a:r>
          </a:p>
        </p:txBody>
      </p:sp>
      <p:sp>
        <p:nvSpPr>
          <p:cNvPr id="241" name="num"/>
          <p:cNvSpPr txBox="1"/>
          <p:nvPr/>
        </p:nvSpPr>
        <p:spPr>
          <a:xfrm>
            <a:off x="12109450" y="6600000"/>
            <a:ext cx="5130800" cy="400000"/>
          </a:xfrm>
          <a:prstGeom prst="rect">
            <a:avLst/>
          </a:prstGeom>
          <a:noFill/>
          <a:ln>
            <a:noFill/>
          </a:ln>
        </p:spPr>
        <p:txBody>
          <a:bodyPr wrap="square" lIns="0" tIns="0" rIns="0" bIns="0" rtlCol="0" anchor="t">
            <a:noAutofit/>
          </a:bodyPr>
          <a:lstStyle/>
          <a:p>
            <a:pPr algn="l">
              <a:lnSpc>
                <a:spcPct val="118000"/>
              </a:lnSpc>
            </a:pPr>
            <a:r>
              <a:rPr lang="en-US" sz="1800" b="1" dirty="0">
                <a:solidFill>
                  <a:srgbClr val="9B712B"/>
                </a:solidFill>
                <a:latin typeface="Poppins"/>
                <a:ea typeface="Poppins"/>
                <a:cs typeface="Poppins"/>
              </a:rPr>
              <a:t>03</a:t>
            </a:r>
          </a:p>
        </p:txBody>
      </p:sp>
      <p:sp>
        <p:nvSpPr>
          <p:cNvPr id="242" name="Share it"/>
          <p:cNvSpPr txBox="1"/>
          <p:nvPr/>
        </p:nvSpPr>
        <p:spPr>
          <a:xfrm>
            <a:off x="12109450" y="7030000"/>
            <a:ext cx="5130800" cy="480000"/>
          </a:xfrm>
          <a:prstGeom prst="rect">
            <a:avLst/>
          </a:prstGeom>
          <a:noFill/>
          <a:ln>
            <a:noFill/>
          </a:ln>
        </p:spPr>
        <p:txBody>
          <a:bodyPr wrap="square" lIns="0" tIns="0" rIns="0" bIns="0" rtlCol="0" anchor="t">
            <a:noAutofit/>
          </a:bodyPr>
          <a:lstStyle/>
          <a:p>
            <a:pPr algn="l">
              <a:lnSpc>
                <a:spcPct val="118000"/>
              </a:lnSpc>
            </a:pPr>
            <a:r>
              <a:rPr lang="en-US" sz="2400" b="1" dirty="0">
                <a:solidFill>
                  <a:srgbClr val="191A18"/>
                </a:solidFill>
                <a:latin typeface="Poppins"/>
                <a:ea typeface="Poppins"/>
                <a:cs typeface="Poppins"/>
              </a:rPr>
              <a:t>Share it</a:t>
            </a:r>
          </a:p>
        </p:txBody>
      </p:sp>
      <p:sp>
        <p:nvSpPr>
          <p:cNvPr id="243" name="One moment, to one person you "/>
          <p:cNvSpPr txBox="1"/>
          <p:nvPr/>
        </p:nvSpPr>
        <p:spPr>
          <a:xfrm>
            <a:off x="12109450" y="7600000"/>
            <a:ext cx="5130800" cy="304800"/>
          </a:xfrm>
          <a:prstGeom prst="rect">
            <a:avLst/>
          </a:prstGeom>
          <a:noFill/>
          <a:ln>
            <a:noFill/>
          </a:ln>
        </p:spPr>
        <p:txBody>
          <a:bodyPr wrap="square" lIns="0" tIns="0" rIns="0" bIns="0" rtlCol="0" anchor="t">
            <a:noAutofit/>
          </a:bodyPr>
          <a:lstStyle/>
          <a:p>
            <a:pPr algn="l">
              <a:lnSpc>
                <a:spcPct val="128000"/>
              </a:lnSpc>
            </a:pPr>
            <a:r>
              <a:rPr lang="en-US" sz="1875" b="0" dirty="0">
                <a:solidFill>
                  <a:srgbClr val="5A5D59"/>
                </a:solidFill>
                <a:latin typeface="Poppins"/>
                <a:ea typeface="Poppins"/>
                <a:cs typeface="Poppins"/>
              </a:rPr>
              <a:t>One moment, to one person you chose.</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7F4EC"/>
        </a:solidFill>
        <a:effectLst/>
      </p:bgPr>
    </p:bg>
    <p:spTree>
      <p:nvGrpSpPr>
        <p:cNvPr id="1" name=""/>
        <p:cNvGrpSpPr/>
        <p:nvPr/>
      </p:nvGrpSpPr>
      <p:grpSpPr>
        <a:xfrm>
          <a:off x="0" y="0"/>
          <a:ext cx="0" cy="0"/>
          <a:chOff x="0" y="0"/>
          <a:chExt cx="0" cy="0"/>
        </a:xfrm>
      </p:grpSpPr>
      <p:pic>
        <p:nvPicPr>
          <p:cNvPr id="237" name="MemoryPalace"/>
          <p:cNvPicPr/>
          <p:nvPr/>
        </p:nvPicPr>
        <p:blipFill>
          <a:blip r:embed="rId3"/>
          <a:stretch>
            <a:fillRect/>
          </a:stretch>
        </p:blipFill>
        <p:spPr>
          <a:xfrm>
            <a:off x="3886200" y="3180000"/>
            <a:ext cx="10515600" cy="1283003"/>
          </a:xfrm>
          <a:prstGeom prst="rect">
            <a:avLst/>
          </a:prstGeom>
        </p:spPr>
      </p:pic>
      <p:sp>
        <p:nvSpPr>
          <p:cNvPr id="238" name="tagline"/>
          <p:cNvSpPr txBox="1"/>
          <p:nvPr/>
        </p:nvSpPr>
        <p:spPr>
          <a:xfrm>
            <a:off x="1047750" y="4780000"/>
            <a:ext cx="16192500" cy="1200000"/>
          </a:xfrm>
          <a:prstGeom prst="rect">
            <a:avLst/>
          </a:prstGeom>
          <a:noFill/>
          <a:ln>
            <a:noFill/>
          </a:ln>
        </p:spPr>
        <p:txBody>
          <a:bodyPr wrap="square" lIns="0" tIns="0" rIns="0" bIns="0" rtlCol="0" anchor="t">
            <a:noAutofit/>
          </a:bodyPr>
          <a:lstStyle/>
          <a:p>
            <a:pPr algn="ctr">
              <a:lnSpc>
                <a:spcPct val="118000"/>
              </a:lnSpc>
            </a:pPr>
            <a:r>
              <a:rPr lang="en-US" sz="6000" b="1" dirty="0">
                <a:solidFill>
                  <a:srgbClr val="191A18"/>
                </a:solidFill>
                <a:latin typeface="Poppins"/>
                <a:ea typeface="Poppins"/>
                <a:cs typeface="Poppins"/>
              </a:rPr>
              <a:t>Your day has more to tell you.</a:t>
            </a:r>
          </a:p>
        </p:txBody>
      </p:sp>
      <p:sp>
        <p:nvSpPr>
          <p:cNvPr id="239" name="bar"/>
          <p:cNvSpPr/>
          <p:nvPr/>
        </p:nvSpPr>
        <p:spPr>
          <a:xfrm>
            <a:off x="7944000" y="6320000"/>
            <a:ext cx="2400000" cy="25400"/>
          </a:xfrm>
          <a:prstGeom prst="rect">
            <a:avLst/>
          </a:prstGeom>
          <a:solidFill>
            <a:srgbClr val="9B712B"/>
          </a:solidFill>
          <a:ln>
            <a:noFill/>
          </a:ln>
          <a:effectLst/>
        </p:spPr>
        <p:txBody>
          <a:bodyPr/>
          <a:lstStyle/>
          <a:p>
            <a:endParaRPr lang="en-US"/>
          </a:p>
        </p:txBody>
      </p:sp>
      <p:sp>
        <p:nvSpPr>
          <p:cNvPr id="240" name="sub"/>
          <p:cNvSpPr txBox="1"/>
          <p:nvPr/>
        </p:nvSpPr>
        <p:spPr>
          <a:xfrm>
            <a:off x="1047750" y="6700000"/>
            <a:ext cx="16192500" cy="640000"/>
          </a:xfrm>
          <a:prstGeom prst="rect">
            <a:avLst/>
          </a:prstGeom>
          <a:noFill/>
          <a:ln>
            <a:noFill/>
          </a:ln>
        </p:spPr>
        <p:txBody>
          <a:bodyPr wrap="square" lIns="0" tIns="0" rIns="0" bIns="0" rtlCol="0" anchor="t">
            <a:noAutofit/>
          </a:bodyPr>
          <a:lstStyle/>
          <a:p>
            <a:pPr algn="ctr">
              <a:lnSpc>
                <a:spcPct val="118000"/>
              </a:lnSpc>
            </a:pPr>
            <a:r>
              <a:rPr lang="en-US" sz="3000" b="0" dirty="0">
                <a:solidFill>
                  <a:srgbClr val="5A5D59"/>
                </a:solidFill>
                <a:latin typeface="Poppins"/>
                <a:ea typeface="Poppins"/>
                <a:cs typeface="Poppins"/>
              </a:rPr>
              <a:t>Keep the context. Revisit it when you have time.</a:t>
            </a:r>
          </a:p>
        </p:txBody>
      </p:sp>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139</TotalTime>
  <Words>4372</Words>
  <Application>Microsoft Macintosh PowerPoint</Application>
  <DocSecurity>0</DocSecurity>
  <PresentationFormat>Custom</PresentationFormat>
  <Paragraphs>323</Paragraphs>
  <Slides>21</Slides>
  <Notes>21</Notes>
  <HiddenSlides>0</HiddenSlides>
  <MMClips>3</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Calibri</vt:lpstr>
      <vt:lpstr>Cambria Math</vt:lpstr>
      <vt:lpstr>Century Gothic</vt:lpstr>
      <vt:lpstr>Poppins</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Bhatt, Pratyush</cp:lastModifiedBy>
  <cp:revision>6</cp:revision>
  <dcterms:created xsi:type="dcterms:W3CDTF">2026-09-20T10:07:07Z</dcterms:created>
  <dcterms:modified xsi:type="dcterms:W3CDTF">2026-09-20T14:58:00Z</dcterms:modified>
</cp:coreProperties>
</file>