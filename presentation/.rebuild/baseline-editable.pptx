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20588dee2d4895" /><Relationship Type="http://schemas.openxmlformats.org/officeDocument/2006/relationships/extended-properties" Target="/docProps/app.xml" Id="R877dda7c4c464307" /><Relationship Type="http://schemas.openxmlformats.org/officeDocument/2006/relationships/officeDocument" Target="/ppt/presentation.xml" Id="R4370c765772644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7f2e9b5f5243e1"/>
  </p:sldMasterIdLst>
  <p:notesMasterIdLst>
    <p:notesMasterId xmlns:r="http://schemas.openxmlformats.org/officeDocument/2006/relationships" r:id="R6fbe31faa412445f"/>
  </p:notesMasterIdLst>
  <p:sldIdLst>
    <p:sldId xmlns:r="http://schemas.openxmlformats.org/officeDocument/2006/relationships" id="256" r:id="R321e7f4f58e649a2"/>
    <p:sldId xmlns:r="http://schemas.openxmlformats.org/officeDocument/2006/relationships" id="257" r:id="R8df8199e8951497f"/>
    <p:sldId xmlns:r="http://schemas.openxmlformats.org/officeDocument/2006/relationships" id="258" r:id="R90ffae9614194f7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ba628b7ff54c9a" /><Relationship Type="http://schemas.openxmlformats.org/officeDocument/2006/relationships/slideMaster" Target="/ppt/slideMasters/slideMaster1.xml" Id="R3f7f2e9b5f5243e1" /><Relationship Type="http://schemas.openxmlformats.org/officeDocument/2006/relationships/notesMaster" Target="/ppt/notesMasters/notesMaster1.xml" Id="R6fbe31faa412445f" /><Relationship Type="http://schemas.openxmlformats.org/officeDocument/2006/relationships/presProps" Target="/ppt/presProps.xml" Id="R3bf52d7759c94ecb" /><Relationship Type="http://schemas.openxmlformats.org/officeDocument/2006/relationships/tableStyles" Target="/ppt/tableStyles.xml" Id="R15d23adedd354bae" /><Relationship Type="http://schemas.openxmlformats.org/officeDocument/2006/relationships/slide" Target="/ppt/slides/slide1.xml" Id="R321e7f4f58e649a2" /><Relationship Type="http://schemas.openxmlformats.org/officeDocument/2006/relationships/slide" Target="/ppt/slides/slide2.xml" Id="R8df8199e8951497f" /><Relationship Type="http://schemas.openxmlformats.org/officeDocument/2006/relationships/slide" Target="/ppt/slides/slide3.xml" Id="R90ffae9614194f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a4c8996db24b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861cd9c9604322" /><Relationship Type="http://schemas.openxmlformats.org/officeDocument/2006/relationships/notesMaster" Target="/ppt/notesMasters/notesMaster1.xml" Id="R8cb1bfd7bfc64a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8c5246d0754002" /><Relationship Type="http://schemas.openxmlformats.org/officeDocument/2006/relationships/notesMaster" Target="/ppt/notesMasters/notesMaster1.xml" Id="Ra9983836299e4f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6dad6e16484da1" /><Relationship Type="http://schemas.openxmlformats.org/officeDocument/2006/relationships/notesMaster" Target="/ppt/notesMasters/notesMaster1.xml" Id="R996c91b79fad44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arithmetic: raw theta/alpha index 3.0; A mean 1.0 and standard deviation 0.5 gives z=4.0; B mean 2.6 and standard deviation 0.5 gives z=0.8. These are explanatory values, not measured people or clinical thresholds. The implemented trigger threshold is z=2.0. Source: confusion-detector/src/detector.py and config.py. The chart remains editable beneath its animated video overlay.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arithmetic: raw theta/alpha index 3.0; A mean 1.0 and standard deviation 0.5 gives z=4.0; B mean 2.6 and standard deviation 0.5 gives z=0.8. These are explanatory values, not measured people or clinical thresholds. The implemented trigger threshold is z=2.0. Source: confusion-detector/src/detector.py and config.py. The chart remains editable beneath its animated video overlay.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arithmetic: raw theta/alpha index 3.0; A mean 1.0 and standard deviation 0.5 gives z=4.0; B mean 2.6 and standard deviation 0.5 gives z=0.8. These are explanatory values, not measured people or clinical thresholds. The implemented trigger threshold is z=2.0. Source: confusion-detector/src/detector.py and config.py. The chart remains editable beneath its animated video overlay.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770cc281046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b7f8a47ecc4892" /><Relationship Type="http://schemas.openxmlformats.org/officeDocument/2006/relationships/slideLayout" Target="/ppt/slideLayouts/slideLayout1.xml" Id="R87841615137140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841615137140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9738c1ae14805" /><Relationship Type="http://schemas.openxmlformats.org/officeDocument/2006/relationships/notesSlide" Target="/ppt/notesSlides/notesSlide1.xml" Id="R875b318063274d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70c8da0844266" /><Relationship Type="http://schemas.openxmlformats.org/officeDocument/2006/relationships/chart" Target="/ppt/slides/charts/chart1.xml" Id="Rdb73cfa21aef4df6" /><Relationship Type="http://schemas.openxmlformats.org/officeDocument/2006/relationships/notesSlide" Target="/ppt/notesSlides/notesSlide2.xml" Id="R122fd4f8cf2649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5ccf34bd0443b" /><Relationship Type="http://schemas.openxmlformats.org/officeDocument/2006/relationships/chart" Target="/ppt/slides/charts/chart2.xml" Id="Ra664cf0c0b6c4fcb" /><Relationship Type="http://schemas.openxmlformats.org/officeDocument/2006/relationships/notesSlide" Target="/ppt/notesSlides/notesSlide3.xml" Id="Ra52753e46fb84101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5A5D59"/>
                </a:solidFill>
                <a:latin typeface="Poppins"/>
                <a:ea typeface="Poppins"/>
                <a:cs typeface="Poppins"/>
              </a:rPr>
              <a:t>Change from personal baseline (standard deviations)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5A5D59"/>
              </a:solidFill>
              <a:latin typeface="Poppins"/>
              <a:ea typeface="Poppins"/>
              <a:cs typeface="Poppin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Change from personal baseline (standard deviations)</c:v>
          </c:tx>
          <c:spPr>
            <a:solidFill xmlns:a="http://schemas.openxmlformats.org/drawingml/2006/main">
              <a:srgbClr val="326B8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B71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26B8C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700" b="1">
                        <a:solidFill>
                          <a:srgbClr val="191A18"/>
                        </a:solidFill>
                        <a:latin typeface="Poppins"/>
                        <a:ea typeface="Poppins"/>
                        <a:cs typeface="Poppins"/>
                      </a:rPr>
                      <a:t>4.0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700" b="1">
                      <a:solidFill>
                        <a:srgbClr val="191A18"/>
                      </a:solidFill>
                      <a:latin typeface="Poppins"/>
                      <a:ea typeface="Poppins"/>
                      <a:cs typeface="Poppi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700" b="1">
                        <a:solidFill>
                          <a:srgbClr val="191A18"/>
                        </a:solidFill>
                        <a:latin typeface="Poppins"/>
                        <a:ea typeface="Poppins"/>
                        <a:cs typeface="Poppins"/>
                      </a:rPr>
                      <a:t>0.8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700" b="1">
                      <a:solidFill>
                        <a:srgbClr val="191A18"/>
                      </a:solidFill>
                      <a:latin typeface="Poppins"/>
                      <a:ea typeface="Poppins"/>
                      <a:cs typeface="Poppi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"/>
              <c:pt idx="0">
                <c:v>Wearer A</c:v>
              </c:pt>
              <c:pt idx="1">
                <c:v>Wearer B</c:v>
              </c:pt>
            </c:strLit>
          </c:cat>
          <c:val>
            <c:numLit>
              <c:formatCode>0.0</c:formatCode>
              <c:ptCount val="2"/>
              <c:pt idx="0">
                <c:v>4</c:v>
              </c:pt>
              <c:pt idx="1">
                <c:v>0.8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700" b="1">
                  <a:solidFill>
                    <a:srgbClr val="191A18"/>
                  </a:solidFill>
                  <a:latin typeface="Poppins"/>
                  <a:ea typeface="Poppins"/>
                  <a:cs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2C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91A18"/>
                </a:solidFill>
                <a:latin typeface="Poppins"/>
                <a:ea typeface="Poppins"/>
                <a:cs typeface="Poppins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2C7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A5D59"/>
                </a:solidFill>
                <a:latin typeface="Poppins"/>
                <a:ea typeface="Poppins"/>
                <a:cs typeface="Poppi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3EFE6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3EFE6"/>
    </a:solidFill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5A5D59"/>
                </a:solidFill>
                <a:latin typeface="Poppins"/>
                <a:ea typeface="Poppins"/>
                <a:cs typeface="Poppins"/>
              </a:rPr>
              <a:t>Change from personal baseline (standard deviations)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5A5D59"/>
              </a:solidFill>
              <a:latin typeface="Poppins"/>
              <a:ea typeface="Poppins"/>
              <a:cs typeface="Poppin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Change from personal baseline (standard deviations)</c:v>
          </c:tx>
          <c:spPr>
            <a:solidFill xmlns:a="http://schemas.openxmlformats.org/drawingml/2006/main">
              <a:srgbClr val="326B8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B71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26B8C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700" b="1">
                        <a:solidFill>
                          <a:srgbClr val="191A18"/>
                        </a:solidFill>
                        <a:latin typeface="Poppins"/>
                        <a:ea typeface="Poppins"/>
                        <a:cs typeface="Poppins"/>
                      </a:rPr>
                      <a:t>4.0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700" b="1">
                      <a:solidFill>
                        <a:srgbClr val="191A18"/>
                      </a:solidFill>
                      <a:latin typeface="Poppins"/>
                      <a:ea typeface="Poppins"/>
                      <a:cs typeface="Poppi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700" b="1">
                        <a:solidFill>
                          <a:srgbClr val="191A18"/>
                        </a:solidFill>
                        <a:latin typeface="Poppins"/>
                        <a:ea typeface="Poppins"/>
                        <a:cs typeface="Poppins"/>
                      </a:rPr>
                      <a:t>0.8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700" b="1">
                      <a:solidFill>
                        <a:srgbClr val="191A18"/>
                      </a:solidFill>
                      <a:latin typeface="Poppins"/>
                      <a:ea typeface="Poppins"/>
                      <a:cs typeface="Poppi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"/>
              <c:pt idx="0">
                <c:v>Wearer A</c:v>
              </c:pt>
              <c:pt idx="1">
                <c:v>Wearer B</c:v>
              </c:pt>
            </c:strLit>
          </c:cat>
          <c:val>
            <c:numLit>
              <c:formatCode>0.0</c:formatCode>
              <c:ptCount val="2"/>
              <c:pt idx="0">
                <c:v>4</c:v>
              </c:pt>
              <c:pt idx="1">
                <c:v>0.8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700" b="1">
                  <a:solidFill>
                    <a:srgbClr val="191A18"/>
                  </a:solidFill>
                  <a:latin typeface="Poppins"/>
                  <a:ea typeface="Poppins"/>
                  <a:cs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2C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91A18"/>
                </a:solidFill>
                <a:latin typeface="Poppins"/>
                <a:ea typeface="Poppins"/>
                <a:cs typeface="Poppins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2C7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A5D59"/>
                </a:solidFill>
                <a:latin typeface="Poppins"/>
                <a:ea typeface="Poppins"/>
                <a:cs typeface="Poppi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3EFE6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3EFE6"/>
    </a:solidFill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Your baseline makes the signal meaningful">
            <a:extLst xmlns:a="http://schemas.openxmlformats.org/drawingml/2006/main">
              <a:ext uri="{FF2B5EF4-FFF2-40B4-BE49-F238E27FC236}">
                <a16:creationId xmlns:a16="http://schemas.microsoft.com/office/drawing/2014/main" id="{0DEF13D9-94D3-4190-8927-89443ED3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1628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91A18"/>
                </a:solidFill>
                <a:latin typeface="Poppins"/>
                <a:ea typeface="Poppins"/>
                <a:cs typeface="Poppins"/>
              </a:defRPr>
            </a:pPr>
            <a:r>
              <a:rPr sz="5400" b="1">
                <a:solidFill>
                  <a:srgbClr val="191A18"/>
                </a:solidFill>
                <a:latin typeface="Poppins"/>
                <a:ea typeface="Poppins"/>
                <a:cs typeface="Poppins"/>
              </a:rPr>
              <a:t>Your baseline makes the signal meaningful</a:t>
            </a:r>
          </a:p>
        </p:txBody>
      </p:sp>
      <p:sp>
        <p:nvSpPr>
          <p:cNvPr id="2" name="The same reading can be unusual for one person and">
            <a:extLst xmlns:a="http://schemas.openxmlformats.org/drawingml/2006/main">
              <a:ext uri="{FF2B5EF4-FFF2-40B4-BE49-F238E27FC236}">
                <a16:creationId xmlns:a16="http://schemas.microsoft.com/office/drawing/2014/main" id="{429D46E9-8D0A-4BBB-B477-57F5E144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28825"/>
            <a:ext cx="1619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5A5D59"/>
                </a:solidFill>
                <a:latin typeface="Poppins"/>
                <a:ea typeface="Poppins"/>
                <a:cs typeface="Poppins"/>
              </a:defRPr>
            </a:pPr>
            <a:r>
              <a:rPr sz="2625" b="0">
                <a:solidFill>
                  <a:srgbClr val="5A5D59"/>
                </a:solidFill>
                <a:latin typeface="Poppins"/>
                <a:ea typeface="Poppins"/>
                <a:cs typeface="Poppins"/>
              </a:rPr>
              <a:t>The same reading can be unusual for one person and normal for another.</a:t>
            </a:r>
          </a:p>
        </p:txBody>
      </p:sp>
      <p:sp>
        <p:nvSpPr>
          <p:cNvPr id="3" name="Same reading">
            <a:extLst xmlns:a="http://schemas.openxmlformats.org/drawingml/2006/main">
              <a:ext uri="{FF2B5EF4-FFF2-40B4-BE49-F238E27FC236}">
                <a16:creationId xmlns:a16="http://schemas.microsoft.com/office/drawing/2014/main" id="{76093775-B9EE-4A10-BAB6-19C84E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91A18"/>
                </a:solidFill>
                <a:latin typeface="Poppins"/>
                <a:ea typeface="Poppins"/>
                <a:cs typeface="Poppins"/>
              </a:defRPr>
            </a:pPr>
            <a:r>
              <a:rPr sz="3900" b="1">
                <a:solidFill>
                  <a:srgbClr val="191A18"/>
                </a:solidFill>
                <a:latin typeface="Poppins"/>
                <a:ea typeface="Poppins"/>
                <a:cs typeface="Poppins"/>
              </a:rPr>
              <a:t>Same reading</a:t>
            </a:r>
          </a:p>
        </p:txBody>
      </p:sp>
      <p:sp>
        <p:nvSpPr>
          <p:cNvPr id="4" name="3.0">
            <a:extLst xmlns:a="http://schemas.openxmlformats.org/drawingml/2006/main">
              <a:ext uri="{FF2B5EF4-FFF2-40B4-BE49-F238E27FC236}">
                <a16:creationId xmlns:a16="http://schemas.microsoft.com/office/drawing/2014/main" id="{E3DC12E5-FD41-4358-A430-2569ACBB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857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0" b="1">
                <a:solidFill>
                  <a:srgbClr val="326B8C"/>
                </a:solidFill>
                <a:latin typeface="Poppins"/>
                <a:ea typeface="Poppins"/>
                <a:cs typeface="Poppins"/>
              </a:defRPr>
            </a:pPr>
            <a:r>
              <a:rPr sz="12750" b="1">
                <a:solidFill>
                  <a:srgbClr val="326B8C"/>
                </a:solidFill>
                <a:latin typeface="Poppins"/>
                <a:ea typeface="Poppins"/>
                <a:cs typeface="Poppins"/>
              </a:rPr>
              <a:t>3.0</a:t>
            </a:r>
          </a:p>
        </p:txBody>
      </p:sp>
      <p:sp>
        <p:nvSpPr>
          <p:cNvPr id="5" name="Different resting patterns">
            <a:extLst xmlns:a="http://schemas.openxmlformats.org/drawingml/2006/main">
              <a:ext uri="{FF2B5EF4-FFF2-40B4-BE49-F238E27FC236}">
                <a16:creationId xmlns:a16="http://schemas.microsoft.com/office/drawing/2014/main" id="{0950C436-07D9-4723-9D6F-A314511E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52875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91A18"/>
                </a:solidFill>
                <a:latin typeface="Poppins"/>
                <a:ea typeface="Poppins"/>
                <a:cs typeface="Poppins"/>
              </a:defRPr>
            </a:pPr>
            <a:r>
              <a:rPr sz="3450" b="1">
                <a:solidFill>
                  <a:srgbClr val="191A18"/>
                </a:solidFill>
                <a:latin typeface="Poppins"/>
                <a:ea typeface="Poppins"/>
                <a:cs typeface="Poppins"/>
              </a:rPr>
              <a:t>Different resting patterns</a:t>
            </a:r>
          </a:p>
        </p:txBody>
      </p:sp>
      <p:sp>
        <p:nvSpPr>
          <p:cNvPr id="6" name="Wearer A: usually around 1.0&#10;Wearer B: usually aro">
            <a:extLst xmlns:a="http://schemas.openxmlformats.org/drawingml/2006/main">
              <a:ext uri="{FF2B5EF4-FFF2-40B4-BE49-F238E27FC236}">
                <a16:creationId xmlns:a16="http://schemas.microsoft.com/office/drawing/2014/main" id="{7F6D6DD5-F539-4D20-BEE0-45153305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29250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5A5D59"/>
                </a:solidFill>
                <a:latin typeface="Poppins"/>
                <a:ea typeface="Poppins"/>
                <a:cs typeface="Poppins"/>
              </a:defRPr>
            </a:pPr>
            <a:r>
              <a:rPr sz="2925" b="0">
                <a:solidFill>
                  <a:srgbClr val="5A5D59"/>
                </a:solidFill>
                <a:latin typeface="Poppins"/>
                <a:ea typeface="Poppins"/>
                <a:cs typeface="Poppins"/>
              </a:rPr>
              <a:t>Wearer A: usually around 1.0</a:t>
            </a:r>
          </a:p>
          <a:p xmlns:a="http://schemas.openxmlformats.org/drawingml/2006/main">
            <a:pPr algn="l">
              <a:defRPr sz="2925" b="0">
                <a:solidFill>
                  <a:srgbClr val="5A5D59"/>
                </a:solidFill>
                <a:latin typeface="Poppins"/>
                <a:ea typeface="Poppins"/>
                <a:cs typeface="Poppins"/>
              </a:defRPr>
            </a:pPr>
            <a:r>
              <a:rPr sz="2925" b="0">
                <a:solidFill>
                  <a:srgbClr val="5A5D59"/>
                </a:solidFill>
                <a:latin typeface="Poppins"/>
                <a:ea typeface="Poppins"/>
                <a:cs typeface="Poppins"/>
              </a:rPr>
              <a:t>Wearer B: usually around 2.6</a:t>
            </a:r>
          </a:p>
        </p:txBody>
      </p:sp>
      <p:sp>
        <p:nvSpPr>
          <p:cNvPr id="7" name="Illustrative example • the current baseline routin">
            <a:extLst xmlns:a="http://schemas.openxmlformats.org/drawingml/2006/main">
              <a:ext uri="{FF2B5EF4-FFF2-40B4-BE49-F238E27FC236}">
                <a16:creationId xmlns:a16="http://schemas.microsoft.com/office/drawing/2014/main" id="{C791E294-5E3E-47C1-AA65-53A103BE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486900"/>
            <a:ext cx="160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5D59"/>
                </a:solidFill>
                <a:latin typeface="Poppins"/>
                <a:ea typeface="Poppins"/>
                <a:cs typeface="Poppins"/>
              </a:defRPr>
            </a:pPr>
            <a:r>
              <a:rPr sz="1875" b="0">
                <a:solidFill>
                  <a:srgbClr val="5A5D59"/>
                </a:solidFill>
                <a:latin typeface="Poppins"/>
                <a:ea typeface="Poppins"/>
                <a:cs typeface="Poppins"/>
              </a:rPr>
              <a:t>Illustrative example • the current baseline routine collects 120 seconds of EEG</a:t>
            </a:r>
          </a:p>
        </p:txBody>
      </p:sp>
    </p:spTree>
    <p:extLst>
      <p:ext uri="{BB962C8B-B14F-4D97-AF65-F5344CB8AC3E}">
        <p14:creationId xmlns:p14="http://schemas.microsoft.com/office/powerpoint/2010/main" val="21304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Your baseline makes the signal meaningful">
            <a:extLst xmlns:a="http://schemas.openxmlformats.org/drawingml/2006/main">
              <a:ext uri="{FF2B5EF4-FFF2-40B4-BE49-F238E27FC236}">
                <a16:creationId xmlns:a16="http://schemas.microsoft.com/office/drawing/2014/main" id="{B2F4F451-A963-4C25-8AC9-23BE6AA1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1628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91A18"/>
                </a:solidFill>
                <a:latin typeface="Poppins"/>
                <a:ea typeface="Poppins"/>
                <a:cs typeface="Poppins"/>
              </a:defRPr>
            </a:pPr>
            <a:r>
              <a:rPr sz="5400" b="1">
                <a:solidFill>
                  <a:srgbClr val="191A18"/>
                </a:solidFill>
                <a:latin typeface="Poppins"/>
                <a:ea typeface="Poppins"/>
                <a:cs typeface="Poppins"/>
              </a:rPr>
              <a:t>Your baseline makes the signal meaningful</a:t>
            </a:r>
          </a:p>
        </p:txBody>
      </p:sp>
      <p:sp>
        <p:nvSpPr>
          <p:cNvPr id="2" name="The same reading can be unusual for one person and">
            <a:extLst xmlns:a="http://schemas.openxmlformats.org/drawingml/2006/main">
              <a:ext uri="{FF2B5EF4-FFF2-40B4-BE49-F238E27FC236}">
                <a16:creationId xmlns:a16="http://schemas.microsoft.com/office/drawing/2014/main" id="{30ADC2F1-C348-4E66-967F-2CD1AC4E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28825"/>
            <a:ext cx="1619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5A5D59"/>
                </a:solidFill>
                <a:latin typeface="Poppins"/>
                <a:ea typeface="Poppins"/>
                <a:cs typeface="Poppins"/>
              </a:defRPr>
            </a:pPr>
            <a:r>
              <a:rPr sz="2625" b="0">
                <a:solidFill>
                  <a:srgbClr val="5A5D59"/>
                </a:solidFill>
                <a:latin typeface="Poppins"/>
                <a:ea typeface="Poppins"/>
                <a:cs typeface="Poppins"/>
              </a:rPr>
              <a:t>The same reading can be unusual for one person and normal for another.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1238250" y="3238500"/>
          <a:ext xmlns:a="http://schemas.openxmlformats.org/drawingml/2006/main" cx="10668000" cy="5095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73cfa21aef4df6"/>
          </a:graphicData>
        </a:graphic>
      </p:graphicFrame>
      <p:sp>
        <p:nvSpPr>
          <p:cNvPr id="4" name="Same raw value.&#10;Different meaning.">
            <a:extLst xmlns:a="http://schemas.openxmlformats.org/drawingml/2006/main">
              <a:ext uri="{FF2B5EF4-FFF2-40B4-BE49-F238E27FC236}">
                <a16:creationId xmlns:a16="http://schemas.microsoft.com/office/drawing/2014/main" id="{4C3D9BBA-5D3A-4109-910F-5E7B252A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9052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1A18"/>
                </a:solidFill>
                <a:latin typeface="Poppins"/>
                <a:ea typeface="Poppins"/>
                <a:cs typeface="Poppins"/>
              </a:defRPr>
            </a:pPr>
            <a:r>
              <a:rPr sz="3600" b="1">
                <a:solidFill>
                  <a:srgbClr val="191A18"/>
                </a:solidFill>
                <a:latin typeface="Poppins"/>
                <a:ea typeface="Poppins"/>
                <a:cs typeface="Poppins"/>
              </a:rPr>
              <a:t>Same raw value.</a:t>
            </a:r>
          </a:p>
          <a:p xmlns:a="http://schemas.openxmlformats.org/drawingml/2006/main">
            <a:pPr algn="l">
              <a:defRPr sz="3600" b="1">
                <a:solidFill>
                  <a:srgbClr val="191A18"/>
                </a:solidFill>
                <a:latin typeface="Poppins"/>
                <a:ea typeface="Poppins"/>
                <a:cs typeface="Poppins"/>
              </a:defRPr>
            </a:pPr>
            <a:r>
              <a:rPr sz="3600" b="1">
                <a:solidFill>
                  <a:srgbClr val="191A18"/>
                </a:solidFill>
                <a:latin typeface="Poppins"/>
                <a:ea typeface="Poppins"/>
                <a:cs typeface="Poppins"/>
              </a:rPr>
              <a:t>Different meaning.</a:t>
            </a:r>
          </a:p>
        </p:txBody>
      </p:sp>
      <p:sp>
        <p:nvSpPr>
          <p:cNvPr id="5" name="Illustrative example • the current baseline routin">
            <a:extLst xmlns:a="http://schemas.openxmlformats.org/drawingml/2006/main">
              <a:ext uri="{FF2B5EF4-FFF2-40B4-BE49-F238E27FC236}">
                <a16:creationId xmlns:a16="http://schemas.microsoft.com/office/drawing/2014/main" id="{F3E96F42-0FC5-404B-8AD4-702B954B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486900"/>
            <a:ext cx="160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5D59"/>
                </a:solidFill>
                <a:latin typeface="Poppins"/>
                <a:ea typeface="Poppins"/>
                <a:cs typeface="Poppins"/>
              </a:defRPr>
            </a:pPr>
            <a:r>
              <a:rPr sz="1875" b="0">
                <a:solidFill>
                  <a:srgbClr val="5A5D59"/>
                </a:solidFill>
                <a:latin typeface="Poppins"/>
                <a:ea typeface="Poppins"/>
                <a:cs typeface="Poppins"/>
              </a:rPr>
              <a:t>Illustrative example • the current baseline routine collects 120 seconds of EEG</a:t>
            </a:r>
          </a:p>
        </p:txBody>
      </p:sp>
    </p:spTree>
    <p:extLst>
      <p:ext uri="{BB962C8B-B14F-4D97-AF65-F5344CB8AC3E}">
        <p14:creationId xmlns:p14="http://schemas.microsoft.com/office/powerpoint/2010/main" val="1136191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Your baseline makes the signal meaningful">
            <a:extLst xmlns:a="http://schemas.openxmlformats.org/drawingml/2006/main">
              <a:ext uri="{FF2B5EF4-FFF2-40B4-BE49-F238E27FC236}">
                <a16:creationId xmlns:a16="http://schemas.microsoft.com/office/drawing/2014/main" id="{0B35C135-D8FB-4A3D-89EB-5DC1455C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1628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91A18"/>
                </a:solidFill>
                <a:latin typeface="Poppins"/>
                <a:ea typeface="Poppins"/>
                <a:cs typeface="Poppins"/>
              </a:defRPr>
            </a:pPr>
            <a:r>
              <a:rPr sz="5400" b="1">
                <a:solidFill>
                  <a:srgbClr val="191A18"/>
                </a:solidFill>
                <a:latin typeface="Poppins"/>
                <a:ea typeface="Poppins"/>
                <a:cs typeface="Poppins"/>
              </a:rPr>
              <a:t>Your baseline makes the signal meaningful</a:t>
            </a:r>
          </a:p>
        </p:txBody>
      </p:sp>
      <p:sp>
        <p:nvSpPr>
          <p:cNvPr id="2" name="The same reading can be unusual for one person and">
            <a:extLst xmlns:a="http://schemas.openxmlformats.org/drawingml/2006/main">
              <a:ext uri="{FF2B5EF4-FFF2-40B4-BE49-F238E27FC236}">
                <a16:creationId xmlns:a16="http://schemas.microsoft.com/office/drawing/2014/main" id="{3991120C-C84A-46D3-B7DA-8D74CFB0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28825"/>
            <a:ext cx="1619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5A5D59"/>
                </a:solidFill>
                <a:latin typeface="Poppins"/>
                <a:ea typeface="Poppins"/>
                <a:cs typeface="Poppins"/>
              </a:defRPr>
            </a:pPr>
            <a:r>
              <a:rPr sz="2625" b="0">
                <a:solidFill>
                  <a:srgbClr val="5A5D59"/>
                </a:solidFill>
                <a:latin typeface="Poppins"/>
                <a:ea typeface="Poppins"/>
                <a:cs typeface="Poppins"/>
              </a:rPr>
              <a:t>The same reading can be unusual for one person and normal for another.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238250" y="3238500"/>
          <a:ext xmlns:a="http://schemas.openxmlformats.org/drawingml/2006/main" cx="10668000" cy="5095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64cf0c0b6c4fcb"/>
          </a:graphicData>
        </a:graphic>
      </p:graphicFrame>
      <p:sp>
        <p:nvSpPr>
          <p:cNvPr id="4" name="Same raw value.&#10;Different meaning.">
            <a:extLst xmlns:a="http://schemas.openxmlformats.org/drawingml/2006/main">
              <a:ext uri="{FF2B5EF4-FFF2-40B4-BE49-F238E27FC236}">
                <a16:creationId xmlns:a16="http://schemas.microsoft.com/office/drawing/2014/main" id="{DFD4F7AE-5743-4F91-A6FD-7F9AEB52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9052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1A18"/>
                </a:solidFill>
                <a:latin typeface="Poppins"/>
                <a:ea typeface="Poppins"/>
                <a:cs typeface="Poppins"/>
              </a:defRPr>
            </a:pPr>
            <a:r>
              <a:rPr sz="3600" b="1">
                <a:solidFill>
                  <a:srgbClr val="191A18"/>
                </a:solidFill>
                <a:latin typeface="Poppins"/>
                <a:ea typeface="Poppins"/>
                <a:cs typeface="Poppins"/>
              </a:rPr>
              <a:t>Same raw value.</a:t>
            </a:r>
          </a:p>
          <a:p xmlns:a="http://schemas.openxmlformats.org/drawingml/2006/main">
            <a:pPr algn="l">
              <a:defRPr sz="3600" b="1">
                <a:solidFill>
                  <a:srgbClr val="191A18"/>
                </a:solidFill>
                <a:latin typeface="Poppins"/>
                <a:ea typeface="Poppins"/>
                <a:cs typeface="Poppins"/>
              </a:defRPr>
            </a:pPr>
            <a:r>
              <a:rPr sz="3600" b="1">
                <a:solidFill>
                  <a:srgbClr val="191A18"/>
                </a:solidFill>
                <a:latin typeface="Poppins"/>
                <a:ea typeface="Poppins"/>
                <a:cs typeface="Poppins"/>
              </a:rPr>
              <a:t>Different meaning.</a:t>
            </a:r>
          </a:p>
        </p:txBody>
      </p:sp>
      <p:sp>
        <p:nvSpPr>
          <p:cNvPr id="5" name="A: unusual change">
            <a:extLst xmlns:a="http://schemas.openxmlformats.org/drawingml/2006/main">
              <a:ext uri="{FF2B5EF4-FFF2-40B4-BE49-F238E27FC236}">
                <a16:creationId xmlns:a16="http://schemas.microsoft.com/office/drawing/2014/main" id="{FBC31103-9E3C-4D56-A5BE-1EE04F08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61341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9B712B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9B712B"/>
                </a:solidFill>
                <a:latin typeface="Poppins"/>
                <a:ea typeface="Poppins"/>
                <a:cs typeface="Poppins"/>
              </a:rPr>
              <a:t>A: unusual change</a:t>
            </a:r>
          </a:p>
        </p:txBody>
      </p:sp>
      <p:sp>
        <p:nvSpPr>
          <p:cNvPr id="6" name="B: within usual range">
            <a:extLst xmlns:a="http://schemas.openxmlformats.org/drawingml/2006/main">
              <a:ext uri="{FF2B5EF4-FFF2-40B4-BE49-F238E27FC236}">
                <a16:creationId xmlns:a16="http://schemas.microsoft.com/office/drawing/2014/main" id="{6DF41F6E-818C-46AF-B076-B54B0D5C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143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26B8C"/>
                </a:solidFill>
                <a:latin typeface="Poppins"/>
                <a:ea typeface="Poppins"/>
                <a:cs typeface="Poppins"/>
              </a:defRPr>
            </a:pPr>
            <a:r>
              <a:rPr sz="2700" b="1">
                <a:solidFill>
                  <a:srgbClr val="326B8C"/>
                </a:solidFill>
                <a:latin typeface="Poppins"/>
                <a:ea typeface="Poppins"/>
                <a:cs typeface="Poppins"/>
              </a:rPr>
              <a:t>B: within usual range</a:t>
            </a:r>
          </a:p>
        </p:txBody>
      </p:sp>
      <p:sp>
        <p:nvSpPr>
          <p:cNvPr id="7" name="Illustrative example • the current baseline routin">
            <a:extLst xmlns:a="http://schemas.openxmlformats.org/drawingml/2006/main">
              <a:ext uri="{FF2B5EF4-FFF2-40B4-BE49-F238E27FC236}">
                <a16:creationId xmlns:a16="http://schemas.microsoft.com/office/drawing/2014/main" id="{A82D7B25-2BAA-4909-9666-3D9A8B2B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486900"/>
            <a:ext cx="160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5D59"/>
                </a:solidFill>
                <a:latin typeface="Poppins"/>
                <a:ea typeface="Poppins"/>
                <a:cs typeface="Poppins"/>
              </a:defRPr>
            </a:pPr>
            <a:r>
              <a:rPr sz="1875" b="0">
                <a:solidFill>
                  <a:srgbClr val="5A5D59"/>
                </a:solidFill>
                <a:latin typeface="Poppins"/>
                <a:ea typeface="Poppins"/>
                <a:cs typeface="Poppins"/>
              </a:rPr>
              <a:t>Illustrative example • the current baseline routine collects 120 seconds of EEG</a:t>
            </a:r>
          </a:p>
        </p:txBody>
      </p:sp>
    </p:spTree>
    <p:extLst>
      <p:ext uri="{BB962C8B-B14F-4D97-AF65-F5344CB8AC3E}">
        <p14:creationId xmlns:p14="http://schemas.microsoft.com/office/powerpoint/2010/main" val="1657246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2026-09-20T08:29:46.3780000Z</dcterms:created>
  <dcterms:modified xsi:type="dcterms:W3CDTF">2026-09-20T08:29:46.3780000Z</dcterms:modified>
</coreProperties>
</file>